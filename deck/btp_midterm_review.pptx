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051560"/>
            <a:ext cx="10820095" cy="274320"/>
          </a:xfrm>
          <a:prstGeom prst="rect">
            <a:avLst/>
          </a:prstGeom>
          <a:noFill/>
          <a:ln/>
        </p:spPr>
        <p:txBody>
          <a:bodyPr wrap="square" lIns="0" tIns="0" rIns="0" bIns="0" rtlCol="0" anchor="ctr"/>
          <a:lstStyle/>
          <a:p>
            <a:pPr algn="ctr" indent="0" marL="0">
              <a:buNone/>
            </a:pPr>
            <a:r>
              <a:rPr lang="en-US" sz="1200" b="1" spc="100" kern="0" dirty="0">
                <a:solidFill>
                  <a:srgbClr val="000000"/>
                </a:solidFill>
                <a:latin typeface="Times New Roman" pitchFamily="34" charset="0"/>
                <a:ea typeface="Times New Roman" pitchFamily="34" charset="-122"/>
                <a:cs typeface="Times New Roman" pitchFamily="34" charset="-120"/>
              </a:rPr>
              <a:t>MID TERM REVIEW</a:t>
            </a:r>
            <a:endParaRPr lang="en-US" sz="1200" dirty="0"/>
          </a:p>
        </p:txBody>
      </p:sp>
      <p:sp>
        <p:nvSpPr>
          <p:cNvPr id="3" name="Text 1"/>
          <p:cNvSpPr txBox="1"/>
          <p:nvPr/>
        </p:nvSpPr>
        <p:spPr>
          <a:xfrm>
            <a:off x="685800" y="1600200"/>
            <a:ext cx="10820095" cy="1051560"/>
          </a:xfrm>
          <a:prstGeom prst="rect">
            <a:avLst/>
          </a:prstGeom>
          <a:noFill/>
          <a:ln/>
        </p:spPr>
        <p:txBody>
          <a:bodyPr wrap="square" lIns="0" tIns="0" rIns="0" bIns="0" rtlCol="0" anchor="ctr"/>
          <a:lstStyle/>
          <a:p>
            <a:pPr algn="ctr" indent="0" marL="0">
              <a:lnSpc>
                <a:spcPct val="110000"/>
              </a:lnSpc>
              <a:buNone/>
            </a:pPr>
            <a:r>
              <a:rPr lang="en-US" sz="3000" b="1" dirty="0">
                <a:solidFill>
                  <a:srgbClr val="000000"/>
                </a:solidFill>
                <a:latin typeface="Times New Roman" pitchFamily="34" charset="0"/>
                <a:ea typeface="Times New Roman" pitchFamily="34" charset="-122"/>
                <a:cs typeface="Times New Roman" pitchFamily="34" charset="-120"/>
              </a:rPr>
              <a:t>Reproducing Choquet-Integral Multimodel Fusion for</a:t>
            </a:r>
            <a:endParaRPr lang="en-US" sz="3000" dirty="0"/>
          </a:p>
          <a:p>
            <a:pPr algn="ctr" indent="0" marL="0">
              <a:lnSpc>
                <a:spcPct val="110000"/>
              </a:lnSpc>
              <a:buNone/>
            </a:pPr>
            <a:r>
              <a:rPr lang="en-US" sz="3000" b="1" dirty="0">
                <a:solidFill>
                  <a:srgbClr val="000000"/>
                </a:solidFill>
                <a:latin typeface="Times New Roman" pitchFamily="34" charset="0"/>
                <a:ea typeface="Times New Roman" pitchFamily="34" charset="-122"/>
                <a:cs typeface="Times New Roman" pitchFamily="34" charset="-120"/>
              </a:rPr>
              <a:t>Noninvasive Blood Glucose Estimation</a:t>
            </a:r>
            <a:endParaRPr lang="en-US" sz="3000" dirty="0"/>
          </a:p>
        </p:txBody>
      </p:sp>
      <p:sp>
        <p:nvSpPr>
          <p:cNvPr id="4" name="Text 2"/>
          <p:cNvSpPr txBox="1"/>
          <p:nvPr/>
        </p:nvSpPr>
        <p:spPr>
          <a:xfrm>
            <a:off x="685800" y="2743200"/>
            <a:ext cx="10820095" cy="365760"/>
          </a:xfrm>
          <a:prstGeom prst="rect">
            <a:avLst/>
          </a:prstGeom>
          <a:noFill/>
          <a:ln/>
        </p:spPr>
        <p:txBody>
          <a:bodyPr wrap="square" lIns="0" tIns="0" rIns="0" bIns="0" rtlCol="0" anchor="ctr"/>
          <a:lstStyle/>
          <a:p>
            <a:pPr algn="ctr" indent="0" marL="0">
              <a:buNone/>
            </a:pPr>
            <a:r>
              <a:rPr lang="en-US" sz="1500" dirty="0">
                <a:solidFill>
                  <a:srgbClr val="000000"/>
                </a:solidFill>
                <a:latin typeface="Times New Roman" pitchFamily="34" charset="0"/>
                <a:ea typeface="Times New Roman" pitchFamily="34" charset="-122"/>
                <a:cs typeface="Times New Roman" pitchFamily="34" charset="-120"/>
              </a:rPr>
              <a:t>An independent reproduction on open ECG and PPG data, under leakage-controlled evaluation</a:t>
            </a:r>
            <a:endParaRPr lang="en-US" sz="1500" dirty="0"/>
          </a:p>
        </p:txBody>
      </p:sp>
      <p:sp>
        <p:nvSpPr>
          <p:cNvPr id="5" name="Text 3"/>
          <p:cNvSpPr txBox="1"/>
          <p:nvPr/>
        </p:nvSpPr>
        <p:spPr>
          <a:xfrm>
            <a:off x="685800" y="340156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Vednash Singhal    2023UIC3633</a:t>
            </a:r>
            <a:endParaRPr lang="en-US" sz="1400" dirty="0"/>
          </a:p>
        </p:txBody>
      </p:sp>
      <p:sp>
        <p:nvSpPr>
          <p:cNvPr id="6" name="Text 4"/>
          <p:cNvSpPr txBox="1"/>
          <p:nvPr/>
        </p:nvSpPr>
        <p:spPr>
          <a:xfrm>
            <a:off x="685800" y="367588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Navtesh Maken    2023UIC3641</a:t>
            </a:r>
            <a:endParaRPr lang="en-US" sz="1400" dirty="0"/>
          </a:p>
        </p:txBody>
      </p:sp>
      <p:sp>
        <p:nvSpPr>
          <p:cNvPr id="7" name="Text 5"/>
          <p:cNvSpPr txBox="1"/>
          <p:nvPr/>
        </p:nvSpPr>
        <p:spPr>
          <a:xfrm>
            <a:off x="685800" y="395020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Aditya Agarwaal    2023UIC4138</a:t>
            </a:r>
            <a:endParaRPr lang="en-US" sz="1400" dirty="0"/>
          </a:p>
        </p:txBody>
      </p:sp>
      <p:sp>
        <p:nvSpPr>
          <p:cNvPr id="8" name="Text 6"/>
          <p:cNvSpPr txBox="1"/>
          <p:nvPr/>
        </p:nvSpPr>
        <p:spPr>
          <a:xfrm>
            <a:off x="685800" y="4224528"/>
            <a:ext cx="10820095" cy="256032"/>
          </a:xfrm>
          <a:prstGeom prst="rect">
            <a:avLst/>
          </a:prstGeom>
          <a:noFill/>
          <a:ln/>
        </p:spPr>
        <p:txBody>
          <a:bodyPr wrap="square" lIns="0" tIns="0" rIns="0" bIns="0" rtlCol="0" anchor="ctr"/>
          <a:lstStyle/>
          <a:p>
            <a:pPr algn="ctr" indent="0" marL="0">
              <a:buNone/>
            </a:pPr>
            <a:r>
              <a:rPr lang="en-US" sz="1400" dirty="0">
                <a:solidFill>
                  <a:srgbClr val="000000"/>
                </a:solidFill>
                <a:latin typeface="Times New Roman" pitchFamily="34" charset="0"/>
                <a:ea typeface="Times New Roman" pitchFamily="34" charset="-122"/>
                <a:cs typeface="Times New Roman" pitchFamily="34" charset="-120"/>
              </a:rPr>
              <a:t>Tushar Sharma    2023UIC3600</a:t>
            </a:r>
            <a:endParaRPr lang="en-US" sz="1400" dirty="0"/>
          </a:p>
        </p:txBody>
      </p:sp>
      <p:sp>
        <p:nvSpPr>
          <p:cNvPr id="9" name="Text 7"/>
          <p:cNvSpPr txBox="1"/>
          <p:nvPr/>
        </p:nvSpPr>
        <p:spPr>
          <a:xfrm>
            <a:off x="685800" y="4681728"/>
            <a:ext cx="10820095" cy="237744"/>
          </a:xfrm>
          <a:prstGeom prst="rect">
            <a:avLst/>
          </a:prstGeom>
          <a:noFill/>
          <a:ln/>
        </p:spPr>
        <p:txBody>
          <a:bodyPr wrap="square" lIns="0" tIns="0" rIns="0" bIns="0" rtlCol="0" anchor="ctr"/>
          <a:lstStyle/>
          <a:p>
            <a:pPr algn="ctr" indent="0" marL="0">
              <a:buNone/>
            </a:pPr>
            <a:r>
              <a:rPr lang="en-US" sz="1100" dirty="0">
                <a:solidFill>
                  <a:srgbClr val="444444"/>
                </a:solidFill>
                <a:latin typeface="Times New Roman" pitchFamily="34" charset="0"/>
                <a:ea typeface="Times New Roman" pitchFamily="34" charset="-122"/>
                <a:cs typeface="Times New Roman" pitchFamily="34" charset="-120"/>
              </a:rPr>
              <a:t>Under the supervision of</a:t>
            </a:r>
            <a:endParaRPr lang="en-US" sz="1100" dirty="0"/>
          </a:p>
        </p:txBody>
      </p:sp>
      <p:sp>
        <p:nvSpPr>
          <p:cNvPr id="10" name="Text 8"/>
          <p:cNvSpPr txBox="1"/>
          <p:nvPr/>
        </p:nvSpPr>
        <p:spPr>
          <a:xfrm>
            <a:off x="685800" y="4919472"/>
            <a:ext cx="10820095" cy="274320"/>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Mrs. Asha Rani</a:t>
            </a:r>
            <a:endParaRPr lang="en-US" sz="1400" dirty="0"/>
          </a:p>
        </p:txBody>
      </p:sp>
      <p:sp>
        <p:nvSpPr>
          <p:cNvPr id="11" name="Text 9"/>
          <p:cNvSpPr txBox="1"/>
          <p:nvPr/>
        </p:nvSpPr>
        <p:spPr>
          <a:xfrm>
            <a:off x="685800" y="5376672"/>
            <a:ext cx="10820095" cy="548640"/>
          </a:xfrm>
          <a:prstGeom prst="rect">
            <a:avLst/>
          </a:prstGeom>
          <a:noFill/>
          <a:ln/>
        </p:spPr>
        <p:txBody>
          <a:bodyPr wrap="square" lIns="0" tIns="0" rIns="0" bIns="0" rtlCol="0" anchor="ctr"/>
          <a:lstStyle/>
          <a:p>
            <a:pPr algn="ctr" indent="0" marL="0">
              <a:buNone/>
            </a:pPr>
            <a:r>
              <a:rPr lang="en-US" sz="1200" dirty="0">
                <a:solidFill>
                  <a:srgbClr val="000000"/>
                </a:solidFill>
                <a:latin typeface="Times New Roman" pitchFamily="34" charset="0"/>
                <a:ea typeface="Times New Roman" pitchFamily="34" charset="-122"/>
                <a:cs typeface="Times New Roman" pitchFamily="34" charset="-120"/>
              </a:rPr>
              <a:t>Department of Instrumentation and Control Engineering</a:t>
            </a:r>
            <a:endParaRPr lang="en-US" sz="1200" dirty="0"/>
          </a:p>
          <a:p>
            <a:pPr algn="ctr" indent="0" marL="0">
              <a:buNone/>
            </a:pPr>
            <a:r>
              <a:rPr lang="en-US" sz="1200" dirty="0">
                <a:solidFill>
                  <a:srgbClr val="000000"/>
                </a:solidFill>
                <a:latin typeface="Times New Roman" pitchFamily="34" charset="0"/>
                <a:ea typeface="Times New Roman" pitchFamily="34" charset="-122"/>
                <a:cs typeface="Times New Roman" pitchFamily="34" charset="-120"/>
              </a:rPr>
              <a:t>Netaji Subhas University of Technology, New Delhi</a:t>
            </a:r>
            <a:endParaRPr lang="en-US" sz="1200" dirty="0"/>
          </a:p>
        </p:txBody>
      </p:sp>
      <p:sp>
        <p:nvSpPr>
          <p:cNvPr id="12" name="Text 10"/>
          <p:cNvSpPr txBox="1"/>
          <p:nvPr/>
        </p:nvSpPr>
        <p:spPr>
          <a:xfrm>
            <a:off x="685800" y="5961888"/>
            <a:ext cx="10820095" cy="274320"/>
          </a:xfrm>
          <a:prstGeom prst="rect">
            <a:avLst/>
          </a:prstGeom>
          <a:noFill/>
          <a:ln/>
        </p:spPr>
        <p:txBody>
          <a:bodyPr wrap="square" lIns="0" tIns="0" rIns="0" bIns="0" rtlCol="0" anchor="ctr"/>
          <a:lstStyle/>
          <a:p>
            <a:pPr algn="ctr" indent="0" marL="0">
              <a:buNone/>
            </a:pPr>
            <a:r>
              <a:rPr lang="en-US" sz="1100" dirty="0">
                <a:solidFill>
                  <a:srgbClr val="444444"/>
                </a:solidFill>
                <a:latin typeface="Times New Roman" pitchFamily="34" charset="0"/>
                <a:ea typeface="Times New Roman" pitchFamily="34" charset="-122"/>
                <a:cs typeface="Times New Roman" pitchFamily="34" charset="-120"/>
              </a:rPr>
              <a:t>EEEEC23  B. Tech Project - II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algn="ctr" indent="0" marL="0">
              <a:buNone/>
            </a:pPr>
            <a:r>
              <a:rPr lang="en-US" sz="2100" b="1" dirty="0">
                <a:solidFill>
                  <a:srgbClr val="000000"/>
                </a:solidFill>
                <a:latin typeface="Times New Roman" pitchFamily="34" charset="0"/>
                <a:ea typeface="Times New Roman" pitchFamily="34" charset="-122"/>
                <a:cs typeface="Times New Roman" pitchFamily="34" charset="-120"/>
              </a:rPr>
              <a:t>Contents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1051560" y="1517904"/>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a:t>
            </a:r>
            <a:endParaRPr lang="en-US" sz="1300" dirty="0"/>
          </a:p>
        </p:txBody>
      </p:sp>
      <p:sp>
        <p:nvSpPr>
          <p:cNvPr id="5" name="Text 3"/>
          <p:cNvSpPr txBox="1"/>
          <p:nvPr/>
        </p:nvSpPr>
        <p:spPr>
          <a:xfrm>
            <a:off x="1618488" y="1517904"/>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Introduction — Background and Motivation</a:t>
            </a:r>
            <a:endParaRPr lang="en-US" sz="1300" dirty="0"/>
          </a:p>
        </p:txBody>
      </p:sp>
      <p:sp>
        <p:nvSpPr>
          <p:cNvPr id="6" name="Text 4"/>
          <p:cNvSpPr txBox="1"/>
          <p:nvPr/>
        </p:nvSpPr>
        <p:spPr>
          <a:xfrm>
            <a:off x="1051560" y="2002536"/>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2.</a:t>
            </a:r>
            <a:endParaRPr lang="en-US" sz="1300" dirty="0"/>
          </a:p>
        </p:txBody>
      </p:sp>
      <p:sp>
        <p:nvSpPr>
          <p:cNvPr id="7" name="Text 5"/>
          <p:cNvSpPr txBox="1"/>
          <p:nvPr/>
        </p:nvSpPr>
        <p:spPr>
          <a:xfrm>
            <a:off x="1618488" y="2002536"/>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Literature Survey — The Method Under Test</a:t>
            </a:r>
            <a:endParaRPr lang="en-US" sz="1300" dirty="0"/>
          </a:p>
        </p:txBody>
      </p:sp>
      <p:sp>
        <p:nvSpPr>
          <p:cNvPr id="8" name="Text 6"/>
          <p:cNvSpPr txBox="1"/>
          <p:nvPr/>
        </p:nvSpPr>
        <p:spPr>
          <a:xfrm>
            <a:off x="1051560" y="24871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3.</a:t>
            </a:r>
            <a:endParaRPr lang="en-US" sz="1300" dirty="0"/>
          </a:p>
        </p:txBody>
      </p:sp>
      <p:sp>
        <p:nvSpPr>
          <p:cNvPr id="9" name="Text 7"/>
          <p:cNvSpPr txBox="1"/>
          <p:nvPr/>
        </p:nvSpPr>
        <p:spPr>
          <a:xfrm>
            <a:off x="1618488" y="24871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Literature Survey — Evaluation Practice in the Field</a:t>
            </a:r>
            <a:endParaRPr lang="en-US" sz="1300" dirty="0"/>
          </a:p>
        </p:txBody>
      </p:sp>
      <p:sp>
        <p:nvSpPr>
          <p:cNvPr id="10" name="Text 8"/>
          <p:cNvSpPr txBox="1"/>
          <p:nvPr/>
        </p:nvSpPr>
        <p:spPr>
          <a:xfrm>
            <a:off x="1051560" y="2971800"/>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4.</a:t>
            </a:r>
            <a:endParaRPr lang="en-US" sz="1300" dirty="0"/>
          </a:p>
        </p:txBody>
      </p:sp>
      <p:sp>
        <p:nvSpPr>
          <p:cNvPr id="11" name="Text 9"/>
          <p:cNvSpPr txBox="1"/>
          <p:nvPr/>
        </p:nvSpPr>
        <p:spPr>
          <a:xfrm>
            <a:off x="1618488" y="2971800"/>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Research Gaps and Limitations Identified</a:t>
            </a:r>
            <a:endParaRPr lang="en-US" sz="1300" dirty="0"/>
          </a:p>
        </p:txBody>
      </p:sp>
      <p:sp>
        <p:nvSpPr>
          <p:cNvPr id="12" name="Text 10"/>
          <p:cNvSpPr txBox="1"/>
          <p:nvPr/>
        </p:nvSpPr>
        <p:spPr>
          <a:xfrm>
            <a:off x="1051560" y="3456432"/>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5.</a:t>
            </a:r>
            <a:endParaRPr lang="en-US" sz="1300" dirty="0"/>
          </a:p>
        </p:txBody>
      </p:sp>
      <p:sp>
        <p:nvSpPr>
          <p:cNvPr id="13" name="Text 11"/>
          <p:cNvSpPr txBox="1"/>
          <p:nvPr/>
        </p:nvSpPr>
        <p:spPr>
          <a:xfrm>
            <a:off x="1618488" y="3456432"/>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Aim and Objectives</a:t>
            </a:r>
            <a:endParaRPr lang="en-US" sz="1300" dirty="0"/>
          </a:p>
        </p:txBody>
      </p:sp>
      <p:sp>
        <p:nvSpPr>
          <p:cNvPr id="14" name="Text 12"/>
          <p:cNvSpPr txBox="1"/>
          <p:nvPr/>
        </p:nvSpPr>
        <p:spPr>
          <a:xfrm>
            <a:off x="1051560" y="3941064"/>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6.</a:t>
            </a:r>
            <a:endParaRPr lang="en-US" sz="1300" dirty="0"/>
          </a:p>
        </p:txBody>
      </p:sp>
      <p:sp>
        <p:nvSpPr>
          <p:cNvPr id="15" name="Text 13"/>
          <p:cNvSpPr txBox="1"/>
          <p:nvPr/>
        </p:nvSpPr>
        <p:spPr>
          <a:xfrm>
            <a:off x="1618488" y="3941064"/>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Problem Formulation — Fuzzy Measures and the Choquet Integral</a:t>
            </a:r>
            <a:endParaRPr lang="en-US" sz="1300" dirty="0"/>
          </a:p>
        </p:txBody>
      </p:sp>
      <p:sp>
        <p:nvSpPr>
          <p:cNvPr id="16" name="Text 14"/>
          <p:cNvSpPr txBox="1"/>
          <p:nvPr/>
        </p:nvSpPr>
        <p:spPr>
          <a:xfrm>
            <a:off x="1051560" y="4425696"/>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7.</a:t>
            </a:r>
            <a:endParaRPr lang="en-US" sz="1300" dirty="0"/>
          </a:p>
        </p:txBody>
      </p:sp>
      <p:sp>
        <p:nvSpPr>
          <p:cNvPr id="17" name="Text 15"/>
          <p:cNvSpPr txBox="1"/>
          <p:nvPr/>
        </p:nvSpPr>
        <p:spPr>
          <a:xfrm>
            <a:off x="1618488" y="4425696"/>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Methodology I — Pipeline, Signals and Dataset</a:t>
            </a:r>
            <a:endParaRPr lang="en-US" sz="1300" dirty="0"/>
          </a:p>
        </p:txBody>
      </p:sp>
      <p:sp>
        <p:nvSpPr>
          <p:cNvPr id="18" name="Text 16"/>
          <p:cNvSpPr txBox="1"/>
          <p:nvPr/>
        </p:nvSpPr>
        <p:spPr>
          <a:xfrm>
            <a:off x="1051560" y="491032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8.</a:t>
            </a:r>
            <a:endParaRPr lang="en-US" sz="1300" dirty="0"/>
          </a:p>
        </p:txBody>
      </p:sp>
      <p:sp>
        <p:nvSpPr>
          <p:cNvPr id="19" name="Text 17"/>
          <p:cNvSpPr txBox="1"/>
          <p:nvPr/>
        </p:nvSpPr>
        <p:spPr>
          <a:xfrm>
            <a:off x="1618488" y="491032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Methodology II — Feature Extraction and Selection</a:t>
            </a:r>
            <a:endParaRPr lang="en-US" sz="1300" dirty="0"/>
          </a:p>
        </p:txBody>
      </p:sp>
      <p:sp>
        <p:nvSpPr>
          <p:cNvPr id="20" name="Text 18"/>
          <p:cNvSpPr txBox="1"/>
          <p:nvPr/>
        </p:nvSpPr>
        <p:spPr>
          <a:xfrm>
            <a:off x="6629400" y="1517904"/>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9.</a:t>
            </a:r>
            <a:endParaRPr lang="en-US" sz="1300" dirty="0"/>
          </a:p>
        </p:txBody>
      </p:sp>
      <p:sp>
        <p:nvSpPr>
          <p:cNvPr id="21" name="Text 19"/>
          <p:cNvSpPr txBox="1"/>
          <p:nvPr/>
        </p:nvSpPr>
        <p:spPr>
          <a:xfrm>
            <a:off x="7196328" y="1517904"/>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 — Reproducing the Published Result</a:t>
            </a:r>
            <a:endParaRPr lang="en-US" sz="1300" dirty="0"/>
          </a:p>
        </p:txBody>
      </p:sp>
      <p:sp>
        <p:nvSpPr>
          <p:cNvPr id="22" name="Text 20"/>
          <p:cNvSpPr txBox="1"/>
          <p:nvPr/>
        </p:nvSpPr>
        <p:spPr>
          <a:xfrm>
            <a:off x="6629400" y="2002536"/>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10.</a:t>
            </a:r>
            <a:endParaRPr lang="en-US" sz="1300" dirty="0"/>
          </a:p>
        </p:txBody>
      </p:sp>
      <p:sp>
        <p:nvSpPr>
          <p:cNvPr id="23" name="Text 21"/>
          <p:cNvSpPr txBox="1"/>
          <p:nvPr/>
        </p:nvSpPr>
        <p:spPr>
          <a:xfrm>
            <a:off x="7196328" y="2002536"/>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II — The Effect of the Evaluation Protocol</a:t>
            </a:r>
            <a:endParaRPr lang="en-US" sz="1300" dirty="0"/>
          </a:p>
        </p:txBody>
      </p:sp>
      <p:sp>
        <p:nvSpPr>
          <p:cNvPr id="24" name="Text 22"/>
          <p:cNvSpPr txBox="1"/>
          <p:nvPr/>
        </p:nvSpPr>
        <p:spPr>
          <a:xfrm>
            <a:off x="6629400" y="2487168"/>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11.</a:t>
            </a:r>
            <a:endParaRPr lang="en-US" sz="1300" dirty="0"/>
          </a:p>
        </p:txBody>
      </p:sp>
      <p:sp>
        <p:nvSpPr>
          <p:cNvPr id="25" name="Text 23"/>
          <p:cNvSpPr txBox="1"/>
          <p:nvPr/>
        </p:nvSpPr>
        <p:spPr>
          <a:xfrm>
            <a:off x="7196328" y="2487168"/>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III — Parkes Error Grid and Prediction Trace</a:t>
            </a:r>
            <a:endParaRPr lang="en-US" sz="1300" dirty="0"/>
          </a:p>
        </p:txBody>
      </p:sp>
      <p:sp>
        <p:nvSpPr>
          <p:cNvPr id="26" name="Text 24"/>
          <p:cNvSpPr txBox="1"/>
          <p:nvPr/>
        </p:nvSpPr>
        <p:spPr>
          <a:xfrm>
            <a:off x="6629400" y="2971800"/>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12.</a:t>
            </a:r>
            <a:endParaRPr lang="en-US" sz="1300" dirty="0"/>
          </a:p>
        </p:txBody>
      </p:sp>
      <p:sp>
        <p:nvSpPr>
          <p:cNvPr id="27" name="Text 25"/>
          <p:cNvSpPr txBox="1"/>
          <p:nvPr/>
        </p:nvSpPr>
        <p:spPr>
          <a:xfrm>
            <a:off x="7196328" y="2971800"/>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IV — Feature-Set Ablation</a:t>
            </a:r>
            <a:endParaRPr lang="en-US" sz="1300" dirty="0"/>
          </a:p>
        </p:txBody>
      </p:sp>
      <p:sp>
        <p:nvSpPr>
          <p:cNvPr id="28" name="Text 26"/>
          <p:cNvSpPr txBox="1"/>
          <p:nvPr/>
        </p:nvSpPr>
        <p:spPr>
          <a:xfrm>
            <a:off x="6629400" y="3456432"/>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13.</a:t>
            </a:r>
            <a:endParaRPr lang="en-US" sz="1300" dirty="0"/>
          </a:p>
        </p:txBody>
      </p:sp>
      <p:sp>
        <p:nvSpPr>
          <p:cNvPr id="29" name="Text 27"/>
          <p:cNvSpPr txBox="1"/>
          <p:nvPr/>
        </p:nvSpPr>
        <p:spPr>
          <a:xfrm>
            <a:off x="7196328" y="3456432"/>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Results V — Degeneracy of the Fusion Operator</a:t>
            </a:r>
            <a:endParaRPr lang="en-US" sz="1300" dirty="0"/>
          </a:p>
        </p:txBody>
      </p:sp>
      <p:sp>
        <p:nvSpPr>
          <p:cNvPr id="30" name="Text 28"/>
          <p:cNvSpPr txBox="1"/>
          <p:nvPr/>
        </p:nvSpPr>
        <p:spPr>
          <a:xfrm>
            <a:off x="6629400" y="3941064"/>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14.</a:t>
            </a:r>
            <a:endParaRPr lang="en-US" sz="1300" dirty="0"/>
          </a:p>
        </p:txBody>
      </p:sp>
      <p:sp>
        <p:nvSpPr>
          <p:cNvPr id="31" name="Text 29"/>
          <p:cNvSpPr txBox="1"/>
          <p:nvPr/>
        </p:nvSpPr>
        <p:spPr>
          <a:xfrm>
            <a:off x="7196328" y="3941064"/>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Future Work and Expected Outcomes</a:t>
            </a:r>
            <a:endParaRPr lang="en-US" sz="1300" dirty="0"/>
          </a:p>
        </p:txBody>
      </p:sp>
      <p:sp>
        <p:nvSpPr>
          <p:cNvPr id="32" name="Text 30"/>
          <p:cNvSpPr txBox="1"/>
          <p:nvPr/>
        </p:nvSpPr>
        <p:spPr>
          <a:xfrm>
            <a:off x="6629400" y="4425696"/>
            <a:ext cx="457200" cy="384048"/>
          </a:xfrm>
          <a:prstGeom prst="rect">
            <a:avLst/>
          </a:prstGeom>
          <a:noFill/>
          <a:ln/>
        </p:spPr>
        <p:txBody>
          <a:bodyPr wrap="square" lIns="0" tIns="0" rIns="0" bIns="0" rtlCol="0" anchor="ctr"/>
          <a:lstStyle/>
          <a:p>
            <a:pPr algn="r" indent="0" marL="0">
              <a:buNone/>
            </a:pPr>
            <a:r>
              <a:rPr lang="en-US" sz="1300" dirty="0">
                <a:solidFill>
                  <a:srgbClr val="000000"/>
                </a:solidFill>
                <a:latin typeface="Times New Roman" pitchFamily="34" charset="0"/>
                <a:ea typeface="Times New Roman" pitchFamily="34" charset="-122"/>
                <a:cs typeface="Times New Roman" pitchFamily="34" charset="-120"/>
              </a:rPr>
              <a:t>15.</a:t>
            </a:r>
            <a:endParaRPr lang="en-US" sz="1300" dirty="0"/>
          </a:p>
        </p:txBody>
      </p:sp>
      <p:sp>
        <p:nvSpPr>
          <p:cNvPr id="33" name="Text 31"/>
          <p:cNvSpPr txBox="1"/>
          <p:nvPr/>
        </p:nvSpPr>
        <p:spPr>
          <a:xfrm>
            <a:off x="7196328" y="4425696"/>
            <a:ext cx="4754880" cy="384048"/>
          </a:xfrm>
          <a:prstGeom prst="rect">
            <a:avLst/>
          </a:prstGeom>
          <a:noFill/>
          <a:ln/>
        </p:spPr>
        <p:txBody>
          <a:bodyPr wrap="square" lIns="0" tIns="0" rIns="0" bIns="0" rtlCol="0" anchor="ctr"/>
          <a:lstStyle/>
          <a:p>
            <a:pPr indent="0" marL="0">
              <a:buNone/>
            </a:pPr>
            <a:r>
              <a:rPr lang="en-US" sz="1300" dirty="0">
                <a:solidFill>
                  <a:srgbClr val="000000"/>
                </a:solidFill>
                <a:latin typeface="Times New Roman" pitchFamily="34" charset="0"/>
                <a:ea typeface="Times New Roman" pitchFamily="34" charset="-122"/>
                <a:cs typeface="Times New Roman" pitchFamily="34" charset="-120"/>
              </a:rPr>
              <a:t>Conclusion and References</a:t>
            </a:r>
            <a:endParaRPr lang="en-US" sz="1300" dirty="0"/>
          </a:p>
        </p:txBody>
      </p:sp>
      <p:sp>
        <p:nvSpPr>
          <p:cNvPr id="34" name="Text 3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35" name="Text 3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 Introduction — Background and Motivation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3</a:t>
            </a:r>
            <a:endParaRPr lang="en-US" sz="800" dirty="0"/>
          </a:p>
        </p:txBody>
      </p:sp>
      <p:sp>
        <p:nvSpPr>
          <p:cNvPr id="6" name="Shape 4"/>
          <p:cNvSpPr/>
          <p:nvPr/>
        </p:nvSpPr>
        <p:spPr>
          <a:xfrm>
            <a:off x="685800" y="1207008"/>
            <a:ext cx="5486400" cy="2880360"/>
          </a:xfrm>
          <a:prstGeom prst="roundRect">
            <a:avLst>
              <a:gd name="adj" fmla="val 698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868680" y="1353312"/>
            <a:ext cx="512064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The clinical problem</a:t>
            </a:r>
            <a:endParaRPr lang="en-US" sz="1400" dirty="0"/>
          </a:p>
        </p:txBody>
      </p:sp>
      <p:sp>
        <p:nvSpPr>
          <p:cNvPr id="8" name="Text 6"/>
          <p:cNvSpPr txBox="1"/>
          <p:nvPr/>
        </p:nvSpPr>
        <p:spPr>
          <a:xfrm>
            <a:off x="941832" y="1773936"/>
            <a:ext cx="4974336" cy="21488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Blood glucose must remain within 3.9–10.0 mmol/L. Below 3.9 causes seizure and coma within minutes; above 10.0 causes nerve, eye and kidney damage over years.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Every accurate measurement available today breaks the skin: a finger-prick four to ten times daily, or a continuous glucose monitor whose filament is replaced every 10–14 days.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Approximately 590 million adults worldwide manage diabetes in this way.</a:t>
            </a:r>
            <a:endParaRPr lang="en-US" sz="1200" dirty="0"/>
          </a:p>
        </p:txBody>
      </p:sp>
      <p:sp>
        <p:nvSpPr>
          <p:cNvPr id="9" name="Shape 7"/>
          <p:cNvSpPr/>
          <p:nvPr/>
        </p:nvSpPr>
        <p:spPr>
          <a:xfrm>
            <a:off x="6446520" y="1207008"/>
            <a:ext cx="5074920" cy="2880360"/>
          </a:xfrm>
          <a:prstGeom prst="roundRect">
            <a:avLst>
              <a:gd name="adj" fmla="val 698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0" name="Text 8"/>
          <p:cNvSpPr txBox="1"/>
          <p:nvPr/>
        </p:nvSpPr>
        <p:spPr>
          <a:xfrm>
            <a:off x="6629400" y="1353312"/>
            <a:ext cx="470916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Why the heart carries the signal</a:t>
            </a:r>
            <a:endParaRPr lang="en-US" sz="1400" dirty="0"/>
          </a:p>
        </p:txBody>
      </p:sp>
      <p:sp>
        <p:nvSpPr>
          <p:cNvPr id="11" name="Text 9"/>
          <p:cNvSpPr txBox="1"/>
          <p:nvPr/>
        </p:nvSpPr>
        <p:spPr>
          <a:xfrm>
            <a:off x="6702552" y="1773936"/>
            <a:ext cx="4562856" cy="21488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Hypoglycaemia triggers adrenaline release, which drives potassium into cells. Potassium governs cardiac repolarisation, so the ECG QT interval lengthens.</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Hyperglycaemia suppresses vagal tone and impairs coronary microcirculation, altering ST level, T-wave morphology and heart-rate variability.</a:t>
            </a:r>
            <a:endParaRPr lang="en-US" sz="1200" dirty="0"/>
          </a:p>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Both signals can be acquired painlessly: ECG from a chest strap, PPG from a wrist-worn device.</a:t>
            </a:r>
            <a:endParaRPr lang="en-US" sz="1200" dirty="0"/>
          </a:p>
        </p:txBody>
      </p:sp>
      <p:sp>
        <p:nvSpPr>
          <p:cNvPr id="12" name="Shape 10"/>
          <p:cNvSpPr/>
          <p:nvPr/>
        </p:nvSpPr>
        <p:spPr>
          <a:xfrm>
            <a:off x="685800" y="4251960"/>
            <a:ext cx="10835640" cy="1371600"/>
          </a:xfrm>
          <a:prstGeom prst="roundRect">
            <a:avLst>
              <a:gd name="adj" fmla="val 14667"/>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3" name="Text 11"/>
          <p:cNvSpPr txBox="1"/>
          <p:nvPr/>
        </p:nvSpPr>
        <p:spPr>
          <a:xfrm>
            <a:off x="868680" y="439826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The distinction that governs this work</a:t>
            </a:r>
            <a:endParaRPr lang="en-US" sz="1400" dirty="0"/>
          </a:p>
        </p:txBody>
      </p:sp>
      <p:sp>
        <p:nvSpPr>
          <p:cNvPr id="14" name="Text 12"/>
          <p:cNvSpPr txBox="1"/>
          <p:nvPr/>
        </p:nvSpPr>
        <p:spPr>
          <a:xfrm>
            <a:off x="941832" y="4818888"/>
            <a:ext cx="10323576" cy="64008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The mechanism above supports DETECTING a dysglycaemic event. That is a classification problem, and published ECG methods report 84–94% accuracy on it. It does not establish that the absolute concentration can be recovered from the waveform, which is a regression problem. This project evaluates the regression claim.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2. Literature Survey — The Method Under Test</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4</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Li et al., IEEE Trans. Neural Networks and Learning Systems 35(10), 2024 — reported performance against prior methods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35640" cy="914400"/>
        </p:xfrm>
        <a:graphic>
          <a:graphicData uri="http://schemas.openxmlformats.org/drawingml/2006/table">
            <a:tbl>
              <a:tblPr/>
              <a:tblGrid>
                <a:gridCol w="731520"/>
                <a:gridCol w="4251960"/>
                <a:gridCol w="1600200"/>
                <a:gridCol w="1280160"/>
                <a:gridCol w="1371600"/>
                <a:gridCol w="1600200"/>
              </a:tblGrid>
              <a:tr h="329184">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Ref.</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Method</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RMSE (mmol/L)</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MARD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A+B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CNN-RNN</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14.93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75.46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99.35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ResNets</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1.63</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15.22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75.18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99.26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Convolutional denoising autoencoder</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1.99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20.67</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60.88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98.56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CNN with multisegment fusion</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1.61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14.71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76.96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98.94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SFF-WCIM — the method reproduced here</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13.42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80.09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99.49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Shape 5"/>
          <p:cNvSpPr/>
          <p:nvPr/>
        </p:nvSpPr>
        <p:spPr>
          <a:xfrm>
            <a:off x="685800" y="3794760"/>
            <a:ext cx="10835640" cy="1508760"/>
          </a:xfrm>
          <a:prstGeom prst="roundRect">
            <a:avLst>
              <a:gd name="adj" fmla="val 13333"/>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9" name="Text 6"/>
          <p:cNvSpPr txBox="1"/>
          <p:nvPr/>
        </p:nvSpPr>
        <p:spPr>
          <a:xfrm>
            <a:off x="868680" y="394106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Why this claim required independent checking</a:t>
            </a:r>
            <a:endParaRPr lang="en-US" sz="1400" dirty="0"/>
          </a:p>
        </p:txBody>
      </p:sp>
      <p:sp>
        <p:nvSpPr>
          <p:cNvPr id="10" name="Text 7"/>
          <p:cNvSpPr txBox="1"/>
          <p:nvPr/>
        </p:nvSpPr>
        <p:spPr>
          <a:xfrm>
            <a:off x="941832" y="4361688"/>
            <a:ext cx="10323576" cy="777240"/>
          </a:xfrm>
          <a:prstGeom prst="rect">
            <a:avLst/>
          </a:prstGeom>
          <a:noFill/>
          <a:ln/>
        </p:spPr>
        <p:txBody>
          <a:bodyPr wrap="square" lIns="0" tIns="0" rIns="0" bIns="0" rtlCol="0" anchor="t"/>
          <a:lstStyle/>
          <a:p>
            <a:pPr indent="0" marL="0">
              <a:spcAft>
                <a:spcPts val="700"/>
              </a:spcAft>
              <a:buNone/>
            </a:pPr>
            <a:r>
              <a:rPr lang="en-US" sz="1200" dirty="0">
                <a:solidFill>
                  <a:srgbClr val="000000"/>
                </a:solidFill>
                <a:latin typeface="Times New Roman" pitchFamily="34" charset="0"/>
                <a:ea typeface="Times New Roman" pitchFamily="34" charset="-122"/>
                <a:cs typeface="Times New Roman" pitchFamily="34" charset="-120"/>
              </a:rPr>
              <a:t>1.49 mmol/L approaches the accuracy of approved continuous glucose monitors, which report a MARD of 10–12%. The authors released their source code but not their recordings, which are private. The result had therefore never been evaluated on a cohort the authors did not themselves select.</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3. Literature Survey — Evaluation Practice in the Field</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5</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Recent work questioning whether reported results survive rigorous evaluation</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35640" cy="914400"/>
        </p:xfrm>
        <a:graphic>
          <a:graphicData uri="http://schemas.openxmlformats.org/drawingml/2006/table">
            <a:tbl>
              <a:tblPr/>
              <a:tblGrid>
                <a:gridCol w="3383280"/>
                <a:gridCol w="7452360"/>
              </a:tblGrid>
              <a:tr h="347472">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Study</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Finding relevant to this project</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Reassessing PPG-Based Blood Glucose</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Level Estimation, arXiv:2608.01820 (2026)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Re-evaluated five published PPG-glucose methods. The best scored R² = 0.60 under a random</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split and −0.08 under a participant-aware split, no better than predicting the mean.</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Over 90% of predictions fell within Clarke Zone A+B, including the baseline.</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Advances in ECG-Based Non-Invasive Blood</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Glucose Monitoring Technology (review, 2026)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Identifies record-level splitting as a field-wide source of data leakage producing</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optimistic estimates; notes that most studies use fewer than 30 subjects; concludes that</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current methods do not reach the 10–12% MARD of approved devices.</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1024128">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Grabisch (1995); Marichal (2000)</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Aggregation theory: a Choquet integral taken with respect to a symmetric fuzzy measure</a:t>
                      </a:r>
                      <a:endParaRPr lang="en-US" sz="1100" dirty="0">
                        <a:latin typeface="Times New Roman" charset="0"/>
                        <a:ea typeface="Times New Roman" charset="0"/>
                        <a:cs typeface="Times New Roman" charset="0"/>
                      </a:endParaRPr>
                    </a:p>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reduces to an ordered weighted average. This bounds what we claim as novel in Section 12.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4. Research Gaps and Limitations Identified</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6</a:t>
            </a:r>
            <a:endParaRPr lang="en-US" sz="800" dirty="0"/>
          </a:p>
        </p:txBody>
      </p:sp>
      <p:sp>
        <p:nvSpPr>
          <p:cNvPr id="6" name="Text 4"/>
          <p:cNvSpPr txBox="1"/>
          <p:nvPr/>
        </p:nvSpPr>
        <p:spPr>
          <a:xfrm>
            <a:off x="685800" y="1234440"/>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7" name="Text 5"/>
          <p:cNvSpPr txBox="1"/>
          <p:nvPr/>
        </p:nvSpPr>
        <p:spPr>
          <a:xfrm>
            <a:off x="1097280" y="1234440"/>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No independent validation</a:t>
            </a:r>
            <a:endParaRPr lang="en-US" sz="1250" dirty="0"/>
          </a:p>
        </p:txBody>
      </p:sp>
      <p:sp>
        <p:nvSpPr>
          <p:cNvPr id="8" name="Text 6"/>
          <p:cNvSpPr txBox="1"/>
          <p:nvPr/>
        </p:nvSpPr>
        <p:spPr>
          <a:xfrm>
            <a:off x="1097280" y="1508760"/>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Source code released, data withheld. The result has never been tested on a cohort selected by anyone other than the authors.</a:t>
            </a:r>
            <a:endParaRPr lang="en-US" sz="1100" dirty="0"/>
          </a:p>
        </p:txBody>
      </p:sp>
      <p:sp>
        <p:nvSpPr>
          <p:cNvPr id="9" name="Text 7"/>
          <p:cNvSpPr txBox="1"/>
          <p:nvPr/>
        </p:nvSpPr>
        <p:spPr>
          <a:xfrm>
            <a:off x="685800" y="2093976"/>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0" name="Text 8"/>
          <p:cNvSpPr txBox="1"/>
          <p:nvPr/>
        </p:nvSpPr>
        <p:spPr>
          <a:xfrm>
            <a:off x="1097280" y="2093976"/>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Evaluation protocol not controlled</a:t>
            </a:r>
            <a:endParaRPr lang="en-US" sz="1250" dirty="0"/>
          </a:p>
        </p:txBody>
      </p:sp>
      <p:sp>
        <p:nvSpPr>
          <p:cNvPr id="11" name="Text 9"/>
          <p:cNvSpPr txBox="1"/>
          <p:nvPr/>
        </p:nvSpPr>
        <p:spPr>
          <a:xfrm>
            <a:off x="1097280" y="2368296"/>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Performance is reported under a random window-level split, in which the same participant appears in both training and test sets. Windows from one individual are strongly correlated, so a model may identify the participant rather than learn the glucose relationship.</a:t>
            </a:r>
            <a:endParaRPr lang="en-US" sz="1100" dirty="0"/>
          </a:p>
        </p:txBody>
      </p:sp>
      <p:sp>
        <p:nvSpPr>
          <p:cNvPr id="12" name="Text 10"/>
          <p:cNvSpPr txBox="1"/>
          <p:nvPr/>
        </p:nvSpPr>
        <p:spPr>
          <a:xfrm>
            <a:off x="685800" y="2953512"/>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3" name="Text 11"/>
          <p:cNvSpPr txBox="1"/>
          <p:nvPr/>
        </p:nvSpPr>
        <p:spPr>
          <a:xfrm>
            <a:off x="1097280" y="2953512"/>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Clinical metrics reported without a reference point</a:t>
            </a:r>
            <a:endParaRPr lang="en-US" sz="1250" dirty="0"/>
          </a:p>
        </p:txBody>
      </p:sp>
      <p:sp>
        <p:nvSpPr>
          <p:cNvPr id="14" name="Text 12"/>
          <p:cNvSpPr txBox="1"/>
          <p:nvPr/>
        </p:nvSpPr>
        <p:spPr>
          <a:xfrm>
            <a:off x="1097280" y="3227832"/>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Parkes Zone A+B is presented as evidence of clinical readiness, with no no-skill baseline reported alongside, so the reader cannot determine how much of that score is attributable to the method.</a:t>
            </a:r>
            <a:endParaRPr lang="en-US" sz="1100" dirty="0"/>
          </a:p>
        </p:txBody>
      </p:sp>
      <p:sp>
        <p:nvSpPr>
          <p:cNvPr id="15" name="Text 13"/>
          <p:cNvSpPr txBox="1"/>
          <p:nvPr/>
        </p:nvSpPr>
        <p:spPr>
          <a:xfrm>
            <a:off x="685800" y="3813048"/>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6" name="Text 14"/>
          <p:cNvSpPr txBox="1"/>
          <p:nvPr/>
        </p:nvSpPr>
        <p:spPr>
          <a:xfrm>
            <a:off x="1097280" y="3813048"/>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Fusion behaviour never audited</a:t>
            </a:r>
            <a:endParaRPr lang="en-US" sz="1250" dirty="0"/>
          </a:p>
        </p:txBody>
      </p:sp>
      <p:sp>
        <p:nvSpPr>
          <p:cNvPr id="17" name="Text 15"/>
          <p:cNvSpPr txBox="1"/>
          <p:nvPr/>
        </p:nvSpPr>
        <p:spPr>
          <a:xfrm>
            <a:off x="1097280" y="4087368"/>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The fuzzy densities that parameterise the Choquet integral are estimated from model performance, but are neither reported nor checked for degeneracy.</a:t>
            </a:r>
            <a:endParaRPr lang="en-US" sz="1100" dirty="0"/>
          </a:p>
        </p:txBody>
      </p:sp>
      <p:sp>
        <p:nvSpPr>
          <p:cNvPr id="18" name="Text 16"/>
          <p:cNvSpPr txBox="1"/>
          <p:nvPr/>
        </p:nvSpPr>
        <p:spPr>
          <a:xfrm>
            <a:off x="685800" y="4672584"/>
            <a:ext cx="365760" cy="274320"/>
          </a:xfrm>
          <a:prstGeom prst="rect">
            <a:avLst/>
          </a:prstGeom>
          <a:noFill/>
          <a:ln/>
        </p:spPr>
        <p:txBody>
          <a:bodyPr wrap="square" lIns="0" tIns="0" rIns="0" bIns="0" rtlCol="0" anchor="ctr"/>
          <a:lstStyle/>
          <a:p>
            <a:pPr indent="0" marL="0">
              <a:buNone/>
            </a:pPr>
            <a:r>
              <a:rPr lang="en-US" sz="1200" b="1" dirty="0">
                <a:solidFill>
                  <a:srgbClr val="000000"/>
                </a:solidFill>
                <a:latin typeface="Times New Roman" pitchFamily="34" charset="0"/>
                <a:ea typeface="Times New Roman" pitchFamily="34" charset="-122"/>
                <a:cs typeface="Times New Roman" pitchFamily="34" charset="-120"/>
              </a:rPr>
              <a:t>5.</a:t>
            </a:r>
            <a:endParaRPr lang="en-US" sz="1200" dirty="0"/>
          </a:p>
        </p:txBody>
      </p:sp>
      <p:sp>
        <p:nvSpPr>
          <p:cNvPr id="19" name="Text 17"/>
          <p:cNvSpPr txBox="1"/>
          <p:nvPr/>
        </p:nvSpPr>
        <p:spPr>
          <a:xfrm>
            <a:off x="1097280" y="4672584"/>
            <a:ext cx="10424160" cy="256032"/>
          </a:xfrm>
          <a:prstGeom prst="rect">
            <a:avLst/>
          </a:prstGeom>
          <a:noFill/>
          <a:ln/>
        </p:spPr>
        <p:txBody>
          <a:bodyPr wrap="square" lIns="0" tIns="0" rIns="0" bIns="0" rtlCol="0" anchor="ctr"/>
          <a:lstStyle/>
          <a:p>
            <a:pPr indent="0" marL="0">
              <a:buNone/>
            </a:pPr>
            <a:r>
              <a:rPr lang="en-US" sz="1250" b="1" dirty="0">
                <a:solidFill>
                  <a:srgbClr val="000000"/>
                </a:solidFill>
                <a:latin typeface="Times New Roman" pitchFamily="34" charset="0"/>
                <a:ea typeface="Times New Roman" pitchFamily="34" charset="-122"/>
                <a:cs typeface="Times New Roman" pitchFamily="34" charset="-120"/>
              </a:rPr>
              <a:t>Reproducibility of the feature pipeline unverified</a:t>
            </a:r>
            <a:endParaRPr lang="en-US" sz="1250" dirty="0"/>
          </a:p>
        </p:txBody>
      </p:sp>
      <p:sp>
        <p:nvSpPr>
          <p:cNvPr id="20" name="Text 18"/>
          <p:cNvSpPr txBox="1"/>
          <p:nvPr/>
        </p:nvSpPr>
        <p:spPr>
          <a:xfrm>
            <a:off x="1097280" y="4946904"/>
            <a:ext cx="10424160" cy="548640"/>
          </a:xfrm>
          <a:prstGeom prst="rect">
            <a:avLst/>
          </a:prstGeom>
          <a:noFill/>
          <a:ln/>
        </p:spPr>
        <p:txBody>
          <a:bodyPr wrap="square" lIns="0" tIns="0" rIns="0" bIns="0" rtlCol="0" anchor="ctr"/>
          <a:lstStyle/>
          <a:p>
            <a:pPr indent="0" marL="0">
              <a:buNone/>
            </a:pPr>
            <a:r>
              <a:rPr lang="en-US" sz="1100" dirty="0">
                <a:solidFill>
                  <a:srgbClr val="000000"/>
                </a:solidFill>
                <a:latin typeface="Times New Roman" pitchFamily="34" charset="0"/>
                <a:ea typeface="Times New Roman" pitchFamily="34" charset="-122"/>
                <a:cs typeface="Times New Roman" pitchFamily="34" charset="-120"/>
              </a:rPr>
              <a:t>No check that identical input produces identical features.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5. Aim and Objectives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7</a:t>
            </a:r>
            <a:endParaRPr lang="en-US" sz="800" dirty="0"/>
          </a:p>
        </p:txBody>
      </p:sp>
      <p:sp>
        <p:nvSpPr>
          <p:cNvPr id="6" name="Shape 4"/>
          <p:cNvSpPr/>
          <p:nvPr/>
        </p:nvSpPr>
        <p:spPr>
          <a:xfrm>
            <a:off x="685800" y="1207008"/>
            <a:ext cx="10835640" cy="914400"/>
          </a:xfrm>
          <a:prstGeom prst="roundRect">
            <a:avLst>
              <a:gd name="adj" fmla="val 2200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941832" y="1408176"/>
            <a:ext cx="10323576" cy="530352"/>
          </a:xfrm>
          <a:prstGeom prst="rect">
            <a:avLst/>
          </a:prstGeom>
          <a:noFill/>
          <a:ln/>
        </p:spPr>
        <p:txBody>
          <a:bodyPr wrap="square" lIns="0" tIns="0" rIns="0" bIns="0" rtlCol="0" anchor="t"/>
          <a:lstStyle/>
          <a:p>
            <a:pPr indent="0" marL="0">
              <a:spcAft>
                <a:spcPts val="700"/>
              </a:spcAft>
              <a:buNone/>
            </a:pPr>
            <a:r>
              <a:rPr lang="en-US" sz="1300" dirty="0">
                <a:solidFill>
                  <a:srgbClr val="000000"/>
                </a:solidFill>
                <a:latin typeface="Times New Roman" pitchFamily="34" charset="0"/>
                <a:ea typeface="Times New Roman" pitchFamily="34" charset="-122"/>
                <a:cs typeface="Times New Roman" pitchFamily="34" charset="-120"/>
              </a:rPr>
              <a:t>Aim: to determine whether the reported accuracy of the SFF-WCIM method survives independent reproduction on open data under leakage-controlled evaluation.</a:t>
            </a:r>
            <a:endParaRPr lang="en-US" sz="1300" dirty="0"/>
          </a:p>
        </p:txBody>
      </p:sp>
      <p:sp>
        <p:nvSpPr>
          <p:cNvPr id="8" name="Text 6"/>
          <p:cNvSpPr txBox="1"/>
          <p:nvPr/>
        </p:nvSpPr>
        <p:spPr>
          <a:xfrm>
            <a:off x="685800" y="2286000"/>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Objectives</a:t>
            </a:r>
            <a:endParaRPr lang="en-US" sz="1300" dirty="0"/>
          </a:p>
        </p:txBody>
      </p:sp>
      <p:sp>
        <p:nvSpPr>
          <p:cNvPr id="9" name="Text 7"/>
          <p:cNvSpPr txBox="1"/>
          <p:nvPr/>
        </p:nvSpPr>
        <p:spPr>
          <a:xfrm>
            <a:off x="960120" y="2697480"/>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1.</a:t>
            </a:r>
            <a:endParaRPr lang="en-US" sz="1200" dirty="0"/>
          </a:p>
        </p:txBody>
      </p:sp>
      <p:sp>
        <p:nvSpPr>
          <p:cNvPr id="10" name="Text 8"/>
          <p:cNvSpPr txBox="1"/>
          <p:nvPr/>
        </p:nvSpPr>
        <p:spPr>
          <a:xfrm>
            <a:off x="1371600" y="2697480"/>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Rebuild all three stages of the published method from its description.</a:t>
            </a:r>
            <a:endParaRPr lang="en-US" sz="1200" dirty="0"/>
          </a:p>
        </p:txBody>
      </p:sp>
      <p:sp>
        <p:nvSpPr>
          <p:cNvPr id="11" name="Text 9"/>
          <p:cNvSpPr txBox="1"/>
          <p:nvPr/>
        </p:nvSpPr>
        <p:spPr>
          <a:xfrm>
            <a:off x="960120" y="3099816"/>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2.</a:t>
            </a:r>
            <a:endParaRPr lang="en-US" sz="1200" dirty="0"/>
          </a:p>
        </p:txBody>
      </p:sp>
      <p:sp>
        <p:nvSpPr>
          <p:cNvPr id="12" name="Text 10"/>
          <p:cNvSpPr txBox="1"/>
          <p:nvPr/>
        </p:nvSpPr>
        <p:spPr>
          <a:xfrm>
            <a:off x="1371600" y="3099816"/>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Evaluate on PhysioCGM: ten Type-1 participants with simultaneous ECG, PPG and CGM, released into the public domain.</a:t>
            </a:r>
            <a:endParaRPr lang="en-US" sz="1200" dirty="0"/>
          </a:p>
        </p:txBody>
      </p:sp>
      <p:sp>
        <p:nvSpPr>
          <p:cNvPr id="13" name="Text 11"/>
          <p:cNvSpPr txBox="1"/>
          <p:nvPr/>
        </p:nvSpPr>
        <p:spPr>
          <a:xfrm>
            <a:off x="960120" y="3502152"/>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3.</a:t>
            </a:r>
            <a:endParaRPr lang="en-US" sz="1200" dirty="0"/>
          </a:p>
        </p:txBody>
      </p:sp>
      <p:sp>
        <p:nvSpPr>
          <p:cNvPr id="14" name="Text 12"/>
          <p:cNvSpPr txBox="1"/>
          <p:nvPr/>
        </p:nvSpPr>
        <p:spPr>
          <a:xfrm>
            <a:off x="1371600" y="3502152"/>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Evaluate under three progressively stricter split protocols, reporting a no-skill baseline computed on the same folds beside every result.</a:t>
            </a:r>
            <a:endParaRPr lang="en-US" sz="1200" dirty="0"/>
          </a:p>
        </p:txBody>
      </p:sp>
      <p:sp>
        <p:nvSpPr>
          <p:cNvPr id="15" name="Text 13"/>
          <p:cNvSpPr txBox="1"/>
          <p:nvPr/>
        </p:nvSpPr>
        <p:spPr>
          <a:xfrm>
            <a:off x="960120" y="3904488"/>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4.</a:t>
            </a:r>
            <a:endParaRPr lang="en-US" sz="1200" dirty="0"/>
          </a:p>
        </p:txBody>
      </p:sp>
      <p:sp>
        <p:nvSpPr>
          <p:cNvPr id="16" name="Text 14"/>
          <p:cNvSpPr txBox="1"/>
          <p:nvPr/>
        </p:nvSpPr>
        <p:spPr>
          <a:xfrm>
            <a:off x="1371600" y="3904488"/>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Audit the fusion operator itself: recover the fuzzy densities and verify that the integral still discriminates between the base models.</a:t>
            </a:r>
            <a:endParaRPr lang="en-US" sz="1200" dirty="0"/>
          </a:p>
        </p:txBody>
      </p:sp>
      <p:sp>
        <p:nvSpPr>
          <p:cNvPr id="17" name="Text 15"/>
          <p:cNvSpPr txBox="1"/>
          <p:nvPr/>
        </p:nvSpPr>
        <p:spPr>
          <a:xfrm>
            <a:off x="960120" y="4306824"/>
            <a:ext cx="320040" cy="365760"/>
          </a:xfrm>
          <a:prstGeom prst="rect">
            <a:avLst/>
          </a:prstGeom>
          <a:noFill/>
          <a:ln/>
        </p:spPr>
        <p:txBody>
          <a:bodyPr wrap="square" lIns="0" tIns="0" rIns="0" bIns="0" rtlCol="0" anchor="ctr"/>
          <a:lstStyle/>
          <a:p>
            <a:pPr algn="r" indent="0" marL="0">
              <a:buNone/>
            </a:pPr>
            <a:r>
              <a:rPr lang="en-US" sz="1200" dirty="0">
                <a:solidFill>
                  <a:srgbClr val="000000"/>
                </a:solidFill>
                <a:latin typeface="Times New Roman" pitchFamily="34" charset="0"/>
                <a:ea typeface="Times New Roman" pitchFamily="34" charset="-122"/>
                <a:cs typeface="Times New Roman" pitchFamily="34" charset="-120"/>
              </a:rPr>
              <a:t>5.</a:t>
            </a:r>
            <a:endParaRPr lang="en-US" sz="1200" dirty="0"/>
          </a:p>
        </p:txBody>
      </p:sp>
      <p:sp>
        <p:nvSpPr>
          <p:cNvPr id="18" name="Text 16"/>
          <p:cNvSpPr txBox="1"/>
          <p:nvPr/>
        </p:nvSpPr>
        <p:spPr>
          <a:xfrm>
            <a:off x="1371600" y="4306824"/>
            <a:ext cx="10058400" cy="365760"/>
          </a:xfrm>
          <a:prstGeom prst="rect">
            <a:avLst/>
          </a:prstGeom>
          <a:noFill/>
          <a:ln/>
        </p:spPr>
        <p:txBody>
          <a:bodyPr wrap="square" lIns="0" tIns="0" rIns="0" bIns="0" rtlCol="0" anchor="ctr"/>
          <a:lstStyle/>
          <a:p>
            <a:pPr indent="0" marL="0">
              <a:buNone/>
            </a:pPr>
            <a:r>
              <a:rPr lang="en-US" sz="1200" dirty="0">
                <a:solidFill>
                  <a:srgbClr val="000000"/>
                </a:solidFill>
                <a:latin typeface="Times New Roman" pitchFamily="34" charset="0"/>
                <a:ea typeface="Times New Roman" pitchFamily="34" charset="-122"/>
                <a:cs typeface="Times New Roman" pitchFamily="34" charset="-120"/>
              </a:rPr>
              <a:t>Verify that the feature-extraction pipeline is deterministic.</a:t>
            </a:r>
            <a:endParaRPr lang="en-US" sz="1200" dirty="0"/>
          </a:p>
        </p:txBody>
      </p:sp>
      <p:sp>
        <p:nvSpPr>
          <p:cNvPr id="19" name="Shape 17"/>
          <p:cNvSpPr/>
          <p:nvPr/>
        </p:nvSpPr>
        <p:spPr>
          <a:xfrm>
            <a:off x="685800" y="4800600"/>
            <a:ext cx="10835640" cy="1325880"/>
          </a:xfrm>
          <a:prstGeom prst="roundRect">
            <a:avLst>
              <a:gd name="adj" fmla="val 15172"/>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20" name="Text 18"/>
          <p:cNvSpPr txBox="1"/>
          <p:nvPr/>
        </p:nvSpPr>
        <p:spPr>
          <a:xfrm>
            <a:off x="868680" y="494690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Scope and limitations</a:t>
            </a:r>
            <a:endParaRPr lang="en-US" sz="1400" dirty="0"/>
          </a:p>
        </p:txBody>
      </p:sp>
      <p:sp>
        <p:nvSpPr>
          <p:cNvPr id="21" name="Text 19"/>
          <p:cNvSpPr txBox="1"/>
          <p:nvPr/>
        </p:nvSpPr>
        <p:spPr>
          <a:xfrm>
            <a:off x="941832" y="5367528"/>
            <a:ext cx="10323576" cy="594360"/>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The authors' dataset is unavailable, so this reproduces the METHOD on different data rather than replicating the experiment. The spatial morphological branch is implemented with hand-crafted physiological features rather than a ResNet, as no GPU was available; this deviation is documented and examined in the ablation.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6. Problem Formulation — Fuzzy Measures and the Choquet Integral</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8</a:t>
            </a:r>
            <a:endParaRPr lang="en-US" sz="800" dirty="0"/>
          </a:p>
        </p:txBody>
      </p:sp>
      <p:sp>
        <p:nvSpPr>
          <p:cNvPr id="6" name="Text 4"/>
          <p:cNvSpPr txBox="1"/>
          <p:nvPr/>
        </p:nvSpPr>
        <p:spPr>
          <a:xfrm>
            <a:off x="685800" y="1188720"/>
            <a:ext cx="10835640" cy="1005840"/>
          </a:xfrm>
          <a:prstGeom prst="rect">
            <a:avLst/>
          </a:prstGeom>
          <a:noFill/>
          <a:ln/>
        </p:spPr>
        <p:txBody>
          <a:bodyPr wrap="square" lIns="0" tIns="0" rIns="0" bIns="0" rtlCol="0" anchor="t"/>
          <a:lstStyle/>
          <a:p>
            <a:pPr indent="0" marL="0">
              <a:spcAft>
                <a:spcPts val="800"/>
              </a:spcAft>
              <a:buNone/>
            </a:pPr>
            <a:r>
              <a:rPr lang="en-US" sz="1200" dirty="0">
                <a:solidFill>
                  <a:srgbClr val="000000"/>
                </a:solidFill>
                <a:latin typeface="Times New Roman" pitchFamily="34" charset="0"/>
                <a:ea typeface="Times New Roman" pitchFamily="34" charset="-122"/>
                <a:cs typeface="Times New Roman" pitchFamily="34" charset="-120"/>
              </a:rPr>
              <a:t>Given a 16 s window of ECG and PPG preceding a CGM reading, predict the glucose concentration y. Three regressors produce estimates h₁, h₂, h₃, which must be combined into a single value.</a:t>
            </a:r>
            <a:endParaRPr lang="en-US" sz="1200" dirty="0"/>
          </a:p>
          <a:p>
            <a:pPr indent="0" marL="0">
              <a:spcAft>
                <a:spcPts val="800"/>
              </a:spcAft>
              <a:buNone/>
            </a:pPr>
            <a:r>
              <a:rPr lang="en-US" sz="1200" dirty="0">
                <a:solidFill>
                  <a:srgbClr val="000000"/>
                </a:solidFill>
                <a:latin typeface="Times New Roman" pitchFamily="34" charset="0"/>
                <a:ea typeface="Times New Roman" pitchFamily="34" charset="-122"/>
                <a:cs typeface="Times New Roman" pitchFamily="34" charset="-120"/>
              </a:rPr>
              <a:t>A weighted average assigns importance to each model individually and therefore cannot express that two models overlap. A fuzzy measure assigns importance to every subset; the Sugeno λ-measure generates all 2ᴺ subset values from one density per model:</a:t>
            </a:r>
            <a:endParaRPr lang="en-US" sz="1200" dirty="0"/>
          </a:p>
        </p:txBody>
      </p:sp>
      <p:pic>
        <p:nvPicPr>
          <p:cNvPr id="7" name="Image 0" descr="figures\equations\sugeno_union.png">    </p:cNvPr>
          <p:cNvPicPr>
            <a:picLocks noChangeAspect="1"/>
          </p:cNvPicPr>
          <p:nvPr/>
        </p:nvPicPr>
        <p:blipFill>
          <a:blip r:embed="rId1"/>
          <a:stretch>
            <a:fillRect/>
          </a:stretch>
        </p:blipFill>
        <p:spPr>
          <a:xfrm>
            <a:off x="1417320" y="2377440"/>
            <a:ext cx="5394960" cy="481693"/>
          </a:xfrm>
          <a:prstGeom prst="rect">
            <a:avLst/>
          </a:prstGeom>
        </p:spPr>
      </p:pic>
      <p:pic>
        <p:nvPicPr>
          <p:cNvPr id="8" name="Image 1" descr="figures\equations\sugeno_lambda.png">    </p:cNvPr>
          <p:cNvPicPr>
            <a:picLocks noChangeAspect="1"/>
          </p:cNvPicPr>
          <p:nvPr/>
        </p:nvPicPr>
        <p:blipFill>
          <a:blip r:embed="rId2"/>
          <a:stretch>
            <a:fillRect/>
          </a:stretch>
        </p:blipFill>
        <p:spPr>
          <a:xfrm>
            <a:off x="7863840" y="2240280"/>
            <a:ext cx="2651760" cy="886582"/>
          </a:xfrm>
          <a:prstGeom prst="rect">
            <a:avLst/>
          </a:prstGeom>
        </p:spPr>
      </p:pic>
      <p:pic>
        <p:nvPicPr>
          <p:cNvPr id="9" name="Image 2" descr="figures\equations\choquet.png">    </p:cNvPr>
          <p:cNvPicPr>
            <a:picLocks noChangeAspect="1"/>
          </p:cNvPicPr>
          <p:nvPr/>
        </p:nvPicPr>
        <p:blipFill>
          <a:blip r:embed="rId3"/>
          <a:stretch>
            <a:fillRect/>
          </a:stretch>
        </p:blipFill>
        <p:spPr>
          <a:xfrm>
            <a:off x="2194560" y="3566160"/>
            <a:ext cx="5760720" cy="1248568"/>
          </a:xfrm>
          <a:prstGeom prst="rect">
            <a:avLst/>
          </a:prstGeom>
        </p:spPr>
      </p:pic>
      <p:sp>
        <p:nvSpPr>
          <p:cNvPr id="10" name="Shape 5"/>
          <p:cNvSpPr/>
          <p:nvPr/>
        </p:nvSpPr>
        <p:spPr>
          <a:xfrm>
            <a:off x="685800" y="4892040"/>
            <a:ext cx="10835640" cy="1051560"/>
          </a:xfrm>
          <a:prstGeom prst="roundRect">
            <a:avLst>
              <a:gd name="adj" fmla="val 1913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1" name="Text 6"/>
          <p:cNvSpPr txBox="1"/>
          <p:nvPr/>
        </p:nvSpPr>
        <p:spPr>
          <a:xfrm>
            <a:off x="941832" y="5093208"/>
            <a:ext cx="10323576" cy="667512"/>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λ is fixed by the boundary condition g(X) = 1.  Σgᵢ = 1 gives λ = 0, and the integral reduces exactly to a weighted average.  Σgᵢ &gt; 1 gives λ &lt; 0, an overlap penalty.  Σgᵢ &lt; 1 gives λ &gt; 0, a synergy bonus.  Sorting is what allows subset importance to enter: the weight a prediction receives depends on its rank.</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7. Methodology I — Pipeline, Signals and Dataset</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9</a:t>
            </a:r>
            <a:endParaRPr lang="en-US" sz="800" dirty="0"/>
          </a:p>
        </p:txBody>
      </p:sp>
      <p:sp>
        <p:nvSpPr>
          <p:cNvPr id="6" name="Text 4"/>
          <p:cNvSpPr txBox="1"/>
          <p:nvPr/>
        </p:nvSpPr>
        <p:spPr>
          <a:xfrm>
            <a:off x="685800" y="1188720"/>
            <a:ext cx="10835640" cy="210312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1 — acquisition and conditioning.</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16 s windows (approximately 20 cardiac cycles) preceding each CGM reading; Butterworth band-pass 0.5–40 Hz for ECG and 0.5–8 Hz for PPG, the latter because 64 Hz sampling limits the representable band to 32 Hz.</a:t>
            </a:r>
            <a:endParaRPr lang="en-US" sz="1150" dirty="0"/>
          </a:p>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2 — feature extraction.</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db4 DWT to 7 levels yields 8 sub-signals per modality; 10 statistical features each (80 per modality, 160 in total), plus 33 morphological features. Selection by the intersection of UFS, RFE and L1.</a:t>
            </a:r>
            <a:endParaRPr lang="en-US" sz="1150" dirty="0"/>
          </a:p>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Level 3 — decision fusion.</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Random Forest, Gradient Boosting and Bagging, combined by the weight-based Choquet integral.</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3429000"/>
          <a:ext cx="6537960" cy="914400"/>
        </p:xfrm>
        <a:graphic>
          <a:graphicData uri="http://schemas.openxmlformats.org/drawingml/2006/table">
            <a:tbl>
              <a:tblPr/>
              <a:tblGrid>
                <a:gridCol w="960120"/>
                <a:gridCol w="2331720"/>
                <a:gridCol w="777240"/>
                <a:gridCol w="2468880"/>
              </a:tblGrid>
              <a:tr h="292608">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Signal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Device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Rate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Role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ECG</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Zephyr BioHarness (chest strap)</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250 Hz</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Electrical activity of the heart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PPG (BVP)</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Empatica E4 (wristband)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64 Hz</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Blood volume pulse, optical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Glucose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Dexcom CGM</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5 min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Reference value to be predicted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7543800" y="3429000"/>
          <a:ext cx="3977640" cy="914400"/>
        </p:xfrm>
        <a:graphic>
          <a:graphicData uri="http://schemas.openxmlformats.org/drawingml/2006/table">
            <a:tbl>
              <a:tblPr/>
              <a:tblGrid>
                <a:gridCol w="2331720"/>
                <a:gridCol w="1645920"/>
              </a:tblGrid>
              <a:tr h="301752">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Study population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Value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Participants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10 (Type-1 diabetes)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Paired ECG + PPG windows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30,830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Features per window</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193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Glucose range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2.2 – 21.5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Mean / standard deviation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7.17 / 2.519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8. Methodology II — Feature Extraction and Selection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10</a:t>
            </a:r>
            <a:endParaRPr lang="en-US" sz="800" dirty="0"/>
          </a:p>
        </p:txBody>
      </p:sp>
      <p:sp>
        <p:nvSpPr>
          <p:cNvPr id="6" name="Text 4"/>
          <p:cNvSpPr txBox="1"/>
          <p:nvPr/>
        </p:nvSpPr>
        <p:spPr>
          <a:xfrm>
            <a:off x="685800" y="1188720"/>
            <a:ext cx="10835640" cy="6400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Temporal statistical features — 10 per sub-signal:</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kurtosis, skewness, Hjorth mobility and complexity, fractal dimension, correlation dimension, C0-complexity, power spectral entropy, Kolmogorov entropy, Shannon entropy.</a:t>
            </a:r>
            <a:endParaRPr lang="en-US" sz="1150" dirty="0"/>
          </a:p>
        </p:txBody>
      </p:sp>
      <p:pic>
        <p:nvPicPr>
          <p:cNvPr id="7" name="Image 0" descr="figures\equations\hjorth.png">    </p:cNvPr>
          <p:cNvPicPr>
            <a:picLocks noChangeAspect="1"/>
          </p:cNvPicPr>
          <p:nvPr/>
        </p:nvPicPr>
        <p:blipFill>
          <a:blip r:embed="rId1"/>
          <a:stretch>
            <a:fillRect/>
          </a:stretch>
        </p:blipFill>
        <p:spPr>
          <a:xfrm>
            <a:off x="868680" y="1874520"/>
            <a:ext cx="5577840" cy="738874"/>
          </a:xfrm>
          <a:prstGeom prst="rect">
            <a:avLst/>
          </a:prstGeom>
        </p:spPr>
      </p:pic>
      <p:pic>
        <p:nvPicPr>
          <p:cNvPr id="8" name="Image 1" descr="figures\equations\entropy.png">    </p:cNvPr>
          <p:cNvPicPr>
            <a:picLocks noChangeAspect="1"/>
          </p:cNvPicPr>
          <p:nvPr/>
        </p:nvPicPr>
        <p:blipFill>
          <a:blip r:embed="rId2"/>
          <a:stretch>
            <a:fillRect/>
          </a:stretch>
        </p:blipFill>
        <p:spPr>
          <a:xfrm>
            <a:off x="6949440" y="1847088"/>
            <a:ext cx="4023360" cy="649272"/>
          </a:xfrm>
          <a:prstGeom prst="rect">
            <a:avLst/>
          </a:prstGeom>
        </p:spPr>
      </p:pic>
      <p:sp>
        <p:nvSpPr>
          <p:cNvPr id="9" name="Text 5"/>
          <p:cNvSpPr txBox="1"/>
          <p:nvPr/>
        </p:nvSpPr>
        <p:spPr>
          <a:xfrm>
            <a:off x="685800" y="2697480"/>
            <a:ext cx="10835640" cy="6400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Spatial morphological features — measured directly, not learned:</a:t>
            </a:r>
            <a:endParaRPr lang="en-US" sz="1150" dirty="0"/>
          </a:p>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QT and corrected QT, ST level, T-wave amplitude and sharpness, QRS duration, and heart-rate variability. Each is individually attributable to the mechanism in Section 1.</a:t>
            </a:r>
            <a:endParaRPr lang="en-US" sz="1150" dirty="0"/>
          </a:p>
        </p:txBody>
      </p:sp>
      <p:pic>
        <p:nvPicPr>
          <p:cNvPr id="10" name="Image 2" descr="figures\equations\qtc.png">    </p:cNvPr>
          <p:cNvPicPr>
            <a:picLocks noChangeAspect="1"/>
          </p:cNvPicPr>
          <p:nvPr/>
        </p:nvPicPr>
        <p:blipFill>
          <a:blip r:embed="rId3"/>
          <a:stretch>
            <a:fillRect/>
          </a:stretch>
        </p:blipFill>
        <p:spPr>
          <a:xfrm>
            <a:off x="868680" y="3310128"/>
            <a:ext cx="4572000" cy="773873"/>
          </a:xfrm>
          <a:prstGeom prst="rect">
            <a:avLst/>
          </a:prstGeom>
        </p:spPr>
      </p:pic>
      <p:sp>
        <p:nvSpPr>
          <p:cNvPr id="11" name="Text 6"/>
          <p:cNvSpPr txBox="1"/>
          <p:nvPr/>
        </p:nvSpPr>
        <p:spPr>
          <a:xfrm>
            <a:off x="685800" y="4160520"/>
            <a:ext cx="10835640" cy="411480"/>
          </a:xfrm>
          <a:prstGeom prst="rect">
            <a:avLst/>
          </a:prstGeom>
          <a:noFill/>
          <a:ln/>
        </p:spPr>
        <p:txBody>
          <a:bodyPr wrap="square" lIns="0" tIns="0" rIns="0" bIns="0" rtlCol="0" anchor="t"/>
          <a:lstStyle/>
          <a:p>
            <a:pPr indent="0" marL="0">
              <a:spcAft>
                <a:spcPts val="800"/>
              </a:spcAft>
              <a:buNone/>
            </a:pPr>
            <a:r>
              <a:rPr lang="en-US" sz="1150" b="1" dirty="0">
                <a:solidFill>
                  <a:srgbClr val="000000"/>
                </a:solidFill>
                <a:latin typeface="Times New Roman" pitchFamily="34" charset="0"/>
                <a:ea typeface="Times New Roman" pitchFamily="34" charset="-122"/>
                <a:cs typeface="Times New Roman" pitchFamily="34" charset="-120"/>
              </a:rPr>
              <a:t>Feature selection — a feature is retained only if all three criteria select it (paper eqs. 5 and 6), fitted within each training fold:</a:t>
            </a:r>
            <a:endParaRPr lang="en-US" sz="1150" dirty="0"/>
          </a:p>
        </p:txBody>
      </p:sp>
      <p:pic>
        <p:nvPicPr>
          <p:cNvPr id="12" name="Image 3" descr="figures\equations\eq5_rfe.png">    </p:cNvPr>
          <p:cNvPicPr>
            <a:picLocks noChangeAspect="1"/>
          </p:cNvPicPr>
          <p:nvPr/>
        </p:nvPicPr>
        <p:blipFill>
          <a:blip r:embed="rId4"/>
          <a:stretch>
            <a:fillRect/>
          </a:stretch>
        </p:blipFill>
        <p:spPr>
          <a:xfrm>
            <a:off x="868680" y="4663440"/>
            <a:ext cx="5669280" cy="804230"/>
          </a:xfrm>
          <a:prstGeom prst="rect">
            <a:avLst/>
          </a:prstGeom>
        </p:spPr>
      </p:pic>
      <p:pic>
        <p:nvPicPr>
          <p:cNvPr id="13" name="Image 4" descr="figures\equations\eq6_lasso.png">    </p:cNvPr>
          <p:cNvPicPr>
            <a:picLocks noChangeAspect="1"/>
          </p:cNvPicPr>
          <p:nvPr/>
        </p:nvPicPr>
        <p:blipFill>
          <a:blip r:embed="rId5"/>
          <a:stretch>
            <a:fillRect/>
          </a:stretch>
        </p:blipFill>
        <p:spPr>
          <a:xfrm>
            <a:off x="6949440" y="4709160"/>
            <a:ext cx="4023360" cy="85432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9. Results I — Reproducing the Published Result</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11</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Evaluated under the source paper's own protocol: a random split at the window level. 193 features, 30,830 windows, 10 participants.</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1572768"/>
          <a:ext cx="10835640" cy="914400"/>
        </p:xfrm>
        <a:graphic>
          <a:graphicData uri="http://schemas.openxmlformats.org/drawingml/2006/table">
            <a:tbl>
              <a:tblPr/>
              <a:tblGrid>
                <a:gridCol w="3017520"/>
                <a:gridCol w="1234440"/>
                <a:gridCol w="1737360"/>
                <a:gridCol w="1371600"/>
                <a:gridCol w="1463040"/>
                <a:gridCol w="2011680"/>
              </a:tblGrid>
              <a:tr h="310896">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Method</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R²</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RMSE (mmol/L)</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MARD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Zone A+B (%)</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310896">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Random Forest</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+0.194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2.262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25.72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53.04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93.18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Bagging</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+0.194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2.262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25.72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53.07</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93.18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Gradient Boosting</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+0.101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2.389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27.48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48.78</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92.25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Choquet fusion</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+0.149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2.324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24.86</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52.87</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93.75</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000000"/>
                          </a:solidFill>
                          <a:latin typeface="Times New Roman" pitchFamily="34" charset="0"/>
                          <a:ea typeface="Times New Roman" pitchFamily="34" charset="-122"/>
                          <a:cs typeface="Times New Roman" pitchFamily="34" charset="-120"/>
                        </a:rPr>
                        <a:t>No-skill baseline</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−0.000</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2.520</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29.14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45.34</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000000"/>
                          </a:solidFill>
                          <a:latin typeface="Times New Roman" pitchFamily="34" charset="0"/>
                          <a:ea typeface="Times New Roman" pitchFamily="34" charset="-122"/>
                          <a:cs typeface="Times New Roman" pitchFamily="34" charset="-120"/>
                        </a:rPr>
                        <a:t>90.89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000000"/>
                          </a:solidFill>
                          <a:latin typeface="Times New Roman" pitchFamily="34" charset="0"/>
                          <a:ea typeface="Times New Roman" pitchFamily="34" charset="-122"/>
                          <a:cs typeface="Times New Roman" pitchFamily="34" charset="-120"/>
                        </a:rPr>
                        <a:t>Reported by the authors [1]</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not reported</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1.490</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13.42</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80.09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000000"/>
                          </a:solidFill>
                          <a:latin typeface="Times New Roman" pitchFamily="34" charset="0"/>
                          <a:ea typeface="Times New Roman" pitchFamily="34" charset="-122"/>
                          <a:cs typeface="Times New Roman" pitchFamily="34" charset="-120"/>
                        </a:rPr>
                        <a:t>99.49</a:t>
                      </a:r>
                      <a:endParaRPr lang="en-US" sz="11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Shape 5"/>
          <p:cNvSpPr/>
          <p:nvPr/>
        </p:nvSpPr>
        <p:spPr>
          <a:xfrm>
            <a:off x="685800" y="4041648"/>
            <a:ext cx="5349240" cy="1828800"/>
          </a:xfrm>
          <a:prstGeom prst="roundRect">
            <a:avLst>
              <a:gd name="adj" fmla="val 1100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9" name="Text 6"/>
          <p:cNvSpPr txBox="1"/>
          <p:nvPr/>
        </p:nvSpPr>
        <p:spPr>
          <a:xfrm>
            <a:off x="868680" y="4187952"/>
            <a:ext cx="49834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What reproduces</a:t>
            </a:r>
            <a:endParaRPr lang="en-US" sz="1400" dirty="0"/>
          </a:p>
        </p:txBody>
      </p:sp>
      <p:sp>
        <p:nvSpPr>
          <p:cNvPr id="10" name="Text 7"/>
          <p:cNvSpPr txBox="1"/>
          <p:nvPr/>
        </p:nvSpPr>
        <p:spPr>
          <a:xfrm>
            <a:off x="941832" y="4608576"/>
            <a:ext cx="4837176" cy="1097280"/>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Every model clears the no-skill baseline, and R² is positive throughout. The pipeline learns a real relationship between the waveform and glucose.</a:t>
            </a:r>
            <a:endParaRPr lang="en-US" sz="1100" dirty="0"/>
          </a:p>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The fusion carries the best clinical score of our methods, 93.75% in Zones A+B, which is the ordering the paper reports.</a:t>
            </a:r>
            <a:endParaRPr lang="en-US" sz="1100" dirty="0"/>
          </a:p>
        </p:txBody>
      </p:sp>
      <p:sp>
        <p:nvSpPr>
          <p:cNvPr id="11" name="Shape 8"/>
          <p:cNvSpPr/>
          <p:nvPr/>
        </p:nvSpPr>
        <p:spPr>
          <a:xfrm>
            <a:off x="6172200" y="4041648"/>
            <a:ext cx="5349240" cy="1828800"/>
          </a:xfrm>
          <a:prstGeom prst="roundRect">
            <a:avLst>
              <a:gd name="adj" fmla="val 1100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2" name="Text 9"/>
          <p:cNvSpPr txBox="1"/>
          <p:nvPr/>
        </p:nvSpPr>
        <p:spPr>
          <a:xfrm>
            <a:off x="6355080" y="4187952"/>
            <a:ext cx="49834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What falls short of the paper</a:t>
            </a:r>
            <a:endParaRPr lang="en-US" sz="1400" dirty="0"/>
          </a:p>
        </p:txBody>
      </p:sp>
      <p:sp>
        <p:nvSpPr>
          <p:cNvPr id="13" name="Text 10"/>
          <p:cNvSpPr txBox="1"/>
          <p:nvPr/>
        </p:nvSpPr>
        <p:spPr>
          <a:xfrm>
            <a:off x="6428232" y="4608576"/>
            <a:ext cx="4837176" cy="1097280"/>
          </a:xfrm>
          <a:prstGeom prst="rect">
            <a:avLst/>
          </a:prstGeom>
          <a:noFill/>
          <a:ln/>
        </p:spPr>
        <p:txBody>
          <a:bodyPr wrap="square" lIns="0" tIns="0" rIns="0" bIns="0" rtlCol="0" anchor="t"/>
          <a:lstStyle/>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Our RMSE of 2.26 sits above the 1.49 the authors report, and our Zone A+B of 93.8% below their 99.5%.</a:t>
            </a:r>
            <a:endParaRPr lang="en-US" sz="1100" dirty="0"/>
          </a:p>
          <a:p>
            <a:pPr indent="0" marL="0">
              <a:spcAft>
                <a:spcPts val="700"/>
              </a:spcAft>
              <a:buNone/>
            </a:pPr>
            <a:r>
              <a:rPr lang="en-US" sz="1100" dirty="0">
                <a:solidFill>
                  <a:srgbClr val="000000"/>
                </a:solidFill>
                <a:latin typeface="Times New Roman" pitchFamily="34" charset="0"/>
                <a:ea typeface="Times New Roman" pitchFamily="34" charset="-122"/>
                <a:cs typeface="Times New Roman" pitchFamily="34" charset="-120"/>
              </a:rPr>
              <a:t>Two differences account for most of the gap: a different cohort, since theirs is private, and a hand-crafted morphological branch in place of their ResNet, as no GPU was available.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10. Results II — The Effect of the Evaluation Protocol</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12</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The same data and the same models, split three different ways. Each method is shown beside the baseline computed on the same folds.</a:t>
            </a:r>
            <a:endParaRPr lang="en-US" sz="13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10835640" cy="914400"/>
        </p:xfrm>
        <a:graphic>
          <a:graphicData uri="http://schemas.openxmlformats.org/drawingml/2006/table">
            <a:tbl>
              <a:tblPr/>
              <a:tblGrid>
                <a:gridCol w="2606040"/>
                <a:gridCol w="2011680"/>
                <a:gridCol w="1051560"/>
                <a:gridCol w="1051560"/>
                <a:gridCol w="1234440"/>
                <a:gridCol w="1371600"/>
                <a:gridCol w="1508760"/>
              </a:tblGrid>
              <a:tr h="283464">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Split protocol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Method</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R²</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RMSE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MARD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A+B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1. Random window</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+0.149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2.324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24.86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52.87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93.75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    (the paper's protocol)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−0.000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2.520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29.14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45.34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90.89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2. Subject-aware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−0.223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2.786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31.50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41.91</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89.39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2.610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30.30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43.74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90.01</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3. Leave-one-subject-out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Choquet fusion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−0.097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28.86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45.57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91.25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−0.035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2.564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29.74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44.14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90.57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Image 0" descr="figures\equations\metrics.png">    </p:cNvPr>
          <p:cNvPicPr>
            <a:picLocks noChangeAspect="1"/>
          </p:cNvPicPr>
          <p:nvPr/>
        </p:nvPicPr>
        <p:blipFill>
          <a:blip r:embed="rId1"/>
          <a:stretch>
            <a:fillRect/>
          </a:stretch>
        </p:blipFill>
        <p:spPr>
          <a:xfrm>
            <a:off x="914400" y="3886200"/>
            <a:ext cx="5120640" cy="1485900"/>
          </a:xfrm>
          <a:prstGeom prst="rect">
            <a:avLst/>
          </a:prstGeom>
        </p:spPr>
      </p:pic>
      <p:sp>
        <p:nvSpPr>
          <p:cNvPr id="9" name="Shape 5"/>
          <p:cNvSpPr/>
          <p:nvPr/>
        </p:nvSpPr>
        <p:spPr>
          <a:xfrm>
            <a:off x="6675120" y="3840480"/>
            <a:ext cx="4846320" cy="1874520"/>
          </a:xfrm>
          <a:prstGeom prst="roundRect">
            <a:avLst>
              <a:gd name="adj" fmla="val 10732"/>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0" name="Text 6"/>
          <p:cNvSpPr txBox="1"/>
          <p:nvPr/>
        </p:nvSpPr>
        <p:spPr>
          <a:xfrm>
            <a:off x="6858000" y="3986784"/>
            <a:ext cx="448056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What the three protocols ask</a:t>
            </a:r>
            <a:endParaRPr lang="en-US" sz="1400" dirty="0"/>
          </a:p>
        </p:txBody>
      </p:sp>
      <p:sp>
        <p:nvSpPr>
          <p:cNvPr id="11" name="Text 7"/>
          <p:cNvSpPr txBox="1"/>
          <p:nvPr/>
        </p:nvSpPr>
        <p:spPr>
          <a:xfrm>
            <a:off x="6931152" y="4407408"/>
            <a:ext cx="4334256" cy="1143000"/>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Protocol 1 allows windows from the same person into both the training and the test set. Protocols 2 and 3 never do.</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So protocol 1 asks: how well does this work for a person the model has already seen? Protocols 2 and 3 ask: how well does it work for a new person?</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Both are fair questions. The first is the one the paper reports, and it is the one our Results I reproduces.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11. Results III — Parkes Error Grid and Prediction Trace</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13</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Participant c2s04 over seventeen days, under each of the two protocols. Red is the CGM reference, blue the prediction.</a:t>
            </a:r>
            <a:endParaRPr lang="en-US" sz="1300" dirty="0"/>
          </a:p>
        </p:txBody>
      </p:sp>
      <p:pic>
        <p:nvPicPr>
          <p:cNvPr id="7" name="Image 0" descr="figures\results\fig09_timeseries_random_window_c2s04.png">    </p:cNvPr>
          <p:cNvPicPr>
            <a:picLocks noChangeAspect="1"/>
          </p:cNvPicPr>
          <p:nvPr/>
        </p:nvPicPr>
        <p:blipFill>
          <a:blip r:embed="rId1"/>
          <a:stretch>
            <a:fillRect/>
          </a:stretch>
        </p:blipFill>
        <p:spPr>
          <a:xfrm>
            <a:off x="731520" y="1536192"/>
            <a:ext cx="4538341" cy="2286000"/>
          </a:xfrm>
          <a:prstGeom prst="rect">
            <a:avLst/>
          </a:prstGeom>
        </p:spPr>
      </p:pic>
      <p:pic>
        <p:nvPicPr>
          <p:cNvPr id="8" name="Image 1" descr="figures\results\fig09_timeseries_subject_aware_c2s04.png">    </p:cNvPr>
          <p:cNvPicPr>
            <a:picLocks noChangeAspect="1"/>
          </p:cNvPicPr>
          <p:nvPr/>
        </p:nvPicPr>
        <p:blipFill>
          <a:blip r:embed="rId2"/>
          <a:stretch>
            <a:fillRect/>
          </a:stretch>
        </p:blipFill>
        <p:spPr>
          <a:xfrm>
            <a:off x="6355080" y="1536192"/>
            <a:ext cx="4538341" cy="2286000"/>
          </a:xfrm>
          <a:prstGeom prst="rect">
            <a:avLst/>
          </a:prstGeom>
        </p:spPr>
      </p:pic>
      <p:sp>
        <p:nvSpPr>
          <p:cNvPr id="9" name="Text 5"/>
          <p:cNvSpPr txBox="1"/>
          <p:nvPr/>
        </p:nvSpPr>
        <p:spPr>
          <a:xfrm>
            <a:off x="731520" y="3895344"/>
            <a:ext cx="5532120" cy="310896"/>
          </a:xfrm>
          <a:prstGeom prst="rect">
            <a:avLst/>
          </a:prstGeom>
          <a:noFill/>
          <a:ln/>
        </p:spPr>
        <p:txBody>
          <a:bodyPr wrap="square" lIns="0" tIns="0" rIns="0" bIns="0" rtlCol="0" anchor="ct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Random window split: the prediction follows the reference up and down.</a:t>
            </a:r>
            <a:endParaRPr lang="en-US" sz="1050" dirty="0"/>
          </a:p>
        </p:txBody>
      </p:sp>
      <p:sp>
        <p:nvSpPr>
          <p:cNvPr id="10" name="Text 6"/>
          <p:cNvSpPr txBox="1"/>
          <p:nvPr/>
        </p:nvSpPr>
        <p:spPr>
          <a:xfrm>
            <a:off x="6355080" y="3895344"/>
            <a:ext cx="5532120" cy="310896"/>
          </a:xfrm>
          <a:prstGeom prst="rect">
            <a:avLst/>
          </a:prstGeom>
          <a:noFill/>
          <a:ln/>
        </p:spPr>
        <p:txBody>
          <a:bodyPr wrap="square" lIns="0" tIns="0" rIns="0" bIns="0" rtlCol="0" anchor="ct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Subject-aware split: the prediction flattens toward the mean.</a:t>
            </a:r>
            <a:endParaRPr lang="en-US" sz="1050" dirty="0"/>
          </a:p>
        </p:txBody>
      </p:sp>
      <p:pic>
        <p:nvPicPr>
          <p:cNvPr id="11" name="Image 2" descr="figures\results\fig10_parkes_random_window.png">    </p:cNvPr>
          <p:cNvPicPr>
            <a:picLocks noChangeAspect="1"/>
          </p:cNvPicPr>
          <p:nvPr/>
        </p:nvPicPr>
        <p:blipFill>
          <a:blip r:embed="rId3"/>
          <a:stretch>
            <a:fillRect/>
          </a:stretch>
        </p:blipFill>
        <p:spPr>
          <a:xfrm>
            <a:off x="1371600" y="4279392"/>
            <a:ext cx="2021804" cy="2103120"/>
          </a:xfrm>
          <a:prstGeom prst="rect">
            <a:avLst/>
          </a:prstGeom>
        </p:spPr>
      </p:pic>
      <p:sp>
        <p:nvSpPr>
          <p:cNvPr id="12" name="Shape 7"/>
          <p:cNvSpPr/>
          <p:nvPr/>
        </p:nvSpPr>
        <p:spPr>
          <a:xfrm>
            <a:off x="3931920" y="4315968"/>
            <a:ext cx="7589520" cy="1965960"/>
          </a:xfrm>
          <a:prstGeom prst="roundRect">
            <a:avLst>
              <a:gd name="adj" fmla="val 10233"/>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3" name="Text 8"/>
          <p:cNvSpPr txBox="1"/>
          <p:nvPr/>
        </p:nvSpPr>
        <p:spPr>
          <a:xfrm>
            <a:off x="4114800" y="4462272"/>
            <a:ext cx="722376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Reading the two traces</a:t>
            </a:r>
            <a:endParaRPr lang="en-US" sz="1400" dirty="0"/>
          </a:p>
        </p:txBody>
      </p:sp>
      <p:sp>
        <p:nvSpPr>
          <p:cNvPr id="14" name="Text 9"/>
          <p:cNvSpPr txBox="1"/>
          <p:nvPr/>
        </p:nvSpPr>
        <p:spPr>
          <a:xfrm>
            <a:off x="4187952" y="4882896"/>
            <a:ext cx="7077456" cy="1234440"/>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On the left the model tracks the participant's daily rises and falls, because it has seen other windows from this same participant during training. This is the condition under which the published result is obtained.</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On the right the participant was held out entirely, and the prediction collapses toward the population average of about 7 mmol/L.</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The Parkes grid, inset, places 93.7% of the left-hand predictions in Zones A+B.</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12. Results IV — Feature-Set Ablation</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14</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Which feature family carries the information? Run under leave-one-subject-out only, for the reason given on the right.</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600200"/>
          <a:ext cx="6675120" cy="914400"/>
        </p:xfrm>
        <a:graphic>
          <a:graphicData uri="http://schemas.openxmlformats.org/drawingml/2006/table">
            <a:tbl>
              <a:tblPr/>
              <a:tblGrid>
                <a:gridCol w="2560320"/>
                <a:gridCol w="960120"/>
                <a:gridCol w="914400"/>
                <a:gridCol w="1234440"/>
                <a:gridCol w="1005840"/>
              </a:tblGrid>
              <a:tr h="283464">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Feature set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Features</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R²</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RMSE (mmol/L)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Zone A+B (%)</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83464">
                <a:tc>
                  <a:txBody>
                    <a:bodyPr/>
                    <a:lstStyle/>
                    <a:p>
                      <a:pPr algn="l" indent="0" marL="0">
                        <a:buNone/>
                      </a:pPr>
                      <a:r>
                        <a:rPr lang="en-US" sz="1050" b="1" dirty="0">
                          <a:solidFill>
                            <a:srgbClr val="000000"/>
                          </a:solidFill>
                          <a:latin typeface="Times New Roman" pitchFamily="34" charset="0"/>
                          <a:ea typeface="Times New Roman" pitchFamily="34" charset="-122"/>
                          <a:cs typeface="Times New Roman" pitchFamily="34" charset="-120"/>
                        </a:rPr>
                        <a:t>No-skill baseline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−0.035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2.564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90.6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Morphological (shape)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33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90.8</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PPG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94</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−0.075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2.612</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Fused (ECG + PPG)</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193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−0.097</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2.639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Temporal (wavelet)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160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−0.102</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2.645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83464">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ECG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99</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−0.106</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2.650</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91.5</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85800" y="3913632"/>
            <a:ext cx="644652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Times New Roman" pitchFamily="34" charset="0"/>
                <a:ea typeface="Times New Roman" pitchFamily="34" charset="-122"/>
                <a:cs typeface="Times New Roman" pitchFamily="34" charset="-120"/>
              </a:rPr>
              <a:t>Which configurations were run</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85800" y="4261104"/>
          <a:ext cx="6446520" cy="914400"/>
        </p:xfrm>
        <a:graphic>
          <a:graphicData uri="http://schemas.openxmlformats.org/drawingml/2006/table">
            <a:tbl>
              <a:tblPr/>
              <a:tblGrid>
                <a:gridCol w="2331720"/>
                <a:gridCol w="1371600"/>
                <a:gridCol w="1371600"/>
                <a:gridCol w="1371600"/>
              </a:tblGrid>
              <a:tr h="292608">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Feature set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Random window</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Subject-aware</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50" b="1" dirty="0">
                          <a:solidFill>
                            <a:srgbClr val="000000"/>
                          </a:solidFill>
                          <a:latin typeface="Times New Roman" pitchFamily="34" charset="0"/>
                          <a:ea typeface="Times New Roman" pitchFamily="34" charset="-122"/>
                          <a:cs typeface="Times New Roman" pitchFamily="34" charset="-120"/>
                        </a:rPr>
                        <a:t>Leave-one-out</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Fused (193)</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ECG only, PPG only</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not 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not 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000000"/>
                          </a:solidFill>
                          <a:latin typeface="Times New Roman" pitchFamily="34" charset="0"/>
                          <a:ea typeface="Times New Roman" pitchFamily="34" charset="-122"/>
                          <a:cs typeface="Times New Roman" pitchFamily="34" charset="-120"/>
                        </a:rPr>
                        <a:t>Temporal, morphological</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not 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not 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000000"/>
                          </a:solidFill>
                          <a:latin typeface="Times New Roman" pitchFamily="34" charset="0"/>
                          <a:ea typeface="Times New Roman" pitchFamily="34" charset="-122"/>
                          <a:cs typeface="Times New Roman" pitchFamily="34" charset="-120"/>
                        </a:rPr>
                        <a:t>run</a:t>
                      </a:r>
                      <a:endParaRPr lang="en-US" sz="105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685800" y="5504688"/>
            <a:ext cx="6446520" cy="310896"/>
          </a:xfrm>
          <a:prstGeom prst="rect">
            <a:avLst/>
          </a:prstGeom>
          <a:noFill/>
          <a:ln/>
        </p:spPr>
        <p:txBody>
          <a:bodyPr wrap="square" lIns="0" tIns="0" rIns="0" bIns="0" rtlCol="0" anchor="t"/>
          <a:lstStyle/>
          <a:p>
            <a:pPr algn="ctr" indent="0" marL="0">
              <a:buNone/>
            </a:pPr>
            <a:r>
              <a:rPr lang="en-US" sz="950" dirty="0">
                <a:solidFill>
                  <a:srgbClr val="444444"/>
                </a:solidFill>
                <a:latin typeface="Times New Roman" pitchFamily="34" charset="0"/>
                <a:ea typeface="Times New Roman" pitchFamily="34" charset="-122"/>
                <a:cs typeface="Times New Roman" pitchFamily="34" charset="-120"/>
              </a:rPr>
              <a:t>The eight blanks are roughly 2.4 hours of compute, not a finding. They are listed under further work.</a:t>
            </a:r>
            <a:endParaRPr lang="en-US" sz="950" dirty="0"/>
          </a:p>
        </p:txBody>
      </p:sp>
      <p:sp>
        <p:nvSpPr>
          <p:cNvPr id="11" name="Text 7"/>
          <p:cNvSpPr txBox="1"/>
          <p:nvPr/>
        </p:nvSpPr>
        <p:spPr>
          <a:xfrm>
            <a:off x="7589520" y="1554480"/>
            <a:ext cx="3931920" cy="274320"/>
          </a:xfrm>
          <a:prstGeom prst="rect">
            <a:avLst/>
          </a:prstGeom>
          <a:noFill/>
          <a:ln/>
        </p:spPr>
        <p:txBody>
          <a:bodyPr wrap="square" lIns="0" tIns="0" rIns="0" bIns="0" rtlCol="0" anchor="t"/>
          <a:lstStyle/>
          <a:p>
            <a:pPr indent="0" marL="0">
              <a:buNone/>
            </a:pPr>
            <a:r>
              <a:rPr lang="en-US" sz="1050" b="1" dirty="0">
                <a:solidFill>
                  <a:srgbClr val="000000"/>
                </a:solidFill>
                <a:latin typeface="Times New Roman" pitchFamily="34" charset="0"/>
                <a:ea typeface="Times New Roman" pitchFamily="34" charset="-122"/>
                <a:cs typeface="Times New Roman" pitchFamily="34" charset="-120"/>
              </a:rPr>
              <a:t>Why only this protocol, when Section 9 was positive?</a:t>
            </a:r>
            <a:endParaRPr lang="en-US" sz="1050" dirty="0"/>
          </a:p>
        </p:txBody>
      </p:sp>
      <p:sp>
        <p:nvSpPr>
          <p:cNvPr id="12" name="Text 8"/>
          <p:cNvSpPr txBox="1"/>
          <p:nvPr/>
        </p:nvSpPr>
        <p:spPr>
          <a:xfrm>
            <a:off x="7589520" y="1810512"/>
            <a:ext cx="3931920" cy="841248"/>
          </a:xfrm>
          <a:prstGeom prst="rect">
            <a:avLst/>
          </a:prstGeom>
          <a:noFill/>
          <a:ln/>
        </p:spPr>
        <p:txBody>
          <a:bodyPr wrap="square" lIns="0" tIns="0" rIns="0" bIns="0" rtlCol="0" anchor="t"/>
          <a:lstStyle/>
          <a:p>
            <a:pPr indent="0" marL="0">
              <a:buNone/>
            </a:pPr>
            <a:r>
              <a:rPr lang="en-US" sz="950" dirty="0">
                <a:solidFill>
                  <a:srgbClr val="000000"/>
                </a:solidFill>
                <a:latin typeface="Times New Roman" pitchFamily="34" charset="0"/>
                <a:ea typeface="Times New Roman" pitchFamily="34" charset="-122"/>
                <a:cs typeface="Times New Roman" pitchFamily="34" charset="-120"/>
              </a:rPr>
              <a:t>The question here is whether a feature family generalises to a new person. Under a random split every family also gets to exploit the per-participant shortcut, so it would rank them partly on how well each identifies the participant. Holding a person out removes that.</a:t>
            </a:r>
            <a:endParaRPr lang="en-US" sz="950" dirty="0"/>
          </a:p>
        </p:txBody>
      </p:sp>
      <p:sp>
        <p:nvSpPr>
          <p:cNvPr id="13" name="Text 9"/>
          <p:cNvSpPr txBox="1"/>
          <p:nvPr/>
        </p:nvSpPr>
        <p:spPr>
          <a:xfrm>
            <a:off x="7589520" y="2688336"/>
            <a:ext cx="3931920" cy="274320"/>
          </a:xfrm>
          <a:prstGeom prst="rect">
            <a:avLst/>
          </a:prstGeom>
          <a:noFill/>
          <a:ln/>
        </p:spPr>
        <p:txBody>
          <a:bodyPr wrap="square" lIns="0" tIns="0" rIns="0" bIns="0" rtlCol="0" anchor="t"/>
          <a:lstStyle/>
          <a:p>
            <a:pPr indent="0" marL="0">
              <a:buNone/>
            </a:pPr>
            <a:r>
              <a:rPr lang="en-US" sz="1050" b="1" dirty="0">
                <a:solidFill>
                  <a:srgbClr val="000000"/>
                </a:solidFill>
                <a:latin typeface="Times New Roman" pitchFamily="34" charset="0"/>
                <a:ea typeface="Times New Roman" pitchFamily="34" charset="-122"/>
                <a:cs typeface="Times New Roman" pitchFamily="34" charset="-120"/>
              </a:rPr>
              <a:t>What this costs us.</a:t>
            </a:r>
            <a:endParaRPr lang="en-US" sz="1050" dirty="0"/>
          </a:p>
        </p:txBody>
      </p:sp>
      <p:sp>
        <p:nvSpPr>
          <p:cNvPr id="14" name="Text 10"/>
          <p:cNvSpPr txBox="1"/>
          <p:nvPr/>
        </p:nvSpPr>
        <p:spPr>
          <a:xfrm>
            <a:off x="7589520" y="2944368"/>
            <a:ext cx="3931920" cy="841248"/>
          </a:xfrm>
          <a:prstGeom prst="rect">
            <a:avLst/>
          </a:prstGeom>
          <a:noFill/>
          <a:ln/>
        </p:spPr>
        <p:txBody>
          <a:bodyPr wrap="square" lIns="0" tIns="0" rIns="0" bIns="0" rtlCol="0" anchor="t"/>
          <a:lstStyle/>
          <a:p>
            <a:pPr indent="0" marL="0">
              <a:buNone/>
            </a:pPr>
            <a:r>
              <a:rPr lang="en-US" sz="950" dirty="0">
                <a:solidFill>
                  <a:srgbClr val="000000"/>
                </a:solidFill>
                <a:latin typeface="Times New Roman" pitchFamily="34" charset="0"/>
                <a:ea typeface="Times New Roman" pitchFamily="34" charset="-122"/>
                <a:cs typeface="Times New Roman" pitchFamily="34" charset="-120"/>
              </a:rPr>
              <a:t>These rows are therefore not directly comparable to Tables III and IV of the source paper, which are computed under the authors' random split. Running the ablation under that protocol as well is the first item of further work.</a:t>
            </a:r>
            <a:endParaRPr lang="en-US" sz="950" dirty="0"/>
          </a:p>
        </p:txBody>
      </p:sp>
      <p:sp>
        <p:nvSpPr>
          <p:cNvPr id="15" name="Text 11"/>
          <p:cNvSpPr txBox="1"/>
          <p:nvPr/>
        </p:nvSpPr>
        <p:spPr>
          <a:xfrm>
            <a:off x="7589520" y="3822192"/>
            <a:ext cx="3931920" cy="274320"/>
          </a:xfrm>
          <a:prstGeom prst="rect">
            <a:avLst/>
          </a:prstGeom>
          <a:noFill/>
          <a:ln/>
        </p:spPr>
        <p:txBody>
          <a:bodyPr wrap="square" lIns="0" tIns="0" rIns="0" bIns="0" rtlCol="0" anchor="t"/>
          <a:lstStyle/>
          <a:p>
            <a:pPr indent="0" marL="0">
              <a:buNone/>
            </a:pPr>
            <a:r>
              <a:rPr lang="en-US" sz="1050" b="1" dirty="0">
                <a:solidFill>
                  <a:srgbClr val="000000"/>
                </a:solidFill>
                <a:latin typeface="Times New Roman" pitchFamily="34" charset="0"/>
                <a:ea typeface="Times New Roman" pitchFamily="34" charset="-122"/>
                <a:cs typeface="Times New Roman" pitchFamily="34" charset="-120"/>
              </a:rPr>
              <a:t>The spread is small, and nothing separates cleanly.</a:t>
            </a:r>
            <a:endParaRPr lang="en-US" sz="1050" dirty="0"/>
          </a:p>
        </p:txBody>
      </p:sp>
      <p:sp>
        <p:nvSpPr>
          <p:cNvPr id="16" name="Text 12"/>
          <p:cNvSpPr txBox="1"/>
          <p:nvPr/>
        </p:nvSpPr>
        <p:spPr>
          <a:xfrm>
            <a:off x="7589520" y="4078224"/>
            <a:ext cx="3931920" cy="841248"/>
          </a:xfrm>
          <a:prstGeom prst="rect">
            <a:avLst/>
          </a:prstGeom>
          <a:noFill/>
          <a:ln/>
        </p:spPr>
        <p:txBody>
          <a:bodyPr wrap="square" lIns="0" tIns="0" rIns="0" bIns="0" rtlCol="0" anchor="t"/>
          <a:lstStyle/>
          <a:p>
            <a:pPr indent="0" marL="0">
              <a:buNone/>
            </a:pPr>
            <a:r>
              <a:rPr lang="en-US" sz="950" dirty="0">
                <a:solidFill>
                  <a:srgbClr val="000000"/>
                </a:solidFill>
                <a:latin typeface="Times New Roman" pitchFamily="34" charset="0"/>
                <a:ea typeface="Times New Roman" pitchFamily="34" charset="-122"/>
                <a:cs typeface="Times New Roman" pitchFamily="34" charset="-120"/>
              </a:rPr>
              <a:t>Best to worst is 0.036 in R². We do not read PPG (−0.075) as beating the fused set (−0.097) on a gap that size, though the paper reports the opposite ordering.</a:t>
            </a:r>
            <a:endParaRPr lang="en-US" sz="950" dirty="0"/>
          </a:p>
        </p:txBody>
      </p:sp>
      <p:sp>
        <p:nvSpPr>
          <p:cNvPr id="17" name="Text 13"/>
          <p:cNvSpPr txBox="1"/>
          <p:nvPr/>
        </p:nvSpPr>
        <p:spPr>
          <a:xfrm>
            <a:off x="7589520" y="4956048"/>
            <a:ext cx="3931920" cy="274320"/>
          </a:xfrm>
          <a:prstGeom prst="rect">
            <a:avLst/>
          </a:prstGeom>
          <a:noFill/>
          <a:ln/>
        </p:spPr>
        <p:txBody>
          <a:bodyPr wrap="square" lIns="0" tIns="0" rIns="0" bIns="0" rtlCol="0" anchor="t"/>
          <a:lstStyle/>
          <a:p>
            <a:pPr indent="0" marL="0">
              <a:buNone/>
            </a:pPr>
            <a:r>
              <a:rPr lang="en-US" sz="1050" b="1" dirty="0">
                <a:solidFill>
                  <a:srgbClr val="000000"/>
                </a:solidFill>
                <a:latin typeface="Times New Roman" pitchFamily="34" charset="0"/>
                <a:ea typeface="Times New Roman" pitchFamily="34" charset="-122"/>
                <a:cs typeface="Times New Roman" pitchFamily="34" charset="-120"/>
              </a:rPr>
              <a:t>Fewer features score better, and Zone A+B runs backwards.</a:t>
            </a:r>
            <a:endParaRPr lang="en-US" sz="1050" dirty="0"/>
          </a:p>
        </p:txBody>
      </p:sp>
      <p:sp>
        <p:nvSpPr>
          <p:cNvPr id="18" name="Text 14"/>
          <p:cNvSpPr txBox="1"/>
          <p:nvPr/>
        </p:nvSpPr>
        <p:spPr>
          <a:xfrm>
            <a:off x="7589520" y="5212080"/>
            <a:ext cx="3931920" cy="841248"/>
          </a:xfrm>
          <a:prstGeom prst="rect">
            <a:avLst/>
          </a:prstGeom>
          <a:noFill/>
          <a:ln/>
        </p:spPr>
        <p:txBody>
          <a:bodyPr wrap="square" lIns="0" tIns="0" rIns="0" bIns="0" rtlCol="0" anchor="t"/>
          <a:lstStyle/>
          <a:p>
            <a:pPr indent="0" marL="0">
              <a:buNone/>
            </a:pPr>
            <a:r>
              <a:rPr lang="en-US" sz="950" dirty="0">
                <a:solidFill>
                  <a:srgbClr val="000000"/>
                </a:solidFill>
                <a:latin typeface="Times New Roman" pitchFamily="34" charset="0"/>
                <a:ea typeface="Times New Roman" pitchFamily="34" charset="-122"/>
                <a:cs typeface="Times New Roman" pitchFamily="34" charset="-120"/>
              </a:rPr>
              <a:t>33 features beat 193, which is what fitting noise looks like. The weakest sets by R² carry the highest Zone A+B, the same inversion as Section 11.</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13. Results V — Degeneracy of the Fusion Operator</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15</a:t>
            </a:r>
            <a:endParaRPr lang="en-US" sz="800" dirty="0"/>
          </a:p>
        </p:txBody>
      </p:sp>
      <p:sp>
        <p:nvSpPr>
          <p:cNvPr id="6" name="Text 4"/>
          <p:cNvSpPr txBox="1"/>
          <p:nvPr/>
        </p:nvSpPr>
        <p:spPr>
          <a:xfrm>
            <a:off x="685800" y="1170432"/>
            <a:ext cx="10835640" cy="777240"/>
          </a:xfrm>
          <a:prstGeom prst="rect">
            <a:avLst/>
          </a:prstGeom>
          <a:noFill/>
          <a:ln/>
        </p:spPr>
        <p:txBody>
          <a:bodyPr wrap="square" lIns="0" tIns="0" rIns="0" bIns="0" rtlCol="0" anchor="t"/>
          <a:lstStyle/>
          <a:p>
            <a:pPr indent="0" marL="0">
              <a:spcAft>
                <a:spcPts val="800"/>
              </a:spcAft>
              <a:buNone/>
            </a:pPr>
            <a:r>
              <a:rPr lang="en-US" sz="1150" dirty="0">
                <a:solidFill>
                  <a:srgbClr val="000000"/>
                </a:solidFill>
                <a:latin typeface="Times New Roman" pitchFamily="34" charset="0"/>
                <a:ea typeface="Times New Roman" pitchFamily="34" charset="-122"/>
                <a:cs typeface="Times New Roman" pitchFamily="34" charset="-120"/>
              </a:rPr>
              <a:t>Two anomalies appeared in the output: the weighted average and the plain average agreed to three decimal places (3.927 against 3.927), and every fuzzy density sat at the 0.01 clipping floor. With equal densities the Sugeno measure becomes symmetric, and the Choquet integral reduces to a fixed order statistic:</a:t>
            </a:r>
            <a:endParaRPr lang="en-US" sz="1150" dirty="0"/>
          </a:p>
        </p:txBody>
      </p:sp>
      <p:pic>
        <p:nvPicPr>
          <p:cNvPr id="7" name="Image 0" descr="figures\equations\degeneracy.png">    </p:cNvPr>
          <p:cNvPicPr>
            <a:picLocks noChangeAspect="1"/>
          </p:cNvPicPr>
          <p:nvPr/>
        </p:nvPicPr>
        <p:blipFill>
          <a:blip r:embed="rId1"/>
          <a:stretch>
            <a:fillRect/>
          </a:stretch>
        </p:blipFill>
        <p:spPr>
          <a:xfrm>
            <a:off x="868680" y="2011680"/>
            <a:ext cx="5029200" cy="2290684"/>
          </a:xfrm>
          <a:prstGeom prst="rect">
            <a:avLst/>
          </a:prstGeom>
        </p:spPr>
      </p:pic>
      <p:pic>
        <p:nvPicPr>
          <p:cNvPr id="8" name="Image 1" descr="figures\equations\degeneracy_limit.png">    </p:cNvPr>
          <p:cNvPicPr>
            <a:picLocks noChangeAspect="1"/>
          </p:cNvPicPr>
          <p:nvPr/>
        </p:nvPicPr>
        <p:blipFill>
          <a:blip r:embed="rId2"/>
          <a:stretch>
            <a:fillRect/>
          </a:stretch>
        </p:blipFill>
        <p:spPr>
          <a:xfrm>
            <a:off x="868680" y="4343400"/>
            <a:ext cx="5212080" cy="1315995"/>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355080" y="2011680"/>
          <a:ext cx="5120640" cy="914400"/>
        </p:xfrm>
        <a:graphic>
          <a:graphicData uri="http://schemas.openxmlformats.org/drawingml/2006/table">
            <a:tbl>
              <a:tblPr/>
              <a:tblGrid>
                <a:gridCol w="548640"/>
                <a:gridCol w="777240"/>
                <a:gridCol w="877824"/>
                <a:gridCol w="877824"/>
                <a:gridCol w="941832"/>
                <a:gridCol w="1097280"/>
              </a:tblGrid>
              <a:tr h="274320">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g</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λ</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(largest)</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(middle)</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w (smallest)</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Reduces to</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EBEB"/>
                    </a:solidFill>
                  </a:tcPr>
                </a:tc>
              </a:tr>
              <a:tr h="274320">
                <a:tc>
                  <a:txBody>
                    <a:bodyPr/>
                    <a:lstStyle/>
                    <a:p>
                      <a:pPr algn="l" indent="0" marL="0">
                        <a:buNone/>
                      </a:pPr>
                      <a:r>
                        <a:rPr lang="en-US" sz="1000" b="1" dirty="0">
                          <a:solidFill>
                            <a:srgbClr val="000000"/>
                          </a:solidFill>
                          <a:latin typeface="Times New Roman" pitchFamily="34" charset="0"/>
                          <a:ea typeface="Times New Roman" pitchFamily="34" charset="-122"/>
                          <a:cs typeface="Times New Roman" pitchFamily="34" charset="-120"/>
                        </a:rPr>
                        <a:t>0.010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846.24</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0.010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0.095</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0.895</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000000"/>
                          </a:solidFill>
                          <a:latin typeface="Times New Roman" pitchFamily="34" charset="0"/>
                          <a:ea typeface="Times New Roman" pitchFamily="34" charset="-122"/>
                          <a:cs typeface="Times New Roman" pitchFamily="34" charset="-120"/>
                        </a:rPr>
                        <a:t>minimum</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000000"/>
                          </a:solidFill>
                          <a:latin typeface="Times New Roman" pitchFamily="34" charset="0"/>
                          <a:ea typeface="Times New Roman" pitchFamily="34" charset="-122"/>
                          <a:cs typeface="Times New Roman" pitchFamily="34" charset="-120"/>
                        </a:rPr>
                        <a:t>0.100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15.41</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0.100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0.254</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0.646</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rank-weighted</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l"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0.00</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0.333</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Times New Roman" pitchFamily="34" charset="0"/>
                          <a:ea typeface="Times New Roman" pitchFamily="34" charset="-122"/>
                          <a:cs typeface="Times New Roman" pitchFamily="34" charset="-120"/>
                        </a:rPr>
                        <a:t>arithmetic mean</a:t>
                      </a:r>
                      <a:endParaRPr lang="en-US" sz="1000" dirty="0">
                        <a:latin typeface="Times New Roman" charset="0"/>
                        <a:ea typeface="Times New Roman" charset="0"/>
                        <a:cs typeface="Times New Roman"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0" name="Shape 5"/>
          <p:cNvSpPr/>
          <p:nvPr/>
        </p:nvSpPr>
        <p:spPr>
          <a:xfrm>
            <a:off x="6355080" y="3337560"/>
            <a:ext cx="5166360" cy="2240280"/>
          </a:xfrm>
          <a:prstGeom prst="roundRect">
            <a:avLst>
              <a:gd name="adj" fmla="val 8980"/>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1" name="Text 6"/>
          <p:cNvSpPr txBox="1"/>
          <p:nvPr/>
        </p:nvSpPr>
        <p:spPr>
          <a:xfrm>
            <a:off x="6537960" y="3483864"/>
            <a:ext cx="480060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Verification against the saved predictions</a:t>
            </a:r>
            <a:endParaRPr lang="en-US" sz="1400" dirty="0"/>
          </a:p>
        </p:txBody>
      </p:sp>
      <p:sp>
        <p:nvSpPr>
          <p:cNvPr id="12" name="Text 7"/>
          <p:cNvSpPr txBox="1"/>
          <p:nvPr/>
        </p:nvSpPr>
        <p:spPr>
          <a:xfrm>
            <a:off x="6611112" y="3904488"/>
            <a:ext cx="4654296" cy="1508760"/>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corr(Choquet output, minimum of the three models) = 0.998</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mean |Choquet − min| = 0.04 mmol/L, against 0.27 to the mean.</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The method's distinguishing component was returning min(h₁, h₂, h₃).</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This is not solely a defect. Under honest evaluation the base models genuinely cannot generalise, so the densities floor legitimately. The fusion degenerates precisely when it is most needed.</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14. Future Work and Expected Outcomes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16</a:t>
            </a:r>
            <a:endParaRPr lang="en-US" sz="800" dirty="0"/>
          </a:p>
        </p:txBody>
      </p:sp>
      <p:sp>
        <p:nvSpPr>
          <p:cNvPr id="6" name="Text 4"/>
          <p:cNvSpPr txBox="1"/>
          <p:nvPr/>
        </p:nvSpPr>
        <p:spPr>
          <a:xfrm>
            <a:off x="685800" y="1133856"/>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Future work</a:t>
            </a:r>
            <a:endParaRPr lang="en-US" sz="1300" dirty="0"/>
          </a:p>
        </p:txBody>
      </p:sp>
      <p:sp>
        <p:nvSpPr>
          <p:cNvPr id="7" name="Text 5"/>
          <p:cNvSpPr txBox="1"/>
          <p:nvPr/>
        </p:nvSpPr>
        <p:spPr>
          <a:xfrm>
            <a:off x="822960" y="1600200"/>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1.</a:t>
            </a:r>
            <a:endParaRPr lang="en-US" sz="1150" dirty="0"/>
          </a:p>
        </p:txBody>
      </p:sp>
      <p:sp>
        <p:nvSpPr>
          <p:cNvPr id="8" name="Text 6"/>
          <p:cNvSpPr txBox="1"/>
          <p:nvPr/>
        </p:nvSpPr>
        <p:spPr>
          <a:xfrm>
            <a:off x="1234440" y="1600200"/>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Reframe from regression to classification.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physiological mechanism supports detection of hypo- and hyperglycaemic events rather than recovery of absolute concentration; published ECG classification reports 84–94% accuracy.</a:t>
            </a:r>
            <a:endParaRPr lang="en-US" sz="1150" dirty="0"/>
          </a:p>
        </p:txBody>
      </p:sp>
      <p:sp>
        <p:nvSpPr>
          <p:cNvPr id="9" name="Text 7"/>
          <p:cNvSpPr txBox="1"/>
          <p:nvPr/>
        </p:nvSpPr>
        <p:spPr>
          <a:xfrm>
            <a:off x="822960" y="2203704"/>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2.</a:t>
            </a:r>
            <a:endParaRPr lang="en-US" sz="1150" dirty="0"/>
          </a:p>
        </p:txBody>
      </p:sp>
      <p:sp>
        <p:nvSpPr>
          <p:cNvPr id="10" name="Text 8"/>
          <p:cNvSpPr txBox="1"/>
          <p:nvPr/>
        </p:nvSpPr>
        <p:spPr>
          <a:xfrm>
            <a:off x="1234440" y="2203704"/>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Evaluate per-participant calibration.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gap between random and subject-aware splitting indicates reliance on participant-specific structure, which matches how CGM devices are deployed.</a:t>
            </a:r>
            <a:endParaRPr lang="en-US" sz="1150" dirty="0"/>
          </a:p>
        </p:txBody>
      </p:sp>
      <p:sp>
        <p:nvSpPr>
          <p:cNvPr id="11" name="Text 9"/>
          <p:cNvSpPr txBox="1"/>
          <p:nvPr/>
        </p:nvSpPr>
        <p:spPr>
          <a:xfrm>
            <a:off x="822960" y="2807208"/>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3.</a:t>
            </a:r>
            <a:endParaRPr lang="en-US" sz="1150" dirty="0"/>
          </a:p>
        </p:txBody>
      </p:sp>
      <p:sp>
        <p:nvSpPr>
          <p:cNvPr id="12" name="Text 10"/>
          <p:cNvSpPr txBox="1"/>
          <p:nvPr/>
        </p:nvSpPr>
        <p:spPr>
          <a:xfrm>
            <a:off x="1234440" y="2807208"/>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Implement the ResNet morphological branch as specified, </a:t>
            </a:r>
            <a:pPr indent="0" marL="0">
              <a:buNone/>
            </a:pPr>
            <a:r>
              <a:rPr lang="en-US" sz="1150" dirty="0">
                <a:solidFill>
                  <a:srgbClr val="000000"/>
                </a:solidFill>
                <a:latin typeface="Times New Roman" pitchFamily="34" charset="0"/>
                <a:ea typeface="Times New Roman" pitchFamily="34" charset="-122"/>
                <a:cs typeface="Times New Roman" pitchFamily="34" charset="-120"/>
              </a:rPr>
              <a:t>to isolate the effect of our substitution, given GPU access.</a:t>
            </a:r>
            <a:endParaRPr lang="en-US" sz="1150" dirty="0"/>
          </a:p>
        </p:txBody>
      </p:sp>
      <p:sp>
        <p:nvSpPr>
          <p:cNvPr id="13" name="Text 11"/>
          <p:cNvSpPr txBox="1"/>
          <p:nvPr/>
        </p:nvSpPr>
        <p:spPr>
          <a:xfrm>
            <a:off x="822960" y="3410712"/>
            <a:ext cx="320040" cy="274320"/>
          </a:xfrm>
          <a:prstGeom prst="rect">
            <a:avLst/>
          </a:prstGeom>
          <a:noFill/>
          <a:ln/>
        </p:spPr>
        <p:txBody>
          <a:bodyPr wrap="square" lIns="0" tIns="0" rIns="0" bIns="0" rtlCol="0" anchor="ctr"/>
          <a:lstStyle/>
          <a:p>
            <a:pPr algn="r" indent="0" marL="0">
              <a:buNone/>
            </a:pPr>
            <a:r>
              <a:rPr lang="en-US" sz="1150" dirty="0">
                <a:solidFill>
                  <a:srgbClr val="000000"/>
                </a:solidFill>
                <a:latin typeface="Times New Roman" pitchFamily="34" charset="0"/>
                <a:ea typeface="Times New Roman" pitchFamily="34" charset="-122"/>
                <a:cs typeface="Times New Roman" pitchFamily="34" charset="-120"/>
              </a:rPr>
              <a:t>4.</a:t>
            </a:r>
            <a:endParaRPr lang="en-US" sz="1150" dirty="0"/>
          </a:p>
        </p:txBody>
      </p:sp>
      <p:sp>
        <p:nvSpPr>
          <p:cNvPr id="14" name="Text 12"/>
          <p:cNvSpPr txBox="1"/>
          <p:nvPr/>
        </p:nvSpPr>
        <p:spPr>
          <a:xfrm>
            <a:off x="1234440" y="3410712"/>
            <a:ext cx="10241280" cy="548640"/>
          </a:xfrm>
          <a:prstGeom prst="rect">
            <a:avLst/>
          </a:prstGeom>
          <a:noFill/>
          <a:ln/>
        </p:spPr>
        <p:txBody>
          <a:bodyPr wrap="square" lIns="0" tIns="0" rIns="0" bIns="0" rtlCol="0" anchor="ctr"/>
          <a:lstStyle/>
          <a:p>
            <a:pPr indent="0" marL="0">
              <a:buNone/>
            </a:pPr>
            <a:r>
              <a:rPr lang="en-US" sz="1150" b="1" dirty="0">
                <a:solidFill>
                  <a:srgbClr val="000000"/>
                </a:solidFill>
                <a:latin typeface="Times New Roman" pitchFamily="34" charset="0"/>
                <a:ea typeface="Times New Roman" pitchFamily="34" charset="-122"/>
                <a:cs typeface="Times New Roman" pitchFamily="34" charset="-120"/>
              </a:rPr>
              <a:t>Apply the degeneracy diagnostic to other Choquet-fusion pipelines. </a:t>
            </a:r>
            <a:pPr indent="0" marL="0">
              <a:buNone/>
            </a:pPr>
            <a:r>
              <a:rPr lang="en-US" sz="1150" dirty="0">
                <a:solidFill>
                  <a:srgbClr val="000000"/>
                </a:solidFill>
                <a:latin typeface="Times New Roman" pitchFamily="34" charset="0"/>
                <a:ea typeface="Times New Roman" pitchFamily="34" charset="-122"/>
                <a:cs typeface="Times New Roman" pitchFamily="34" charset="-120"/>
              </a:rPr>
              <a:t>The failure mode is not specific to glucose estimation.</a:t>
            </a:r>
            <a:endParaRPr lang="en-US" sz="1150" dirty="0"/>
          </a:p>
        </p:txBody>
      </p:sp>
      <p:sp>
        <p:nvSpPr>
          <p:cNvPr id="15" name="Text 13"/>
          <p:cNvSpPr txBox="1"/>
          <p:nvPr/>
        </p:nvSpPr>
        <p:spPr>
          <a:xfrm>
            <a:off x="685800" y="4114800"/>
            <a:ext cx="10820095" cy="310896"/>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Expected outputs and outcomes</a:t>
            </a:r>
            <a:endParaRPr lang="en-US" sz="1300" dirty="0"/>
          </a:p>
        </p:txBody>
      </p:sp>
      <p:sp>
        <p:nvSpPr>
          <p:cNvPr id="16" name="Shape 14"/>
          <p:cNvSpPr/>
          <p:nvPr/>
        </p:nvSpPr>
        <p:spPr>
          <a:xfrm>
            <a:off x="685800" y="4480560"/>
            <a:ext cx="5303520" cy="1417320"/>
          </a:xfrm>
          <a:prstGeom prst="roundRect">
            <a:avLst>
              <a:gd name="adj" fmla="val 1419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7" name="Text 15"/>
          <p:cNvSpPr txBox="1"/>
          <p:nvPr/>
        </p:nvSpPr>
        <p:spPr>
          <a:xfrm>
            <a:off x="941832" y="4681728"/>
            <a:ext cx="4791456" cy="1033272"/>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An open, reproducible implementation of all three stages.</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 degeneracy theorem with a runnable diagnostic, reusable in any domain employing fuzzy-integral fusion.</a:t>
            </a:r>
            <a:endParaRPr lang="en-US" sz="1050" dirty="0"/>
          </a:p>
        </p:txBody>
      </p:sp>
      <p:sp>
        <p:nvSpPr>
          <p:cNvPr id="18" name="Shape 16"/>
          <p:cNvSpPr/>
          <p:nvPr/>
        </p:nvSpPr>
        <p:spPr>
          <a:xfrm>
            <a:off x="6400800" y="4480560"/>
            <a:ext cx="5120640" cy="1417320"/>
          </a:xfrm>
          <a:prstGeom prst="roundRect">
            <a:avLst>
              <a:gd name="adj" fmla="val 14194"/>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19" name="Text 17"/>
          <p:cNvSpPr txBox="1"/>
          <p:nvPr/>
        </p:nvSpPr>
        <p:spPr>
          <a:xfrm>
            <a:off x="6656832" y="4681728"/>
            <a:ext cx="4608576" cy="1033272"/>
          </a:xfrm>
          <a:prstGeom prst="rect">
            <a:avLst/>
          </a:prstGeom>
          <a:noFill/>
          <a:ln/>
        </p:spPr>
        <p:txBody>
          <a:bodyPr wrap="square" lIns="0" tIns="0" rIns="0" bIns="0" rtlCol="0" anchor="t"/>
          <a:lstStyle/>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Evidence that evaluation protocol dominates model choice, and that clinical zone metrics require a reported baseline.</a:t>
            </a:r>
            <a:endParaRPr lang="en-US" sz="1050" dirty="0"/>
          </a:p>
          <a:p>
            <a:pPr indent="0" marL="0">
              <a:spcAft>
                <a:spcPts val="700"/>
              </a:spcAft>
              <a:buNone/>
            </a:pPr>
            <a:r>
              <a:rPr lang="en-US" sz="1050" dirty="0">
                <a:solidFill>
                  <a:srgbClr val="000000"/>
                </a:solidFill>
                <a:latin typeface="Times New Roman" pitchFamily="34" charset="0"/>
                <a:ea typeface="Times New Roman" pitchFamily="34" charset="-122"/>
                <a:cs typeface="Times New Roman" pitchFamily="34" charset="-120"/>
              </a:rPr>
              <a:t>• A reproducibility defect reported in a widely used nonlinear-features library.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384048"/>
            <a:ext cx="10820095" cy="566928"/>
          </a:xfrm>
          <a:prstGeom prst="rect">
            <a:avLst/>
          </a:prstGeom>
          <a:noFill/>
          <a:ln/>
        </p:spPr>
        <p:txBody>
          <a:bodyPr wrap="square" lIns="0" tIns="0" rIns="0" bIns="0" rtlCol="0" anchor="ctr"/>
          <a:lstStyle/>
          <a:p>
            <a:pPr indent="0" marL="0">
              <a:buNone/>
            </a:pPr>
            <a:r>
              <a:rPr lang="en-US" sz="2100" b="1" dirty="0">
                <a:solidFill>
                  <a:srgbClr val="000000"/>
                </a:solidFill>
                <a:latin typeface="Times New Roman" pitchFamily="34" charset="0"/>
                <a:ea typeface="Times New Roman" pitchFamily="34" charset="-122"/>
                <a:cs typeface="Times New Roman" pitchFamily="34" charset="-120"/>
              </a:rPr>
              <a:t>15. Conclusion and References</a:t>
            </a:r>
            <a:endParaRPr lang="en-US" sz="2100" dirty="0"/>
          </a:p>
        </p:txBody>
      </p:sp>
      <p:sp>
        <p:nvSpPr>
          <p:cNvPr id="3" name="Shape 1"/>
          <p:cNvSpPr/>
          <p:nvPr/>
        </p:nvSpPr>
        <p:spPr>
          <a:xfrm>
            <a:off x="685800" y="1024128"/>
            <a:ext cx="10820095" cy="3658"/>
          </a:xfrm>
          <a:prstGeom prst="line">
            <a:avLst/>
          </a:prstGeom>
          <a:noFill/>
          <a:ln w="13970">
            <a:solidFill>
              <a:srgbClr val="000000"/>
            </a:solidFill>
            <a:prstDash val="solid"/>
          </a:ln>
        </p:spPr>
      </p:sp>
      <p:sp>
        <p:nvSpPr>
          <p:cNvPr id="4" name="Text 2"/>
          <p:cNvSpPr txBox="1"/>
          <p:nvPr/>
        </p:nvSpPr>
        <p:spPr>
          <a:xfrm>
            <a:off x="685800" y="6382512"/>
            <a:ext cx="8229600" cy="256032"/>
          </a:xfrm>
          <a:prstGeom prst="rect">
            <a:avLst/>
          </a:prstGeom>
          <a:noFill/>
          <a:ln/>
        </p:spPr>
        <p:txBody>
          <a:bodyPr wrap="square" lIns="0" tIns="0" rIns="0" bIns="0" rtlCol="0" anchor="ctr"/>
          <a:lstStyle/>
          <a:p>
            <a:pPr indent="0" marL="0">
              <a:buNone/>
            </a:pPr>
            <a:r>
              <a:rPr lang="en-US" sz="800" dirty="0">
                <a:solidFill>
                  <a:srgbClr val="444444"/>
                </a:solidFill>
                <a:latin typeface="Times New Roman" pitchFamily="34" charset="0"/>
                <a:ea typeface="Times New Roman" pitchFamily="34" charset="-122"/>
                <a:cs typeface="Times New Roman" pitchFamily="34" charset="-120"/>
              </a:rPr>
              <a:t>Mid Term Review | Noninvasive Blood Glucose Estimation from ECG and PPG</a:t>
            </a:r>
            <a:endParaRPr lang="en-US" sz="800" dirty="0"/>
          </a:p>
        </p:txBody>
      </p:sp>
      <p:sp>
        <p:nvSpPr>
          <p:cNvPr id="5" name="Text 3"/>
          <p:cNvSpPr txBox="1"/>
          <p:nvPr/>
        </p:nvSpPr>
        <p:spPr>
          <a:xfrm>
            <a:off x="10682935" y="6382512"/>
            <a:ext cx="822960" cy="256032"/>
          </a:xfrm>
          <a:prstGeom prst="rect">
            <a:avLst/>
          </a:prstGeom>
          <a:noFill/>
          <a:ln/>
        </p:spPr>
        <p:txBody>
          <a:bodyPr wrap="square" lIns="0" tIns="0" rIns="0" bIns="0" rtlCol="0" anchor="ctr"/>
          <a:lstStyle/>
          <a:p>
            <a:pPr algn="r" indent="0" marL="0">
              <a:buNone/>
            </a:pPr>
            <a:r>
              <a:rPr lang="en-US" sz="800" dirty="0">
                <a:solidFill>
                  <a:srgbClr val="444444"/>
                </a:solidFill>
                <a:latin typeface="Times New Roman" pitchFamily="34" charset="0"/>
                <a:ea typeface="Times New Roman" pitchFamily="34" charset="-122"/>
                <a:cs typeface="Times New Roman" pitchFamily="34" charset="-120"/>
              </a:rPr>
              <a:t>17</a:t>
            </a:r>
            <a:endParaRPr lang="en-US" sz="800" dirty="0"/>
          </a:p>
        </p:txBody>
      </p:sp>
      <p:sp>
        <p:nvSpPr>
          <p:cNvPr id="6" name="Shape 4"/>
          <p:cNvSpPr/>
          <p:nvPr/>
        </p:nvSpPr>
        <p:spPr>
          <a:xfrm>
            <a:off x="685800" y="1188720"/>
            <a:ext cx="10835640" cy="1371600"/>
          </a:xfrm>
          <a:prstGeom prst="roundRect">
            <a:avLst>
              <a:gd name="adj" fmla="val 14667"/>
            </a:avLst>
          </a:prstGeom>
          <a:solidFill>
            <a:srgbClr val="F5F5F5"/>
          </a:solidFill>
          <a:ln w="9525">
            <a:solidFill>
              <a:srgbClr val="BFBFBF"/>
            </a:solidFill>
            <a:prstDash val="solid"/>
          </a:ln>
          <a:effectLst>
            <a:outerShdw sx="100000" sy="100000" kx="0" ky="0" algn="bl" rotWithShape="0" blurRad="63500" dist="25400" dir="2700000">
              <a:srgbClr val="888888">
                <a:alpha val="35000"/>
              </a:srgbClr>
            </a:outerShdw>
          </a:effectLst>
        </p:spPr>
      </p:sp>
      <p:sp>
        <p:nvSpPr>
          <p:cNvPr id="7" name="Text 5"/>
          <p:cNvSpPr txBox="1"/>
          <p:nvPr/>
        </p:nvSpPr>
        <p:spPr>
          <a:xfrm>
            <a:off x="868680" y="1335024"/>
            <a:ext cx="10469880" cy="292608"/>
          </a:xfrm>
          <a:prstGeom prst="rect">
            <a:avLst/>
          </a:prstGeom>
          <a:noFill/>
          <a:ln/>
        </p:spPr>
        <p:txBody>
          <a:bodyPr wrap="square" lIns="0" tIns="0" rIns="0" bIns="0" rtlCol="0" anchor="ctr"/>
          <a:lstStyle/>
          <a:p>
            <a:pPr algn="ctr" indent="0" marL="0">
              <a:buNone/>
            </a:pPr>
            <a:r>
              <a:rPr lang="en-US" sz="1400" b="1" dirty="0">
                <a:solidFill>
                  <a:srgbClr val="000000"/>
                </a:solidFill>
                <a:latin typeface="Times New Roman" pitchFamily="34" charset="0"/>
                <a:ea typeface="Times New Roman" pitchFamily="34" charset="-122"/>
                <a:cs typeface="Times New Roman" pitchFamily="34" charset="-120"/>
              </a:rPr>
              <a:t>Conclusion</a:t>
            </a:r>
            <a:endParaRPr lang="en-US" sz="1400" dirty="0"/>
          </a:p>
        </p:txBody>
      </p:sp>
      <p:sp>
        <p:nvSpPr>
          <p:cNvPr id="8" name="Text 6"/>
          <p:cNvSpPr txBox="1"/>
          <p:nvPr/>
        </p:nvSpPr>
        <p:spPr>
          <a:xfrm>
            <a:off x="941832" y="1755648"/>
            <a:ext cx="10323576" cy="640080"/>
          </a:xfrm>
          <a:prstGeom prst="rect">
            <a:avLst/>
          </a:prstGeom>
          <a:noFill/>
          <a:ln/>
        </p:spPr>
        <p:txBody>
          <a:bodyPr wrap="square" lIns="0" tIns="0" rIns="0" bIns="0" rtlCol="0" anchor="t"/>
          <a:lstStyle/>
          <a:p>
            <a:pPr indent="0" marL="0">
              <a:spcAft>
                <a:spcPts val="700"/>
              </a:spcAft>
              <a:buNone/>
            </a:pPr>
            <a:r>
              <a:rPr lang="en-US" sz="1150" dirty="0">
                <a:solidFill>
                  <a:srgbClr val="000000"/>
                </a:solidFill>
                <a:latin typeface="Times New Roman" pitchFamily="34" charset="0"/>
                <a:ea typeface="Times New Roman" pitchFamily="34" charset="-122"/>
                <a:cs typeface="Times New Roman" pitchFamily="34" charset="-120"/>
              </a:rPr>
              <a:t>The SFF-WCIM method was rebuilt in full and evaluated on 30,830 paired ECG and PPG windows from ten participants. Under the source paper's own protocol it learns (R² = +0.149). Under either leakage-controlled protocol every method, including the fusion, performs worse than a model that predicts the population mean, while still attaining 89–91% in the clinical acceptability zones. The fusion operator was additionally found to have degenerated into a minimum operator.</a:t>
            </a:r>
            <a:endParaRPr lang="en-US" sz="1150" dirty="0"/>
          </a:p>
        </p:txBody>
      </p:sp>
      <p:sp>
        <p:nvSpPr>
          <p:cNvPr id="9" name="Text 7"/>
          <p:cNvSpPr txBox="1"/>
          <p:nvPr/>
        </p:nvSpPr>
        <p:spPr>
          <a:xfrm>
            <a:off x="685800" y="2697480"/>
            <a:ext cx="10820095" cy="274320"/>
          </a:xfrm>
          <a:prstGeom prst="rect">
            <a:avLst/>
          </a:prstGeom>
          <a:noFill/>
          <a:ln/>
        </p:spPr>
        <p:txBody>
          <a:bodyPr wrap="square" lIns="0" tIns="0" rIns="0" bIns="0" rtlCol="0" anchor="ctr"/>
          <a:lstStyle/>
          <a:p>
            <a:pPr algn="ctr" indent="0" marL="0">
              <a:buNone/>
            </a:pPr>
            <a:r>
              <a:rPr lang="en-US" sz="1300" b="1" dirty="0">
                <a:solidFill>
                  <a:srgbClr val="000000"/>
                </a:solidFill>
                <a:latin typeface="Times New Roman" pitchFamily="34" charset="0"/>
                <a:ea typeface="Times New Roman" pitchFamily="34" charset="-122"/>
                <a:cs typeface="Times New Roman" pitchFamily="34" charset="-120"/>
              </a:rPr>
              <a:t>References</a:t>
            </a:r>
            <a:endParaRPr lang="en-US" sz="1300" dirty="0"/>
          </a:p>
        </p:txBody>
      </p:sp>
      <p:sp>
        <p:nvSpPr>
          <p:cNvPr id="10" name="Text 8"/>
          <p:cNvSpPr txBox="1"/>
          <p:nvPr/>
        </p:nvSpPr>
        <p:spPr>
          <a:xfrm>
            <a:off x="685800" y="3063240"/>
            <a:ext cx="10835640" cy="2743200"/>
          </a:xfrm>
          <a:prstGeom prst="rect">
            <a:avLst/>
          </a:prstGeom>
          <a:noFill/>
          <a:ln/>
        </p:spPr>
        <p:txBody>
          <a:bodyPr wrap="square" lIns="0" tIns="0" rIns="0" bIns="0" rtlCol="0" anchor="ctr"/>
          <a:lstStyle/>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[1] J. Li et al., "Noninvasive blood glucose monitoring using spatiotemporal ECG and PPG feature fusion and weight-based Choquet integral multimodel approach," IEEE Trans. Neural Netw. Learn. Syst., vol. 35, no. 10, pp. 14493–14505, Oct. 2024.</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[2] "PhysioCGM: a multimodal physiological dataset for non-invasive blood glucose estimation," Sci. Data, vol. 12, 2025. [Online]. Available: https://doi.org/10.6084/m9.figshare.28136294 (accessed Sep. 25,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[3] "Reassessing the feasibility of PPG-based non-invasive blood glucose level estimation," arXiv:2608.01820,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[4] "Advances in electrocardiogram-based non-invasive blood glucose monitoring technology," review, 2026.</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[5] J. L. Parkes, S. L. Slatin, S. Pardo and B. H. Ginsberg, "A new consensus error grid to evaluate the clinical significance of inaccuracies in the estimation of blood glucose," Diabetes Care, vol. 23, no. 8, pp. 1143–1148, Aug. 2000.</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[6] A. Pfützner, D. C. Klonoff, S. Pardo and J. L. Parkes, "Technical aspects of the Parkes error grid," J. Diabetes Sci. Technol., vol. 7, no. 5, pp. 1275–1281, 2013.</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[7] B. Eckert and C.-D. Agardh, "Hypoglycaemia leads to an increased QT interval in normal men," Clin. Physiol., vol. 18, no. 6, pp. 570–575, Nov. 1998.</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[8] M. Grabisch, "Fuzzy integral in multicriteria decision making," Fuzzy Sets Syst., vol. 69, no. 3, pp. 279–298, 1995.</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[9] J.-L. Marichal, "On Choquet and Sugeno integrals as aggregation functions," in Fuzzy Measures and Integrals, Heidelberg: Physica-Verlag, 2000, pp. 247–272.</a:t>
            </a:r>
            <a:endParaRPr lang="en-US" sz="900" dirty="0"/>
          </a:p>
          <a:p>
            <a:pPr indent="0" marL="0">
              <a:spcAft>
                <a:spcPts val="400"/>
              </a:spcAft>
              <a:buNone/>
            </a:pPr>
            <a:r>
              <a:rPr lang="en-US" sz="900" dirty="0">
                <a:solidFill>
                  <a:srgbClr val="000000"/>
                </a:solidFill>
                <a:latin typeface="Times New Roman" pitchFamily="34" charset="0"/>
                <a:ea typeface="Times New Roman" pitchFamily="34" charset="-122"/>
                <a:cs typeface="Times New Roman" pitchFamily="34" charset="-120"/>
              </a:rPr>
              <a:t>[10] B. Hjorth, "EEG analysis based on time domain properties," Electroencephalogr. Clin. Neurophysiol., vol. 29, no. 3, pp. 306–310, 1970.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Noninvasive Blood Glucose Estimation from ECG and PPG</dc:title>
  <dc:subject>PptxGenJS Presentation</dc:subject>
  <dc:creator>Vednash Singhal, Navtesh Maken, Aditya Agarwaal, Tushar Sharma</dc:creator>
  <cp:lastModifiedBy>Vednash Singhal, Navtesh Maken, Aditya Agarwaal, Tushar Sharma</cp:lastModifiedBy>
  <cp:revision>1</cp:revision>
  <dcterms:created xsi:type="dcterms:W3CDTF">2026-09-30T05:40:09Z</dcterms:created>
  <dcterms:modified xsi:type="dcterms:W3CDTF">2026-09-30T05:40:09Z</dcterms:modified>
</cp:coreProperties>
</file>