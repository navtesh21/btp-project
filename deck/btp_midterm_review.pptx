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051560"/>
            <a:ext cx="10820095" cy="274320"/>
          </a:xfrm>
          <a:prstGeom prst="rect">
            <a:avLst/>
          </a:prstGeom>
          <a:noFill/>
          <a:ln/>
        </p:spPr>
        <p:txBody>
          <a:bodyPr wrap="square" lIns="0" tIns="0" rIns="0" bIns="0" rtlCol="0" anchor="ctr"/>
          <a:lstStyle/>
          <a:p>
            <a:pPr algn="ctr" indent="0" marL="0">
              <a:buNone/>
            </a:pPr>
            <a:r>
              <a:rPr lang="en-US" sz="1200" b="1" spc="100" kern="0" dirty="0">
                <a:solidFill>
                  <a:srgbClr val="000000"/>
                </a:solidFill>
                <a:latin typeface="Times New Roman" pitchFamily="34" charset="0"/>
                <a:ea typeface="Times New Roman" pitchFamily="34" charset="-122"/>
                <a:cs typeface="Times New Roman" pitchFamily="34" charset="-120"/>
              </a:rPr>
              <a:t>MID TERM REVIEW</a:t>
            </a:r>
            <a:endParaRPr lang="en-US" sz="1200" dirty="0"/>
          </a:p>
        </p:txBody>
      </p:sp>
      <p:sp>
        <p:nvSpPr>
          <p:cNvPr id="3" name="Text 1"/>
          <p:cNvSpPr txBox="1"/>
          <p:nvPr/>
        </p:nvSpPr>
        <p:spPr>
          <a:xfrm>
            <a:off x="685800" y="1600200"/>
            <a:ext cx="10820095" cy="1051560"/>
          </a:xfrm>
          <a:prstGeom prst="rect">
            <a:avLst/>
          </a:prstGeom>
          <a:noFill/>
          <a:ln/>
        </p:spPr>
        <p:txBody>
          <a:bodyPr wrap="square" lIns="0" tIns="0" rIns="0" bIns="0" rtlCol="0" anchor="ctr"/>
          <a:lstStyle/>
          <a:p>
            <a:pPr algn="ctr" indent="0" marL="0">
              <a:lnSpc>
                <a:spcPct val="110000"/>
              </a:lnSpc>
              <a:buNone/>
            </a:pPr>
            <a:r>
              <a:rPr lang="en-US" sz="3000" b="1" dirty="0">
                <a:solidFill>
                  <a:srgbClr val="000000"/>
                </a:solidFill>
                <a:latin typeface="Times New Roman" pitchFamily="34" charset="0"/>
                <a:ea typeface="Times New Roman" pitchFamily="34" charset="-122"/>
                <a:cs typeface="Times New Roman" pitchFamily="34" charset="-120"/>
              </a:rPr>
              <a:t>Reproducing Choquet-Integral Multimodel Fusion for</a:t>
            </a:r>
            <a:endParaRPr lang="en-US" sz="3000" dirty="0"/>
          </a:p>
          <a:p>
            <a:pPr algn="ctr" indent="0" marL="0">
              <a:lnSpc>
                <a:spcPct val="110000"/>
              </a:lnSpc>
              <a:buNone/>
            </a:pPr>
            <a:r>
              <a:rPr lang="en-US" sz="3000" b="1" dirty="0">
                <a:solidFill>
                  <a:srgbClr val="000000"/>
                </a:solidFill>
                <a:latin typeface="Times New Roman" pitchFamily="34" charset="0"/>
                <a:ea typeface="Times New Roman" pitchFamily="34" charset="-122"/>
                <a:cs typeface="Times New Roman" pitchFamily="34" charset="-120"/>
              </a:rPr>
              <a:t>Noninvasive Blood Glucose Estimation</a:t>
            </a:r>
            <a:endParaRPr lang="en-US" sz="3000" dirty="0"/>
          </a:p>
        </p:txBody>
      </p:sp>
      <p:sp>
        <p:nvSpPr>
          <p:cNvPr id="4" name="Text 2"/>
          <p:cNvSpPr txBox="1"/>
          <p:nvPr/>
        </p:nvSpPr>
        <p:spPr>
          <a:xfrm>
            <a:off x="685800" y="2743200"/>
            <a:ext cx="10820095" cy="365760"/>
          </a:xfrm>
          <a:prstGeom prst="rect">
            <a:avLst/>
          </a:prstGeom>
          <a:noFill/>
          <a:ln/>
        </p:spPr>
        <p:txBody>
          <a:bodyPr wrap="square" lIns="0" tIns="0" rIns="0" bIns="0" rtlCol="0" anchor="ctr"/>
          <a:lstStyle/>
          <a:p>
            <a:pPr algn="ctr" indent="0" marL="0">
              <a:buNone/>
            </a:pPr>
            <a:r>
              <a:rPr lang="en-US" sz="1500" dirty="0">
                <a:solidFill>
                  <a:srgbClr val="000000"/>
                </a:solidFill>
                <a:latin typeface="Times New Roman" pitchFamily="34" charset="0"/>
                <a:ea typeface="Times New Roman" pitchFamily="34" charset="-122"/>
                <a:cs typeface="Times New Roman" pitchFamily="34" charset="-120"/>
              </a:rPr>
              <a:t>An independent reproduction on open ECG and PPG data, under leakage-controlled evaluation</a:t>
            </a:r>
            <a:endParaRPr lang="en-US" sz="1500" dirty="0"/>
          </a:p>
        </p:txBody>
      </p:sp>
      <p:sp>
        <p:nvSpPr>
          <p:cNvPr id="5" name="Text 3"/>
          <p:cNvSpPr txBox="1"/>
          <p:nvPr/>
        </p:nvSpPr>
        <p:spPr>
          <a:xfrm>
            <a:off x="685800" y="3401568"/>
            <a:ext cx="10820095" cy="256032"/>
          </a:xfrm>
          <a:prstGeom prst="rect">
            <a:avLst/>
          </a:prstGeom>
          <a:noFill/>
          <a:ln/>
        </p:spPr>
        <p:txBody>
          <a:bodyPr wrap="square" lIns="0" tIns="0" rIns="0" bIns="0" rtlCol="0" anchor="ct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Vednash Singhal    2023UIC3633</a:t>
            </a:r>
            <a:endParaRPr lang="en-US" sz="1400" dirty="0"/>
          </a:p>
        </p:txBody>
      </p:sp>
      <p:sp>
        <p:nvSpPr>
          <p:cNvPr id="6" name="Text 4"/>
          <p:cNvSpPr txBox="1"/>
          <p:nvPr/>
        </p:nvSpPr>
        <p:spPr>
          <a:xfrm>
            <a:off x="685800" y="3675888"/>
            <a:ext cx="10820095" cy="256032"/>
          </a:xfrm>
          <a:prstGeom prst="rect">
            <a:avLst/>
          </a:prstGeom>
          <a:noFill/>
          <a:ln/>
        </p:spPr>
        <p:txBody>
          <a:bodyPr wrap="square" lIns="0" tIns="0" rIns="0" bIns="0" rtlCol="0" anchor="ct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Navtesh Maken    2023UIC3641</a:t>
            </a:r>
            <a:endParaRPr lang="en-US" sz="1400" dirty="0"/>
          </a:p>
        </p:txBody>
      </p:sp>
      <p:sp>
        <p:nvSpPr>
          <p:cNvPr id="7" name="Text 5"/>
          <p:cNvSpPr txBox="1"/>
          <p:nvPr/>
        </p:nvSpPr>
        <p:spPr>
          <a:xfrm>
            <a:off x="685800" y="3950208"/>
            <a:ext cx="10820095" cy="256032"/>
          </a:xfrm>
          <a:prstGeom prst="rect">
            <a:avLst/>
          </a:prstGeom>
          <a:noFill/>
          <a:ln/>
        </p:spPr>
        <p:txBody>
          <a:bodyPr wrap="square" lIns="0" tIns="0" rIns="0" bIns="0" rtlCol="0" anchor="ct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Aditya Agarwaal    2023UIC4138</a:t>
            </a:r>
            <a:endParaRPr lang="en-US" sz="1400" dirty="0"/>
          </a:p>
        </p:txBody>
      </p:sp>
      <p:sp>
        <p:nvSpPr>
          <p:cNvPr id="8" name="Text 6"/>
          <p:cNvSpPr txBox="1"/>
          <p:nvPr/>
        </p:nvSpPr>
        <p:spPr>
          <a:xfrm>
            <a:off x="685800" y="4224528"/>
            <a:ext cx="10820095" cy="256032"/>
          </a:xfrm>
          <a:prstGeom prst="rect">
            <a:avLst/>
          </a:prstGeom>
          <a:noFill/>
          <a:ln/>
        </p:spPr>
        <p:txBody>
          <a:bodyPr wrap="square" lIns="0" tIns="0" rIns="0" bIns="0" rtlCol="0" anchor="ct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Tushar Sharma    2023UIC3600</a:t>
            </a:r>
            <a:endParaRPr lang="en-US" sz="1400" dirty="0"/>
          </a:p>
        </p:txBody>
      </p:sp>
      <p:sp>
        <p:nvSpPr>
          <p:cNvPr id="9" name="Text 7"/>
          <p:cNvSpPr txBox="1"/>
          <p:nvPr/>
        </p:nvSpPr>
        <p:spPr>
          <a:xfrm>
            <a:off x="685800" y="4681728"/>
            <a:ext cx="10820095" cy="237744"/>
          </a:xfrm>
          <a:prstGeom prst="rect">
            <a:avLst/>
          </a:prstGeom>
          <a:noFill/>
          <a:ln/>
        </p:spPr>
        <p:txBody>
          <a:bodyPr wrap="square" lIns="0" tIns="0" rIns="0" bIns="0" rtlCol="0" anchor="ctr"/>
          <a:lstStyle/>
          <a:p>
            <a:pPr algn="ctr" indent="0" marL="0">
              <a:buNone/>
            </a:pPr>
            <a:r>
              <a:rPr lang="en-US" sz="1100" dirty="0">
                <a:solidFill>
                  <a:srgbClr val="444444"/>
                </a:solidFill>
                <a:latin typeface="Times New Roman" pitchFamily="34" charset="0"/>
                <a:ea typeface="Times New Roman" pitchFamily="34" charset="-122"/>
                <a:cs typeface="Times New Roman" pitchFamily="34" charset="-120"/>
              </a:rPr>
              <a:t>Under the supervision of</a:t>
            </a:r>
            <a:endParaRPr lang="en-US" sz="1100" dirty="0"/>
          </a:p>
        </p:txBody>
      </p:sp>
      <p:sp>
        <p:nvSpPr>
          <p:cNvPr id="10" name="Text 8"/>
          <p:cNvSpPr txBox="1"/>
          <p:nvPr/>
        </p:nvSpPr>
        <p:spPr>
          <a:xfrm>
            <a:off x="685800" y="4919472"/>
            <a:ext cx="10820095" cy="274320"/>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Mrs. Asha Rani</a:t>
            </a:r>
            <a:endParaRPr lang="en-US" sz="1400" dirty="0"/>
          </a:p>
        </p:txBody>
      </p:sp>
      <p:sp>
        <p:nvSpPr>
          <p:cNvPr id="11" name="Text 9"/>
          <p:cNvSpPr txBox="1"/>
          <p:nvPr/>
        </p:nvSpPr>
        <p:spPr>
          <a:xfrm>
            <a:off x="685800" y="5376672"/>
            <a:ext cx="10820095" cy="548640"/>
          </a:xfrm>
          <a:prstGeom prst="rect">
            <a:avLst/>
          </a:prstGeom>
          <a:noFill/>
          <a:ln/>
        </p:spPr>
        <p:txBody>
          <a:bodyPr wrap="square" lIns="0" tIns="0" rIns="0" bIns="0" rtlCol="0" anchor="ctr"/>
          <a:lstStyle/>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Department of Instrumentation and Control Engineering</a:t>
            </a:r>
            <a:endParaRPr lang="en-US" sz="1200" dirty="0"/>
          </a:p>
          <a:p>
            <a:pPr algn="ctr" indent="0" marL="0">
              <a:buNone/>
            </a:pPr>
            <a:r>
              <a:rPr lang="en-US" sz="1200" dirty="0">
                <a:solidFill>
                  <a:srgbClr val="000000"/>
                </a:solidFill>
                <a:latin typeface="Times New Roman" pitchFamily="34" charset="0"/>
                <a:ea typeface="Times New Roman" pitchFamily="34" charset="-122"/>
                <a:cs typeface="Times New Roman" pitchFamily="34" charset="-120"/>
              </a:rPr>
              <a:t>Netaji Subhas University of Technology, New Delhi</a:t>
            </a:r>
            <a:endParaRPr lang="en-US" sz="1200" dirty="0"/>
          </a:p>
        </p:txBody>
      </p:sp>
      <p:sp>
        <p:nvSpPr>
          <p:cNvPr id="12" name="Text 10"/>
          <p:cNvSpPr txBox="1"/>
          <p:nvPr/>
        </p:nvSpPr>
        <p:spPr>
          <a:xfrm>
            <a:off x="685800" y="5961888"/>
            <a:ext cx="10820095" cy="274320"/>
          </a:xfrm>
          <a:prstGeom prst="rect">
            <a:avLst/>
          </a:prstGeom>
          <a:noFill/>
          <a:ln/>
        </p:spPr>
        <p:txBody>
          <a:bodyPr wrap="square" lIns="0" tIns="0" rIns="0" bIns="0" rtlCol="0" anchor="ctr"/>
          <a:lstStyle/>
          <a:p>
            <a:pPr algn="ctr" indent="0" marL="0">
              <a:buNone/>
            </a:pPr>
            <a:r>
              <a:rPr lang="en-US" sz="1100" dirty="0">
                <a:solidFill>
                  <a:srgbClr val="444444"/>
                </a:solidFill>
                <a:latin typeface="Times New Roman" pitchFamily="34" charset="0"/>
                <a:ea typeface="Times New Roman" pitchFamily="34" charset="-122"/>
                <a:cs typeface="Times New Roman" pitchFamily="34" charset="-120"/>
              </a:rPr>
              <a:t>EEEEC23  B. Tech Project - II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566928"/>
          </a:xfrm>
          <a:prstGeom prst="rect">
            <a:avLst/>
          </a:prstGeom>
          <a:noFill/>
          <a:ln/>
        </p:spPr>
        <p:txBody>
          <a:bodyPr wrap="square" lIns="0" tIns="0" rIns="0" bIns="0" rtlCol="0" anchor="ctr"/>
          <a:lstStyle/>
          <a:p>
            <a:pPr algn="ctr" indent="0" marL="0">
              <a:buNone/>
            </a:pPr>
            <a:r>
              <a:rPr lang="en-US" sz="2100" b="1" dirty="0">
                <a:solidFill>
                  <a:srgbClr val="000000"/>
                </a:solidFill>
                <a:latin typeface="Times New Roman" pitchFamily="34" charset="0"/>
                <a:ea typeface="Times New Roman" pitchFamily="34" charset="-122"/>
                <a:cs typeface="Times New Roman" pitchFamily="34" charset="-120"/>
              </a:rPr>
              <a:t>Contents</a:t>
            </a:r>
            <a:endParaRPr lang="en-US" sz="2100" dirty="0"/>
          </a:p>
        </p:txBody>
      </p:sp>
      <p:sp>
        <p:nvSpPr>
          <p:cNvPr id="3" name="Shape 1"/>
          <p:cNvSpPr/>
          <p:nvPr/>
        </p:nvSpPr>
        <p:spPr>
          <a:xfrm>
            <a:off x="685800" y="1024128"/>
            <a:ext cx="10820095" cy="3658"/>
          </a:xfrm>
          <a:prstGeom prst="line">
            <a:avLst/>
          </a:prstGeom>
          <a:noFill/>
          <a:ln w="13970">
            <a:solidFill>
              <a:srgbClr val="000000"/>
            </a:solidFill>
            <a:prstDash val="solid"/>
          </a:ln>
        </p:spPr>
      </p:sp>
      <p:sp>
        <p:nvSpPr>
          <p:cNvPr id="4" name="Text 2"/>
          <p:cNvSpPr txBox="1"/>
          <p:nvPr/>
        </p:nvSpPr>
        <p:spPr>
          <a:xfrm>
            <a:off x="1051560" y="1517904"/>
            <a:ext cx="457200" cy="384048"/>
          </a:xfrm>
          <a:prstGeom prst="rect">
            <a:avLst/>
          </a:prstGeom>
          <a:noFill/>
          <a:ln/>
        </p:spPr>
        <p:txBody>
          <a:bodyPr wrap="square" lIns="0" tIns="0" rIns="0" bIns="0" rtlCol="0" anchor="ct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1.</a:t>
            </a:r>
            <a:endParaRPr lang="en-US" sz="1300" dirty="0"/>
          </a:p>
        </p:txBody>
      </p:sp>
      <p:sp>
        <p:nvSpPr>
          <p:cNvPr id="5" name="Text 3"/>
          <p:cNvSpPr txBox="1"/>
          <p:nvPr/>
        </p:nvSpPr>
        <p:spPr>
          <a:xfrm>
            <a:off x="1618488" y="1517904"/>
            <a:ext cx="4754880" cy="384048"/>
          </a:xfrm>
          <a:prstGeom prst="rect">
            <a:avLst/>
          </a:prstGeom>
          <a:noFill/>
          <a:ln/>
        </p:spPr>
        <p:txBody>
          <a:bodyPr wrap="square" lIns="0" tIns="0" rIns="0" bIns="0" rtlCol="0" anchor="ctr"/>
          <a:lstStyle/>
          <a:p>
            <a:pPr indent="0" marL="0">
              <a:buNone/>
            </a:pPr>
            <a:r>
              <a:rPr lang="en-US" sz="1300" dirty="0">
                <a:solidFill>
                  <a:srgbClr val="000000"/>
                </a:solidFill>
                <a:latin typeface="Times New Roman" pitchFamily="34" charset="0"/>
                <a:ea typeface="Times New Roman" pitchFamily="34" charset="-122"/>
                <a:cs typeface="Times New Roman" pitchFamily="34" charset="-120"/>
              </a:rPr>
              <a:t>Introduction — Background and Motivation</a:t>
            </a:r>
            <a:endParaRPr lang="en-US" sz="1300" dirty="0"/>
          </a:p>
        </p:txBody>
      </p:sp>
      <p:sp>
        <p:nvSpPr>
          <p:cNvPr id="6" name="Text 4"/>
          <p:cNvSpPr txBox="1"/>
          <p:nvPr/>
        </p:nvSpPr>
        <p:spPr>
          <a:xfrm>
            <a:off x="1051560" y="2002536"/>
            <a:ext cx="457200" cy="384048"/>
          </a:xfrm>
          <a:prstGeom prst="rect">
            <a:avLst/>
          </a:prstGeom>
          <a:noFill/>
          <a:ln/>
        </p:spPr>
        <p:txBody>
          <a:bodyPr wrap="square" lIns="0" tIns="0" rIns="0" bIns="0" rtlCol="0" anchor="ct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2.</a:t>
            </a:r>
            <a:endParaRPr lang="en-US" sz="1300" dirty="0"/>
          </a:p>
        </p:txBody>
      </p:sp>
      <p:sp>
        <p:nvSpPr>
          <p:cNvPr id="7" name="Text 5"/>
          <p:cNvSpPr txBox="1"/>
          <p:nvPr/>
        </p:nvSpPr>
        <p:spPr>
          <a:xfrm>
            <a:off x="1618488" y="2002536"/>
            <a:ext cx="4754880" cy="384048"/>
          </a:xfrm>
          <a:prstGeom prst="rect">
            <a:avLst/>
          </a:prstGeom>
          <a:noFill/>
          <a:ln/>
        </p:spPr>
        <p:txBody>
          <a:bodyPr wrap="square" lIns="0" tIns="0" rIns="0" bIns="0" rtlCol="0" anchor="ctr"/>
          <a:lstStyle/>
          <a:p>
            <a:pPr indent="0" marL="0">
              <a:buNone/>
            </a:pPr>
            <a:r>
              <a:rPr lang="en-US" sz="1300" dirty="0">
                <a:solidFill>
                  <a:srgbClr val="000000"/>
                </a:solidFill>
                <a:latin typeface="Times New Roman" pitchFamily="34" charset="0"/>
                <a:ea typeface="Times New Roman" pitchFamily="34" charset="-122"/>
                <a:cs typeface="Times New Roman" pitchFamily="34" charset="-120"/>
              </a:rPr>
              <a:t>Literature Survey — The Method Under Test</a:t>
            </a:r>
            <a:endParaRPr lang="en-US" sz="1300" dirty="0"/>
          </a:p>
        </p:txBody>
      </p:sp>
      <p:sp>
        <p:nvSpPr>
          <p:cNvPr id="8" name="Text 6"/>
          <p:cNvSpPr txBox="1"/>
          <p:nvPr/>
        </p:nvSpPr>
        <p:spPr>
          <a:xfrm>
            <a:off x="1051560" y="2487168"/>
            <a:ext cx="457200" cy="384048"/>
          </a:xfrm>
          <a:prstGeom prst="rect">
            <a:avLst/>
          </a:prstGeom>
          <a:noFill/>
          <a:ln/>
        </p:spPr>
        <p:txBody>
          <a:bodyPr wrap="square" lIns="0" tIns="0" rIns="0" bIns="0" rtlCol="0" anchor="ct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3.</a:t>
            </a:r>
            <a:endParaRPr lang="en-US" sz="1300" dirty="0"/>
          </a:p>
        </p:txBody>
      </p:sp>
      <p:sp>
        <p:nvSpPr>
          <p:cNvPr id="9" name="Text 7"/>
          <p:cNvSpPr txBox="1"/>
          <p:nvPr/>
        </p:nvSpPr>
        <p:spPr>
          <a:xfrm>
            <a:off x="1618488" y="2487168"/>
            <a:ext cx="4754880" cy="384048"/>
          </a:xfrm>
          <a:prstGeom prst="rect">
            <a:avLst/>
          </a:prstGeom>
          <a:noFill/>
          <a:ln/>
        </p:spPr>
        <p:txBody>
          <a:bodyPr wrap="square" lIns="0" tIns="0" rIns="0" bIns="0" rtlCol="0" anchor="ctr"/>
          <a:lstStyle/>
          <a:p>
            <a:pPr indent="0" marL="0">
              <a:buNone/>
            </a:pPr>
            <a:r>
              <a:rPr lang="en-US" sz="1300" dirty="0">
                <a:solidFill>
                  <a:srgbClr val="000000"/>
                </a:solidFill>
                <a:latin typeface="Times New Roman" pitchFamily="34" charset="0"/>
                <a:ea typeface="Times New Roman" pitchFamily="34" charset="-122"/>
                <a:cs typeface="Times New Roman" pitchFamily="34" charset="-120"/>
              </a:rPr>
              <a:t>Literature Survey — Evaluation Practice in the Field</a:t>
            </a:r>
            <a:endParaRPr lang="en-US" sz="1300" dirty="0"/>
          </a:p>
        </p:txBody>
      </p:sp>
      <p:sp>
        <p:nvSpPr>
          <p:cNvPr id="10" name="Text 8"/>
          <p:cNvSpPr txBox="1"/>
          <p:nvPr/>
        </p:nvSpPr>
        <p:spPr>
          <a:xfrm>
            <a:off x="1051560" y="2971800"/>
            <a:ext cx="457200" cy="384048"/>
          </a:xfrm>
          <a:prstGeom prst="rect">
            <a:avLst/>
          </a:prstGeom>
          <a:noFill/>
          <a:ln/>
        </p:spPr>
        <p:txBody>
          <a:bodyPr wrap="square" lIns="0" tIns="0" rIns="0" bIns="0" rtlCol="0" anchor="ct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4.</a:t>
            </a:r>
            <a:endParaRPr lang="en-US" sz="1300" dirty="0"/>
          </a:p>
        </p:txBody>
      </p:sp>
      <p:sp>
        <p:nvSpPr>
          <p:cNvPr id="11" name="Text 9"/>
          <p:cNvSpPr txBox="1"/>
          <p:nvPr/>
        </p:nvSpPr>
        <p:spPr>
          <a:xfrm>
            <a:off x="1618488" y="2971800"/>
            <a:ext cx="4754880" cy="384048"/>
          </a:xfrm>
          <a:prstGeom prst="rect">
            <a:avLst/>
          </a:prstGeom>
          <a:noFill/>
          <a:ln/>
        </p:spPr>
        <p:txBody>
          <a:bodyPr wrap="square" lIns="0" tIns="0" rIns="0" bIns="0" rtlCol="0" anchor="ctr"/>
          <a:lstStyle/>
          <a:p>
            <a:pPr indent="0" marL="0">
              <a:buNone/>
            </a:pPr>
            <a:r>
              <a:rPr lang="en-US" sz="1300" dirty="0">
                <a:solidFill>
                  <a:srgbClr val="000000"/>
                </a:solidFill>
                <a:latin typeface="Times New Roman" pitchFamily="34" charset="0"/>
                <a:ea typeface="Times New Roman" pitchFamily="34" charset="-122"/>
                <a:cs typeface="Times New Roman" pitchFamily="34" charset="-120"/>
              </a:rPr>
              <a:t>Research Gaps and Limitations Identified</a:t>
            </a:r>
            <a:endParaRPr lang="en-US" sz="1300" dirty="0"/>
          </a:p>
        </p:txBody>
      </p:sp>
      <p:sp>
        <p:nvSpPr>
          <p:cNvPr id="12" name="Text 10"/>
          <p:cNvSpPr txBox="1"/>
          <p:nvPr/>
        </p:nvSpPr>
        <p:spPr>
          <a:xfrm>
            <a:off x="1051560" y="3456432"/>
            <a:ext cx="457200" cy="384048"/>
          </a:xfrm>
          <a:prstGeom prst="rect">
            <a:avLst/>
          </a:prstGeom>
          <a:noFill/>
          <a:ln/>
        </p:spPr>
        <p:txBody>
          <a:bodyPr wrap="square" lIns="0" tIns="0" rIns="0" bIns="0" rtlCol="0" anchor="ct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5.</a:t>
            </a:r>
            <a:endParaRPr lang="en-US" sz="1300" dirty="0"/>
          </a:p>
        </p:txBody>
      </p:sp>
      <p:sp>
        <p:nvSpPr>
          <p:cNvPr id="13" name="Text 11"/>
          <p:cNvSpPr txBox="1"/>
          <p:nvPr/>
        </p:nvSpPr>
        <p:spPr>
          <a:xfrm>
            <a:off x="1618488" y="3456432"/>
            <a:ext cx="4754880" cy="384048"/>
          </a:xfrm>
          <a:prstGeom prst="rect">
            <a:avLst/>
          </a:prstGeom>
          <a:noFill/>
          <a:ln/>
        </p:spPr>
        <p:txBody>
          <a:bodyPr wrap="square" lIns="0" tIns="0" rIns="0" bIns="0" rtlCol="0" anchor="ctr"/>
          <a:lstStyle/>
          <a:p>
            <a:pPr indent="0" marL="0">
              <a:buNone/>
            </a:pPr>
            <a:r>
              <a:rPr lang="en-US" sz="1300" dirty="0">
                <a:solidFill>
                  <a:srgbClr val="000000"/>
                </a:solidFill>
                <a:latin typeface="Times New Roman" pitchFamily="34" charset="0"/>
                <a:ea typeface="Times New Roman" pitchFamily="34" charset="-122"/>
                <a:cs typeface="Times New Roman" pitchFamily="34" charset="-120"/>
              </a:rPr>
              <a:t>Aim and Objectives</a:t>
            </a:r>
            <a:endParaRPr lang="en-US" sz="1300" dirty="0"/>
          </a:p>
        </p:txBody>
      </p:sp>
      <p:sp>
        <p:nvSpPr>
          <p:cNvPr id="14" name="Text 12"/>
          <p:cNvSpPr txBox="1"/>
          <p:nvPr/>
        </p:nvSpPr>
        <p:spPr>
          <a:xfrm>
            <a:off x="1051560" y="3941064"/>
            <a:ext cx="457200" cy="384048"/>
          </a:xfrm>
          <a:prstGeom prst="rect">
            <a:avLst/>
          </a:prstGeom>
          <a:noFill/>
          <a:ln/>
        </p:spPr>
        <p:txBody>
          <a:bodyPr wrap="square" lIns="0" tIns="0" rIns="0" bIns="0" rtlCol="0" anchor="ct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6.</a:t>
            </a:r>
            <a:endParaRPr lang="en-US" sz="1300" dirty="0"/>
          </a:p>
        </p:txBody>
      </p:sp>
      <p:sp>
        <p:nvSpPr>
          <p:cNvPr id="15" name="Text 13"/>
          <p:cNvSpPr txBox="1"/>
          <p:nvPr/>
        </p:nvSpPr>
        <p:spPr>
          <a:xfrm>
            <a:off x="1618488" y="3941064"/>
            <a:ext cx="4754880" cy="384048"/>
          </a:xfrm>
          <a:prstGeom prst="rect">
            <a:avLst/>
          </a:prstGeom>
          <a:noFill/>
          <a:ln/>
        </p:spPr>
        <p:txBody>
          <a:bodyPr wrap="square" lIns="0" tIns="0" rIns="0" bIns="0" rtlCol="0" anchor="ctr"/>
          <a:lstStyle/>
          <a:p>
            <a:pPr indent="0" marL="0">
              <a:buNone/>
            </a:pPr>
            <a:r>
              <a:rPr lang="en-US" sz="1300" dirty="0">
                <a:solidFill>
                  <a:srgbClr val="000000"/>
                </a:solidFill>
                <a:latin typeface="Times New Roman" pitchFamily="34" charset="0"/>
                <a:ea typeface="Times New Roman" pitchFamily="34" charset="-122"/>
                <a:cs typeface="Times New Roman" pitchFamily="34" charset="-120"/>
              </a:rPr>
              <a:t>Problem Formulation — Fuzzy Measures and the Choquet Integral</a:t>
            </a:r>
            <a:endParaRPr lang="en-US" sz="1300" dirty="0"/>
          </a:p>
        </p:txBody>
      </p:sp>
      <p:sp>
        <p:nvSpPr>
          <p:cNvPr id="16" name="Text 14"/>
          <p:cNvSpPr txBox="1"/>
          <p:nvPr/>
        </p:nvSpPr>
        <p:spPr>
          <a:xfrm>
            <a:off x="1051560" y="4425696"/>
            <a:ext cx="457200" cy="384048"/>
          </a:xfrm>
          <a:prstGeom prst="rect">
            <a:avLst/>
          </a:prstGeom>
          <a:noFill/>
          <a:ln/>
        </p:spPr>
        <p:txBody>
          <a:bodyPr wrap="square" lIns="0" tIns="0" rIns="0" bIns="0" rtlCol="0" anchor="ct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7.</a:t>
            </a:r>
            <a:endParaRPr lang="en-US" sz="1300" dirty="0"/>
          </a:p>
        </p:txBody>
      </p:sp>
      <p:sp>
        <p:nvSpPr>
          <p:cNvPr id="17" name="Text 15"/>
          <p:cNvSpPr txBox="1"/>
          <p:nvPr/>
        </p:nvSpPr>
        <p:spPr>
          <a:xfrm>
            <a:off x="1618488" y="4425696"/>
            <a:ext cx="4754880" cy="384048"/>
          </a:xfrm>
          <a:prstGeom prst="rect">
            <a:avLst/>
          </a:prstGeom>
          <a:noFill/>
          <a:ln/>
        </p:spPr>
        <p:txBody>
          <a:bodyPr wrap="square" lIns="0" tIns="0" rIns="0" bIns="0" rtlCol="0" anchor="ctr"/>
          <a:lstStyle/>
          <a:p>
            <a:pPr indent="0" marL="0">
              <a:buNone/>
            </a:pPr>
            <a:r>
              <a:rPr lang="en-US" sz="1300" dirty="0">
                <a:solidFill>
                  <a:srgbClr val="000000"/>
                </a:solidFill>
                <a:latin typeface="Times New Roman" pitchFamily="34" charset="0"/>
                <a:ea typeface="Times New Roman" pitchFamily="34" charset="-122"/>
                <a:cs typeface="Times New Roman" pitchFamily="34" charset="-120"/>
              </a:rPr>
              <a:t>Methodology I — Pipeline, Signals and Dataset</a:t>
            </a:r>
            <a:endParaRPr lang="en-US" sz="1300" dirty="0"/>
          </a:p>
        </p:txBody>
      </p:sp>
      <p:sp>
        <p:nvSpPr>
          <p:cNvPr id="18" name="Text 16"/>
          <p:cNvSpPr txBox="1"/>
          <p:nvPr/>
        </p:nvSpPr>
        <p:spPr>
          <a:xfrm>
            <a:off x="1051560" y="4910328"/>
            <a:ext cx="457200" cy="384048"/>
          </a:xfrm>
          <a:prstGeom prst="rect">
            <a:avLst/>
          </a:prstGeom>
          <a:noFill/>
          <a:ln/>
        </p:spPr>
        <p:txBody>
          <a:bodyPr wrap="square" lIns="0" tIns="0" rIns="0" bIns="0" rtlCol="0" anchor="ct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8.</a:t>
            </a:r>
            <a:endParaRPr lang="en-US" sz="1300" dirty="0"/>
          </a:p>
        </p:txBody>
      </p:sp>
      <p:sp>
        <p:nvSpPr>
          <p:cNvPr id="19" name="Text 17"/>
          <p:cNvSpPr txBox="1"/>
          <p:nvPr/>
        </p:nvSpPr>
        <p:spPr>
          <a:xfrm>
            <a:off x="1618488" y="4910328"/>
            <a:ext cx="4754880" cy="384048"/>
          </a:xfrm>
          <a:prstGeom prst="rect">
            <a:avLst/>
          </a:prstGeom>
          <a:noFill/>
          <a:ln/>
        </p:spPr>
        <p:txBody>
          <a:bodyPr wrap="square" lIns="0" tIns="0" rIns="0" bIns="0" rtlCol="0" anchor="ctr"/>
          <a:lstStyle/>
          <a:p>
            <a:pPr indent="0" marL="0">
              <a:buNone/>
            </a:pPr>
            <a:r>
              <a:rPr lang="en-US" sz="1300" dirty="0">
                <a:solidFill>
                  <a:srgbClr val="000000"/>
                </a:solidFill>
                <a:latin typeface="Times New Roman" pitchFamily="34" charset="0"/>
                <a:ea typeface="Times New Roman" pitchFamily="34" charset="-122"/>
                <a:cs typeface="Times New Roman" pitchFamily="34" charset="-120"/>
              </a:rPr>
              <a:t>Methodology II — Feature Extraction and Selection</a:t>
            </a:r>
            <a:endParaRPr lang="en-US" sz="1300" dirty="0"/>
          </a:p>
        </p:txBody>
      </p:sp>
      <p:sp>
        <p:nvSpPr>
          <p:cNvPr id="20" name="Text 18"/>
          <p:cNvSpPr txBox="1"/>
          <p:nvPr/>
        </p:nvSpPr>
        <p:spPr>
          <a:xfrm>
            <a:off x="6629400" y="1517904"/>
            <a:ext cx="457200" cy="384048"/>
          </a:xfrm>
          <a:prstGeom prst="rect">
            <a:avLst/>
          </a:prstGeom>
          <a:noFill/>
          <a:ln/>
        </p:spPr>
        <p:txBody>
          <a:bodyPr wrap="square" lIns="0" tIns="0" rIns="0" bIns="0" rtlCol="0" anchor="ct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9.</a:t>
            </a:r>
            <a:endParaRPr lang="en-US" sz="1300" dirty="0"/>
          </a:p>
        </p:txBody>
      </p:sp>
      <p:sp>
        <p:nvSpPr>
          <p:cNvPr id="21" name="Text 19"/>
          <p:cNvSpPr txBox="1"/>
          <p:nvPr/>
        </p:nvSpPr>
        <p:spPr>
          <a:xfrm>
            <a:off x="7196328" y="1517904"/>
            <a:ext cx="4754880" cy="384048"/>
          </a:xfrm>
          <a:prstGeom prst="rect">
            <a:avLst/>
          </a:prstGeom>
          <a:noFill/>
          <a:ln/>
        </p:spPr>
        <p:txBody>
          <a:bodyPr wrap="square" lIns="0" tIns="0" rIns="0" bIns="0" rtlCol="0" anchor="ctr"/>
          <a:lstStyle/>
          <a:p>
            <a:pPr indent="0" marL="0">
              <a:buNone/>
            </a:pPr>
            <a:r>
              <a:rPr lang="en-US" sz="1300" dirty="0">
                <a:solidFill>
                  <a:srgbClr val="000000"/>
                </a:solidFill>
                <a:latin typeface="Times New Roman" pitchFamily="34" charset="0"/>
                <a:ea typeface="Times New Roman" pitchFamily="34" charset="-122"/>
                <a:cs typeface="Times New Roman" pitchFamily="34" charset="-120"/>
              </a:rPr>
              <a:t>Results I — Reproducing the Published Result</a:t>
            </a:r>
            <a:endParaRPr lang="en-US" sz="1300" dirty="0"/>
          </a:p>
        </p:txBody>
      </p:sp>
      <p:sp>
        <p:nvSpPr>
          <p:cNvPr id="22" name="Text 20"/>
          <p:cNvSpPr txBox="1"/>
          <p:nvPr/>
        </p:nvSpPr>
        <p:spPr>
          <a:xfrm>
            <a:off x="6629400" y="2002536"/>
            <a:ext cx="457200" cy="384048"/>
          </a:xfrm>
          <a:prstGeom prst="rect">
            <a:avLst/>
          </a:prstGeom>
          <a:noFill/>
          <a:ln/>
        </p:spPr>
        <p:txBody>
          <a:bodyPr wrap="square" lIns="0" tIns="0" rIns="0" bIns="0" rtlCol="0" anchor="ct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10.</a:t>
            </a:r>
            <a:endParaRPr lang="en-US" sz="1300" dirty="0"/>
          </a:p>
        </p:txBody>
      </p:sp>
      <p:sp>
        <p:nvSpPr>
          <p:cNvPr id="23" name="Text 21"/>
          <p:cNvSpPr txBox="1"/>
          <p:nvPr/>
        </p:nvSpPr>
        <p:spPr>
          <a:xfrm>
            <a:off x="7196328" y="2002536"/>
            <a:ext cx="4754880" cy="384048"/>
          </a:xfrm>
          <a:prstGeom prst="rect">
            <a:avLst/>
          </a:prstGeom>
          <a:noFill/>
          <a:ln/>
        </p:spPr>
        <p:txBody>
          <a:bodyPr wrap="square" lIns="0" tIns="0" rIns="0" bIns="0" rtlCol="0" anchor="ctr"/>
          <a:lstStyle/>
          <a:p>
            <a:pPr indent="0" marL="0">
              <a:buNone/>
            </a:pPr>
            <a:r>
              <a:rPr lang="en-US" sz="1300" dirty="0">
                <a:solidFill>
                  <a:srgbClr val="000000"/>
                </a:solidFill>
                <a:latin typeface="Times New Roman" pitchFamily="34" charset="0"/>
                <a:ea typeface="Times New Roman" pitchFamily="34" charset="-122"/>
                <a:cs typeface="Times New Roman" pitchFamily="34" charset="-120"/>
              </a:rPr>
              <a:t>Results II — The Effect of the Evaluation Protocol</a:t>
            </a:r>
            <a:endParaRPr lang="en-US" sz="1300" dirty="0"/>
          </a:p>
        </p:txBody>
      </p:sp>
      <p:sp>
        <p:nvSpPr>
          <p:cNvPr id="24" name="Text 22"/>
          <p:cNvSpPr txBox="1"/>
          <p:nvPr/>
        </p:nvSpPr>
        <p:spPr>
          <a:xfrm>
            <a:off x="6629400" y="2487168"/>
            <a:ext cx="457200" cy="384048"/>
          </a:xfrm>
          <a:prstGeom prst="rect">
            <a:avLst/>
          </a:prstGeom>
          <a:noFill/>
          <a:ln/>
        </p:spPr>
        <p:txBody>
          <a:bodyPr wrap="square" lIns="0" tIns="0" rIns="0" bIns="0" rtlCol="0" anchor="ct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11.</a:t>
            </a:r>
            <a:endParaRPr lang="en-US" sz="1300" dirty="0"/>
          </a:p>
        </p:txBody>
      </p:sp>
      <p:sp>
        <p:nvSpPr>
          <p:cNvPr id="25" name="Text 23"/>
          <p:cNvSpPr txBox="1"/>
          <p:nvPr/>
        </p:nvSpPr>
        <p:spPr>
          <a:xfrm>
            <a:off x="7196328" y="2487168"/>
            <a:ext cx="4754880" cy="384048"/>
          </a:xfrm>
          <a:prstGeom prst="rect">
            <a:avLst/>
          </a:prstGeom>
          <a:noFill/>
          <a:ln/>
        </p:spPr>
        <p:txBody>
          <a:bodyPr wrap="square" lIns="0" tIns="0" rIns="0" bIns="0" rtlCol="0" anchor="ctr"/>
          <a:lstStyle/>
          <a:p>
            <a:pPr indent="0" marL="0">
              <a:buNone/>
            </a:pPr>
            <a:r>
              <a:rPr lang="en-US" sz="1300" dirty="0">
                <a:solidFill>
                  <a:srgbClr val="000000"/>
                </a:solidFill>
                <a:latin typeface="Times New Roman" pitchFamily="34" charset="0"/>
                <a:ea typeface="Times New Roman" pitchFamily="34" charset="-122"/>
                <a:cs typeface="Times New Roman" pitchFamily="34" charset="-120"/>
              </a:rPr>
              <a:t>Results III — Parkes Error Grid and Prediction Trace</a:t>
            </a:r>
            <a:endParaRPr lang="en-US" sz="1300" dirty="0"/>
          </a:p>
        </p:txBody>
      </p:sp>
      <p:sp>
        <p:nvSpPr>
          <p:cNvPr id="26" name="Text 24"/>
          <p:cNvSpPr txBox="1"/>
          <p:nvPr/>
        </p:nvSpPr>
        <p:spPr>
          <a:xfrm>
            <a:off x="6629400" y="2971800"/>
            <a:ext cx="457200" cy="384048"/>
          </a:xfrm>
          <a:prstGeom prst="rect">
            <a:avLst/>
          </a:prstGeom>
          <a:noFill/>
          <a:ln/>
        </p:spPr>
        <p:txBody>
          <a:bodyPr wrap="square" lIns="0" tIns="0" rIns="0" bIns="0" rtlCol="0" anchor="ct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12.</a:t>
            </a:r>
            <a:endParaRPr lang="en-US" sz="1300" dirty="0"/>
          </a:p>
        </p:txBody>
      </p:sp>
      <p:sp>
        <p:nvSpPr>
          <p:cNvPr id="27" name="Text 25"/>
          <p:cNvSpPr txBox="1"/>
          <p:nvPr/>
        </p:nvSpPr>
        <p:spPr>
          <a:xfrm>
            <a:off x="7196328" y="2971800"/>
            <a:ext cx="4754880" cy="384048"/>
          </a:xfrm>
          <a:prstGeom prst="rect">
            <a:avLst/>
          </a:prstGeom>
          <a:noFill/>
          <a:ln/>
        </p:spPr>
        <p:txBody>
          <a:bodyPr wrap="square" lIns="0" tIns="0" rIns="0" bIns="0" rtlCol="0" anchor="ctr"/>
          <a:lstStyle/>
          <a:p>
            <a:pPr indent="0" marL="0">
              <a:buNone/>
            </a:pPr>
            <a:r>
              <a:rPr lang="en-US" sz="1300" dirty="0">
                <a:solidFill>
                  <a:srgbClr val="000000"/>
                </a:solidFill>
                <a:latin typeface="Times New Roman" pitchFamily="34" charset="0"/>
                <a:ea typeface="Times New Roman" pitchFamily="34" charset="-122"/>
                <a:cs typeface="Times New Roman" pitchFamily="34" charset="-120"/>
              </a:rPr>
              <a:t>Results IV — Feature-Set Ablation</a:t>
            </a:r>
            <a:endParaRPr lang="en-US" sz="1300" dirty="0"/>
          </a:p>
        </p:txBody>
      </p:sp>
      <p:sp>
        <p:nvSpPr>
          <p:cNvPr id="28" name="Text 26"/>
          <p:cNvSpPr txBox="1"/>
          <p:nvPr/>
        </p:nvSpPr>
        <p:spPr>
          <a:xfrm>
            <a:off x="6629400" y="3456432"/>
            <a:ext cx="457200" cy="384048"/>
          </a:xfrm>
          <a:prstGeom prst="rect">
            <a:avLst/>
          </a:prstGeom>
          <a:noFill/>
          <a:ln/>
        </p:spPr>
        <p:txBody>
          <a:bodyPr wrap="square" lIns="0" tIns="0" rIns="0" bIns="0" rtlCol="0" anchor="ct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13.</a:t>
            </a:r>
            <a:endParaRPr lang="en-US" sz="1300" dirty="0"/>
          </a:p>
        </p:txBody>
      </p:sp>
      <p:sp>
        <p:nvSpPr>
          <p:cNvPr id="29" name="Text 27"/>
          <p:cNvSpPr txBox="1"/>
          <p:nvPr/>
        </p:nvSpPr>
        <p:spPr>
          <a:xfrm>
            <a:off x="7196328" y="3456432"/>
            <a:ext cx="4754880" cy="384048"/>
          </a:xfrm>
          <a:prstGeom prst="rect">
            <a:avLst/>
          </a:prstGeom>
          <a:noFill/>
          <a:ln/>
        </p:spPr>
        <p:txBody>
          <a:bodyPr wrap="square" lIns="0" tIns="0" rIns="0" bIns="0" rtlCol="0" anchor="ctr"/>
          <a:lstStyle/>
          <a:p>
            <a:pPr indent="0" marL="0">
              <a:buNone/>
            </a:pPr>
            <a:r>
              <a:rPr lang="en-US" sz="1300" dirty="0">
                <a:solidFill>
                  <a:srgbClr val="000000"/>
                </a:solidFill>
                <a:latin typeface="Times New Roman" pitchFamily="34" charset="0"/>
                <a:ea typeface="Times New Roman" pitchFamily="34" charset="-122"/>
                <a:cs typeface="Times New Roman" pitchFamily="34" charset="-120"/>
              </a:rPr>
              <a:t>Results V — Degeneracy of the Fusion Operator</a:t>
            </a:r>
            <a:endParaRPr lang="en-US" sz="1300" dirty="0"/>
          </a:p>
        </p:txBody>
      </p:sp>
      <p:sp>
        <p:nvSpPr>
          <p:cNvPr id="30" name="Text 28"/>
          <p:cNvSpPr txBox="1"/>
          <p:nvPr/>
        </p:nvSpPr>
        <p:spPr>
          <a:xfrm>
            <a:off x="6629400" y="3941064"/>
            <a:ext cx="457200" cy="384048"/>
          </a:xfrm>
          <a:prstGeom prst="rect">
            <a:avLst/>
          </a:prstGeom>
          <a:noFill/>
          <a:ln/>
        </p:spPr>
        <p:txBody>
          <a:bodyPr wrap="square" lIns="0" tIns="0" rIns="0" bIns="0" rtlCol="0" anchor="ct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14.</a:t>
            </a:r>
            <a:endParaRPr lang="en-US" sz="1300" dirty="0"/>
          </a:p>
        </p:txBody>
      </p:sp>
      <p:sp>
        <p:nvSpPr>
          <p:cNvPr id="31" name="Text 29"/>
          <p:cNvSpPr txBox="1"/>
          <p:nvPr/>
        </p:nvSpPr>
        <p:spPr>
          <a:xfrm>
            <a:off x="7196328" y="3941064"/>
            <a:ext cx="4754880" cy="384048"/>
          </a:xfrm>
          <a:prstGeom prst="rect">
            <a:avLst/>
          </a:prstGeom>
          <a:noFill/>
          <a:ln/>
        </p:spPr>
        <p:txBody>
          <a:bodyPr wrap="square" lIns="0" tIns="0" rIns="0" bIns="0" rtlCol="0" anchor="ctr"/>
          <a:lstStyle/>
          <a:p>
            <a:pPr indent="0" marL="0">
              <a:buNone/>
            </a:pPr>
            <a:r>
              <a:rPr lang="en-US" sz="1300" dirty="0">
                <a:solidFill>
                  <a:srgbClr val="000000"/>
                </a:solidFill>
                <a:latin typeface="Times New Roman" pitchFamily="34" charset="0"/>
                <a:ea typeface="Times New Roman" pitchFamily="34" charset="-122"/>
                <a:cs typeface="Times New Roman" pitchFamily="34" charset="-120"/>
              </a:rPr>
              <a:t>Future Work and Expected Outcomes</a:t>
            </a:r>
            <a:endParaRPr lang="en-US" sz="1300" dirty="0"/>
          </a:p>
        </p:txBody>
      </p:sp>
      <p:sp>
        <p:nvSpPr>
          <p:cNvPr id="32" name="Text 30"/>
          <p:cNvSpPr txBox="1"/>
          <p:nvPr/>
        </p:nvSpPr>
        <p:spPr>
          <a:xfrm>
            <a:off x="6629400" y="4425696"/>
            <a:ext cx="457200" cy="384048"/>
          </a:xfrm>
          <a:prstGeom prst="rect">
            <a:avLst/>
          </a:prstGeom>
          <a:noFill/>
          <a:ln/>
        </p:spPr>
        <p:txBody>
          <a:bodyPr wrap="square" lIns="0" tIns="0" rIns="0" bIns="0" rtlCol="0" anchor="ct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15.</a:t>
            </a:r>
            <a:endParaRPr lang="en-US" sz="1300" dirty="0"/>
          </a:p>
        </p:txBody>
      </p:sp>
      <p:sp>
        <p:nvSpPr>
          <p:cNvPr id="33" name="Text 31"/>
          <p:cNvSpPr txBox="1"/>
          <p:nvPr/>
        </p:nvSpPr>
        <p:spPr>
          <a:xfrm>
            <a:off x="7196328" y="4425696"/>
            <a:ext cx="4754880" cy="384048"/>
          </a:xfrm>
          <a:prstGeom prst="rect">
            <a:avLst/>
          </a:prstGeom>
          <a:noFill/>
          <a:ln/>
        </p:spPr>
        <p:txBody>
          <a:bodyPr wrap="square" lIns="0" tIns="0" rIns="0" bIns="0" rtlCol="0" anchor="ctr"/>
          <a:lstStyle/>
          <a:p>
            <a:pPr indent="0" marL="0">
              <a:buNone/>
            </a:pPr>
            <a:r>
              <a:rPr lang="en-US" sz="1300" dirty="0">
                <a:solidFill>
                  <a:srgbClr val="000000"/>
                </a:solidFill>
                <a:latin typeface="Times New Roman" pitchFamily="34" charset="0"/>
                <a:ea typeface="Times New Roman" pitchFamily="34" charset="-122"/>
                <a:cs typeface="Times New Roman" pitchFamily="34" charset="-120"/>
              </a:rPr>
              <a:t>Conclusion and References</a:t>
            </a:r>
            <a:endParaRPr lang="en-US" sz="1300" dirty="0"/>
          </a:p>
        </p:txBody>
      </p:sp>
      <p:sp>
        <p:nvSpPr>
          <p:cNvPr id="34" name="Text 32"/>
          <p:cNvSpPr txBox="1"/>
          <p:nvPr/>
        </p:nvSpPr>
        <p:spPr>
          <a:xfrm>
            <a:off x="685800" y="6382512"/>
            <a:ext cx="8229600" cy="256032"/>
          </a:xfrm>
          <a:prstGeom prst="rect">
            <a:avLst/>
          </a:prstGeom>
          <a:noFill/>
          <a:ln/>
        </p:spPr>
        <p:txBody>
          <a:bodyPr wrap="square" lIns="0" tIns="0" rIns="0" bIns="0" rtlCol="0" anchor="ctr"/>
          <a:lstStyle/>
          <a:p>
            <a:pPr indent="0" marL="0">
              <a:buNone/>
            </a:pPr>
            <a:r>
              <a:rPr lang="en-US" sz="800" dirty="0">
                <a:solidFill>
                  <a:srgbClr val="444444"/>
                </a:solidFill>
                <a:latin typeface="Times New Roman" pitchFamily="34" charset="0"/>
                <a:ea typeface="Times New Roman" pitchFamily="34" charset="-122"/>
                <a:cs typeface="Times New Roman" pitchFamily="34" charset="-120"/>
              </a:rPr>
              <a:t>Mid Term Review | Noninvasive Blood Glucose Estimation from ECG and PPG</a:t>
            </a:r>
            <a:endParaRPr lang="en-US" sz="800" dirty="0"/>
          </a:p>
        </p:txBody>
      </p:sp>
      <p:sp>
        <p:nvSpPr>
          <p:cNvPr id="35" name="Text 33"/>
          <p:cNvSpPr txBox="1"/>
          <p:nvPr/>
        </p:nvSpPr>
        <p:spPr>
          <a:xfrm>
            <a:off x="10682935" y="6382512"/>
            <a:ext cx="822960" cy="256032"/>
          </a:xfrm>
          <a:prstGeom prst="rect">
            <a:avLst/>
          </a:prstGeom>
          <a:noFill/>
          <a:ln/>
        </p:spPr>
        <p:txBody>
          <a:bodyPr wrap="square" lIns="0" tIns="0" rIns="0" bIns="0" rtlCol="0" anchor="ctr"/>
          <a:lstStyle/>
          <a:p>
            <a:pPr algn="r" indent="0" marL="0">
              <a:buNone/>
            </a:pPr>
            <a:r>
              <a:rPr lang="en-US" sz="800" dirty="0">
                <a:solidFill>
                  <a:srgbClr val="444444"/>
                </a:solidFill>
                <a:latin typeface="Times New Roman" pitchFamily="34" charset="0"/>
                <a:ea typeface="Times New Roman" pitchFamily="34" charset="-122"/>
                <a:cs typeface="Times New Roman"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566928"/>
          </a:xfrm>
          <a:prstGeom prst="rect">
            <a:avLst/>
          </a:prstGeom>
          <a:noFill/>
          <a:ln/>
        </p:spPr>
        <p:txBody>
          <a:bodyPr wrap="square" lIns="0" tIns="0" rIns="0" bIns="0" rtlCol="0" anchor="ctr"/>
          <a:lstStyle/>
          <a:p>
            <a:pPr indent="0" marL="0">
              <a:buNone/>
            </a:pPr>
            <a:r>
              <a:rPr lang="en-US" sz="2100" b="1" dirty="0">
                <a:solidFill>
                  <a:srgbClr val="000000"/>
                </a:solidFill>
                <a:latin typeface="Times New Roman" pitchFamily="34" charset="0"/>
                <a:ea typeface="Times New Roman" pitchFamily="34" charset="-122"/>
                <a:cs typeface="Times New Roman" pitchFamily="34" charset="-120"/>
              </a:rPr>
              <a:t>1. Introduction — Background and Motivation</a:t>
            </a:r>
            <a:endParaRPr lang="en-US" sz="2100" dirty="0"/>
          </a:p>
        </p:txBody>
      </p:sp>
      <p:sp>
        <p:nvSpPr>
          <p:cNvPr id="3" name="Shape 1"/>
          <p:cNvSpPr/>
          <p:nvPr/>
        </p:nvSpPr>
        <p:spPr>
          <a:xfrm>
            <a:off x="685800" y="1024128"/>
            <a:ext cx="10820095" cy="3658"/>
          </a:xfrm>
          <a:prstGeom prst="line">
            <a:avLst/>
          </a:prstGeom>
          <a:noFill/>
          <a:ln w="13970">
            <a:solidFill>
              <a:srgbClr val="000000"/>
            </a:solidFill>
            <a:prstDash val="solid"/>
          </a:ln>
        </p:spPr>
      </p:sp>
      <p:sp>
        <p:nvSpPr>
          <p:cNvPr id="4" name="Text 2"/>
          <p:cNvSpPr txBox="1"/>
          <p:nvPr/>
        </p:nvSpPr>
        <p:spPr>
          <a:xfrm>
            <a:off x="685800" y="6382512"/>
            <a:ext cx="8229600" cy="256032"/>
          </a:xfrm>
          <a:prstGeom prst="rect">
            <a:avLst/>
          </a:prstGeom>
          <a:noFill/>
          <a:ln/>
        </p:spPr>
        <p:txBody>
          <a:bodyPr wrap="square" lIns="0" tIns="0" rIns="0" bIns="0" rtlCol="0" anchor="ctr"/>
          <a:lstStyle/>
          <a:p>
            <a:pPr indent="0" marL="0">
              <a:buNone/>
            </a:pPr>
            <a:r>
              <a:rPr lang="en-US" sz="800" dirty="0">
                <a:solidFill>
                  <a:srgbClr val="444444"/>
                </a:solidFill>
                <a:latin typeface="Times New Roman" pitchFamily="34" charset="0"/>
                <a:ea typeface="Times New Roman" pitchFamily="34" charset="-122"/>
                <a:cs typeface="Times New Roman" pitchFamily="34" charset="-120"/>
              </a:rPr>
              <a:t>Mid Term Review | Noninvasive Blood Glucose Estimation from ECG and PPG</a:t>
            </a:r>
            <a:endParaRPr lang="en-US" sz="800" dirty="0"/>
          </a:p>
        </p:txBody>
      </p:sp>
      <p:sp>
        <p:nvSpPr>
          <p:cNvPr id="5" name="Text 3"/>
          <p:cNvSpPr txBox="1"/>
          <p:nvPr/>
        </p:nvSpPr>
        <p:spPr>
          <a:xfrm>
            <a:off x="10682935" y="6382512"/>
            <a:ext cx="822960" cy="256032"/>
          </a:xfrm>
          <a:prstGeom prst="rect">
            <a:avLst/>
          </a:prstGeom>
          <a:noFill/>
          <a:ln/>
        </p:spPr>
        <p:txBody>
          <a:bodyPr wrap="square" lIns="0" tIns="0" rIns="0" bIns="0" rtlCol="0" anchor="ctr"/>
          <a:lstStyle/>
          <a:p>
            <a:pPr algn="r" indent="0" marL="0">
              <a:buNone/>
            </a:pPr>
            <a:r>
              <a:rPr lang="en-US" sz="800" dirty="0">
                <a:solidFill>
                  <a:srgbClr val="444444"/>
                </a:solidFill>
                <a:latin typeface="Times New Roman" pitchFamily="34" charset="0"/>
                <a:ea typeface="Times New Roman" pitchFamily="34" charset="-122"/>
                <a:cs typeface="Times New Roman" pitchFamily="34" charset="-120"/>
              </a:rPr>
              <a:t>3</a:t>
            </a:r>
            <a:endParaRPr lang="en-US" sz="800" dirty="0"/>
          </a:p>
        </p:txBody>
      </p:sp>
      <p:sp>
        <p:nvSpPr>
          <p:cNvPr id="6" name="Shape 4"/>
          <p:cNvSpPr/>
          <p:nvPr/>
        </p:nvSpPr>
        <p:spPr>
          <a:xfrm>
            <a:off x="685800" y="1207008"/>
            <a:ext cx="5486400" cy="2880360"/>
          </a:xfrm>
          <a:prstGeom prst="roundRect">
            <a:avLst>
              <a:gd name="adj" fmla="val 6984"/>
            </a:avLst>
          </a:prstGeom>
          <a:solidFill>
            <a:srgbClr val="F5F5F5"/>
          </a:solidFill>
          <a:ln w="9525">
            <a:solidFill>
              <a:srgbClr val="BFBFBF"/>
            </a:solidFill>
            <a:prstDash val="solid"/>
          </a:ln>
          <a:effectLst>
            <a:outerShdw sx="100000" sy="100000" kx="0" ky="0" algn="bl" rotWithShape="0" blurRad="63500" dist="25400" dir="2700000">
              <a:srgbClr val="888888">
                <a:alpha val="35000"/>
              </a:srgbClr>
            </a:outerShdw>
          </a:effectLst>
        </p:spPr>
      </p:sp>
      <p:sp>
        <p:nvSpPr>
          <p:cNvPr id="7" name="Text 5"/>
          <p:cNvSpPr txBox="1"/>
          <p:nvPr/>
        </p:nvSpPr>
        <p:spPr>
          <a:xfrm>
            <a:off x="868680" y="1353312"/>
            <a:ext cx="5120640" cy="292608"/>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The clinical problem</a:t>
            </a:r>
            <a:endParaRPr lang="en-US" sz="1400" dirty="0"/>
          </a:p>
        </p:txBody>
      </p:sp>
      <p:sp>
        <p:nvSpPr>
          <p:cNvPr id="8" name="Text 6"/>
          <p:cNvSpPr txBox="1"/>
          <p:nvPr/>
        </p:nvSpPr>
        <p:spPr>
          <a:xfrm>
            <a:off x="941832" y="1773936"/>
            <a:ext cx="4974336" cy="2148840"/>
          </a:xfrm>
          <a:prstGeom prst="rect">
            <a:avLst/>
          </a:prstGeom>
          <a:noFill/>
          <a:ln/>
        </p:spPr>
        <p:txBody>
          <a:bodyPr wrap="square" lIns="0" tIns="0" rIns="0" bIns="0" rtlCol="0" anchor="t"/>
          <a:lstStyle/>
          <a:p>
            <a:pPr indent="0" marL="0">
              <a:spcAft>
                <a:spcPts val="700"/>
              </a:spcAft>
              <a:buNone/>
            </a:pPr>
            <a:r>
              <a:rPr lang="en-US" sz="1200" dirty="0">
                <a:solidFill>
                  <a:srgbClr val="000000"/>
                </a:solidFill>
                <a:latin typeface="Times New Roman" pitchFamily="34" charset="0"/>
                <a:ea typeface="Times New Roman" pitchFamily="34" charset="-122"/>
                <a:cs typeface="Times New Roman" pitchFamily="34" charset="-120"/>
              </a:rPr>
              <a:t>Blood glucose must remain within 3.9–10.0 mmol/L. Below 3.9 causes seizure and coma within minutes; above 10.0 causes nerve, eye and kidney damage over years.</a:t>
            </a:r>
            <a:endParaRPr lang="en-US" sz="1200" dirty="0"/>
          </a:p>
          <a:p>
            <a:pPr indent="0" marL="0">
              <a:spcAft>
                <a:spcPts val="700"/>
              </a:spcAft>
              <a:buNone/>
            </a:pPr>
            <a:r>
              <a:rPr lang="en-US" sz="1200" dirty="0">
                <a:solidFill>
                  <a:srgbClr val="000000"/>
                </a:solidFill>
                <a:latin typeface="Times New Roman" pitchFamily="34" charset="0"/>
                <a:ea typeface="Times New Roman" pitchFamily="34" charset="-122"/>
                <a:cs typeface="Times New Roman" pitchFamily="34" charset="-120"/>
              </a:rPr>
              <a:t>Every accurate measurement available today breaks the skin: a finger-prick four to ten times daily, or a continuous glucose monitor whose filament is replaced every 10–14 days.</a:t>
            </a:r>
            <a:endParaRPr lang="en-US" sz="1200" dirty="0"/>
          </a:p>
          <a:p>
            <a:pPr indent="0" marL="0">
              <a:spcAft>
                <a:spcPts val="700"/>
              </a:spcAft>
              <a:buNone/>
            </a:pPr>
            <a:r>
              <a:rPr lang="en-US" sz="1200" dirty="0">
                <a:solidFill>
                  <a:srgbClr val="000000"/>
                </a:solidFill>
                <a:latin typeface="Times New Roman" pitchFamily="34" charset="0"/>
                <a:ea typeface="Times New Roman" pitchFamily="34" charset="-122"/>
                <a:cs typeface="Times New Roman" pitchFamily="34" charset="-120"/>
              </a:rPr>
              <a:t>Approximately 590 million adults worldwide manage diabetes in this way.</a:t>
            </a:r>
            <a:endParaRPr lang="en-US" sz="1200" dirty="0"/>
          </a:p>
        </p:txBody>
      </p:sp>
      <p:sp>
        <p:nvSpPr>
          <p:cNvPr id="9" name="Shape 7"/>
          <p:cNvSpPr/>
          <p:nvPr/>
        </p:nvSpPr>
        <p:spPr>
          <a:xfrm>
            <a:off x="6446520" y="1207008"/>
            <a:ext cx="5074920" cy="2880360"/>
          </a:xfrm>
          <a:prstGeom prst="roundRect">
            <a:avLst>
              <a:gd name="adj" fmla="val 6984"/>
            </a:avLst>
          </a:prstGeom>
          <a:solidFill>
            <a:srgbClr val="F5F5F5"/>
          </a:solidFill>
          <a:ln w="9525">
            <a:solidFill>
              <a:srgbClr val="BFBFBF"/>
            </a:solidFill>
            <a:prstDash val="solid"/>
          </a:ln>
          <a:effectLst>
            <a:outerShdw sx="100000" sy="100000" kx="0" ky="0" algn="bl" rotWithShape="0" blurRad="63500" dist="25400" dir="2700000">
              <a:srgbClr val="888888">
                <a:alpha val="35000"/>
              </a:srgbClr>
            </a:outerShdw>
          </a:effectLst>
        </p:spPr>
      </p:sp>
      <p:sp>
        <p:nvSpPr>
          <p:cNvPr id="10" name="Text 8"/>
          <p:cNvSpPr txBox="1"/>
          <p:nvPr/>
        </p:nvSpPr>
        <p:spPr>
          <a:xfrm>
            <a:off x="6629400" y="1353312"/>
            <a:ext cx="4709160" cy="292608"/>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Why the heart carries the signal</a:t>
            </a:r>
            <a:endParaRPr lang="en-US" sz="1400" dirty="0"/>
          </a:p>
        </p:txBody>
      </p:sp>
      <p:sp>
        <p:nvSpPr>
          <p:cNvPr id="11" name="Text 9"/>
          <p:cNvSpPr txBox="1"/>
          <p:nvPr/>
        </p:nvSpPr>
        <p:spPr>
          <a:xfrm>
            <a:off x="6702552" y="1773936"/>
            <a:ext cx="4562856" cy="2148840"/>
          </a:xfrm>
          <a:prstGeom prst="rect">
            <a:avLst/>
          </a:prstGeom>
          <a:noFill/>
          <a:ln/>
        </p:spPr>
        <p:txBody>
          <a:bodyPr wrap="square" lIns="0" tIns="0" rIns="0" bIns="0" rtlCol="0" anchor="t"/>
          <a:lstStyle/>
          <a:p>
            <a:pPr indent="0" marL="0">
              <a:spcAft>
                <a:spcPts val="700"/>
              </a:spcAft>
              <a:buNone/>
            </a:pPr>
            <a:r>
              <a:rPr lang="en-US" sz="1200" dirty="0">
                <a:solidFill>
                  <a:srgbClr val="000000"/>
                </a:solidFill>
                <a:latin typeface="Times New Roman" pitchFamily="34" charset="0"/>
                <a:ea typeface="Times New Roman" pitchFamily="34" charset="-122"/>
                <a:cs typeface="Times New Roman" pitchFamily="34" charset="-120"/>
              </a:rPr>
              <a:t>Hypoglycaemia triggers adrenaline release, which drives potassium into cells. Potassium governs cardiac repolarisation, so the ECG QT interval lengthens.</a:t>
            </a:r>
            <a:endParaRPr lang="en-US" sz="1200" dirty="0"/>
          </a:p>
          <a:p>
            <a:pPr indent="0" marL="0">
              <a:spcAft>
                <a:spcPts val="700"/>
              </a:spcAft>
              <a:buNone/>
            </a:pPr>
            <a:r>
              <a:rPr lang="en-US" sz="1200" dirty="0">
                <a:solidFill>
                  <a:srgbClr val="000000"/>
                </a:solidFill>
                <a:latin typeface="Times New Roman" pitchFamily="34" charset="0"/>
                <a:ea typeface="Times New Roman" pitchFamily="34" charset="-122"/>
                <a:cs typeface="Times New Roman" pitchFamily="34" charset="-120"/>
              </a:rPr>
              <a:t>Hyperglycaemia suppresses vagal tone and impairs coronary microcirculation, altering ST level, T-wave morphology and heart-rate variability.</a:t>
            </a:r>
            <a:endParaRPr lang="en-US" sz="1200" dirty="0"/>
          </a:p>
          <a:p>
            <a:pPr indent="0" marL="0">
              <a:spcAft>
                <a:spcPts val="700"/>
              </a:spcAft>
              <a:buNone/>
            </a:pPr>
            <a:r>
              <a:rPr lang="en-US" sz="1200" dirty="0">
                <a:solidFill>
                  <a:srgbClr val="000000"/>
                </a:solidFill>
                <a:latin typeface="Times New Roman" pitchFamily="34" charset="0"/>
                <a:ea typeface="Times New Roman" pitchFamily="34" charset="-122"/>
                <a:cs typeface="Times New Roman" pitchFamily="34" charset="-120"/>
              </a:rPr>
              <a:t>Both signals can be acquired painlessly: ECG from a chest strap, PPG from a wrist-worn device.</a:t>
            </a:r>
            <a:endParaRPr lang="en-US" sz="1200" dirty="0"/>
          </a:p>
        </p:txBody>
      </p:sp>
      <p:sp>
        <p:nvSpPr>
          <p:cNvPr id="12" name="Shape 10"/>
          <p:cNvSpPr/>
          <p:nvPr/>
        </p:nvSpPr>
        <p:spPr>
          <a:xfrm>
            <a:off x="685800" y="4251960"/>
            <a:ext cx="10835640" cy="1371600"/>
          </a:xfrm>
          <a:prstGeom prst="roundRect">
            <a:avLst>
              <a:gd name="adj" fmla="val 14667"/>
            </a:avLst>
          </a:prstGeom>
          <a:solidFill>
            <a:srgbClr val="F5F5F5"/>
          </a:solidFill>
          <a:ln w="9525">
            <a:solidFill>
              <a:srgbClr val="BFBFBF"/>
            </a:solidFill>
            <a:prstDash val="solid"/>
          </a:ln>
          <a:effectLst>
            <a:outerShdw sx="100000" sy="100000" kx="0" ky="0" algn="bl" rotWithShape="0" blurRad="63500" dist="25400" dir="2700000">
              <a:srgbClr val="888888">
                <a:alpha val="35000"/>
              </a:srgbClr>
            </a:outerShdw>
          </a:effectLst>
        </p:spPr>
      </p:sp>
      <p:sp>
        <p:nvSpPr>
          <p:cNvPr id="13" name="Text 11"/>
          <p:cNvSpPr txBox="1"/>
          <p:nvPr/>
        </p:nvSpPr>
        <p:spPr>
          <a:xfrm>
            <a:off x="868680" y="4398264"/>
            <a:ext cx="10469880" cy="292608"/>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The distinction that governs this work</a:t>
            </a:r>
            <a:endParaRPr lang="en-US" sz="1400" dirty="0"/>
          </a:p>
        </p:txBody>
      </p:sp>
      <p:sp>
        <p:nvSpPr>
          <p:cNvPr id="14" name="Text 12"/>
          <p:cNvSpPr txBox="1"/>
          <p:nvPr/>
        </p:nvSpPr>
        <p:spPr>
          <a:xfrm>
            <a:off x="941832" y="4818888"/>
            <a:ext cx="10323576" cy="640080"/>
          </a:xfrm>
          <a:prstGeom prst="rect">
            <a:avLst/>
          </a:prstGeom>
          <a:noFill/>
          <a:ln/>
        </p:spPr>
        <p:txBody>
          <a:bodyPr wrap="square" lIns="0" tIns="0" rIns="0" bIns="0" rtlCol="0" anchor="t"/>
          <a:lstStyle/>
          <a:p>
            <a:pPr indent="0" marL="0">
              <a:spcAft>
                <a:spcPts val="700"/>
              </a:spcAft>
              <a:buNone/>
            </a:pPr>
            <a:r>
              <a:rPr lang="en-US" sz="1200" dirty="0">
                <a:solidFill>
                  <a:srgbClr val="000000"/>
                </a:solidFill>
                <a:latin typeface="Times New Roman" pitchFamily="34" charset="0"/>
                <a:ea typeface="Times New Roman" pitchFamily="34" charset="-122"/>
                <a:cs typeface="Times New Roman" pitchFamily="34" charset="-120"/>
              </a:rPr>
              <a:t>The mechanism above supports DETECTING a dysglycaemic event. That is a classification problem, and published ECG methods report 84–94% accuracy on it. It does not establish that the absolute concentration can be recovered from the waveform, which is a regression problem. This project evaluates the regression claim.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566928"/>
          </a:xfrm>
          <a:prstGeom prst="rect">
            <a:avLst/>
          </a:prstGeom>
          <a:noFill/>
          <a:ln/>
        </p:spPr>
        <p:txBody>
          <a:bodyPr wrap="square" lIns="0" tIns="0" rIns="0" bIns="0" rtlCol="0" anchor="ctr"/>
          <a:lstStyle/>
          <a:p>
            <a:pPr indent="0" marL="0">
              <a:buNone/>
            </a:pPr>
            <a:r>
              <a:rPr lang="en-US" sz="2100" b="1" dirty="0">
                <a:solidFill>
                  <a:srgbClr val="000000"/>
                </a:solidFill>
                <a:latin typeface="Times New Roman" pitchFamily="34" charset="0"/>
                <a:ea typeface="Times New Roman" pitchFamily="34" charset="-122"/>
                <a:cs typeface="Times New Roman" pitchFamily="34" charset="-120"/>
              </a:rPr>
              <a:t>2. Literature Survey — The Method Under Test</a:t>
            </a:r>
            <a:endParaRPr lang="en-US" sz="2100" dirty="0"/>
          </a:p>
        </p:txBody>
      </p:sp>
      <p:sp>
        <p:nvSpPr>
          <p:cNvPr id="3" name="Shape 1"/>
          <p:cNvSpPr/>
          <p:nvPr/>
        </p:nvSpPr>
        <p:spPr>
          <a:xfrm>
            <a:off x="685800" y="1024128"/>
            <a:ext cx="10820095" cy="3658"/>
          </a:xfrm>
          <a:prstGeom prst="line">
            <a:avLst/>
          </a:prstGeom>
          <a:noFill/>
          <a:ln w="13970">
            <a:solidFill>
              <a:srgbClr val="000000"/>
            </a:solidFill>
            <a:prstDash val="solid"/>
          </a:ln>
        </p:spPr>
      </p:sp>
      <p:sp>
        <p:nvSpPr>
          <p:cNvPr id="4" name="Text 2"/>
          <p:cNvSpPr txBox="1"/>
          <p:nvPr/>
        </p:nvSpPr>
        <p:spPr>
          <a:xfrm>
            <a:off x="685800" y="6382512"/>
            <a:ext cx="8229600" cy="256032"/>
          </a:xfrm>
          <a:prstGeom prst="rect">
            <a:avLst/>
          </a:prstGeom>
          <a:noFill/>
          <a:ln/>
        </p:spPr>
        <p:txBody>
          <a:bodyPr wrap="square" lIns="0" tIns="0" rIns="0" bIns="0" rtlCol="0" anchor="ctr"/>
          <a:lstStyle/>
          <a:p>
            <a:pPr indent="0" marL="0">
              <a:buNone/>
            </a:pPr>
            <a:r>
              <a:rPr lang="en-US" sz="800" dirty="0">
                <a:solidFill>
                  <a:srgbClr val="444444"/>
                </a:solidFill>
                <a:latin typeface="Times New Roman" pitchFamily="34" charset="0"/>
                <a:ea typeface="Times New Roman" pitchFamily="34" charset="-122"/>
                <a:cs typeface="Times New Roman" pitchFamily="34" charset="-120"/>
              </a:rPr>
              <a:t>Mid Term Review | Noninvasive Blood Glucose Estimation from ECG and PPG</a:t>
            </a:r>
            <a:endParaRPr lang="en-US" sz="800" dirty="0"/>
          </a:p>
        </p:txBody>
      </p:sp>
      <p:sp>
        <p:nvSpPr>
          <p:cNvPr id="5" name="Text 3"/>
          <p:cNvSpPr txBox="1"/>
          <p:nvPr/>
        </p:nvSpPr>
        <p:spPr>
          <a:xfrm>
            <a:off x="10682935" y="6382512"/>
            <a:ext cx="822960" cy="256032"/>
          </a:xfrm>
          <a:prstGeom prst="rect">
            <a:avLst/>
          </a:prstGeom>
          <a:noFill/>
          <a:ln/>
        </p:spPr>
        <p:txBody>
          <a:bodyPr wrap="square" lIns="0" tIns="0" rIns="0" bIns="0" rtlCol="0" anchor="ctr"/>
          <a:lstStyle/>
          <a:p>
            <a:pPr algn="r" indent="0" marL="0">
              <a:buNone/>
            </a:pPr>
            <a:r>
              <a:rPr lang="en-US" sz="800" dirty="0">
                <a:solidFill>
                  <a:srgbClr val="444444"/>
                </a:solidFill>
                <a:latin typeface="Times New Roman" pitchFamily="34" charset="0"/>
                <a:ea typeface="Times New Roman" pitchFamily="34" charset="-122"/>
                <a:cs typeface="Times New Roman" pitchFamily="34" charset="-120"/>
              </a:rPr>
              <a:t>4</a:t>
            </a:r>
            <a:endParaRPr lang="en-US" sz="800" dirty="0"/>
          </a:p>
        </p:txBody>
      </p:sp>
      <p:sp>
        <p:nvSpPr>
          <p:cNvPr id="6" name="Text 4"/>
          <p:cNvSpPr txBox="1"/>
          <p:nvPr/>
        </p:nvSpPr>
        <p:spPr>
          <a:xfrm>
            <a:off x="685800" y="1133856"/>
            <a:ext cx="10820095" cy="310896"/>
          </a:xfrm>
          <a:prstGeom prst="rect">
            <a:avLst/>
          </a:prstGeom>
          <a:noFill/>
          <a:ln/>
        </p:spPr>
        <p:txBody>
          <a:bodyPr wrap="square" lIns="0" tIns="0" rIns="0" bIns="0" rtlCol="0" anchor="ctr"/>
          <a:lstStyle/>
          <a:p>
            <a:pPr algn="ctr" indent="0" marL="0">
              <a:buNone/>
            </a:pPr>
            <a:r>
              <a:rPr lang="en-US" sz="1300" b="1" dirty="0">
                <a:solidFill>
                  <a:srgbClr val="000000"/>
                </a:solidFill>
                <a:latin typeface="Times New Roman" pitchFamily="34" charset="0"/>
                <a:ea typeface="Times New Roman" pitchFamily="34" charset="-122"/>
                <a:cs typeface="Times New Roman" pitchFamily="34" charset="-120"/>
              </a:rPr>
              <a:t>Li et al., IEEE Trans. Neural Networks and Learning Systems 35(10), 2024 — reported performance against prior methods</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85800" y="1572768"/>
          <a:ext cx="10835640" cy="914400"/>
        </p:xfrm>
        <a:graphic>
          <a:graphicData uri="http://schemas.openxmlformats.org/drawingml/2006/table">
            <a:tbl>
              <a:tblPr/>
              <a:tblGrid>
                <a:gridCol w="731520"/>
                <a:gridCol w="4251960"/>
                <a:gridCol w="1600200"/>
                <a:gridCol w="1280160"/>
                <a:gridCol w="1371600"/>
                <a:gridCol w="1600200"/>
              </a:tblGrid>
              <a:tr h="329184">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Ref.</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Method</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RMSE (mmol/L)</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MARD (%)</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Zone A (%)</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Zone A+B (%)</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r>
              <a:tr h="329184">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[2]</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CNN-RNN</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1.66</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14.93</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75.46</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99.35</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[3]</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ResNets</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1.63</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15.22</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75.18</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99.26</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[4]</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Convolutional denoising autoencoder</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1.99</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20.67</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60.88</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98.56</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[5]</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CNN with multisegment fusion</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1.61</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14.71</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76.96</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98.94</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[1]</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SFF-WCIM — the method reproduced here</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1.49</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13.42</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80.09</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99.49</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Shape 5"/>
          <p:cNvSpPr/>
          <p:nvPr/>
        </p:nvSpPr>
        <p:spPr>
          <a:xfrm>
            <a:off x="685800" y="3794760"/>
            <a:ext cx="10835640" cy="1508760"/>
          </a:xfrm>
          <a:prstGeom prst="roundRect">
            <a:avLst>
              <a:gd name="adj" fmla="val 13333"/>
            </a:avLst>
          </a:prstGeom>
          <a:solidFill>
            <a:srgbClr val="F5F5F5"/>
          </a:solidFill>
          <a:ln w="9525">
            <a:solidFill>
              <a:srgbClr val="BFBFBF"/>
            </a:solidFill>
            <a:prstDash val="solid"/>
          </a:ln>
          <a:effectLst>
            <a:outerShdw sx="100000" sy="100000" kx="0" ky="0" algn="bl" rotWithShape="0" blurRad="63500" dist="25400" dir="2700000">
              <a:srgbClr val="888888">
                <a:alpha val="35000"/>
              </a:srgbClr>
            </a:outerShdw>
          </a:effectLst>
        </p:spPr>
      </p:sp>
      <p:sp>
        <p:nvSpPr>
          <p:cNvPr id="9" name="Text 6"/>
          <p:cNvSpPr txBox="1"/>
          <p:nvPr/>
        </p:nvSpPr>
        <p:spPr>
          <a:xfrm>
            <a:off x="868680" y="3941064"/>
            <a:ext cx="10469880" cy="292608"/>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Why this claim required independent checking</a:t>
            </a:r>
            <a:endParaRPr lang="en-US" sz="1400" dirty="0"/>
          </a:p>
        </p:txBody>
      </p:sp>
      <p:sp>
        <p:nvSpPr>
          <p:cNvPr id="10" name="Text 7"/>
          <p:cNvSpPr txBox="1"/>
          <p:nvPr/>
        </p:nvSpPr>
        <p:spPr>
          <a:xfrm>
            <a:off x="941832" y="4361688"/>
            <a:ext cx="10323576" cy="777240"/>
          </a:xfrm>
          <a:prstGeom prst="rect">
            <a:avLst/>
          </a:prstGeom>
          <a:noFill/>
          <a:ln/>
        </p:spPr>
        <p:txBody>
          <a:bodyPr wrap="square" lIns="0" tIns="0" rIns="0" bIns="0" rtlCol="0" anchor="t"/>
          <a:lstStyle/>
          <a:p>
            <a:pPr indent="0" marL="0">
              <a:spcAft>
                <a:spcPts val="700"/>
              </a:spcAft>
              <a:buNone/>
            </a:pPr>
            <a:r>
              <a:rPr lang="en-US" sz="1200" dirty="0">
                <a:solidFill>
                  <a:srgbClr val="000000"/>
                </a:solidFill>
                <a:latin typeface="Times New Roman" pitchFamily="34" charset="0"/>
                <a:ea typeface="Times New Roman" pitchFamily="34" charset="-122"/>
                <a:cs typeface="Times New Roman" pitchFamily="34" charset="-120"/>
              </a:rPr>
              <a:t>1.49 mmol/L approaches the accuracy of approved continuous glucose monitors, which report a MARD of 10–12%. The authors released their source code but not their recordings, which are private. The result had therefore never been evaluated on a cohort the authors did not themselves select.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566928"/>
          </a:xfrm>
          <a:prstGeom prst="rect">
            <a:avLst/>
          </a:prstGeom>
          <a:noFill/>
          <a:ln/>
        </p:spPr>
        <p:txBody>
          <a:bodyPr wrap="square" lIns="0" tIns="0" rIns="0" bIns="0" rtlCol="0" anchor="ctr"/>
          <a:lstStyle/>
          <a:p>
            <a:pPr indent="0" marL="0">
              <a:buNone/>
            </a:pPr>
            <a:r>
              <a:rPr lang="en-US" sz="2100" b="1" dirty="0">
                <a:solidFill>
                  <a:srgbClr val="000000"/>
                </a:solidFill>
                <a:latin typeface="Times New Roman" pitchFamily="34" charset="0"/>
                <a:ea typeface="Times New Roman" pitchFamily="34" charset="-122"/>
                <a:cs typeface="Times New Roman" pitchFamily="34" charset="-120"/>
              </a:rPr>
              <a:t>3. Literature Survey — Evaluation Practice in the Field</a:t>
            </a:r>
            <a:endParaRPr lang="en-US" sz="2100" dirty="0"/>
          </a:p>
        </p:txBody>
      </p:sp>
      <p:sp>
        <p:nvSpPr>
          <p:cNvPr id="3" name="Shape 1"/>
          <p:cNvSpPr/>
          <p:nvPr/>
        </p:nvSpPr>
        <p:spPr>
          <a:xfrm>
            <a:off x="685800" y="1024128"/>
            <a:ext cx="10820095" cy="3658"/>
          </a:xfrm>
          <a:prstGeom prst="line">
            <a:avLst/>
          </a:prstGeom>
          <a:noFill/>
          <a:ln w="13970">
            <a:solidFill>
              <a:srgbClr val="000000"/>
            </a:solidFill>
            <a:prstDash val="solid"/>
          </a:ln>
        </p:spPr>
      </p:sp>
      <p:sp>
        <p:nvSpPr>
          <p:cNvPr id="4" name="Text 2"/>
          <p:cNvSpPr txBox="1"/>
          <p:nvPr/>
        </p:nvSpPr>
        <p:spPr>
          <a:xfrm>
            <a:off x="685800" y="6382512"/>
            <a:ext cx="8229600" cy="256032"/>
          </a:xfrm>
          <a:prstGeom prst="rect">
            <a:avLst/>
          </a:prstGeom>
          <a:noFill/>
          <a:ln/>
        </p:spPr>
        <p:txBody>
          <a:bodyPr wrap="square" lIns="0" tIns="0" rIns="0" bIns="0" rtlCol="0" anchor="ctr"/>
          <a:lstStyle/>
          <a:p>
            <a:pPr indent="0" marL="0">
              <a:buNone/>
            </a:pPr>
            <a:r>
              <a:rPr lang="en-US" sz="800" dirty="0">
                <a:solidFill>
                  <a:srgbClr val="444444"/>
                </a:solidFill>
                <a:latin typeface="Times New Roman" pitchFamily="34" charset="0"/>
                <a:ea typeface="Times New Roman" pitchFamily="34" charset="-122"/>
                <a:cs typeface="Times New Roman" pitchFamily="34" charset="-120"/>
              </a:rPr>
              <a:t>Mid Term Review | Noninvasive Blood Glucose Estimation from ECG and PPG</a:t>
            </a:r>
            <a:endParaRPr lang="en-US" sz="800" dirty="0"/>
          </a:p>
        </p:txBody>
      </p:sp>
      <p:sp>
        <p:nvSpPr>
          <p:cNvPr id="5" name="Text 3"/>
          <p:cNvSpPr txBox="1"/>
          <p:nvPr/>
        </p:nvSpPr>
        <p:spPr>
          <a:xfrm>
            <a:off x="10682935" y="6382512"/>
            <a:ext cx="822960" cy="256032"/>
          </a:xfrm>
          <a:prstGeom prst="rect">
            <a:avLst/>
          </a:prstGeom>
          <a:noFill/>
          <a:ln/>
        </p:spPr>
        <p:txBody>
          <a:bodyPr wrap="square" lIns="0" tIns="0" rIns="0" bIns="0" rtlCol="0" anchor="ctr"/>
          <a:lstStyle/>
          <a:p>
            <a:pPr algn="r" indent="0" marL="0">
              <a:buNone/>
            </a:pPr>
            <a:r>
              <a:rPr lang="en-US" sz="800" dirty="0">
                <a:solidFill>
                  <a:srgbClr val="444444"/>
                </a:solidFill>
                <a:latin typeface="Times New Roman" pitchFamily="34" charset="0"/>
                <a:ea typeface="Times New Roman" pitchFamily="34" charset="-122"/>
                <a:cs typeface="Times New Roman" pitchFamily="34" charset="-120"/>
              </a:rPr>
              <a:t>5</a:t>
            </a:r>
            <a:endParaRPr lang="en-US" sz="800" dirty="0"/>
          </a:p>
        </p:txBody>
      </p:sp>
      <p:sp>
        <p:nvSpPr>
          <p:cNvPr id="6" name="Text 4"/>
          <p:cNvSpPr txBox="1"/>
          <p:nvPr/>
        </p:nvSpPr>
        <p:spPr>
          <a:xfrm>
            <a:off x="685800" y="1133856"/>
            <a:ext cx="10820095" cy="310896"/>
          </a:xfrm>
          <a:prstGeom prst="rect">
            <a:avLst/>
          </a:prstGeom>
          <a:noFill/>
          <a:ln/>
        </p:spPr>
        <p:txBody>
          <a:bodyPr wrap="square" lIns="0" tIns="0" rIns="0" bIns="0" rtlCol="0" anchor="ctr"/>
          <a:lstStyle/>
          <a:p>
            <a:pPr algn="ctr" indent="0" marL="0">
              <a:buNone/>
            </a:pPr>
            <a:r>
              <a:rPr lang="en-US" sz="1300" b="1" dirty="0">
                <a:solidFill>
                  <a:srgbClr val="000000"/>
                </a:solidFill>
                <a:latin typeface="Times New Roman" pitchFamily="34" charset="0"/>
                <a:ea typeface="Times New Roman" pitchFamily="34" charset="-122"/>
                <a:cs typeface="Times New Roman" pitchFamily="34" charset="-120"/>
              </a:rPr>
              <a:t>Recent work questioning whether reported results survive rigorous evaluation</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1572768"/>
          <a:ext cx="10835640" cy="914400"/>
        </p:xfrm>
        <a:graphic>
          <a:graphicData uri="http://schemas.openxmlformats.org/drawingml/2006/table">
            <a:tbl>
              <a:tblPr/>
              <a:tblGrid>
                <a:gridCol w="3383280"/>
                <a:gridCol w="7452360"/>
              </a:tblGrid>
              <a:tr h="347472">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Study</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Finding relevant to this project</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r>
              <a:tr h="1024128">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Reassessing PPG-Based Blood Glucose</a:t>
                      </a:r>
                      <a:endParaRPr lang="en-US" sz="1100" dirty="0">
                        <a:latin typeface="Times New Roman" charset="0"/>
                        <a:ea typeface="Times New Roman" charset="0"/>
                        <a:cs typeface="Times New Roman" charset="0"/>
                      </a:endParaRPr>
                    </a:p>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Level Estimation, arXiv:2608.01820 (2026)</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Re-evaluated five published PPG-glucose methods. The best scored R² = 0.60 under a random</a:t>
                      </a:r>
                      <a:endParaRPr lang="en-US" sz="1100" dirty="0">
                        <a:latin typeface="Times New Roman" charset="0"/>
                        <a:ea typeface="Times New Roman" charset="0"/>
                        <a:cs typeface="Times New Roman" charset="0"/>
                      </a:endParaRPr>
                    </a:p>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split and −0.08 under a participant-aware split, no better than predicting the mean.</a:t>
                      </a:r>
                      <a:endParaRPr lang="en-US" sz="1100" dirty="0">
                        <a:latin typeface="Times New Roman" charset="0"/>
                        <a:ea typeface="Times New Roman" charset="0"/>
                        <a:cs typeface="Times New Roman" charset="0"/>
                      </a:endParaRPr>
                    </a:p>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Over 90% of predictions fell within Clarke Zone A+B, including the baseline.</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1024128">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Advances in ECG-Based Non-Invasive Blood</a:t>
                      </a:r>
                      <a:endParaRPr lang="en-US" sz="1100" dirty="0">
                        <a:latin typeface="Times New Roman" charset="0"/>
                        <a:ea typeface="Times New Roman" charset="0"/>
                        <a:cs typeface="Times New Roman" charset="0"/>
                      </a:endParaRPr>
                    </a:p>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Glucose Monitoring Technology (review, 2026)</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Identifies record-level splitting as a field-wide source of data leakage producing</a:t>
                      </a:r>
                      <a:endParaRPr lang="en-US" sz="1100" dirty="0">
                        <a:latin typeface="Times New Roman" charset="0"/>
                        <a:ea typeface="Times New Roman" charset="0"/>
                        <a:cs typeface="Times New Roman" charset="0"/>
                      </a:endParaRPr>
                    </a:p>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optimistic estimates; notes that most studies use fewer than 30 subjects; concludes that</a:t>
                      </a:r>
                      <a:endParaRPr lang="en-US" sz="1100" dirty="0">
                        <a:latin typeface="Times New Roman" charset="0"/>
                        <a:ea typeface="Times New Roman" charset="0"/>
                        <a:cs typeface="Times New Roman" charset="0"/>
                      </a:endParaRPr>
                    </a:p>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current methods do not reach the 10–12% MARD of approved devices.</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1024128">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Grabisch (1995); Marichal (2000)</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Aggregation theory: a Choquet integral taken with respect to a symmetric fuzzy measure</a:t>
                      </a:r>
                      <a:endParaRPr lang="en-US" sz="1100" dirty="0">
                        <a:latin typeface="Times New Roman" charset="0"/>
                        <a:ea typeface="Times New Roman" charset="0"/>
                        <a:cs typeface="Times New Roman" charset="0"/>
                      </a:endParaRPr>
                    </a:p>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reduces to an ordered weighted average. This bounds what we claim as novel in Section 12.</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566928"/>
          </a:xfrm>
          <a:prstGeom prst="rect">
            <a:avLst/>
          </a:prstGeom>
          <a:noFill/>
          <a:ln/>
        </p:spPr>
        <p:txBody>
          <a:bodyPr wrap="square" lIns="0" tIns="0" rIns="0" bIns="0" rtlCol="0" anchor="ctr"/>
          <a:lstStyle/>
          <a:p>
            <a:pPr indent="0" marL="0">
              <a:buNone/>
            </a:pPr>
            <a:r>
              <a:rPr lang="en-US" sz="2100" b="1" dirty="0">
                <a:solidFill>
                  <a:srgbClr val="000000"/>
                </a:solidFill>
                <a:latin typeface="Times New Roman" pitchFamily="34" charset="0"/>
                <a:ea typeface="Times New Roman" pitchFamily="34" charset="-122"/>
                <a:cs typeface="Times New Roman" pitchFamily="34" charset="-120"/>
              </a:rPr>
              <a:t>4. Research Gaps and Limitations Identified</a:t>
            </a:r>
            <a:endParaRPr lang="en-US" sz="2100" dirty="0"/>
          </a:p>
        </p:txBody>
      </p:sp>
      <p:sp>
        <p:nvSpPr>
          <p:cNvPr id="3" name="Shape 1"/>
          <p:cNvSpPr/>
          <p:nvPr/>
        </p:nvSpPr>
        <p:spPr>
          <a:xfrm>
            <a:off x="685800" y="1024128"/>
            <a:ext cx="10820095" cy="3658"/>
          </a:xfrm>
          <a:prstGeom prst="line">
            <a:avLst/>
          </a:prstGeom>
          <a:noFill/>
          <a:ln w="13970">
            <a:solidFill>
              <a:srgbClr val="000000"/>
            </a:solidFill>
            <a:prstDash val="solid"/>
          </a:ln>
        </p:spPr>
      </p:sp>
      <p:sp>
        <p:nvSpPr>
          <p:cNvPr id="4" name="Text 2"/>
          <p:cNvSpPr txBox="1"/>
          <p:nvPr/>
        </p:nvSpPr>
        <p:spPr>
          <a:xfrm>
            <a:off x="685800" y="6382512"/>
            <a:ext cx="8229600" cy="256032"/>
          </a:xfrm>
          <a:prstGeom prst="rect">
            <a:avLst/>
          </a:prstGeom>
          <a:noFill/>
          <a:ln/>
        </p:spPr>
        <p:txBody>
          <a:bodyPr wrap="square" lIns="0" tIns="0" rIns="0" bIns="0" rtlCol="0" anchor="ctr"/>
          <a:lstStyle/>
          <a:p>
            <a:pPr indent="0" marL="0">
              <a:buNone/>
            </a:pPr>
            <a:r>
              <a:rPr lang="en-US" sz="800" dirty="0">
                <a:solidFill>
                  <a:srgbClr val="444444"/>
                </a:solidFill>
                <a:latin typeface="Times New Roman" pitchFamily="34" charset="0"/>
                <a:ea typeface="Times New Roman" pitchFamily="34" charset="-122"/>
                <a:cs typeface="Times New Roman" pitchFamily="34" charset="-120"/>
              </a:rPr>
              <a:t>Mid Term Review | Noninvasive Blood Glucose Estimation from ECG and PPG</a:t>
            </a:r>
            <a:endParaRPr lang="en-US" sz="800" dirty="0"/>
          </a:p>
        </p:txBody>
      </p:sp>
      <p:sp>
        <p:nvSpPr>
          <p:cNvPr id="5" name="Text 3"/>
          <p:cNvSpPr txBox="1"/>
          <p:nvPr/>
        </p:nvSpPr>
        <p:spPr>
          <a:xfrm>
            <a:off x="10682935" y="6382512"/>
            <a:ext cx="822960" cy="256032"/>
          </a:xfrm>
          <a:prstGeom prst="rect">
            <a:avLst/>
          </a:prstGeom>
          <a:noFill/>
          <a:ln/>
        </p:spPr>
        <p:txBody>
          <a:bodyPr wrap="square" lIns="0" tIns="0" rIns="0" bIns="0" rtlCol="0" anchor="ctr"/>
          <a:lstStyle/>
          <a:p>
            <a:pPr algn="r" indent="0" marL="0">
              <a:buNone/>
            </a:pPr>
            <a:r>
              <a:rPr lang="en-US" sz="800" dirty="0">
                <a:solidFill>
                  <a:srgbClr val="444444"/>
                </a:solidFill>
                <a:latin typeface="Times New Roman" pitchFamily="34" charset="0"/>
                <a:ea typeface="Times New Roman" pitchFamily="34" charset="-122"/>
                <a:cs typeface="Times New Roman" pitchFamily="34" charset="-120"/>
              </a:rPr>
              <a:t>6</a:t>
            </a:r>
            <a:endParaRPr lang="en-US" sz="800" dirty="0"/>
          </a:p>
        </p:txBody>
      </p:sp>
      <p:sp>
        <p:nvSpPr>
          <p:cNvPr id="6" name="Text 4"/>
          <p:cNvSpPr txBox="1"/>
          <p:nvPr/>
        </p:nvSpPr>
        <p:spPr>
          <a:xfrm>
            <a:off x="685800" y="1234440"/>
            <a:ext cx="365760" cy="274320"/>
          </a:xfrm>
          <a:prstGeom prst="rect">
            <a:avLst/>
          </a:prstGeom>
          <a:noFill/>
          <a:ln/>
        </p:spPr>
        <p:txBody>
          <a:bodyPr wrap="square" lIns="0" tIns="0" rIns="0" bIns="0" rtlCol="0" anchor="ctr"/>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1.</a:t>
            </a:r>
            <a:endParaRPr lang="en-US" sz="1200" dirty="0"/>
          </a:p>
        </p:txBody>
      </p:sp>
      <p:sp>
        <p:nvSpPr>
          <p:cNvPr id="7" name="Text 5"/>
          <p:cNvSpPr txBox="1"/>
          <p:nvPr/>
        </p:nvSpPr>
        <p:spPr>
          <a:xfrm>
            <a:off x="1097280" y="1234440"/>
            <a:ext cx="10424160" cy="256032"/>
          </a:xfrm>
          <a:prstGeom prst="rect">
            <a:avLst/>
          </a:prstGeom>
          <a:noFill/>
          <a:ln/>
        </p:spPr>
        <p:txBody>
          <a:bodyPr wrap="square" lIns="0" tIns="0" rIns="0" bIns="0" rtlCol="0" anchor="ctr"/>
          <a:lstStyle/>
          <a:p>
            <a:pPr indent="0" marL="0">
              <a:buNone/>
            </a:pPr>
            <a:r>
              <a:rPr lang="en-US" sz="1250" b="1" dirty="0">
                <a:solidFill>
                  <a:srgbClr val="000000"/>
                </a:solidFill>
                <a:latin typeface="Times New Roman" pitchFamily="34" charset="0"/>
                <a:ea typeface="Times New Roman" pitchFamily="34" charset="-122"/>
                <a:cs typeface="Times New Roman" pitchFamily="34" charset="-120"/>
              </a:rPr>
              <a:t>No independent validation</a:t>
            </a:r>
            <a:endParaRPr lang="en-US" sz="1250" dirty="0"/>
          </a:p>
        </p:txBody>
      </p:sp>
      <p:sp>
        <p:nvSpPr>
          <p:cNvPr id="8" name="Text 6"/>
          <p:cNvSpPr txBox="1"/>
          <p:nvPr/>
        </p:nvSpPr>
        <p:spPr>
          <a:xfrm>
            <a:off x="1097280" y="1508760"/>
            <a:ext cx="10424160" cy="548640"/>
          </a:xfrm>
          <a:prstGeom prst="rect">
            <a:avLst/>
          </a:prstGeom>
          <a:noFill/>
          <a:ln/>
        </p:spPr>
        <p:txBody>
          <a:bodyPr wrap="square" lIns="0" tIns="0" rIns="0" bIns="0" rtlCol="0" anchor="ctr"/>
          <a:lstStyle/>
          <a:p>
            <a:pPr indent="0" marL="0">
              <a:buNone/>
            </a:pPr>
            <a:r>
              <a:rPr lang="en-US" sz="1100" dirty="0">
                <a:solidFill>
                  <a:srgbClr val="000000"/>
                </a:solidFill>
                <a:latin typeface="Times New Roman" pitchFamily="34" charset="0"/>
                <a:ea typeface="Times New Roman" pitchFamily="34" charset="-122"/>
                <a:cs typeface="Times New Roman" pitchFamily="34" charset="-120"/>
              </a:rPr>
              <a:t>Source code released, data withheld. The result has never been tested on a cohort selected by anyone other than the authors.</a:t>
            </a:r>
            <a:endParaRPr lang="en-US" sz="1100" dirty="0"/>
          </a:p>
        </p:txBody>
      </p:sp>
      <p:sp>
        <p:nvSpPr>
          <p:cNvPr id="9" name="Text 7"/>
          <p:cNvSpPr txBox="1"/>
          <p:nvPr/>
        </p:nvSpPr>
        <p:spPr>
          <a:xfrm>
            <a:off x="685800" y="2093976"/>
            <a:ext cx="365760" cy="274320"/>
          </a:xfrm>
          <a:prstGeom prst="rect">
            <a:avLst/>
          </a:prstGeom>
          <a:noFill/>
          <a:ln/>
        </p:spPr>
        <p:txBody>
          <a:bodyPr wrap="square" lIns="0" tIns="0" rIns="0" bIns="0" rtlCol="0" anchor="ctr"/>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2.</a:t>
            </a:r>
            <a:endParaRPr lang="en-US" sz="1200" dirty="0"/>
          </a:p>
        </p:txBody>
      </p:sp>
      <p:sp>
        <p:nvSpPr>
          <p:cNvPr id="10" name="Text 8"/>
          <p:cNvSpPr txBox="1"/>
          <p:nvPr/>
        </p:nvSpPr>
        <p:spPr>
          <a:xfrm>
            <a:off x="1097280" y="2093976"/>
            <a:ext cx="10424160" cy="256032"/>
          </a:xfrm>
          <a:prstGeom prst="rect">
            <a:avLst/>
          </a:prstGeom>
          <a:noFill/>
          <a:ln/>
        </p:spPr>
        <p:txBody>
          <a:bodyPr wrap="square" lIns="0" tIns="0" rIns="0" bIns="0" rtlCol="0" anchor="ctr"/>
          <a:lstStyle/>
          <a:p>
            <a:pPr indent="0" marL="0">
              <a:buNone/>
            </a:pPr>
            <a:r>
              <a:rPr lang="en-US" sz="1250" b="1" dirty="0">
                <a:solidFill>
                  <a:srgbClr val="000000"/>
                </a:solidFill>
                <a:latin typeface="Times New Roman" pitchFamily="34" charset="0"/>
                <a:ea typeface="Times New Roman" pitchFamily="34" charset="-122"/>
                <a:cs typeface="Times New Roman" pitchFamily="34" charset="-120"/>
              </a:rPr>
              <a:t>Evaluation protocol not controlled</a:t>
            </a:r>
            <a:endParaRPr lang="en-US" sz="1250" dirty="0"/>
          </a:p>
        </p:txBody>
      </p:sp>
      <p:sp>
        <p:nvSpPr>
          <p:cNvPr id="11" name="Text 9"/>
          <p:cNvSpPr txBox="1"/>
          <p:nvPr/>
        </p:nvSpPr>
        <p:spPr>
          <a:xfrm>
            <a:off x="1097280" y="2368296"/>
            <a:ext cx="10424160" cy="548640"/>
          </a:xfrm>
          <a:prstGeom prst="rect">
            <a:avLst/>
          </a:prstGeom>
          <a:noFill/>
          <a:ln/>
        </p:spPr>
        <p:txBody>
          <a:bodyPr wrap="square" lIns="0" tIns="0" rIns="0" bIns="0" rtlCol="0" anchor="ctr"/>
          <a:lstStyle/>
          <a:p>
            <a:pPr indent="0" marL="0">
              <a:buNone/>
            </a:pPr>
            <a:r>
              <a:rPr lang="en-US" sz="1100" dirty="0">
                <a:solidFill>
                  <a:srgbClr val="000000"/>
                </a:solidFill>
                <a:latin typeface="Times New Roman" pitchFamily="34" charset="0"/>
                <a:ea typeface="Times New Roman" pitchFamily="34" charset="-122"/>
                <a:cs typeface="Times New Roman" pitchFamily="34" charset="-120"/>
              </a:rPr>
              <a:t>Performance is reported under a random window-level split, in which the same participant appears in both training and test sets. Windows from one individual are strongly correlated, so a model may identify the participant rather than learn the glucose relationship.</a:t>
            </a:r>
            <a:endParaRPr lang="en-US" sz="1100" dirty="0"/>
          </a:p>
        </p:txBody>
      </p:sp>
      <p:sp>
        <p:nvSpPr>
          <p:cNvPr id="12" name="Text 10"/>
          <p:cNvSpPr txBox="1"/>
          <p:nvPr/>
        </p:nvSpPr>
        <p:spPr>
          <a:xfrm>
            <a:off x="685800" y="2953512"/>
            <a:ext cx="365760" cy="274320"/>
          </a:xfrm>
          <a:prstGeom prst="rect">
            <a:avLst/>
          </a:prstGeom>
          <a:noFill/>
          <a:ln/>
        </p:spPr>
        <p:txBody>
          <a:bodyPr wrap="square" lIns="0" tIns="0" rIns="0" bIns="0" rtlCol="0" anchor="ctr"/>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3.</a:t>
            </a:r>
            <a:endParaRPr lang="en-US" sz="1200" dirty="0"/>
          </a:p>
        </p:txBody>
      </p:sp>
      <p:sp>
        <p:nvSpPr>
          <p:cNvPr id="13" name="Text 11"/>
          <p:cNvSpPr txBox="1"/>
          <p:nvPr/>
        </p:nvSpPr>
        <p:spPr>
          <a:xfrm>
            <a:off x="1097280" y="2953512"/>
            <a:ext cx="10424160" cy="256032"/>
          </a:xfrm>
          <a:prstGeom prst="rect">
            <a:avLst/>
          </a:prstGeom>
          <a:noFill/>
          <a:ln/>
        </p:spPr>
        <p:txBody>
          <a:bodyPr wrap="square" lIns="0" tIns="0" rIns="0" bIns="0" rtlCol="0" anchor="ctr"/>
          <a:lstStyle/>
          <a:p>
            <a:pPr indent="0" marL="0">
              <a:buNone/>
            </a:pPr>
            <a:r>
              <a:rPr lang="en-US" sz="1250" b="1" dirty="0">
                <a:solidFill>
                  <a:srgbClr val="000000"/>
                </a:solidFill>
                <a:latin typeface="Times New Roman" pitchFamily="34" charset="0"/>
                <a:ea typeface="Times New Roman" pitchFamily="34" charset="-122"/>
                <a:cs typeface="Times New Roman" pitchFamily="34" charset="-120"/>
              </a:rPr>
              <a:t>Clinical metrics reported without a reference point</a:t>
            </a:r>
            <a:endParaRPr lang="en-US" sz="1250" dirty="0"/>
          </a:p>
        </p:txBody>
      </p:sp>
      <p:sp>
        <p:nvSpPr>
          <p:cNvPr id="14" name="Text 12"/>
          <p:cNvSpPr txBox="1"/>
          <p:nvPr/>
        </p:nvSpPr>
        <p:spPr>
          <a:xfrm>
            <a:off x="1097280" y="3227832"/>
            <a:ext cx="10424160" cy="548640"/>
          </a:xfrm>
          <a:prstGeom prst="rect">
            <a:avLst/>
          </a:prstGeom>
          <a:noFill/>
          <a:ln/>
        </p:spPr>
        <p:txBody>
          <a:bodyPr wrap="square" lIns="0" tIns="0" rIns="0" bIns="0" rtlCol="0" anchor="ctr"/>
          <a:lstStyle/>
          <a:p>
            <a:pPr indent="0" marL="0">
              <a:buNone/>
            </a:pPr>
            <a:r>
              <a:rPr lang="en-US" sz="1100" dirty="0">
                <a:solidFill>
                  <a:srgbClr val="000000"/>
                </a:solidFill>
                <a:latin typeface="Times New Roman" pitchFamily="34" charset="0"/>
                <a:ea typeface="Times New Roman" pitchFamily="34" charset="-122"/>
                <a:cs typeface="Times New Roman" pitchFamily="34" charset="-120"/>
              </a:rPr>
              <a:t>Parkes Zone A+B is presented as evidence of clinical readiness, with no no-skill baseline reported alongside, so the reader cannot determine how much of that score is attributable to the method.</a:t>
            </a:r>
            <a:endParaRPr lang="en-US" sz="1100" dirty="0"/>
          </a:p>
        </p:txBody>
      </p:sp>
      <p:sp>
        <p:nvSpPr>
          <p:cNvPr id="15" name="Text 13"/>
          <p:cNvSpPr txBox="1"/>
          <p:nvPr/>
        </p:nvSpPr>
        <p:spPr>
          <a:xfrm>
            <a:off x="685800" y="3813048"/>
            <a:ext cx="365760" cy="274320"/>
          </a:xfrm>
          <a:prstGeom prst="rect">
            <a:avLst/>
          </a:prstGeom>
          <a:noFill/>
          <a:ln/>
        </p:spPr>
        <p:txBody>
          <a:bodyPr wrap="square" lIns="0" tIns="0" rIns="0" bIns="0" rtlCol="0" anchor="ctr"/>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4.</a:t>
            </a:r>
            <a:endParaRPr lang="en-US" sz="1200" dirty="0"/>
          </a:p>
        </p:txBody>
      </p:sp>
      <p:sp>
        <p:nvSpPr>
          <p:cNvPr id="16" name="Text 14"/>
          <p:cNvSpPr txBox="1"/>
          <p:nvPr/>
        </p:nvSpPr>
        <p:spPr>
          <a:xfrm>
            <a:off x="1097280" y="3813048"/>
            <a:ext cx="10424160" cy="256032"/>
          </a:xfrm>
          <a:prstGeom prst="rect">
            <a:avLst/>
          </a:prstGeom>
          <a:noFill/>
          <a:ln/>
        </p:spPr>
        <p:txBody>
          <a:bodyPr wrap="square" lIns="0" tIns="0" rIns="0" bIns="0" rtlCol="0" anchor="ctr"/>
          <a:lstStyle/>
          <a:p>
            <a:pPr indent="0" marL="0">
              <a:buNone/>
            </a:pPr>
            <a:r>
              <a:rPr lang="en-US" sz="1250" b="1" dirty="0">
                <a:solidFill>
                  <a:srgbClr val="000000"/>
                </a:solidFill>
                <a:latin typeface="Times New Roman" pitchFamily="34" charset="0"/>
                <a:ea typeface="Times New Roman" pitchFamily="34" charset="-122"/>
                <a:cs typeface="Times New Roman" pitchFamily="34" charset="-120"/>
              </a:rPr>
              <a:t>Fusion behaviour never audited</a:t>
            </a:r>
            <a:endParaRPr lang="en-US" sz="1250" dirty="0"/>
          </a:p>
        </p:txBody>
      </p:sp>
      <p:sp>
        <p:nvSpPr>
          <p:cNvPr id="17" name="Text 15"/>
          <p:cNvSpPr txBox="1"/>
          <p:nvPr/>
        </p:nvSpPr>
        <p:spPr>
          <a:xfrm>
            <a:off x="1097280" y="4087368"/>
            <a:ext cx="10424160" cy="548640"/>
          </a:xfrm>
          <a:prstGeom prst="rect">
            <a:avLst/>
          </a:prstGeom>
          <a:noFill/>
          <a:ln/>
        </p:spPr>
        <p:txBody>
          <a:bodyPr wrap="square" lIns="0" tIns="0" rIns="0" bIns="0" rtlCol="0" anchor="ctr"/>
          <a:lstStyle/>
          <a:p>
            <a:pPr indent="0" marL="0">
              <a:buNone/>
            </a:pPr>
            <a:r>
              <a:rPr lang="en-US" sz="1100" dirty="0">
                <a:solidFill>
                  <a:srgbClr val="000000"/>
                </a:solidFill>
                <a:latin typeface="Times New Roman" pitchFamily="34" charset="0"/>
                <a:ea typeface="Times New Roman" pitchFamily="34" charset="-122"/>
                <a:cs typeface="Times New Roman" pitchFamily="34" charset="-120"/>
              </a:rPr>
              <a:t>The fuzzy densities that parameterise the Choquet integral are estimated from model performance, but are neither reported nor checked for degeneracy.</a:t>
            </a:r>
            <a:endParaRPr lang="en-US" sz="1100" dirty="0"/>
          </a:p>
        </p:txBody>
      </p:sp>
      <p:sp>
        <p:nvSpPr>
          <p:cNvPr id="18" name="Text 16"/>
          <p:cNvSpPr txBox="1"/>
          <p:nvPr/>
        </p:nvSpPr>
        <p:spPr>
          <a:xfrm>
            <a:off x="685800" y="4672584"/>
            <a:ext cx="365760" cy="274320"/>
          </a:xfrm>
          <a:prstGeom prst="rect">
            <a:avLst/>
          </a:prstGeom>
          <a:noFill/>
          <a:ln/>
        </p:spPr>
        <p:txBody>
          <a:bodyPr wrap="square" lIns="0" tIns="0" rIns="0" bIns="0" rtlCol="0" anchor="ctr"/>
          <a:lstStyle/>
          <a:p>
            <a:pPr indent="0" marL="0">
              <a:buNone/>
            </a:pPr>
            <a:r>
              <a:rPr lang="en-US" sz="1200" b="1" dirty="0">
                <a:solidFill>
                  <a:srgbClr val="000000"/>
                </a:solidFill>
                <a:latin typeface="Times New Roman" pitchFamily="34" charset="0"/>
                <a:ea typeface="Times New Roman" pitchFamily="34" charset="-122"/>
                <a:cs typeface="Times New Roman" pitchFamily="34" charset="-120"/>
              </a:rPr>
              <a:t>5.</a:t>
            </a:r>
            <a:endParaRPr lang="en-US" sz="1200" dirty="0"/>
          </a:p>
        </p:txBody>
      </p:sp>
      <p:sp>
        <p:nvSpPr>
          <p:cNvPr id="19" name="Text 17"/>
          <p:cNvSpPr txBox="1"/>
          <p:nvPr/>
        </p:nvSpPr>
        <p:spPr>
          <a:xfrm>
            <a:off x="1097280" y="4672584"/>
            <a:ext cx="10424160" cy="256032"/>
          </a:xfrm>
          <a:prstGeom prst="rect">
            <a:avLst/>
          </a:prstGeom>
          <a:noFill/>
          <a:ln/>
        </p:spPr>
        <p:txBody>
          <a:bodyPr wrap="square" lIns="0" tIns="0" rIns="0" bIns="0" rtlCol="0" anchor="ctr"/>
          <a:lstStyle/>
          <a:p>
            <a:pPr indent="0" marL="0">
              <a:buNone/>
            </a:pPr>
            <a:r>
              <a:rPr lang="en-US" sz="1250" b="1" dirty="0">
                <a:solidFill>
                  <a:srgbClr val="000000"/>
                </a:solidFill>
                <a:latin typeface="Times New Roman" pitchFamily="34" charset="0"/>
                <a:ea typeface="Times New Roman" pitchFamily="34" charset="-122"/>
                <a:cs typeface="Times New Roman" pitchFamily="34" charset="-120"/>
              </a:rPr>
              <a:t>Reproducibility of the feature pipeline unverified</a:t>
            </a:r>
            <a:endParaRPr lang="en-US" sz="1250" dirty="0"/>
          </a:p>
        </p:txBody>
      </p:sp>
      <p:sp>
        <p:nvSpPr>
          <p:cNvPr id="20" name="Text 18"/>
          <p:cNvSpPr txBox="1"/>
          <p:nvPr/>
        </p:nvSpPr>
        <p:spPr>
          <a:xfrm>
            <a:off x="1097280" y="4946904"/>
            <a:ext cx="10424160" cy="548640"/>
          </a:xfrm>
          <a:prstGeom prst="rect">
            <a:avLst/>
          </a:prstGeom>
          <a:noFill/>
          <a:ln/>
        </p:spPr>
        <p:txBody>
          <a:bodyPr wrap="square" lIns="0" tIns="0" rIns="0" bIns="0" rtlCol="0" anchor="ctr"/>
          <a:lstStyle/>
          <a:p>
            <a:pPr indent="0" marL="0">
              <a:buNone/>
            </a:pPr>
            <a:r>
              <a:rPr lang="en-US" sz="1100" dirty="0">
                <a:solidFill>
                  <a:srgbClr val="000000"/>
                </a:solidFill>
                <a:latin typeface="Times New Roman" pitchFamily="34" charset="0"/>
                <a:ea typeface="Times New Roman" pitchFamily="34" charset="-122"/>
                <a:cs typeface="Times New Roman" pitchFamily="34" charset="-120"/>
              </a:rPr>
              <a:t>No check that identical input produces identical features.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566928"/>
          </a:xfrm>
          <a:prstGeom prst="rect">
            <a:avLst/>
          </a:prstGeom>
          <a:noFill/>
          <a:ln/>
        </p:spPr>
        <p:txBody>
          <a:bodyPr wrap="square" lIns="0" tIns="0" rIns="0" bIns="0" rtlCol="0" anchor="ctr"/>
          <a:lstStyle/>
          <a:p>
            <a:pPr indent="0" marL="0">
              <a:buNone/>
            </a:pPr>
            <a:r>
              <a:rPr lang="en-US" sz="2100" b="1" dirty="0">
                <a:solidFill>
                  <a:srgbClr val="000000"/>
                </a:solidFill>
                <a:latin typeface="Times New Roman" pitchFamily="34" charset="0"/>
                <a:ea typeface="Times New Roman" pitchFamily="34" charset="-122"/>
                <a:cs typeface="Times New Roman" pitchFamily="34" charset="-120"/>
              </a:rPr>
              <a:t>5. Aim and Objectives</a:t>
            </a:r>
            <a:endParaRPr lang="en-US" sz="2100" dirty="0"/>
          </a:p>
        </p:txBody>
      </p:sp>
      <p:sp>
        <p:nvSpPr>
          <p:cNvPr id="3" name="Shape 1"/>
          <p:cNvSpPr/>
          <p:nvPr/>
        </p:nvSpPr>
        <p:spPr>
          <a:xfrm>
            <a:off x="685800" y="1024128"/>
            <a:ext cx="10820095" cy="3658"/>
          </a:xfrm>
          <a:prstGeom prst="line">
            <a:avLst/>
          </a:prstGeom>
          <a:noFill/>
          <a:ln w="13970">
            <a:solidFill>
              <a:srgbClr val="000000"/>
            </a:solidFill>
            <a:prstDash val="solid"/>
          </a:ln>
        </p:spPr>
      </p:sp>
      <p:sp>
        <p:nvSpPr>
          <p:cNvPr id="4" name="Text 2"/>
          <p:cNvSpPr txBox="1"/>
          <p:nvPr/>
        </p:nvSpPr>
        <p:spPr>
          <a:xfrm>
            <a:off x="685800" y="6382512"/>
            <a:ext cx="8229600" cy="256032"/>
          </a:xfrm>
          <a:prstGeom prst="rect">
            <a:avLst/>
          </a:prstGeom>
          <a:noFill/>
          <a:ln/>
        </p:spPr>
        <p:txBody>
          <a:bodyPr wrap="square" lIns="0" tIns="0" rIns="0" bIns="0" rtlCol="0" anchor="ctr"/>
          <a:lstStyle/>
          <a:p>
            <a:pPr indent="0" marL="0">
              <a:buNone/>
            </a:pPr>
            <a:r>
              <a:rPr lang="en-US" sz="800" dirty="0">
                <a:solidFill>
                  <a:srgbClr val="444444"/>
                </a:solidFill>
                <a:latin typeface="Times New Roman" pitchFamily="34" charset="0"/>
                <a:ea typeface="Times New Roman" pitchFamily="34" charset="-122"/>
                <a:cs typeface="Times New Roman" pitchFamily="34" charset="-120"/>
              </a:rPr>
              <a:t>Mid Term Review | Noninvasive Blood Glucose Estimation from ECG and PPG</a:t>
            </a:r>
            <a:endParaRPr lang="en-US" sz="800" dirty="0"/>
          </a:p>
        </p:txBody>
      </p:sp>
      <p:sp>
        <p:nvSpPr>
          <p:cNvPr id="5" name="Text 3"/>
          <p:cNvSpPr txBox="1"/>
          <p:nvPr/>
        </p:nvSpPr>
        <p:spPr>
          <a:xfrm>
            <a:off x="10682935" y="6382512"/>
            <a:ext cx="822960" cy="256032"/>
          </a:xfrm>
          <a:prstGeom prst="rect">
            <a:avLst/>
          </a:prstGeom>
          <a:noFill/>
          <a:ln/>
        </p:spPr>
        <p:txBody>
          <a:bodyPr wrap="square" lIns="0" tIns="0" rIns="0" bIns="0" rtlCol="0" anchor="ctr"/>
          <a:lstStyle/>
          <a:p>
            <a:pPr algn="r" indent="0" marL="0">
              <a:buNone/>
            </a:pPr>
            <a:r>
              <a:rPr lang="en-US" sz="800" dirty="0">
                <a:solidFill>
                  <a:srgbClr val="444444"/>
                </a:solidFill>
                <a:latin typeface="Times New Roman" pitchFamily="34" charset="0"/>
                <a:ea typeface="Times New Roman" pitchFamily="34" charset="-122"/>
                <a:cs typeface="Times New Roman" pitchFamily="34" charset="-120"/>
              </a:rPr>
              <a:t>7</a:t>
            </a:r>
            <a:endParaRPr lang="en-US" sz="800" dirty="0"/>
          </a:p>
        </p:txBody>
      </p:sp>
      <p:sp>
        <p:nvSpPr>
          <p:cNvPr id="6" name="Shape 4"/>
          <p:cNvSpPr/>
          <p:nvPr/>
        </p:nvSpPr>
        <p:spPr>
          <a:xfrm>
            <a:off x="685800" y="1207008"/>
            <a:ext cx="10835640" cy="914400"/>
          </a:xfrm>
          <a:prstGeom prst="roundRect">
            <a:avLst>
              <a:gd name="adj" fmla="val 22000"/>
            </a:avLst>
          </a:prstGeom>
          <a:solidFill>
            <a:srgbClr val="F5F5F5"/>
          </a:solidFill>
          <a:ln w="9525">
            <a:solidFill>
              <a:srgbClr val="BFBFBF"/>
            </a:solidFill>
            <a:prstDash val="solid"/>
          </a:ln>
          <a:effectLst>
            <a:outerShdw sx="100000" sy="100000" kx="0" ky="0" algn="bl" rotWithShape="0" blurRad="63500" dist="25400" dir="2700000">
              <a:srgbClr val="888888">
                <a:alpha val="35000"/>
              </a:srgbClr>
            </a:outerShdw>
          </a:effectLst>
        </p:spPr>
      </p:sp>
      <p:sp>
        <p:nvSpPr>
          <p:cNvPr id="7" name="Text 5"/>
          <p:cNvSpPr txBox="1"/>
          <p:nvPr/>
        </p:nvSpPr>
        <p:spPr>
          <a:xfrm>
            <a:off x="941832" y="1408176"/>
            <a:ext cx="10323576" cy="530352"/>
          </a:xfrm>
          <a:prstGeom prst="rect">
            <a:avLst/>
          </a:prstGeom>
          <a:noFill/>
          <a:ln/>
        </p:spPr>
        <p:txBody>
          <a:bodyPr wrap="square" lIns="0" tIns="0" rIns="0" bIns="0" rtlCol="0" anchor="t"/>
          <a:lstStyle/>
          <a:p>
            <a:pPr indent="0" marL="0">
              <a:spcAft>
                <a:spcPts val="700"/>
              </a:spcAft>
              <a:buNone/>
            </a:pPr>
            <a:r>
              <a:rPr lang="en-US" sz="1300" dirty="0">
                <a:solidFill>
                  <a:srgbClr val="000000"/>
                </a:solidFill>
                <a:latin typeface="Times New Roman" pitchFamily="34" charset="0"/>
                <a:ea typeface="Times New Roman" pitchFamily="34" charset="-122"/>
                <a:cs typeface="Times New Roman" pitchFamily="34" charset="-120"/>
              </a:rPr>
              <a:t>Aim: to determine whether the reported accuracy of the SFF-WCIM method survives independent reproduction on open data under leakage-controlled evaluation.</a:t>
            </a:r>
            <a:endParaRPr lang="en-US" sz="1300" dirty="0"/>
          </a:p>
        </p:txBody>
      </p:sp>
      <p:sp>
        <p:nvSpPr>
          <p:cNvPr id="8" name="Text 6"/>
          <p:cNvSpPr txBox="1"/>
          <p:nvPr/>
        </p:nvSpPr>
        <p:spPr>
          <a:xfrm>
            <a:off x="685800" y="2286000"/>
            <a:ext cx="10820095" cy="310896"/>
          </a:xfrm>
          <a:prstGeom prst="rect">
            <a:avLst/>
          </a:prstGeom>
          <a:noFill/>
          <a:ln/>
        </p:spPr>
        <p:txBody>
          <a:bodyPr wrap="square" lIns="0" tIns="0" rIns="0" bIns="0" rtlCol="0" anchor="ctr"/>
          <a:lstStyle/>
          <a:p>
            <a:pPr algn="ctr" indent="0" marL="0">
              <a:buNone/>
            </a:pPr>
            <a:r>
              <a:rPr lang="en-US" sz="1300" b="1" dirty="0">
                <a:solidFill>
                  <a:srgbClr val="000000"/>
                </a:solidFill>
                <a:latin typeface="Times New Roman" pitchFamily="34" charset="0"/>
                <a:ea typeface="Times New Roman" pitchFamily="34" charset="-122"/>
                <a:cs typeface="Times New Roman" pitchFamily="34" charset="-120"/>
              </a:rPr>
              <a:t>Objectives</a:t>
            </a:r>
            <a:endParaRPr lang="en-US" sz="1300" dirty="0"/>
          </a:p>
        </p:txBody>
      </p:sp>
      <p:sp>
        <p:nvSpPr>
          <p:cNvPr id="9" name="Text 7"/>
          <p:cNvSpPr txBox="1"/>
          <p:nvPr/>
        </p:nvSpPr>
        <p:spPr>
          <a:xfrm>
            <a:off x="960120" y="2697480"/>
            <a:ext cx="320040" cy="36576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1.</a:t>
            </a:r>
            <a:endParaRPr lang="en-US" sz="1200" dirty="0"/>
          </a:p>
        </p:txBody>
      </p:sp>
      <p:sp>
        <p:nvSpPr>
          <p:cNvPr id="10" name="Text 8"/>
          <p:cNvSpPr txBox="1"/>
          <p:nvPr/>
        </p:nvSpPr>
        <p:spPr>
          <a:xfrm>
            <a:off x="1371600" y="2697480"/>
            <a:ext cx="10058400" cy="365760"/>
          </a:xfrm>
          <a:prstGeom prst="rect">
            <a:avLst/>
          </a:prstGeom>
          <a:noFill/>
          <a:ln/>
        </p:spPr>
        <p:txBody>
          <a:bodyPr wrap="square" lIns="0" tIns="0" rIns="0" bIns="0" rtlCol="0" anchor="ct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Rebuild all three stages of the published method from its description.</a:t>
            </a:r>
            <a:endParaRPr lang="en-US" sz="1200" dirty="0"/>
          </a:p>
        </p:txBody>
      </p:sp>
      <p:sp>
        <p:nvSpPr>
          <p:cNvPr id="11" name="Text 9"/>
          <p:cNvSpPr txBox="1"/>
          <p:nvPr/>
        </p:nvSpPr>
        <p:spPr>
          <a:xfrm>
            <a:off x="960120" y="3099816"/>
            <a:ext cx="320040" cy="36576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2.</a:t>
            </a:r>
            <a:endParaRPr lang="en-US" sz="1200" dirty="0"/>
          </a:p>
        </p:txBody>
      </p:sp>
      <p:sp>
        <p:nvSpPr>
          <p:cNvPr id="12" name="Text 10"/>
          <p:cNvSpPr txBox="1"/>
          <p:nvPr/>
        </p:nvSpPr>
        <p:spPr>
          <a:xfrm>
            <a:off x="1371600" y="3099816"/>
            <a:ext cx="10058400" cy="365760"/>
          </a:xfrm>
          <a:prstGeom prst="rect">
            <a:avLst/>
          </a:prstGeom>
          <a:noFill/>
          <a:ln/>
        </p:spPr>
        <p:txBody>
          <a:bodyPr wrap="square" lIns="0" tIns="0" rIns="0" bIns="0" rtlCol="0" anchor="ct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Evaluate on PhysioCGM: ten Type-1 participants with simultaneous ECG, PPG and CGM, released into the public domain.</a:t>
            </a:r>
            <a:endParaRPr lang="en-US" sz="1200" dirty="0"/>
          </a:p>
        </p:txBody>
      </p:sp>
      <p:sp>
        <p:nvSpPr>
          <p:cNvPr id="13" name="Text 11"/>
          <p:cNvSpPr txBox="1"/>
          <p:nvPr/>
        </p:nvSpPr>
        <p:spPr>
          <a:xfrm>
            <a:off x="960120" y="3502152"/>
            <a:ext cx="320040" cy="36576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3.</a:t>
            </a:r>
            <a:endParaRPr lang="en-US" sz="1200" dirty="0"/>
          </a:p>
        </p:txBody>
      </p:sp>
      <p:sp>
        <p:nvSpPr>
          <p:cNvPr id="14" name="Text 12"/>
          <p:cNvSpPr txBox="1"/>
          <p:nvPr/>
        </p:nvSpPr>
        <p:spPr>
          <a:xfrm>
            <a:off x="1371600" y="3502152"/>
            <a:ext cx="10058400" cy="365760"/>
          </a:xfrm>
          <a:prstGeom prst="rect">
            <a:avLst/>
          </a:prstGeom>
          <a:noFill/>
          <a:ln/>
        </p:spPr>
        <p:txBody>
          <a:bodyPr wrap="square" lIns="0" tIns="0" rIns="0" bIns="0" rtlCol="0" anchor="ct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Evaluate under three progressively stricter split protocols, reporting a no-skill baseline computed on the same folds beside every result.</a:t>
            </a:r>
            <a:endParaRPr lang="en-US" sz="1200" dirty="0"/>
          </a:p>
        </p:txBody>
      </p:sp>
      <p:sp>
        <p:nvSpPr>
          <p:cNvPr id="15" name="Text 13"/>
          <p:cNvSpPr txBox="1"/>
          <p:nvPr/>
        </p:nvSpPr>
        <p:spPr>
          <a:xfrm>
            <a:off x="960120" y="3904488"/>
            <a:ext cx="320040" cy="36576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4.</a:t>
            </a:r>
            <a:endParaRPr lang="en-US" sz="1200" dirty="0"/>
          </a:p>
        </p:txBody>
      </p:sp>
      <p:sp>
        <p:nvSpPr>
          <p:cNvPr id="16" name="Text 14"/>
          <p:cNvSpPr txBox="1"/>
          <p:nvPr/>
        </p:nvSpPr>
        <p:spPr>
          <a:xfrm>
            <a:off x="1371600" y="3904488"/>
            <a:ext cx="10058400" cy="365760"/>
          </a:xfrm>
          <a:prstGeom prst="rect">
            <a:avLst/>
          </a:prstGeom>
          <a:noFill/>
          <a:ln/>
        </p:spPr>
        <p:txBody>
          <a:bodyPr wrap="square" lIns="0" tIns="0" rIns="0" bIns="0" rtlCol="0" anchor="ct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Audit the fusion operator itself: recover the fuzzy densities and verify that the integral still discriminates between the base models.</a:t>
            </a:r>
            <a:endParaRPr lang="en-US" sz="1200" dirty="0"/>
          </a:p>
        </p:txBody>
      </p:sp>
      <p:sp>
        <p:nvSpPr>
          <p:cNvPr id="17" name="Text 15"/>
          <p:cNvSpPr txBox="1"/>
          <p:nvPr/>
        </p:nvSpPr>
        <p:spPr>
          <a:xfrm>
            <a:off x="960120" y="4306824"/>
            <a:ext cx="320040" cy="36576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5.</a:t>
            </a:r>
            <a:endParaRPr lang="en-US" sz="1200" dirty="0"/>
          </a:p>
        </p:txBody>
      </p:sp>
      <p:sp>
        <p:nvSpPr>
          <p:cNvPr id="18" name="Text 16"/>
          <p:cNvSpPr txBox="1"/>
          <p:nvPr/>
        </p:nvSpPr>
        <p:spPr>
          <a:xfrm>
            <a:off x="1371600" y="4306824"/>
            <a:ext cx="10058400" cy="365760"/>
          </a:xfrm>
          <a:prstGeom prst="rect">
            <a:avLst/>
          </a:prstGeom>
          <a:noFill/>
          <a:ln/>
        </p:spPr>
        <p:txBody>
          <a:bodyPr wrap="square" lIns="0" tIns="0" rIns="0" bIns="0" rtlCol="0" anchor="ct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Verify that the feature-extraction pipeline is deterministic.</a:t>
            </a:r>
            <a:endParaRPr lang="en-US" sz="1200" dirty="0"/>
          </a:p>
        </p:txBody>
      </p:sp>
      <p:sp>
        <p:nvSpPr>
          <p:cNvPr id="19" name="Shape 17"/>
          <p:cNvSpPr/>
          <p:nvPr/>
        </p:nvSpPr>
        <p:spPr>
          <a:xfrm>
            <a:off x="685800" y="4800600"/>
            <a:ext cx="10835640" cy="1325880"/>
          </a:xfrm>
          <a:prstGeom prst="roundRect">
            <a:avLst>
              <a:gd name="adj" fmla="val 15172"/>
            </a:avLst>
          </a:prstGeom>
          <a:solidFill>
            <a:srgbClr val="F5F5F5"/>
          </a:solidFill>
          <a:ln w="9525">
            <a:solidFill>
              <a:srgbClr val="BFBFBF"/>
            </a:solidFill>
            <a:prstDash val="solid"/>
          </a:ln>
          <a:effectLst>
            <a:outerShdw sx="100000" sy="100000" kx="0" ky="0" algn="bl" rotWithShape="0" blurRad="63500" dist="25400" dir="2700000">
              <a:srgbClr val="888888">
                <a:alpha val="35000"/>
              </a:srgbClr>
            </a:outerShdw>
          </a:effectLst>
        </p:spPr>
      </p:sp>
      <p:sp>
        <p:nvSpPr>
          <p:cNvPr id="20" name="Text 18"/>
          <p:cNvSpPr txBox="1"/>
          <p:nvPr/>
        </p:nvSpPr>
        <p:spPr>
          <a:xfrm>
            <a:off x="868680" y="4946904"/>
            <a:ext cx="10469880" cy="292608"/>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Scope and limitations</a:t>
            </a:r>
            <a:endParaRPr lang="en-US" sz="1400" dirty="0"/>
          </a:p>
        </p:txBody>
      </p:sp>
      <p:sp>
        <p:nvSpPr>
          <p:cNvPr id="21" name="Text 19"/>
          <p:cNvSpPr txBox="1"/>
          <p:nvPr/>
        </p:nvSpPr>
        <p:spPr>
          <a:xfrm>
            <a:off x="941832" y="5367528"/>
            <a:ext cx="10323576" cy="594360"/>
          </a:xfrm>
          <a:prstGeom prst="rect">
            <a:avLst/>
          </a:prstGeom>
          <a:noFill/>
          <a:ln/>
        </p:spPr>
        <p:txBody>
          <a:bodyPr wrap="square" lIns="0" tIns="0" rIns="0" bIns="0" rtlCol="0" anchor="t"/>
          <a:lstStyle/>
          <a:p>
            <a:pPr indent="0" marL="0">
              <a:spcAft>
                <a:spcPts val="700"/>
              </a:spcAft>
              <a:buNone/>
            </a:pPr>
            <a:r>
              <a:rPr lang="en-US" sz="1100" dirty="0">
                <a:solidFill>
                  <a:srgbClr val="000000"/>
                </a:solidFill>
                <a:latin typeface="Times New Roman" pitchFamily="34" charset="0"/>
                <a:ea typeface="Times New Roman" pitchFamily="34" charset="-122"/>
                <a:cs typeface="Times New Roman" pitchFamily="34" charset="-120"/>
              </a:rPr>
              <a:t>The authors' dataset is unavailable, so this reproduces the METHOD on different data rather than replicating the experiment. The spatial morphological branch is implemented with hand-crafted physiological features rather than a ResNet, as no GPU was available; this deviation is documented and examined in the ablation.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566928"/>
          </a:xfrm>
          <a:prstGeom prst="rect">
            <a:avLst/>
          </a:prstGeom>
          <a:noFill/>
          <a:ln/>
        </p:spPr>
        <p:txBody>
          <a:bodyPr wrap="square" lIns="0" tIns="0" rIns="0" bIns="0" rtlCol="0" anchor="ctr"/>
          <a:lstStyle/>
          <a:p>
            <a:pPr indent="0" marL="0">
              <a:buNone/>
            </a:pPr>
            <a:r>
              <a:rPr lang="en-US" sz="2100" b="1" dirty="0">
                <a:solidFill>
                  <a:srgbClr val="000000"/>
                </a:solidFill>
                <a:latin typeface="Times New Roman" pitchFamily="34" charset="0"/>
                <a:ea typeface="Times New Roman" pitchFamily="34" charset="-122"/>
                <a:cs typeface="Times New Roman" pitchFamily="34" charset="-120"/>
              </a:rPr>
              <a:t>6. Problem Formulation — Fuzzy Measures and the Choquet Integral</a:t>
            </a:r>
            <a:endParaRPr lang="en-US" sz="2100" dirty="0"/>
          </a:p>
        </p:txBody>
      </p:sp>
      <p:sp>
        <p:nvSpPr>
          <p:cNvPr id="3" name="Shape 1"/>
          <p:cNvSpPr/>
          <p:nvPr/>
        </p:nvSpPr>
        <p:spPr>
          <a:xfrm>
            <a:off x="685800" y="1024128"/>
            <a:ext cx="10820095" cy="3658"/>
          </a:xfrm>
          <a:prstGeom prst="line">
            <a:avLst/>
          </a:prstGeom>
          <a:noFill/>
          <a:ln w="13970">
            <a:solidFill>
              <a:srgbClr val="000000"/>
            </a:solidFill>
            <a:prstDash val="solid"/>
          </a:ln>
        </p:spPr>
      </p:sp>
      <p:sp>
        <p:nvSpPr>
          <p:cNvPr id="4" name="Text 2"/>
          <p:cNvSpPr txBox="1"/>
          <p:nvPr/>
        </p:nvSpPr>
        <p:spPr>
          <a:xfrm>
            <a:off x="685800" y="6382512"/>
            <a:ext cx="8229600" cy="256032"/>
          </a:xfrm>
          <a:prstGeom prst="rect">
            <a:avLst/>
          </a:prstGeom>
          <a:noFill/>
          <a:ln/>
        </p:spPr>
        <p:txBody>
          <a:bodyPr wrap="square" lIns="0" tIns="0" rIns="0" bIns="0" rtlCol="0" anchor="ctr"/>
          <a:lstStyle/>
          <a:p>
            <a:pPr indent="0" marL="0">
              <a:buNone/>
            </a:pPr>
            <a:r>
              <a:rPr lang="en-US" sz="800" dirty="0">
                <a:solidFill>
                  <a:srgbClr val="444444"/>
                </a:solidFill>
                <a:latin typeface="Times New Roman" pitchFamily="34" charset="0"/>
                <a:ea typeface="Times New Roman" pitchFamily="34" charset="-122"/>
                <a:cs typeface="Times New Roman" pitchFamily="34" charset="-120"/>
              </a:rPr>
              <a:t>Mid Term Review | Noninvasive Blood Glucose Estimation from ECG and PPG</a:t>
            </a:r>
            <a:endParaRPr lang="en-US" sz="800" dirty="0"/>
          </a:p>
        </p:txBody>
      </p:sp>
      <p:sp>
        <p:nvSpPr>
          <p:cNvPr id="5" name="Text 3"/>
          <p:cNvSpPr txBox="1"/>
          <p:nvPr/>
        </p:nvSpPr>
        <p:spPr>
          <a:xfrm>
            <a:off x="10682935" y="6382512"/>
            <a:ext cx="822960" cy="256032"/>
          </a:xfrm>
          <a:prstGeom prst="rect">
            <a:avLst/>
          </a:prstGeom>
          <a:noFill/>
          <a:ln/>
        </p:spPr>
        <p:txBody>
          <a:bodyPr wrap="square" lIns="0" tIns="0" rIns="0" bIns="0" rtlCol="0" anchor="ctr"/>
          <a:lstStyle/>
          <a:p>
            <a:pPr algn="r" indent="0" marL="0">
              <a:buNone/>
            </a:pPr>
            <a:r>
              <a:rPr lang="en-US" sz="800" dirty="0">
                <a:solidFill>
                  <a:srgbClr val="444444"/>
                </a:solidFill>
                <a:latin typeface="Times New Roman" pitchFamily="34" charset="0"/>
                <a:ea typeface="Times New Roman" pitchFamily="34" charset="-122"/>
                <a:cs typeface="Times New Roman" pitchFamily="34" charset="-120"/>
              </a:rPr>
              <a:t>8</a:t>
            </a:r>
            <a:endParaRPr lang="en-US" sz="800" dirty="0"/>
          </a:p>
        </p:txBody>
      </p:sp>
      <p:sp>
        <p:nvSpPr>
          <p:cNvPr id="6" name="Text 4"/>
          <p:cNvSpPr txBox="1"/>
          <p:nvPr/>
        </p:nvSpPr>
        <p:spPr>
          <a:xfrm>
            <a:off x="685800" y="1188720"/>
            <a:ext cx="10835640" cy="1005840"/>
          </a:xfrm>
          <a:prstGeom prst="rect">
            <a:avLst/>
          </a:prstGeom>
          <a:noFill/>
          <a:ln/>
        </p:spPr>
        <p:txBody>
          <a:bodyPr wrap="square" lIns="0" tIns="0" rIns="0" bIns="0" rtlCol="0" anchor="t"/>
          <a:lstStyle/>
          <a:p>
            <a:pPr indent="0" marL="0">
              <a:spcAft>
                <a:spcPts val="800"/>
              </a:spcAft>
              <a:buNone/>
            </a:pPr>
            <a:r>
              <a:rPr lang="en-US" sz="1200" dirty="0">
                <a:solidFill>
                  <a:srgbClr val="000000"/>
                </a:solidFill>
                <a:latin typeface="Times New Roman" pitchFamily="34" charset="0"/>
                <a:ea typeface="Times New Roman" pitchFamily="34" charset="-122"/>
                <a:cs typeface="Times New Roman" pitchFamily="34" charset="-120"/>
              </a:rPr>
              <a:t>Given a 16 s window of ECG and PPG preceding a CGM reading, predict the glucose concentration y. Three regressors produce estimates h₁, h₂, h₃, which must be combined into a single value.</a:t>
            </a:r>
            <a:endParaRPr lang="en-US" sz="1200" dirty="0"/>
          </a:p>
          <a:p>
            <a:pPr indent="0" marL="0">
              <a:spcAft>
                <a:spcPts val="800"/>
              </a:spcAft>
              <a:buNone/>
            </a:pPr>
            <a:r>
              <a:rPr lang="en-US" sz="1200" dirty="0">
                <a:solidFill>
                  <a:srgbClr val="000000"/>
                </a:solidFill>
                <a:latin typeface="Times New Roman" pitchFamily="34" charset="0"/>
                <a:ea typeface="Times New Roman" pitchFamily="34" charset="-122"/>
                <a:cs typeface="Times New Roman" pitchFamily="34" charset="-120"/>
              </a:rPr>
              <a:t>A weighted average assigns importance to each model individually and therefore cannot express that two models overlap. A fuzzy measure assigns importance to every subset; the Sugeno λ-measure generates all 2ᴺ subset values from one density per model:</a:t>
            </a:r>
            <a:endParaRPr lang="en-US" sz="1200" dirty="0"/>
          </a:p>
        </p:txBody>
      </p:sp>
      <p:pic>
        <p:nvPicPr>
          <p:cNvPr id="7" name="Image 0" descr="figures\equations\sugeno_union.png">    </p:cNvPr>
          <p:cNvPicPr>
            <a:picLocks noChangeAspect="1"/>
          </p:cNvPicPr>
          <p:nvPr/>
        </p:nvPicPr>
        <p:blipFill>
          <a:blip r:embed="rId1"/>
          <a:stretch>
            <a:fillRect/>
          </a:stretch>
        </p:blipFill>
        <p:spPr>
          <a:xfrm>
            <a:off x="1417320" y="2377440"/>
            <a:ext cx="5394960" cy="481693"/>
          </a:xfrm>
          <a:prstGeom prst="rect">
            <a:avLst/>
          </a:prstGeom>
        </p:spPr>
      </p:pic>
      <p:pic>
        <p:nvPicPr>
          <p:cNvPr id="8" name="Image 1" descr="figures\equations\sugeno_lambda.png">    </p:cNvPr>
          <p:cNvPicPr>
            <a:picLocks noChangeAspect="1"/>
          </p:cNvPicPr>
          <p:nvPr/>
        </p:nvPicPr>
        <p:blipFill>
          <a:blip r:embed="rId2"/>
          <a:stretch>
            <a:fillRect/>
          </a:stretch>
        </p:blipFill>
        <p:spPr>
          <a:xfrm>
            <a:off x="7863840" y="2240280"/>
            <a:ext cx="2651760" cy="886582"/>
          </a:xfrm>
          <a:prstGeom prst="rect">
            <a:avLst/>
          </a:prstGeom>
        </p:spPr>
      </p:pic>
      <p:pic>
        <p:nvPicPr>
          <p:cNvPr id="9" name="Image 2" descr="figures\equations\choquet.png">    </p:cNvPr>
          <p:cNvPicPr>
            <a:picLocks noChangeAspect="1"/>
          </p:cNvPicPr>
          <p:nvPr/>
        </p:nvPicPr>
        <p:blipFill>
          <a:blip r:embed="rId3"/>
          <a:stretch>
            <a:fillRect/>
          </a:stretch>
        </p:blipFill>
        <p:spPr>
          <a:xfrm>
            <a:off x="2194560" y="3566160"/>
            <a:ext cx="5760720" cy="1248568"/>
          </a:xfrm>
          <a:prstGeom prst="rect">
            <a:avLst/>
          </a:prstGeom>
        </p:spPr>
      </p:pic>
      <p:sp>
        <p:nvSpPr>
          <p:cNvPr id="10" name="Shape 5"/>
          <p:cNvSpPr/>
          <p:nvPr/>
        </p:nvSpPr>
        <p:spPr>
          <a:xfrm>
            <a:off x="685800" y="4892040"/>
            <a:ext cx="10835640" cy="1051560"/>
          </a:xfrm>
          <a:prstGeom prst="roundRect">
            <a:avLst>
              <a:gd name="adj" fmla="val 19130"/>
            </a:avLst>
          </a:prstGeom>
          <a:solidFill>
            <a:srgbClr val="F5F5F5"/>
          </a:solidFill>
          <a:ln w="9525">
            <a:solidFill>
              <a:srgbClr val="BFBFBF"/>
            </a:solidFill>
            <a:prstDash val="solid"/>
          </a:ln>
          <a:effectLst>
            <a:outerShdw sx="100000" sy="100000" kx="0" ky="0" algn="bl" rotWithShape="0" blurRad="63500" dist="25400" dir="2700000">
              <a:srgbClr val="888888">
                <a:alpha val="35000"/>
              </a:srgbClr>
            </a:outerShdw>
          </a:effectLst>
        </p:spPr>
      </p:sp>
      <p:sp>
        <p:nvSpPr>
          <p:cNvPr id="11" name="Text 6"/>
          <p:cNvSpPr txBox="1"/>
          <p:nvPr/>
        </p:nvSpPr>
        <p:spPr>
          <a:xfrm>
            <a:off x="941832" y="5093208"/>
            <a:ext cx="10323576" cy="667512"/>
          </a:xfrm>
          <a:prstGeom prst="rect">
            <a:avLst/>
          </a:prstGeom>
          <a:noFill/>
          <a:ln/>
        </p:spPr>
        <p:txBody>
          <a:bodyPr wrap="square" lIns="0" tIns="0" rIns="0" bIns="0" rtlCol="0" anchor="t"/>
          <a:lstStyle/>
          <a:p>
            <a:pPr indent="0" marL="0">
              <a:spcAft>
                <a:spcPts val="700"/>
              </a:spcAft>
              <a:buNone/>
            </a:pPr>
            <a:r>
              <a:rPr lang="en-US" sz="1100" dirty="0">
                <a:solidFill>
                  <a:srgbClr val="000000"/>
                </a:solidFill>
                <a:latin typeface="Times New Roman" pitchFamily="34" charset="0"/>
                <a:ea typeface="Times New Roman" pitchFamily="34" charset="-122"/>
                <a:cs typeface="Times New Roman" pitchFamily="34" charset="-120"/>
              </a:rPr>
              <a:t>λ is fixed by the boundary condition g(X) = 1.  Σgᵢ = 1 gives λ = 0, and the integral reduces exactly to a weighted average.  Σgᵢ &gt; 1 gives λ &lt; 0, an overlap penalty.  Σgᵢ &lt; 1 gives λ &gt; 0, a synergy bonus.  Sorting is what allows subset importance to enter: the weight a prediction receives depends on its rank.</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566928"/>
          </a:xfrm>
          <a:prstGeom prst="rect">
            <a:avLst/>
          </a:prstGeom>
          <a:noFill/>
          <a:ln/>
        </p:spPr>
        <p:txBody>
          <a:bodyPr wrap="square" lIns="0" tIns="0" rIns="0" bIns="0" rtlCol="0" anchor="ctr"/>
          <a:lstStyle/>
          <a:p>
            <a:pPr indent="0" marL="0">
              <a:buNone/>
            </a:pPr>
            <a:r>
              <a:rPr lang="en-US" sz="2100" b="1" dirty="0">
                <a:solidFill>
                  <a:srgbClr val="000000"/>
                </a:solidFill>
                <a:latin typeface="Times New Roman" pitchFamily="34" charset="0"/>
                <a:ea typeface="Times New Roman" pitchFamily="34" charset="-122"/>
                <a:cs typeface="Times New Roman" pitchFamily="34" charset="-120"/>
              </a:rPr>
              <a:t>7. Methodology I — Pipeline, Signals and Dataset</a:t>
            </a:r>
            <a:endParaRPr lang="en-US" sz="2100" dirty="0"/>
          </a:p>
        </p:txBody>
      </p:sp>
      <p:sp>
        <p:nvSpPr>
          <p:cNvPr id="3" name="Shape 1"/>
          <p:cNvSpPr/>
          <p:nvPr/>
        </p:nvSpPr>
        <p:spPr>
          <a:xfrm>
            <a:off x="685800" y="1024128"/>
            <a:ext cx="10820095" cy="3658"/>
          </a:xfrm>
          <a:prstGeom prst="line">
            <a:avLst/>
          </a:prstGeom>
          <a:noFill/>
          <a:ln w="13970">
            <a:solidFill>
              <a:srgbClr val="000000"/>
            </a:solidFill>
            <a:prstDash val="solid"/>
          </a:ln>
        </p:spPr>
      </p:sp>
      <p:sp>
        <p:nvSpPr>
          <p:cNvPr id="4" name="Text 2"/>
          <p:cNvSpPr txBox="1"/>
          <p:nvPr/>
        </p:nvSpPr>
        <p:spPr>
          <a:xfrm>
            <a:off x="685800" y="6382512"/>
            <a:ext cx="8229600" cy="256032"/>
          </a:xfrm>
          <a:prstGeom prst="rect">
            <a:avLst/>
          </a:prstGeom>
          <a:noFill/>
          <a:ln/>
        </p:spPr>
        <p:txBody>
          <a:bodyPr wrap="square" lIns="0" tIns="0" rIns="0" bIns="0" rtlCol="0" anchor="ctr"/>
          <a:lstStyle/>
          <a:p>
            <a:pPr indent="0" marL="0">
              <a:buNone/>
            </a:pPr>
            <a:r>
              <a:rPr lang="en-US" sz="800" dirty="0">
                <a:solidFill>
                  <a:srgbClr val="444444"/>
                </a:solidFill>
                <a:latin typeface="Times New Roman" pitchFamily="34" charset="0"/>
                <a:ea typeface="Times New Roman" pitchFamily="34" charset="-122"/>
                <a:cs typeface="Times New Roman" pitchFamily="34" charset="-120"/>
              </a:rPr>
              <a:t>Mid Term Review | Noninvasive Blood Glucose Estimation from ECG and PPG</a:t>
            </a:r>
            <a:endParaRPr lang="en-US" sz="800" dirty="0"/>
          </a:p>
        </p:txBody>
      </p:sp>
      <p:sp>
        <p:nvSpPr>
          <p:cNvPr id="5" name="Text 3"/>
          <p:cNvSpPr txBox="1"/>
          <p:nvPr/>
        </p:nvSpPr>
        <p:spPr>
          <a:xfrm>
            <a:off x="10682935" y="6382512"/>
            <a:ext cx="822960" cy="256032"/>
          </a:xfrm>
          <a:prstGeom prst="rect">
            <a:avLst/>
          </a:prstGeom>
          <a:noFill/>
          <a:ln/>
        </p:spPr>
        <p:txBody>
          <a:bodyPr wrap="square" lIns="0" tIns="0" rIns="0" bIns="0" rtlCol="0" anchor="ctr"/>
          <a:lstStyle/>
          <a:p>
            <a:pPr algn="r" indent="0" marL="0">
              <a:buNone/>
            </a:pPr>
            <a:r>
              <a:rPr lang="en-US" sz="800" dirty="0">
                <a:solidFill>
                  <a:srgbClr val="444444"/>
                </a:solidFill>
                <a:latin typeface="Times New Roman" pitchFamily="34" charset="0"/>
                <a:ea typeface="Times New Roman" pitchFamily="34" charset="-122"/>
                <a:cs typeface="Times New Roman" pitchFamily="34" charset="-120"/>
              </a:rPr>
              <a:t>9</a:t>
            </a:r>
            <a:endParaRPr lang="en-US" sz="800" dirty="0"/>
          </a:p>
        </p:txBody>
      </p:sp>
      <p:sp>
        <p:nvSpPr>
          <p:cNvPr id="6" name="Text 4"/>
          <p:cNvSpPr txBox="1"/>
          <p:nvPr/>
        </p:nvSpPr>
        <p:spPr>
          <a:xfrm>
            <a:off x="685800" y="1188720"/>
            <a:ext cx="10835640" cy="2103120"/>
          </a:xfrm>
          <a:prstGeom prst="rect">
            <a:avLst/>
          </a:prstGeom>
          <a:noFill/>
          <a:ln/>
        </p:spPr>
        <p:txBody>
          <a:bodyPr wrap="square" lIns="0" tIns="0" rIns="0" bIns="0" rtlCol="0" anchor="t"/>
          <a:lstStyle/>
          <a:p>
            <a:pPr indent="0" marL="0">
              <a:spcAft>
                <a:spcPts val="800"/>
              </a:spcAft>
              <a:buNone/>
            </a:pPr>
            <a:r>
              <a:rPr lang="en-US" sz="1150" b="1" dirty="0">
                <a:solidFill>
                  <a:srgbClr val="000000"/>
                </a:solidFill>
                <a:latin typeface="Times New Roman" pitchFamily="34" charset="0"/>
                <a:ea typeface="Times New Roman" pitchFamily="34" charset="-122"/>
                <a:cs typeface="Times New Roman" pitchFamily="34" charset="-120"/>
              </a:rPr>
              <a:t>Level 1 — acquisition and conditioning.</a:t>
            </a:r>
            <a:endParaRPr lang="en-US" sz="1150" dirty="0"/>
          </a:p>
          <a:p>
            <a:pPr indent="0" marL="0">
              <a:spcAft>
                <a:spcPts val="800"/>
              </a:spcAft>
              <a:buNone/>
            </a:pPr>
            <a:r>
              <a:rPr lang="en-US" sz="1150" dirty="0">
                <a:solidFill>
                  <a:srgbClr val="000000"/>
                </a:solidFill>
                <a:latin typeface="Times New Roman" pitchFamily="34" charset="0"/>
                <a:ea typeface="Times New Roman" pitchFamily="34" charset="-122"/>
                <a:cs typeface="Times New Roman" pitchFamily="34" charset="-120"/>
              </a:rPr>
              <a:t>16 s windows (approximately 20 cardiac cycles) preceding each CGM reading; Butterworth band-pass 0.5–40 Hz for ECG and 0.5–8 Hz for PPG, the latter because 64 Hz sampling limits the representable band to 32 Hz.</a:t>
            </a:r>
            <a:endParaRPr lang="en-US" sz="1150" dirty="0"/>
          </a:p>
          <a:p>
            <a:pPr indent="0" marL="0">
              <a:spcAft>
                <a:spcPts val="800"/>
              </a:spcAft>
              <a:buNone/>
            </a:pPr>
            <a:r>
              <a:rPr lang="en-US" sz="1150" b="1" dirty="0">
                <a:solidFill>
                  <a:srgbClr val="000000"/>
                </a:solidFill>
                <a:latin typeface="Times New Roman" pitchFamily="34" charset="0"/>
                <a:ea typeface="Times New Roman" pitchFamily="34" charset="-122"/>
                <a:cs typeface="Times New Roman" pitchFamily="34" charset="-120"/>
              </a:rPr>
              <a:t>Level 2 — feature extraction.</a:t>
            </a:r>
            <a:endParaRPr lang="en-US" sz="1150" dirty="0"/>
          </a:p>
          <a:p>
            <a:pPr indent="0" marL="0">
              <a:spcAft>
                <a:spcPts val="800"/>
              </a:spcAft>
              <a:buNone/>
            </a:pPr>
            <a:r>
              <a:rPr lang="en-US" sz="1150" dirty="0">
                <a:solidFill>
                  <a:srgbClr val="000000"/>
                </a:solidFill>
                <a:latin typeface="Times New Roman" pitchFamily="34" charset="0"/>
                <a:ea typeface="Times New Roman" pitchFamily="34" charset="-122"/>
                <a:cs typeface="Times New Roman" pitchFamily="34" charset="-120"/>
              </a:rPr>
              <a:t>db4 DWT to 7 levels yields 8 sub-signals per modality; 10 statistical features each (80 per modality, 160 in total), plus 33 morphological features. Selection by the intersection of UFS, RFE and L1.</a:t>
            </a:r>
            <a:endParaRPr lang="en-US" sz="1150" dirty="0"/>
          </a:p>
          <a:p>
            <a:pPr indent="0" marL="0">
              <a:spcAft>
                <a:spcPts val="800"/>
              </a:spcAft>
              <a:buNone/>
            </a:pPr>
            <a:r>
              <a:rPr lang="en-US" sz="1150" b="1" dirty="0">
                <a:solidFill>
                  <a:srgbClr val="000000"/>
                </a:solidFill>
                <a:latin typeface="Times New Roman" pitchFamily="34" charset="0"/>
                <a:ea typeface="Times New Roman" pitchFamily="34" charset="-122"/>
                <a:cs typeface="Times New Roman" pitchFamily="34" charset="-120"/>
              </a:rPr>
              <a:t>Level 3 — decision fusion.</a:t>
            </a:r>
            <a:endParaRPr lang="en-US" sz="1150" dirty="0"/>
          </a:p>
          <a:p>
            <a:pPr indent="0" marL="0">
              <a:spcAft>
                <a:spcPts val="800"/>
              </a:spcAft>
              <a:buNone/>
            </a:pPr>
            <a:r>
              <a:rPr lang="en-US" sz="1150" dirty="0">
                <a:solidFill>
                  <a:srgbClr val="000000"/>
                </a:solidFill>
                <a:latin typeface="Times New Roman" pitchFamily="34" charset="0"/>
                <a:ea typeface="Times New Roman" pitchFamily="34" charset="-122"/>
                <a:cs typeface="Times New Roman" pitchFamily="34" charset="-120"/>
              </a:rPr>
              <a:t>Random Forest, Gradient Boosting and Bagging, combined by the weight-based Choquet integral.</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3429000"/>
          <a:ext cx="6537960" cy="914400"/>
        </p:xfrm>
        <a:graphic>
          <a:graphicData uri="http://schemas.openxmlformats.org/drawingml/2006/table">
            <a:tbl>
              <a:tblPr/>
              <a:tblGrid>
                <a:gridCol w="960120"/>
                <a:gridCol w="2331720"/>
                <a:gridCol w="777240"/>
                <a:gridCol w="2468880"/>
              </a:tblGrid>
              <a:tr h="292608">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Signal</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Device</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Rate</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Role</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r>
              <a:tr h="292608">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ECG</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Zephyr BioHarness (chest strap)</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250 Hz</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Electrical activity of the heart</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PPG (BVP)</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Empatica E4 (wristband)</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64 Hz</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Blood volume pulse, optical</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Glucose</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Dexcom CGM</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5 min</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Reference value to be predicted</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7543800" y="3429000"/>
          <a:ext cx="3977640" cy="914400"/>
        </p:xfrm>
        <a:graphic>
          <a:graphicData uri="http://schemas.openxmlformats.org/drawingml/2006/table">
            <a:tbl>
              <a:tblPr/>
              <a:tblGrid>
                <a:gridCol w="2331720"/>
                <a:gridCol w="1645920"/>
              </a:tblGrid>
              <a:tr h="301752">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Study population</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Value</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r>
              <a:tr h="301752">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Participants</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10 (Type-1 diabetes)</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Paired ECG + PPG windows</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30,830</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Features per window</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193</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Glucose range</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2.2 – 21.5 mmol/L</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1050" b="1" dirty="0">
                          <a:solidFill>
                            <a:srgbClr val="000000"/>
                          </a:solidFill>
                          <a:latin typeface="Times New Roman" pitchFamily="34" charset="0"/>
                          <a:ea typeface="Times New Roman" pitchFamily="34" charset="-122"/>
                          <a:cs typeface="Times New Roman" pitchFamily="34" charset="-120"/>
                        </a:rPr>
                        <a:t>Mean / standard deviation</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000000"/>
                          </a:solidFill>
                          <a:latin typeface="Times New Roman" pitchFamily="34" charset="0"/>
                          <a:ea typeface="Times New Roman" pitchFamily="34" charset="-122"/>
                          <a:cs typeface="Times New Roman" pitchFamily="34" charset="-120"/>
                        </a:rPr>
                        <a:t>7.17 / 2.519 mmol/L</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566928"/>
          </a:xfrm>
          <a:prstGeom prst="rect">
            <a:avLst/>
          </a:prstGeom>
          <a:noFill/>
          <a:ln/>
        </p:spPr>
        <p:txBody>
          <a:bodyPr wrap="square" lIns="0" tIns="0" rIns="0" bIns="0" rtlCol="0" anchor="ctr"/>
          <a:lstStyle/>
          <a:p>
            <a:pPr indent="0" marL="0">
              <a:buNone/>
            </a:pPr>
            <a:r>
              <a:rPr lang="en-US" sz="2100" b="1" dirty="0">
                <a:solidFill>
                  <a:srgbClr val="000000"/>
                </a:solidFill>
                <a:latin typeface="Times New Roman" pitchFamily="34" charset="0"/>
                <a:ea typeface="Times New Roman" pitchFamily="34" charset="-122"/>
                <a:cs typeface="Times New Roman" pitchFamily="34" charset="-120"/>
              </a:rPr>
              <a:t>8. Methodology II — Feature Extraction and Selection</a:t>
            </a:r>
            <a:endParaRPr lang="en-US" sz="2100" dirty="0"/>
          </a:p>
        </p:txBody>
      </p:sp>
      <p:sp>
        <p:nvSpPr>
          <p:cNvPr id="3" name="Shape 1"/>
          <p:cNvSpPr/>
          <p:nvPr/>
        </p:nvSpPr>
        <p:spPr>
          <a:xfrm>
            <a:off x="685800" y="1024128"/>
            <a:ext cx="10820095" cy="3658"/>
          </a:xfrm>
          <a:prstGeom prst="line">
            <a:avLst/>
          </a:prstGeom>
          <a:noFill/>
          <a:ln w="13970">
            <a:solidFill>
              <a:srgbClr val="000000"/>
            </a:solidFill>
            <a:prstDash val="solid"/>
          </a:ln>
        </p:spPr>
      </p:sp>
      <p:sp>
        <p:nvSpPr>
          <p:cNvPr id="4" name="Text 2"/>
          <p:cNvSpPr txBox="1"/>
          <p:nvPr/>
        </p:nvSpPr>
        <p:spPr>
          <a:xfrm>
            <a:off x="685800" y="6382512"/>
            <a:ext cx="8229600" cy="256032"/>
          </a:xfrm>
          <a:prstGeom prst="rect">
            <a:avLst/>
          </a:prstGeom>
          <a:noFill/>
          <a:ln/>
        </p:spPr>
        <p:txBody>
          <a:bodyPr wrap="square" lIns="0" tIns="0" rIns="0" bIns="0" rtlCol="0" anchor="ctr"/>
          <a:lstStyle/>
          <a:p>
            <a:pPr indent="0" marL="0">
              <a:buNone/>
            </a:pPr>
            <a:r>
              <a:rPr lang="en-US" sz="800" dirty="0">
                <a:solidFill>
                  <a:srgbClr val="444444"/>
                </a:solidFill>
                <a:latin typeface="Times New Roman" pitchFamily="34" charset="0"/>
                <a:ea typeface="Times New Roman" pitchFamily="34" charset="-122"/>
                <a:cs typeface="Times New Roman" pitchFamily="34" charset="-120"/>
              </a:rPr>
              <a:t>Mid Term Review | Noninvasive Blood Glucose Estimation from ECG and PPG</a:t>
            </a:r>
            <a:endParaRPr lang="en-US" sz="800" dirty="0"/>
          </a:p>
        </p:txBody>
      </p:sp>
      <p:sp>
        <p:nvSpPr>
          <p:cNvPr id="5" name="Text 3"/>
          <p:cNvSpPr txBox="1"/>
          <p:nvPr/>
        </p:nvSpPr>
        <p:spPr>
          <a:xfrm>
            <a:off x="10682935" y="6382512"/>
            <a:ext cx="822960" cy="256032"/>
          </a:xfrm>
          <a:prstGeom prst="rect">
            <a:avLst/>
          </a:prstGeom>
          <a:noFill/>
          <a:ln/>
        </p:spPr>
        <p:txBody>
          <a:bodyPr wrap="square" lIns="0" tIns="0" rIns="0" bIns="0" rtlCol="0" anchor="ctr"/>
          <a:lstStyle/>
          <a:p>
            <a:pPr algn="r" indent="0" marL="0">
              <a:buNone/>
            </a:pPr>
            <a:r>
              <a:rPr lang="en-US" sz="800" dirty="0">
                <a:solidFill>
                  <a:srgbClr val="444444"/>
                </a:solidFill>
                <a:latin typeface="Times New Roman" pitchFamily="34" charset="0"/>
                <a:ea typeface="Times New Roman" pitchFamily="34" charset="-122"/>
                <a:cs typeface="Times New Roman" pitchFamily="34" charset="-120"/>
              </a:rPr>
              <a:t>10</a:t>
            </a:r>
            <a:endParaRPr lang="en-US" sz="800" dirty="0"/>
          </a:p>
        </p:txBody>
      </p:sp>
      <p:sp>
        <p:nvSpPr>
          <p:cNvPr id="6" name="Text 4"/>
          <p:cNvSpPr txBox="1"/>
          <p:nvPr/>
        </p:nvSpPr>
        <p:spPr>
          <a:xfrm>
            <a:off x="685800" y="1188720"/>
            <a:ext cx="10835640" cy="640080"/>
          </a:xfrm>
          <a:prstGeom prst="rect">
            <a:avLst/>
          </a:prstGeom>
          <a:noFill/>
          <a:ln/>
        </p:spPr>
        <p:txBody>
          <a:bodyPr wrap="square" lIns="0" tIns="0" rIns="0" bIns="0" rtlCol="0" anchor="t"/>
          <a:lstStyle/>
          <a:p>
            <a:pPr indent="0" marL="0">
              <a:spcAft>
                <a:spcPts val="800"/>
              </a:spcAft>
              <a:buNone/>
            </a:pPr>
            <a:r>
              <a:rPr lang="en-US" sz="1150" b="1" dirty="0">
                <a:solidFill>
                  <a:srgbClr val="000000"/>
                </a:solidFill>
                <a:latin typeface="Times New Roman" pitchFamily="34" charset="0"/>
                <a:ea typeface="Times New Roman" pitchFamily="34" charset="-122"/>
                <a:cs typeface="Times New Roman" pitchFamily="34" charset="-120"/>
              </a:rPr>
              <a:t>Temporal statistical features — 10 per sub-signal:</a:t>
            </a:r>
            <a:endParaRPr lang="en-US" sz="1150" dirty="0"/>
          </a:p>
          <a:p>
            <a:pPr indent="0" marL="0">
              <a:spcAft>
                <a:spcPts val="800"/>
              </a:spcAft>
              <a:buNone/>
            </a:pPr>
            <a:r>
              <a:rPr lang="en-US" sz="1150" dirty="0">
                <a:solidFill>
                  <a:srgbClr val="000000"/>
                </a:solidFill>
                <a:latin typeface="Times New Roman" pitchFamily="34" charset="0"/>
                <a:ea typeface="Times New Roman" pitchFamily="34" charset="-122"/>
                <a:cs typeface="Times New Roman" pitchFamily="34" charset="-120"/>
              </a:rPr>
              <a:t>kurtosis, skewness, Hjorth mobility and complexity, fractal dimension, correlation dimension, C0-complexity, power spectral entropy, Kolmogorov entropy, Shannon entropy.</a:t>
            </a:r>
            <a:endParaRPr lang="en-US" sz="1150" dirty="0"/>
          </a:p>
        </p:txBody>
      </p:sp>
      <p:pic>
        <p:nvPicPr>
          <p:cNvPr id="7" name="Image 0" descr="figures\equations\hjorth.png">    </p:cNvPr>
          <p:cNvPicPr>
            <a:picLocks noChangeAspect="1"/>
          </p:cNvPicPr>
          <p:nvPr/>
        </p:nvPicPr>
        <p:blipFill>
          <a:blip r:embed="rId1"/>
          <a:stretch>
            <a:fillRect/>
          </a:stretch>
        </p:blipFill>
        <p:spPr>
          <a:xfrm>
            <a:off x="868680" y="1874520"/>
            <a:ext cx="5577840" cy="738874"/>
          </a:xfrm>
          <a:prstGeom prst="rect">
            <a:avLst/>
          </a:prstGeom>
        </p:spPr>
      </p:pic>
      <p:pic>
        <p:nvPicPr>
          <p:cNvPr id="8" name="Image 1" descr="figures\equations\entropy.png">    </p:cNvPr>
          <p:cNvPicPr>
            <a:picLocks noChangeAspect="1"/>
          </p:cNvPicPr>
          <p:nvPr/>
        </p:nvPicPr>
        <p:blipFill>
          <a:blip r:embed="rId2"/>
          <a:stretch>
            <a:fillRect/>
          </a:stretch>
        </p:blipFill>
        <p:spPr>
          <a:xfrm>
            <a:off x="6949440" y="1847088"/>
            <a:ext cx="4023360" cy="649272"/>
          </a:xfrm>
          <a:prstGeom prst="rect">
            <a:avLst/>
          </a:prstGeom>
        </p:spPr>
      </p:pic>
      <p:sp>
        <p:nvSpPr>
          <p:cNvPr id="9" name="Text 5"/>
          <p:cNvSpPr txBox="1"/>
          <p:nvPr/>
        </p:nvSpPr>
        <p:spPr>
          <a:xfrm>
            <a:off x="685800" y="2697480"/>
            <a:ext cx="10835640" cy="640080"/>
          </a:xfrm>
          <a:prstGeom prst="rect">
            <a:avLst/>
          </a:prstGeom>
          <a:noFill/>
          <a:ln/>
        </p:spPr>
        <p:txBody>
          <a:bodyPr wrap="square" lIns="0" tIns="0" rIns="0" bIns="0" rtlCol="0" anchor="t"/>
          <a:lstStyle/>
          <a:p>
            <a:pPr indent="0" marL="0">
              <a:spcAft>
                <a:spcPts val="800"/>
              </a:spcAft>
              <a:buNone/>
            </a:pPr>
            <a:r>
              <a:rPr lang="en-US" sz="1150" b="1" dirty="0">
                <a:solidFill>
                  <a:srgbClr val="000000"/>
                </a:solidFill>
                <a:latin typeface="Times New Roman" pitchFamily="34" charset="0"/>
                <a:ea typeface="Times New Roman" pitchFamily="34" charset="-122"/>
                <a:cs typeface="Times New Roman" pitchFamily="34" charset="-120"/>
              </a:rPr>
              <a:t>Spatial morphological features — measured directly, not learned:</a:t>
            </a:r>
            <a:endParaRPr lang="en-US" sz="1150" dirty="0"/>
          </a:p>
          <a:p>
            <a:pPr indent="0" marL="0">
              <a:spcAft>
                <a:spcPts val="800"/>
              </a:spcAft>
              <a:buNone/>
            </a:pPr>
            <a:r>
              <a:rPr lang="en-US" sz="1150" dirty="0">
                <a:solidFill>
                  <a:srgbClr val="000000"/>
                </a:solidFill>
                <a:latin typeface="Times New Roman" pitchFamily="34" charset="0"/>
                <a:ea typeface="Times New Roman" pitchFamily="34" charset="-122"/>
                <a:cs typeface="Times New Roman" pitchFamily="34" charset="-120"/>
              </a:rPr>
              <a:t>QT and corrected QT, ST level, T-wave amplitude and sharpness, QRS duration, and heart-rate variability. Each is individually attributable to the mechanism in Section 1.</a:t>
            </a:r>
            <a:endParaRPr lang="en-US" sz="1150" dirty="0"/>
          </a:p>
        </p:txBody>
      </p:sp>
      <p:pic>
        <p:nvPicPr>
          <p:cNvPr id="10" name="Image 2" descr="figures\equations\qtc.png">    </p:cNvPr>
          <p:cNvPicPr>
            <a:picLocks noChangeAspect="1"/>
          </p:cNvPicPr>
          <p:nvPr/>
        </p:nvPicPr>
        <p:blipFill>
          <a:blip r:embed="rId3"/>
          <a:stretch>
            <a:fillRect/>
          </a:stretch>
        </p:blipFill>
        <p:spPr>
          <a:xfrm>
            <a:off x="868680" y="3310128"/>
            <a:ext cx="4572000" cy="773873"/>
          </a:xfrm>
          <a:prstGeom prst="rect">
            <a:avLst/>
          </a:prstGeom>
        </p:spPr>
      </p:pic>
      <p:sp>
        <p:nvSpPr>
          <p:cNvPr id="11" name="Text 6"/>
          <p:cNvSpPr txBox="1"/>
          <p:nvPr/>
        </p:nvSpPr>
        <p:spPr>
          <a:xfrm>
            <a:off x="685800" y="4160520"/>
            <a:ext cx="10835640" cy="411480"/>
          </a:xfrm>
          <a:prstGeom prst="rect">
            <a:avLst/>
          </a:prstGeom>
          <a:noFill/>
          <a:ln/>
        </p:spPr>
        <p:txBody>
          <a:bodyPr wrap="square" lIns="0" tIns="0" rIns="0" bIns="0" rtlCol="0" anchor="t"/>
          <a:lstStyle/>
          <a:p>
            <a:pPr indent="0" marL="0">
              <a:spcAft>
                <a:spcPts val="800"/>
              </a:spcAft>
              <a:buNone/>
            </a:pPr>
            <a:r>
              <a:rPr lang="en-US" sz="1150" b="1" dirty="0">
                <a:solidFill>
                  <a:srgbClr val="000000"/>
                </a:solidFill>
                <a:latin typeface="Times New Roman" pitchFamily="34" charset="0"/>
                <a:ea typeface="Times New Roman" pitchFamily="34" charset="-122"/>
                <a:cs typeface="Times New Roman" pitchFamily="34" charset="-120"/>
              </a:rPr>
              <a:t>Feature selection — a feature is retained only if all three criteria select it (paper eqs. 5 and 6), fitted within each training fold:</a:t>
            </a:r>
            <a:endParaRPr lang="en-US" sz="1150" dirty="0"/>
          </a:p>
        </p:txBody>
      </p:sp>
      <p:pic>
        <p:nvPicPr>
          <p:cNvPr id="12" name="Image 3" descr="figures\equations\eq5_rfe.png">    </p:cNvPr>
          <p:cNvPicPr>
            <a:picLocks noChangeAspect="1"/>
          </p:cNvPicPr>
          <p:nvPr/>
        </p:nvPicPr>
        <p:blipFill>
          <a:blip r:embed="rId4"/>
          <a:stretch>
            <a:fillRect/>
          </a:stretch>
        </p:blipFill>
        <p:spPr>
          <a:xfrm>
            <a:off x="868680" y="4663440"/>
            <a:ext cx="5669280" cy="804230"/>
          </a:xfrm>
          <a:prstGeom prst="rect">
            <a:avLst/>
          </a:prstGeom>
        </p:spPr>
      </p:pic>
      <p:pic>
        <p:nvPicPr>
          <p:cNvPr id="13" name="Image 4" descr="figures\equations\eq6_lasso.png">    </p:cNvPr>
          <p:cNvPicPr>
            <a:picLocks noChangeAspect="1"/>
          </p:cNvPicPr>
          <p:nvPr/>
        </p:nvPicPr>
        <p:blipFill>
          <a:blip r:embed="rId5"/>
          <a:stretch>
            <a:fillRect/>
          </a:stretch>
        </p:blipFill>
        <p:spPr>
          <a:xfrm>
            <a:off x="6949440" y="4709160"/>
            <a:ext cx="4023360" cy="8543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566928"/>
          </a:xfrm>
          <a:prstGeom prst="rect">
            <a:avLst/>
          </a:prstGeom>
          <a:noFill/>
          <a:ln/>
        </p:spPr>
        <p:txBody>
          <a:bodyPr wrap="square" lIns="0" tIns="0" rIns="0" bIns="0" rtlCol="0" anchor="ctr"/>
          <a:lstStyle/>
          <a:p>
            <a:pPr indent="0" marL="0">
              <a:buNone/>
            </a:pPr>
            <a:r>
              <a:rPr lang="en-US" sz="2100" b="1" dirty="0">
                <a:solidFill>
                  <a:srgbClr val="000000"/>
                </a:solidFill>
                <a:latin typeface="Times New Roman" pitchFamily="34" charset="0"/>
                <a:ea typeface="Times New Roman" pitchFamily="34" charset="-122"/>
                <a:cs typeface="Times New Roman" pitchFamily="34" charset="-120"/>
              </a:rPr>
              <a:t>9. Results I — Reproducing the Published Result</a:t>
            </a:r>
            <a:endParaRPr lang="en-US" sz="2100" dirty="0"/>
          </a:p>
        </p:txBody>
      </p:sp>
      <p:sp>
        <p:nvSpPr>
          <p:cNvPr id="3" name="Shape 1"/>
          <p:cNvSpPr/>
          <p:nvPr/>
        </p:nvSpPr>
        <p:spPr>
          <a:xfrm>
            <a:off x="685800" y="1024128"/>
            <a:ext cx="10820095" cy="3658"/>
          </a:xfrm>
          <a:prstGeom prst="line">
            <a:avLst/>
          </a:prstGeom>
          <a:noFill/>
          <a:ln w="13970">
            <a:solidFill>
              <a:srgbClr val="000000"/>
            </a:solidFill>
            <a:prstDash val="solid"/>
          </a:ln>
        </p:spPr>
      </p:sp>
      <p:sp>
        <p:nvSpPr>
          <p:cNvPr id="4" name="Text 2"/>
          <p:cNvSpPr txBox="1"/>
          <p:nvPr/>
        </p:nvSpPr>
        <p:spPr>
          <a:xfrm>
            <a:off x="685800" y="6382512"/>
            <a:ext cx="8229600" cy="256032"/>
          </a:xfrm>
          <a:prstGeom prst="rect">
            <a:avLst/>
          </a:prstGeom>
          <a:noFill/>
          <a:ln/>
        </p:spPr>
        <p:txBody>
          <a:bodyPr wrap="square" lIns="0" tIns="0" rIns="0" bIns="0" rtlCol="0" anchor="ctr"/>
          <a:lstStyle/>
          <a:p>
            <a:pPr indent="0" marL="0">
              <a:buNone/>
            </a:pPr>
            <a:r>
              <a:rPr lang="en-US" sz="800" dirty="0">
                <a:solidFill>
                  <a:srgbClr val="444444"/>
                </a:solidFill>
                <a:latin typeface="Times New Roman" pitchFamily="34" charset="0"/>
                <a:ea typeface="Times New Roman" pitchFamily="34" charset="-122"/>
                <a:cs typeface="Times New Roman" pitchFamily="34" charset="-120"/>
              </a:rPr>
              <a:t>Mid Term Review | Noninvasive Blood Glucose Estimation from ECG and PPG</a:t>
            </a:r>
            <a:endParaRPr lang="en-US" sz="800" dirty="0"/>
          </a:p>
        </p:txBody>
      </p:sp>
      <p:sp>
        <p:nvSpPr>
          <p:cNvPr id="5" name="Text 3"/>
          <p:cNvSpPr txBox="1"/>
          <p:nvPr/>
        </p:nvSpPr>
        <p:spPr>
          <a:xfrm>
            <a:off x="10682935" y="6382512"/>
            <a:ext cx="822960" cy="256032"/>
          </a:xfrm>
          <a:prstGeom prst="rect">
            <a:avLst/>
          </a:prstGeom>
          <a:noFill/>
          <a:ln/>
        </p:spPr>
        <p:txBody>
          <a:bodyPr wrap="square" lIns="0" tIns="0" rIns="0" bIns="0" rtlCol="0" anchor="ctr"/>
          <a:lstStyle/>
          <a:p>
            <a:pPr algn="r" indent="0" marL="0">
              <a:buNone/>
            </a:pPr>
            <a:r>
              <a:rPr lang="en-US" sz="800" dirty="0">
                <a:solidFill>
                  <a:srgbClr val="444444"/>
                </a:solidFill>
                <a:latin typeface="Times New Roman" pitchFamily="34" charset="0"/>
                <a:ea typeface="Times New Roman" pitchFamily="34" charset="-122"/>
                <a:cs typeface="Times New Roman" pitchFamily="34" charset="-120"/>
              </a:rPr>
              <a:t>11</a:t>
            </a:r>
            <a:endParaRPr lang="en-US" sz="800" dirty="0"/>
          </a:p>
        </p:txBody>
      </p:sp>
      <p:sp>
        <p:nvSpPr>
          <p:cNvPr id="6" name="Text 4"/>
          <p:cNvSpPr txBox="1"/>
          <p:nvPr/>
        </p:nvSpPr>
        <p:spPr>
          <a:xfrm>
            <a:off x="685800" y="1133856"/>
            <a:ext cx="10820095" cy="310896"/>
          </a:xfrm>
          <a:prstGeom prst="rect">
            <a:avLst/>
          </a:prstGeom>
          <a:noFill/>
          <a:ln/>
        </p:spPr>
        <p:txBody>
          <a:bodyPr wrap="square" lIns="0" tIns="0" rIns="0" bIns="0" rtlCol="0" anchor="ctr"/>
          <a:lstStyle/>
          <a:p>
            <a:pPr algn="ctr" indent="0" marL="0">
              <a:buNone/>
            </a:pPr>
            <a:r>
              <a:rPr lang="en-US" sz="1300" b="1" dirty="0">
                <a:solidFill>
                  <a:srgbClr val="000000"/>
                </a:solidFill>
                <a:latin typeface="Times New Roman" pitchFamily="34" charset="0"/>
                <a:ea typeface="Times New Roman" pitchFamily="34" charset="-122"/>
                <a:cs typeface="Times New Roman" pitchFamily="34" charset="-120"/>
              </a:rPr>
              <a:t>Evaluated under the source paper's own protocol: a random split at the window level. 193 features, 30,830 windows, 10 participants.</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1572768"/>
          <a:ext cx="10835640" cy="914400"/>
        </p:xfrm>
        <a:graphic>
          <a:graphicData uri="http://schemas.openxmlformats.org/drawingml/2006/table">
            <a:tbl>
              <a:tblPr/>
              <a:tblGrid>
                <a:gridCol w="3017520"/>
                <a:gridCol w="1234440"/>
                <a:gridCol w="1737360"/>
                <a:gridCol w="1371600"/>
                <a:gridCol w="1463040"/>
                <a:gridCol w="2011680"/>
              </a:tblGrid>
              <a:tr h="310896">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Method</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R²</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RMSE (mmol/L)</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MARD (%)</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Zone A (%)</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Zone A+B (%)</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r>
              <a:tr h="310896">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Random Forest</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+0.194</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2.262</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25.72</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53.04</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93.18</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Bagging</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+0.194</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2.262</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25.72</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53.07</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93.18</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Gradient Boosting</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+0.101</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2.389</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27.48</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48.78</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92.25</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Choquet fusion</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+0.149</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2.324</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24.86</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52.87</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93.75</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000000"/>
                          </a:solidFill>
                          <a:latin typeface="Times New Roman" pitchFamily="34" charset="0"/>
                          <a:ea typeface="Times New Roman" pitchFamily="34" charset="-122"/>
                          <a:cs typeface="Times New Roman" pitchFamily="34" charset="-120"/>
                        </a:rPr>
                        <a:t>No-skill baseline</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−0.000</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2.520</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29.14</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45.34</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90.89</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10896">
                <a:tc>
                  <a:txBody>
                    <a:bodyPr/>
                    <a:lstStyle/>
                    <a:p>
                      <a:pPr algn="l" indent="0" marL="0">
                        <a:buNone/>
                      </a:pPr>
                      <a:r>
                        <a:rPr lang="en-US" sz="1100" b="1" dirty="0">
                          <a:solidFill>
                            <a:srgbClr val="000000"/>
                          </a:solidFill>
                          <a:latin typeface="Times New Roman" pitchFamily="34" charset="0"/>
                          <a:ea typeface="Times New Roman" pitchFamily="34" charset="-122"/>
                          <a:cs typeface="Times New Roman" pitchFamily="34" charset="-120"/>
                        </a:rPr>
                        <a:t>Reported by the authors [1]</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not reported</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1.490</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13.42</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80.09</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99.49</a:t>
                      </a:r>
                      <a:endParaRPr lang="en-US" sz="11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Shape 5"/>
          <p:cNvSpPr/>
          <p:nvPr/>
        </p:nvSpPr>
        <p:spPr>
          <a:xfrm>
            <a:off x="685800" y="4041648"/>
            <a:ext cx="5349240" cy="1828800"/>
          </a:xfrm>
          <a:prstGeom prst="roundRect">
            <a:avLst>
              <a:gd name="adj" fmla="val 11000"/>
            </a:avLst>
          </a:prstGeom>
          <a:solidFill>
            <a:srgbClr val="F5F5F5"/>
          </a:solidFill>
          <a:ln w="9525">
            <a:solidFill>
              <a:srgbClr val="BFBFBF"/>
            </a:solidFill>
            <a:prstDash val="solid"/>
          </a:ln>
          <a:effectLst>
            <a:outerShdw sx="100000" sy="100000" kx="0" ky="0" algn="bl" rotWithShape="0" blurRad="63500" dist="25400" dir="2700000">
              <a:srgbClr val="888888">
                <a:alpha val="35000"/>
              </a:srgbClr>
            </a:outerShdw>
          </a:effectLst>
        </p:spPr>
      </p:sp>
      <p:sp>
        <p:nvSpPr>
          <p:cNvPr id="9" name="Text 6"/>
          <p:cNvSpPr txBox="1"/>
          <p:nvPr/>
        </p:nvSpPr>
        <p:spPr>
          <a:xfrm>
            <a:off x="868680" y="4187952"/>
            <a:ext cx="4983480" cy="292608"/>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What reproduces</a:t>
            </a:r>
            <a:endParaRPr lang="en-US" sz="1400" dirty="0"/>
          </a:p>
        </p:txBody>
      </p:sp>
      <p:sp>
        <p:nvSpPr>
          <p:cNvPr id="10" name="Text 7"/>
          <p:cNvSpPr txBox="1"/>
          <p:nvPr/>
        </p:nvSpPr>
        <p:spPr>
          <a:xfrm>
            <a:off x="941832" y="4608576"/>
            <a:ext cx="4837176" cy="1097280"/>
          </a:xfrm>
          <a:prstGeom prst="rect">
            <a:avLst/>
          </a:prstGeom>
          <a:noFill/>
          <a:ln/>
        </p:spPr>
        <p:txBody>
          <a:bodyPr wrap="square" lIns="0" tIns="0" rIns="0" bIns="0" rtlCol="0" anchor="t"/>
          <a:lstStyle/>
          <a:p>
            <a:pPr indent="0" marL="0">
              <a:spcAft>
                <a:spcPts val="700"/>
              </a:spcAft>
              <a:buNone/>
            </a:pPr>
            <a:r>
              <a:rPr lang="en-US" sz="1100" dirty="0">
                <a:solidFill>
                  <a:srgbClr val="000000"/>
                </a:solidFill>
                <a:latin typeface="Times New Roman" pitchFamily="34" charset="0"/>
                <a:ea typeface="Times New Roman" pitchFamily="34" charset="-122"/>
                <a:cs typeface="Times New Roman" pitchFamily="34" charset="-120"/>
              </a:rPr>
              <a:t>Every model clears the no-skill baseline, and R² is positive throughout. The pipeline learns a real relationship between the waveform and glucose.</a:t>
            </a:r>
            <a:endParaRPr lang="en-US" sz="1100" dirty="0"/>
          </a:p>
          <a:p>
            <a:pPr indent="0" marL="0">
              <a:spcAft>
                <a:spcPts val="700"/>
              </a:spcAft>
              <a:buNone/>
            </a:pPr>
            <a:r>
              <a:rPr lang="en-US" sz="1100" dirty="0">
                <a:solidFill>
                  <a:srgbClr val="000000"/>
                </a:solidFill>
                <a:latin typeface="Times New Roman" pitchFamily="34" charset="0"/>
                <a:ea typeface="Times New Roman" pitchFamily="34" charset="-122"/>
                <a:cs typeface="Times New Roman" pitchFamily="34" charset="-120"/>
              </a:rPr>
              <a:t>The fusion carries the best clinical score of our methods, 93.75% in Zones A+B, which is the ordering the paper reports.</a:t>
            </a:r>
            <a:endParaRPr lang="en-US" sz="1100" dirty="0"/>
          </a:p>
        </p:txBody>
      </p:sp>
      <p:sp>
        <p:nvSpPr>
          <p:cNvPr id="11" name="Shape 8"/>
          <p:cNvSpPr/>
          <p:nvPr/>
        </p:nvSpPr>
        <p:spPr>
          <a:xfrm>
            <a:off x="6172200" y="4041648"/>
            <a:ext cx="5349240" cy="1828800"/>
          </a:xfrm>
          <a:prstGeom prst="roundRect">
            <a:avLst>
              <a:gd name="adj" fmla="val 11000"/>
            </a:avLst>
          </a:prstGeom>
          <a:solidFill>
            <a:srgbClr val="F5F5F5"/>
          </a:solidFill>
          <a:ln w="9525">
            <a:solidFill>
              <a:srgbClr val="BFBFBF"/>
            </a:solidFill>
            <a:prstDash val="solid"/>
          </a:ln>
          <a:effectLst>
            <a:outerShdw sx="100000" sy="100000" kx="0" ky="0" algn="bl" rotWithShape="0" blurRad="63500" dist="25400" dir="2700000">
              <a:srgbClr val="888888">
                <a:alpha val="35000"/>
              </a:srgbClr>
            </a:outerShdw>
          </a:effectLst>
        </p:spPr>
      </p:sp>
      <p:sp>
        <p:nvSpPr>
          <p:cNvPr id="12" name="Text 9"/>
          <p:cNvSpPr txBox="1"/>
          <p:nvPr/>
        </p:nvSpPr>
        <p:spPr>
          <a:xfrm>
            <a:off x="6355080" y="4187952"/>
            <a:ext cx="4983480" cy="292608"/>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What falls short of the paper</a:t>
            </a:r>
            <a:endParaRPr lang="en-US" sz="1400" dirty="0"/>
          </a:p>
        </p:txBody>
      </p:sp>
      <p:sp>
        <p:nvSpPr>
          <p:cNvPr id="13" name="Text 10"/>
          <p:cNvSpPr txBox="1"/>
          <p:nvPr/>
        </p:nvSpPr>
        <p:spPr>
          <a:xfrm>
            <a:off x="6428232" y="4608576"/>
            <a:ext cx="4837176" cy="1097280"/>
          </a:xfrm>
          <a:prstGeom prst="rect">
            <a:avLst/>
          </a:prstGeom>
          <a:noFill/>
          <a:ln/>
        </p:spPr>
        <p:txBody>
          <a:bodyPr wrap="square" lIns="0" tIns="0" rIns="0" bIns="0" rtlCol="0" anchor="t"/>
          <a:lstStyle/>
          <a:p>
            <a:pPr indent="0" marL="0">
              <a:spcAft>
                <a:spcPts val="700"/>
              </a:spcAft>
              <a:buNone/>
            </a:pPr>
            <a:r>
              <a:rPr lang="en-US" sz="1100" dirty="0">
                <a:solidFill>
                  <a:srgbClr val="000000"/>
                </a:solidFill>
                <a:latin typeface="Times New Roman" pitchFamily="34" charset="0"/>
                <a:ea typeface="Times New Roman" pitchFamily="34" charset="-122"/>
                <a:cs typeface="Times New Roman" pitchFamily="34" charset="-120"/>
              </a:rPr>
              <a:t>Our RMSE of 2.26 sits above the 1.49 the authors report, and our Zone A+B of 93.8% below their 99.5%.</a:t>
            </a:r>
            <a:endParaRPr lang="en-US" sz="1100" dirty="0"/>
          </a:p>
          <a:p>
            <a:pPr indent="0" marL="0">
              <a:spcAft>
                <a:spcPts val="700"/>
              </a:spcAft>
              <a:buNone/>
            </a:pPr>
            <a:r>
              <a:rPr lang="en-US" sz="1100" dirty="0">
                <a:solidFill>
                  <a:srgbClr val="000000"/>
                </a:solidFill>
                <a:latin typeface="Times New Roman" pitchFamily="34" charset="0"/>
                <a:ea typeface="Times New Roman" pitchFamily="34" charset="-122"/>
                <a:cs typeface="Times New Roman" pitchFamily="34" charset="-120"/>
              </a:rPr>
              <a:t>Two differences account for most of the gap: a different cohort, since theirs is private, and a hand-crafted morphological branch in place of their ResNet, as no GPU was available.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566928"/>
          </a:xfrm>
          <a:prstGeom prst="rect">
            <a:avLst/>
          </a:prstGeom>
          <a:noFill/>
          <a:ln/>
        </p:spPr>
        <p:txBody>
          <a:bodyPr wrap="square" lIns="0" tIns="0" rIns="0" bIns="0" rtlCol="0" anchor="ctr"/>
          <a:lstStyle/>
          <a:p>
            <a:pPr indent="0" marL="0">
              <a:buNone/>
            </a:pPr>
            <a:r>
              <a:rPr lang="en-US" sz="2100" b="1" dirty="0">
                <a:solidFill>
                  <a:srgbClr val="000000"/>
                </a:solidFill>
                <a:latin typeface="Times New Roman" pitchFamily="34" charset="0"/>
                <a:ea typeface="Times New Roman" pitchFamily="34" charset="-122"/>
                <a:cs typeface="Times New Roman" pitchFamily="34" charset="-120"/>
              </a:rPr>
              <a:t>10. Results II — The Effect of the Evaluation Protocol</a:t>
            </a:r>
            <a:endParaRPr lang="en-US" sz="2100" dirty="0"/>
          </a:p>
        </p:txBody>
      </p:sp>
      <p:sp>
        <p:nvSpPr>
          <p:cNvPr id="3" name="Shape 1"/>
          <p:cNvSpPr/>
          <p:nvPr/>
        </p:nvSpPr>
        <p:spPr>
          <a:xfrm>
            <a:off x="685800" y="1024128"/>
            <a:ext cx="10820095" cy="3658"/>
          </a:xfrm>
          <a:prstGeom prst="line">
            <a:avLst/>
          </a:prstGeom>
          <a:noFill/>
          <a:ln w="13970">
            <a:solidFill>
              <a:srgbClr val="000000"/>
            </a:solidFill>
            <a:prstDash val="solid"/>
          </a:ln>
        </p:spPr>
      </p:sp>
      <p:sp>
        <p:nvSpPr>
          <p:cNvPr id="4" name="Text 2"/>
          <p:cNvSpPr txBox="1"/>
          <p:nvPr/>
        </p:nvSpPr>
        <p:spPr>
          <a:xfrm>
            <a:off x="685800" y="6382512"/>
            <a:ext cx="8229600" cy="256032"/>
          </a:xfrm>
          <a:prstGeom prst="rect">
            <a:avLst/>
          </a:prstGeom>
          <a:noFill/>
          <a:ln/>
        </p:spPr>
        <p:txBody>
          <a:bodyPr wrap="square" lIns="0" tIns="0" rIns="0" bIns="0" rtlCol="0" anchor="ctr"/>
          <a:lstStyle/>
          <a:p>
            <a:pPr indent="0" marL="0">
              <a:buNone/>
            </a:pPr>
            <a:r>
              <a:rPr lang="en-US" sz="800" dirty="0">
                <a:solidFill>
                  <a:srgbClr val="444444"/>
                </a:solidFill>
                <a:latin typeface="Times New Roman" pitchFamily="34" charset="0"/>
                <a:ea typeface="Times New Roman" pitchFamily="34" charset="-122"/>
                <a:cs typeface="Times New Roman" pitchFamily="34" charset="-120"/>
              </a:rPr>
              <a:t>Mid Term Review | Noninvasive Blood Glucose Estimation from ECG and PPG</a:t>
            </a:r>
            <a:endParaRPr lang="en-US" sz="800" dirty="0"/>
          </a:p>
        </p:txBody>
      </p:sp>
      <p:sp>
        <p:nvSpPr>
          <p:cNvPr id="5" name="Text 3"/>
          <p:cNvSpPr txBox="1"/>
          <p:nvPr/>
        </p:nvSpPr>
        <p:spPr>
          <a:xfrm>
            <a:off x="10682935" y="6382512"/>
            <a:ext cx="822960" cy="256032"/>
          </a:xfrm>
          <a:prstGeom prst="rect">
            <a:avLst/>
          </a:prstGeom>
          <a:noFill/>
          <a:ln/>
        </p:spPr>
        <p:txBody>
          <a:bodyPr wrap="square" lIns="0" tIns="0" rIns="0" bIns="0" rtlCol="0" anchor="ctr"/>
          <a:lstStyle/>
          <a:p>
            <a:pPr algn="r" indent="0" marL="0">
              <a:buNone/>
            </a:pPr>
            <a:r>
              <a:rPr lang="en-US" sz="800" dirty="0">
                <a:solidFill>
                  <a:srgbClr val="444444"/>
                </a:solidFill>
                <a:latin typeface="Times New Roman" pitchFamily="34" charset="0"/>
                <a:ea typeface="Times New Roman" pitchFamily="34" charset="-122"/>
                <a:cs typeface="Times New Roman" pitchFamily="34" charset="-120"/>
              </a:rPr>
              <a:t>12</a:t>
            </a:r>
            <a:endParaRPr lang="en-US" sz="800" dirty="0"/>
          </a:p>
        </p:txBody>
      </p:sp>
      <p:sp>
        <p:nvSpPr>
          <p:cNvPr id="6" name="Text 4"/>
          <p:cNvSpPr txBox="1"/>
          <p:nvPr/>
        </p:nvSpPr>
        <p:spPr>
          <a:xfrm>
            <a:off x="685800" y="1133856"/>
            <a:ext cx="10820095" cy="310896"/>
          </a:xfrm>
          <a:prstGeom prst="rect">
            <a:avLst/>
          </a:prstGeom>
          <a:noFill/>
          <a:ln/>
        </p:spPr>
        <p:txBody>
          <a:bodyPr wrap="square" lIns="0" tIns="0" rIns="0" bIns="0" rtlCol="0" anchor="ctr"/>
          <a:lstStyle/>
          <a:p>
            <a:pPr algn="ctr" indent="0" marL="0">
              <a:buNone/>
            </a:pPr>
            <a:r>
              <a:rPr lang="en-US" sz="1300" b="1" dirty="0">
                <a:solidFill>
                  <a:srgbClr val="000000"/>
                </a:solidFill>
                <a:latin typeface="Times New Roman" pitchFamily="34" charset="0"/>
                <a:ea typeface="Times New Roman" pitchFamily="34" charset="-122"/>
                <a:cs typeface="Times New Roman" pitchFamily="34" charset="-120"/>
              </a:rPr>
              <a:t>The same data and the same models, split three different ways. Each method is shown beside the baseline computed on the same folds.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1600200"/>
          <a:ext cx="10835640" cy="914400"/>
        </p:xfrm>
        <a:graphic>
          <a:graphicData uri="http://schemas.openxmlformats.org/drawingml/2006/table">
            <a:tbl>
              <a:tblPr/>
              <a:tblGrid>
                <a:gridCol w="2606040"/>
                <a:gridCol w="2011680"/>
                <a:gridCol w="1051560"/>
                <a:gridCol w="1051560"/>
                <a:gridCol w="1234440"/>
                <a:gridCol w="1371600"/>
                <a:gridCol w="1508760"/>
              </a:tblGrid>
              <a:tr h="283464">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Split protocol</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Method</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R²</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RMSE</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MARD (%)</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Zone A (%)</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Zone A+B (%)</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r>
              <a:tr h="283464">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1. Random window</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Choquet fusion</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+0.149</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2.324</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24.86</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52.87</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93.75</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83464">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    (the paper's protocol)</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No-skill baseline</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−0.000</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2.520</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29.14</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45.34</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90.89</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83464">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2. Subject-aware</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Choquet fusion</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−0.223</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2.786</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31.50</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41.91</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89.39</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83464">
                <a:tc>
                  <a:txBody>
                    <a:bodyPr/>
                    <a:lstStyle/>
                    <a:p>
                      <a:pPr algn="l" indent="0" marL="0">
                        <a:buNone/>
                      </a:pP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No-skill baseline</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−0.074</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2.610</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30.30</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43.74</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90.01</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83464">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3. Leave-one-subject-out</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Choquet fusion</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−0.097</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2.639</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28.86</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45.57</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91.25</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83464">
                <a:tc>
                  <a:txBody>
                    <a:bodyPr/>
                    <a:lstStyle/>
                    <a:p>
                      <a:pPr algn="l" indent="0" marL="0">
                        <a:buNone/>
                      </a:pP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No-skill baseline</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−0.035</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2.564</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29.74</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44.14</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90.57</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pic>
        <p:nvPicPr>
          <p:cNvPr id="8" name="Image 0" descr="figures\equations\metrics.png">    </p:cNvPr>
          <p:cNvPicPr>
            <a:picLocks noChangeAspect="1"/>
          </p:cNvPicPr>
          <p:nvPr/>
        </p:nvPicPr>
        <p:blipFill>
          <a:blip r:embed="rId1"/>
          <a:stretch>
            <a:fillRect/>
          </a:stretch>
        </p:blipFill>
        <p:spPr>
          <a:xfrm>
            <a:off x="914400" y="3886200"/>
            <a:ext cx="5120640" cy="1485900"/>
          </a:xfrm>
          <a:prstGeom prst="rect">
            <a:avLst/>
          </a:prstGeom>
        </p:spPr>
      </p:pic>
      <p:sp>
        <p:nvSpPr>
          <p:cNvPr id="9" name="Shape 5"/>
          <p:cNvSpPr/>
          <p:nvPr/>
        </p:nvSpPr>
        <p:spPr>
          <a:xfrm>
            <a:off x="6675120" y="3840480"/>
            <a:ext cx="4846320" cy="1874520"/>
          </a:xfrm>
          <a:prstGeom prst="roundRect">
            <a:avLst>
              <a:gd name="adj" fmla="val 10732"/>
            </a:avLst>
          </a:prstGeom>
          <a:solidFill>
            <a:srgbClr val="F5F5F5"/>
          </a:solidFill>
          <a:ln w="9525">
            <a:solidFill>
              <a:srgbClr val="BFBFBF"/>
            </a:solidFill>
            <a:prstDash val="solid"/>
          </a:ln>
          <a:effectLst>
            <a:outerShdw sx="100000" sy="100000" kx="0" ky="0" algn="bl" rotWithShape="0" blurRad="63500" dist="25400" dir="2700000">
              <a:srgbClr val="888888">
                <a:alpha val="35000"/>
              </a:srgbClr>
            </a:outerShdw>
          </a:effectLst>
        </p:spPr>
      </p:sp>
      <p:sp>
        <p:nvSpPr>
          <p:cNvPr id="10" name="Text 6"/>
          <p:cNvSpPr txBox="1"/>
          <p:nvPr/>
        </p:nvSpPr>
        <p:spPr>
          <a:xfrm>
            <a:off x="6858000" y="3986784"/>
            <a:ext cx="4480560" cy="292608"/>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What the three protocols ask</a:t>
            </a:r>
            <a:endParaRPr lang="en-US" sz="1400" dirty="0"/>
          </a:p>
        </p:txBody>
      </p:sp>
      <p:sp>
        <p:nvSpPr>
          <p:cNvPr id="11" name="Text 7"/>
          <p:cNvSpPr txBox="1"/>
          <p:nvPr/>
        </p:nvSpPr>
        <p:spPr>
          <a:xfrm>
            <a:off x="6931152" y="4407408"/>
            <a:ext cx="4334256" cy="1143000"/>
          </a:xfrm>
          <a:prstGeom prst="rect">
            <a:avLst/>
          </a:prstGeom>
          <a:noFill/>
          <a:ln/>
        </p:spPr>
        <p:txBody>
          <a:bodyPr wrap="square" lIns="0" tIns="0" rIns="0" bIns="0" rtlCol="0" anchor="t"/>
          <a:lstStyle/>
          <a:p>
            <a:pPr indent="0" marL="0">
              <a:spcAft>
                <a:spcPts val="700"/>
              </a:spcAft>
              <a:buNone/>
            </a:pPr>
            <a:r>
              <a:rPr lang="en-US" sz="1050" dirty="0">
                <a:solidFill>
                  <a:srgbClr val="000000"/>
                </a:solidFill>
                <a:latin typeface="Times New Roman" pitchFamily="34" charset="0"/>
                <a:ea typeface="Times New Roman" pitchFamily="34" charset="-122"/>
                <a:cs typeface="Times New Roman" pitchFamily="34" charset="-120"/>
              </a:rPr>
              <a:t>Protocol 1 allows windows from the same person into both the training and the test set. Protocols 2 and 3 never do.</a:t>
            </a:r>
            <a:endParaRPr lang="en-US" sz="1050" dirty="0"/>
          </a:p>
          <a:p>
            <a:pPr indent="0" marL="0">
              <a:spcAft>
                <a:spcPts val="700"/>
              </a:spcAft>
              <a:buNone/>
            </a:pPr>
            <a:r>
              <a:rPr lang="en-US" sz="1050" dirty="0">
                <a:solidFill>
                  <a:srgbClr val="000000"/>
                </a:solidFill>
                <a:latin typeface="Times New Roman" pitchFamily="34" charset="0"/>
                <a:ea typeface="Times New Roman" pitchFamily="34" charset="-122"/>
                <a:cs typeface="Times New Roman" pitchFamily="34" charset="-120"/>
              </a:rPr>
              <a:t>So protocol 1 asks: how well does this work for a person the model has already seen? Protocols 2 and 3 ask: how well does it work for a new person?</a:t>
            </a:r>
            <a:endParaRPr lang="en-US" sz="1050" dirty="0"/>
          </a:p>
          <a:p>
            <a:pPr indent="0" marL="0">
              <a:spcAft>
                <a:spcPts val="700"/>
              </a:spcAft>
              <a:buNone/>
            </a:pPr>
            <a:r>
              <a:rPr lang="en-US" sz="1050" dirty="0">
                <a:solidFill>
                  <a:srgbClr val="000000"/>
                </a:solidFill>
                <a:latin typeface="Times New Roman" pitchFamily="34" charset="0"/>
                <a:ea typeface="Times New Roman" pitchFamily="34" charset="-122"/>
                <a:cs typeface="Times New Roman" pitchFamily="34" charset="-120"/>
              </a:rPr>
              <a:t>Both are fair questions. The first is the one the paper reports, and it is the one our Results I reproduces.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566928"/>
          </a:xfrm>
          <a:prstGeom prst="rect">
            <a:avLst/>
          </a:prstGeom>
          <a:noFill/>
          <a:ln/>
        </p:spPr>
        <p:txBody>
          <a:bodyPr wrap="square" lIns="0" tIns="0" rIns="0" bIns="0" rtlCol="0" anchor="ctr"/>
          <a:lstStyle/>
          <a:p>
            <a:pPr indent="0" marL="0">
              <a:buNone/>
            </a:pPr>
            <a:r>
              <a:rPr lang="en-US" sz="2100" b="1" dirty="0">
                <a:solidFill>
                  <a:srgbClr val="000000"/>
                </a:solidFill>
                <a:latin typeface="Times New Roman" pitchFamily="34" charset="0"/>
                <a:ea typeface="Times New Roman" pitchFamily="34" charset="-122"/>
                <a:cs typeface="Times New Roman" pitchFamily="34" charset="-120"/>
              </a:rPr>
              <a:t>11. Results III — Parkes Error Grid and Prediction Trace</a:t>
            </a:r>
            <a:endParaRPr lang="en-US" sz="2100" dirty="0"/>
          </a:p>
        </p:txBody>
      </p:sp>
      <p:sp>
        <p:nvSpPr>
          <p:cNvPr id="3" name="Shape 1"/>
          <p:cNvSpPr/>
          <p:nvPr/>
        </p:nvSpPr>
        <p:spPr>
          <a:xfrm>
            <a:off x="685800" y="1024128"/>
            <a:ext cx="10820095" cy="3658"/>
          </a:xfrm>
          <a:prstGeom prst="line">
            <a:avLst/>
          </a:prstGeom>
          <a:noFill/>
          <a:ln w="13970">
            <a:solidFill>
              <a:srgbClr val="000000"/>
            </a:solidFill>
            <a:prstDash val="solid"/>
          </a:ln>
        </p:spPr>
      </p:sp>
      <p:sp>
        <p:nvSpPr>
          <p:cNvPr id="4" name="Text 2"/>
          <p:cNvSpPr txBox="1"/>
          <p:nvPr/>
        </p:nvSpPr>
        <p:spPr>
          <a:xfrm>
            <a:off x="685800" y="6382512"/>
            <a:ext cx="8229600" cy="256032"/>
          </a:xfrm>
          <a:prstGeom prst="rect">
            <a:avLst/>
          </a:prstGeom>
          <a:noFill/>
          <a:ln/>
        </p:spPr>
        <p:txBody>
          <a:bodyPr wrap="square" lIns="0" tIns="0" rIns="0" bIns="0" rtlCol="0" anchor="ctr"/>
          <a:lstStyle/>
          <a:p>
            <a:pPr indent="0" marL="0">
              <a:buNone/>
            </a:pPr>
            <a:r>
              <a:rPr lang="en-US" sz="800" dirty="0">
                <a:solidFill>
                  <a:srgbClr val="444444"/>
                </a:solidFill>
                <a:latin typeface="Times New Roman" pitchFamily="34" charset="0"/>
                <a:ea typeface="Times New Roman" pitchFamily="34" charset="-122"/>
                <a:cs typeface="Times New Roman" pitchFamily="34" charset="-120"/>
              </a:rPr>
              <a:t>Mid Term Review | Noninvasive Blood Glucose Estimation from ECG and PPG</a:t>
            </a:r>
            <a:endParaRPr lang="en-US" sz="800" dirty="0"/>
          </a:p>
        </p:txBody>
      </p:sp>
      <p:sp>
        <p:nvSpPr>
          <p:cNvPr id="5" name="Text 3"/>
          <p:cNvSpPr txBox="1"/>
          <p:nvPr/>
        </p:nvSpPr>
        <p:spPr>
          <a:xfrm>
            <a:off x="10682935" y="6382512"/>
            <a:ext cx="822960" cy="256032"/>
          </a:xfrm>
          <a:prstGeom prst="rect">
            <a:avLst/>
          </a:prstGeom>
          <a:noFill/>
          <a:ln/>
        </p:spPr>
        <p:txBody>
          <a:bodyPr wrap="square" lIns="0" tIns="0" rIns="0" bIns="0" rtlCol="0" anchor="ctr"/>
          <a:lstStyle/>
          <a:p>
            <a:pPr algn="r" indent="0" marL="0">
              <a:buNone/>
            </a:pPr>
            <a:r>
              <a:rPr lang="en-US" sz="800" dirty="0">
                <a:solidFill>
                  <a:srgbClr val="444444"/>
                </a:solidFill>
                <a:latin typeface="Times New Roman" pitchFamily="34" charset="0"/>
                <a:ea typeface="Times New Roman" pitchFamily="34" charset="-122"/>
                <a:cs typeface="Times New Roman" pitchFamily="34" charset="-120"/>
              </a:rPr>
              <a:t>13</a:t>
            </a:r>
            <a:endParaRPr lang="en-US" sz="800" dirty="0"/>
          </a:p>
        </p:txBody>
      </p:sp>
      <p:sp>
        <p:nvSpPr>
          <p:cNvPr id="6" name="Text 4"/>
          <p:cNvSpPr txBox="1"/>
          <p:nvPr/>
        </p:nvSpPr>
        <p:spPr>
          <a:xfrm>
            <a:off x="685800" y="1133856"/>
            <a:ext cx="10820095" cy="310896"/>
          </a:xfrm>
          <a:prstGeom prst="rect">
            <a:avLst/>
          </a:prstGeom>
          <a:noFill/>
          <a:ln/>
        </p:spPr>
        <p:txBody>
          <a:bodyPr wrap="square" lIns="0" tIns="0" rIns="0" bIns="0" rtlCol="0" anchor="ctr"/>
          <a:lstStyle/>
          <a:p>
            <a:pPr algn="ctr" indent="0" marL="0">
              <a:buNone/>
            </a:pPr>
            <a:r>
              <a:rPr lang="en-US" sz="1300" b="1" dirty="0">
                <a:solidFill>
                  <a:srgbClr val="000000"/>
                </a:solidFill>
                <a:latin typeface="Times New Roman" pitchFamily="34" charset="0"/>
                <a:ea typeface="Times New Roman" pitchFamily="34" charset="-122"/>
                <a:cs typeface="Times New Roman" pitchFamily="34" charset="-120"/>
              </a:rPr>
              <a:t>Participant c2s04 over seventeen days, under each of the two protocols. Red is the CGM reference, blue the prediction.</a:t>
            </a:r>
            <a:endParaRPr lang="en-US" sz="1300" dirty="0"/>
          </a:p>
        </p:txBody>
      </p:sp>
      <p:pic>
        <p:nvPicPr>
          <p:cNvPr id="7" name="Image 0" descr="figures\results\fig09_timeseries_random_window_c2s04.png">    </p:cNvPr>
          <p:cNvPicPr>
            <a:picLocks noChangeAspect="1"/>
          </p:cNvPicPr>
          <p:nvPr/>
        </p:nvPicPr>
        <p:blipFill>
          <a:blip r:embed="rId1"/>
          <a:stretch>
            <a:fillRect/>
          </a:stretch>
        </p:blipFill>
        <p:spPr>
          <a:xfrm>
            <a:off x="731520" y="1536192"/>
            <a:ext cx="4538341" cy="2286000"/>
          </a:xfrm>
          <a:prstGeom prst="rect">
            <a:avLst/>
          </a:prstGeom>
        </p:spPr>
      </p:pic>
      <p:pic>
        <p:nvPicPr>
          <p:cNvPr id="8" name="Image 1" descr="figures\results\fig09_timeseries_subject_aware_c2s04.png">    </p:cNvPr>
          <p:cNvPicPr>
            <a:picLocks noChangeAspect="1"/>
          </p:cNvPicPr>
          <p:nvPr/>
        </p:nvPicPr>
        <p:blipFill>
          <a:blip r:embed="rId2"/>
          <a:stretch>
            <a:fillRect/>
          </a:stretch>
        </p:blipFill>
        <p:spPr>
          <a:xfrm>
            <a:off x="6355080" y="1536192"/>
            <a:ext cx="4538341" cy="2286000"/>
          </a:xfrm>
          <a:prstGeom prst="rect">
            <a:avLst/>
          </a:prstGeom>
        </p:spPr>
      </p:pic>
      <p:sp>
        <p:nvSpPr>
          <p:cNvPr id="9" name="Text 5"/>
          <p:cNvSpPr txBox="1"/>
          <p:nvPr/>
        </p:nvSpPr>
        <p:spPr>
          <a:xfrm>
            <a:off x="731520" y="3895344"/>
            <a:ext cx="5532120" cy="310896"/>
          </a:xfrm>
          <a:prstGeom prst="rect">
            <a:avLst/>
          </a:prstGeom>
          <a:noFill/>
          <a:ln/>
        </p:spPr>
        <p:txBody>
          <a:bodyPr wrap="square" lIns="0" tIns="0" rIns="0" bIns="0" rtlCol="0" anchor="ct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Random window split: the prediction follows the reference up and down.</a:t>
            </a:r>
            <a:endParaRPr lang="en-US" sz="1050" dirty="0"/>
          </a:p>
        </p:txBody>
      </p:sp>
      <p:sp>
        <p:nvSpPr>
          <p:cNvPr id="10" name="Text 6"/>
          <p:cNvSpPr txBox="1"/>
          <p:nvPr/>
        </p:nvSpPr>
        <p:spPr>
          <a:xfrm>
            <a:off x="6355080" y="3895344"/>
            <a:ext cx="5532120" cy="310896"/>
          </a:xfrm>
          <a:prstGeom prst="rect">
            <a:avLst/>
          </a:prstGeom>
          <a:noFill/>
          <a:ln/>
        </p:spPr>
        <p:txBody>
          <a:bodyPr wrap="square" lIns="0" tIns="0" rIns="0" bIns="0" rtlCol="0" anchor="ct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Subject-aware split: the prediction flattens toward the mean.</a:t>
            </a:r>
            <a:endParaRPr lang="en-US" sz="1050" dirty="0"/>
          </a:p>
        </p:txBody>
      </p:sp>
      <p:pic>
        <p:nvPicPr>
          <p:cNvPr id="11" name="Image 2" descr="figures\results\fig10_parkes_random_window.png">    </p:cNvPr>
          <p:cNvPicPr>
            <a:picLocks noChangeAspect="1"/>
          </p:cNvPicPr>
          <p:nvPr/>
        </p:nvPicPr>
        <p:blipFill>
          <a:blip r:embed="rId3"/>
          <a:stretch>
            <a:fillRect/>
          </a:stretch>
        </p:blipFill>
        <p:spPr>
          <a:xfrm>
            <a:off x="1371600" y="4279392"/>
            <a:ext cx="2021804" cy="2103120"/>
          </a:xfrm>
          <a:prstGeom prst="rect">
            <a:avLst/>
          </a:prstGeom>
        </p:spPr>
      </p:pic>
      <p:sp>
        <p:nvSpPr>
          <p:cNvPr id="12" name="Shape 7"/>
          <p:cNvSpPr/>
          <p:nvPr/>
        </p:nvSpPr>
        <p:spPr>
          <a:xfrm>
            <a:off x="3931920" y="4315968"/>
            <a:ext cx="7589520" cy="1965960"/>
          </a:xfrm>
          <a:prstGeom prst="roundRect">
            <a:avLst>
              <a:gd name="adj" fmla="val 10233"/>
            </a:avLst>
          </a:prstGeom>
          <a:solidFill>
            <a:srgbClr val="F5F5F5"/>
          </a:solidFill>
          <a:ln w="9525">
            <a:solidFill>
              <a:srgbClr val="BFBFBF"/>
            </a:solidFill>
            <a:prstDash val="solid"/>
          </a:ln>
          <a:effectLst>
            <a:outerShdw sx="100000" sy="100000" kx="0" ky="0" algn="bl" rotWithShape="0" blurRad="63500" dist="25400" dir="2700000">
              <a:srgbClr val="888888">
                <a:alpha val="35000"/>
              </a:srgbClr>
            </a:outerShdw>
          </a:effectLst>
        </p:spPr>
      </p:sp>
      <p:sp>
        <p:nvSpPr>
          <p:cNvPr id="13" name="Text 8"/>
          <p:cNvSpPr txBox="1"/>
          <p:nvPr/>
        </p:nvSpPr>
        <p:spPr>
          <a:xfrm>
            <a:off x="4114800" y="4462272"/>
            <a:ext cx="7223760" cy="292608"/>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Reading the two traces</a:t>
            </a:r>
            <a:endParaRPr lang="en-US" sz="1400" dirty="0"/>
          </a:p>
        </p:txBody>
      </p:sp>
      <p:sp>
        <p:nvSpPr>
          <p:cNvPr id="14" name="Text 9"/>
          <p:cNvSpPr txBox="1"/>
          <p:nvPr/>
        </p:nvSpPr>
        <p:spPr>
          <a:xfrm>
            <a:off x="4187952" y="4882896"/>
            <a:ext cx="7077456" cy="1234440"/>
          </a:xfrm>
          <a:prstGeom prst="rect">
            <a:avLst/>
          </a:prstGeom>
          <a:noFill/>
          <a:ln/>
        </p:spPr>
        <p:txBody>
          <a:bodyPr wrap="square" lIns="0" tIns="0" rIns="0" bIns="0" rtlCol="0" anchor="t"/>
          <a:lstStyle/>
          <a:p>
            <a:pPr indent="0" marL="0">
              <a:spcAft>
                <a:spcPts val="700"/>
              </a:spcAft>
              <a:buNone/>
            </a:pPr>
            <a:r>
              <a:rPr lang="en-US" sz="1050" dirty="0">
                <a:solidFill>
                  <a:srgbClr val="000000"/>
                </a:solidFill>
                <a:latin typeface="Times New Roman" pitchFamily="34" charset="0"/>
                <a:ea typeface="Times New Roman" pitchFamily="34" charset="-122"/>
                <a:cs typeface="Times New Roman" pitchFamily="34" charset="-120"/>
              </a:rPr>
              <a:t>On the left the model tracks the participant's daily rises and falls, because it has seen other windows from this same participant during training. This is the condition under which the published result is obtained.</a:t>
            </a:r>
            <a:endParaRPr lang="en-US" sz="1050" dirty="0"/>
          </a:p>
          <a:p>
            <a:pPr indent="0" marL="0">
              <a:spcAft>
                <a:spcPts val="700"/>
              </a:spcAft>
              <a:buNone/>
            </a:pPr>
            <a:r>
              <a:rPr lang="en-US" sz="1050" dirty="0">
                <a:solidFill>
                  <a:srgbClr val="000000"/>
                </a:solidFill>
                <a:latin typeface="Times New Roman" pitchFamily="34" charset="0"/>
                <a:ea typeface="Times New Roman" pitchFamily="34" charset="-122"/>
                <a:cs typeface="Times New Roman" pitchFamily="34" charset="-120"/>
              </a:rPr>
              <a:t>On the right the participant was held out entirely, and the prediction collapses toward the population average of about 7 mmol/L.</a:t>
            </a:r>
            <a:endParaRPr lang="en-US" sz="1050" dirty="0"/>
          </a:p>
          <a:p>
            <a:pPr indent="0" marL="0">
              <a:spcAft>
                <a:spcPts val="700"/>
              </a:spcAft>
              <a:buNone/>
            </a:pPr>
            <a:r>
              <a:rPr lang="en-US" sz="1050" dirty="0">
                <a:solidFill>
                  <a:srgbClr val="000000"/>
                </a:solidFill>
                <a:latin typeface="Times New Roman" pitchFamily="34" charset="0"/>
                <a:ea typeface="Times New Roman" pitchFamily="34" charset="-122"/>
                <a:cs typeface="Times New Roman" pitchFamily="34" charset="-120"/>
              </a:rPr>
              <a:t>The Parkes grid, inset, places 93.7% of the left-hand predictions in Zones A+B.</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566928"/>
          </a:xfrm>
          <a:prstGeom prst="rect">
            <a:avLst/>
          </a:prstGeom>
          <a:noFill/>
          <a:ln/>
        </p:spPr>
        <p:txBody>
          <a:bodyPr wrap="square" lIns="0" tIns="0" rIns="0" bIns="0" rtlCol="0" anchor="ctr"/>
          <a:lstStyle/>
          <a:p>
            <a:pPr indent="0" marL="0">
              <a:buNone/>
            </a:pPr>
            <a:r>
              <a:rPr lang="en-US" sz="2100" b="1" dirty="0">
                <a:solidFill>
                  <a:srgbClr val="000000"/>
                </a:solidFill>
                <a:latin typeface="Times New Roman" pitchFamily="34" charset="0"/>
                <a:ea typeface="Times New Roman" pitchFamily="34" charset="-122"/>
                <a:cs typeface="Times New Roman" pitchFamily="34" charset="-120"/>
              </a:rPr>
              <a:t>12. Results IV — Feature-Set Ablation</a:t>
            </a:r>
            <a:endParaRPr lang="en-US" sz="2100" dirty="0"/>
          </a:p>
        </p:txBody>
      </p:sp>
      <p:sp>
        <p:nvSpPr>
          <p:cNvPr id="3" name="Shape 1"/>
          <p:cNvSpPr/>
          <p:nvPr/>
        </p:nvSpPr>
        <p:spPr>
          <a:xfrm>
            <a:off x="685800" y="1024128"/>
            <a:ext cx="10820095" cy="3658"/>
          </a:xfrm>
          <a:prstGeom prst="line">
            <a:avLst/>
          </a:prstGeom>
          <a:noFill/>
          <a:ln w="13970">
            <a:solidFill>
              <a:srgbClr val="000000"/>
            </a:solidFill>
            <a:prstDash val="solid"/>
          </a:ln>
        </p:spPr>
      </p:sp>
      <p:sp>
        <p:nvSpPr>
          <p:cNvPr id="4" name="Text 2"/>
          <p:cNvSpPr txBox="1"/>
          <p:nvPr/>
        </p:nvSpPr>
        <p:spPr>
          <a:xfrm>
            <a:off x="685800" y="6382512"/>
            <a:ext cx="8229600" cy="256032"/>
          </a:xfrm>
          <a:prstGeom prst="rect">
            <a:avLst/>
          </a:prstGeom>
          <a:noFill/>
          <a:ln/>
        </p:spPr>
        <p:txBody>
          <a:bodyPr wrap="square" lIns="0" tIns="0" rIns="0" bIns="0" rtlCol="0" anchor="ctr"/>
          <a:lstStyle/>
          <a:p>
            <a:pPr indent="0" marL="0">
              <a:buNone/>
            </a:pPr>
            <a:r>
              <a:rPr lang="en-US" sz="800" dirty="0">
                <a:solidFill>
                  <a:srgbClr val="444444"/>
                </a:solidFill>
                <a:latin typeface="Times New Roman" pitchFamily="34" charset="0"/>
                <a:ea typeface="Times New Roman" pitchFamily="34" charset="-122"/>
                <a:cs typeface="Times New Roman" pitchFamily="34" charset="-120"/>
              </a:rPr>
              <a:t>Mid Term Review | Noninvasive Blood Glucose Estimation from ECG and PPG</a:t>
            </a:r>
            <a:endParaRPr lang="en-US" sz="800" dirty="0"/>
          </a:p>
        </p:txBody>
      </p:sp>
      <p:sp>
        <p:nvSpPr>
          <p:cNvPr id="5" name="Text 3"/>
          <p:cNvSpPr txBox="1"/>
          <p:nvPr/>
        </p:nvSpPr>
        <p:spPr>
          <a:xfrm>
            <a:off x="10682935" y="6382512"/>
            <a:ext cx="822960" cy="256032"/>
          </a:xfrm>
          <a:prstGeom prst="rect">
            <a:avLst/>
          </a:prstGeom>
          <a:noFill/>
          <a:ln/>
        </p:spPr>
        <p:txBody>
          <a:bodyPr wrap="square" lIns="0" tIns="0" rIns="0" bIns="0" rtlCol="0" anchor="ctr"/>
          <a:lstStyle/>
          <a:p>
            <a:pPr algn="r" indent="0" marL="0">
              <a:buNone/>
            </a:pPr>
            <a:r>
              <a:rPr lang="en-US" sz="800" dirty="0">
                <a:solidFill>
                  <a:srgbClr val="444444"/>
                </a:solidFill>
                <a:latin typeface="Times New Roman" pitchFamily="34" charset="0"/>
                <a:ea typeface="Times New Roman" pitchFamily="34" charset="-122"/>
                <a:cs typeface="Times New Roman" pitchFamily="34" charset="-120"/>
              </a:rPr>
              <a:t>14</a:t>
            </a:r>
            <a:endParaRPr lang="en-US" sz="800" dirty="0"/>
          </a:p>
        </p:txBody>
      </p:sp>
      <p:sp>
        <p:nvSpPr>
          <p:cNvPr id="6" name="Text 4"/>
          <p:cNvSpPr txBox="1"/>
          <p:nvPr/>
        </p:nvSpPr>
        <p:spPr>
          <a:xfrm>
            <a:off x="685800" y="1133856"/>
            <a:ext cx="10820095" cy="310896"/>
          </a:xfrm>
          <a:prstGeom prst="rect">
            <a:avLst/>
          </a:prstGeom>
          <a:noFill/>
          <a:ln/>
        </p:spPr>
        <p:txBody>
          <a:bodyPr wrap="square" lIns="0" tIns="0" rIns="0" bIns="0" rtlCol="0" anchor="ctr"/>
          <a:lstStyle/>
          <a:p>
            <a:pPr algn="ctr" indent="0" marL="0">
              <a:buNone/>
            </a:pPr>
            <a:r>
              <a:rPr lang="en-US" sz="1300" b="1" dirty="0">
                <a:solidFill>
                  <a:srgbClr val="000000"/>
                </a:solidFill>
                <a:latin typeface="Times New Roman" pitchFamily="34" charset="0"/>
                <a:ea typeface="Times New Roman" pitchFamily="34" charset="-122"/>
                <a:cs typeface="Times New Roman" pitchFamily="34" charset="-120"/>
              </a:rPr>
              <a:t>Every feature set evaluated under leave-one-subject-out with Choquet fusion</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5800" y="1600200"/>
          <a:ext cx="6675120" cy="914400"/>
        </p:xfrm>
        <a:graphic>
          <a:graphicData uri="http://schemas.openxmlformats.org/drawingml/2006/table">
            <a:tbl>
              <a:tblPr/>
              <a:tblGrid>
                <a:gridCol w="2560320"/>
                <a:gridCol w="960120"/>
                <a:gridCol w="914400"/>
                <a:gridCol w="1234440"/>
                <a:gridCol w="1005840"/>
              </a:tblGrid>
              <a:tr h="283464">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Feature set</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Features</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R²</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RMSE (mmol/L)</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Zone A+B (%)</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r>
              <a:tr h="283464">
                <a:tc>
                  <a:txBody>
                    <a:bodyPr/>
                    <a:lstStyle/>
                    <a:p>
                      <a:pPr algn="l" indent="0" marL="0">
                        <a:buNone/>
                      </a:pPr>
                      <a:r>
                        <a:rPr lang="en-US" sz="1050" b="1" dirty="0">
                          <a:solidFill>
                            <a:srgbClr val="000000"/>
                          </a:solidFill>
                          <a:latin typeface="Times New Roman" pitchFamily="34" charset="0"/>
                          <a:ea typeface="Times New Roman" pitchFamily="34" charset="-122"/>
                          <a:cs typeface="Times New Roman" pitchFamily="34" charset="-120"/>
                        </a:rPr>
                        <a:t>No-skill baseline</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0</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−0.035</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2.564</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90.6</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83464">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Morphological (shape) only</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33</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−0.070</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2.606</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90.8</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83464">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PPG only</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94</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−0.075</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2.612</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90.6</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83464">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Fused (ECG + PPG)</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193</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−0.097</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2.639</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91.3</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83464">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Temporal (wavelet) only</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160</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−0.102</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2.645</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91.5</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83464">
                <a:tc>
                  <a:txBody>
                    <a:bodyP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ECG only</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99</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−0.106</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2.650</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91.5</a:t>
                      </a:r>
                      <a:endParaRPr lang="en-US" sz="105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7680960" y="1627632"/>
            <a:ext cx="3840480" cy="457200"/>
          </a:xfrm>
          <a:prstGeom prst="rect">
            <a:avLst/>
          </a:prstGeom>
          <a:noFill/>
          <a:ln/>
        </p:spPr>
        <p:txBody>
          <a:bodyPr wrap="square" lIns="0" tIns="0" rIns="0" bIns="0" rtlCol="0" anchor="ctr"/>
          <a:lstStyle/>
          <a:p>
            <a:pPr indent="0" marL="0">
              <a:buNone/>
            </a:pPr>
            <a:r>
              <a:rPr lang="en-US" sz="1100" b="1" dirty="0">
                <a:solidFill>
                  <a:srgbClr val="000000"/>
                </a:solidFill>
                <a:latin typeface="Times New Roman" pitchFamily="34" charset="0"/>
                <a:ea typeface="Times New Roman" pitchFamily="34" charset="-122"/>
                <a:cs typeface="Times New Roman" pitchFamily="34" charset="-120"/>
              </a:rPr>
              <a:t>Every feature set falls behind the baseline.</a:t>
            </a:r>
            <a:endParaRPr lang="en-US" sz="1100" dirty="0"/>
          </a:p>
        </p:txBody>
      </p:sp>
      <p:sp>
        <p:nvSpPr>
          <p:cNvPr id="9" name="Text 6"/>
          <p:cNvSpPr txBox="1"/>
          <p:nvPr/>
        </p:nvSpPr>
        <p:spPr>
          <a:xfrm>
            <a:off x="7680960" y="1920240"/>
            <a:ext cx="3840480" cy="621792"/>
          </a:xfrm>
          <a:prstGeom prst="rect">
            <a:avLst/>
          </a:prstGeom>
          <a:noFill/>
          <a:ln/>
        </p:spPr>
        <p:txBody>
          <a:bodyPr wrap="square" lIns="0" tIns="0" rIns="0" bIns="0" rtlCol="0" anchor="ctr"/>
          <a:lstStyle/>
          <a:p>
            <a:pPr indent="0" marL="0">
              <a:buNone/>
            </a:pPr>
            <a:r>
              <a:rPr lang="en-US" sz="1000" dirty="0">
                <a:solidFill>
                  <a:srgbClr val="000000"/>
                </a:solidFill>
                <a:latin typeface="Times New Roman" pitchFamily="34" charset="0"/>
                <a:ea typeface="Times New Roman" pitchFamily="34" charset="-122"/>
                <a:cs typeface="Times New Roman" pitchFamily="34" charset="-120"/>
              </a:rPr>
              <a:t>The entire spread, best to worst, is 0.036 in R², and the baseline lies above all of it.</a:t>
            </a:r>
            <a:endParaRPr lang="en-US" sz="1000" dirty="0"/>
          </a:p>
        </p:txBody>
      </p:sp>
      <p:sp>
        <p:nvSpPr>
          <p:cNvPr id="10" name="Text 7"/>
          <p:cNvSpPr txBox="1"/>
          <p:nvPr/>
        </p:nvSpPr>
        <p:spPr>
          <a:xfrm>
            <a:off x="7680960" y="2560320"/>
            <a:ext cx="3840480" cy="457200"/>
          </a:xfrm>
          <a:prstGeom prst="rect">
            <a:avLst/>
          </a:prstGeom>
          <a:noFill/>
          <a:ln/>
        </p:spPr>
        <p:txBody>
          <a:bodyPr wrap="square" lIns="0" tIns="0" rIns="0" bIns="0" rtlCol="0" anchor="ctr"/>
          <a:lstStyle/>
          <a:p>
            <a:pPr indent="0" marL="0">
              <a:buNone/>
            </a:pPr>
            <a:r>
              <a:rPr lang="en-US" sz="1100" b="1" dirty="0">
                <a:solidFill>
                  <a:srgbClr val="000000"/>
                </a:solidFill>
                <a:latin typeface="Times New Roman" pitchFamily="34" charset="0"/>
                <a:ea typeface="Times New Roman" pitchFamily="34" charset="-122"/>
                <a:cs typeface="Times New Roman" pitchFamily="34" charset="-120"/>
              </a:rPr>
              <a:t>Fusing the two signals is worse than the better one alone.</a:t>
            </a:r>
            <a:endParaRPr lang="en-US" sz="1100" dirty="0"/>
          </a:p>
        </p:txBody>
      </p:sp>
      <p:sp>
        <p:nvSpPr>
          <p:cNvPr id="11" name="Text 8"/>
          <p:cNvSpPr txBox="1"/>
          <p:nvPr/>
        </p:nvSpPr>
        <p:spPr>
          <a:xfrm>
            <a:off x="7680960" y="2852928"/>
            <a:ext cx="3840480" cy="621792"/>
          </a:xfrm>
          <a:prstGeom prst="rect">
            <a:avLst/>
          </a:prstGeom>
          <a:noFill/>
          <a:ln/>
        </p:spPr>
        <p:txBody>
          <a:bodyPr wrap="square" lIns="0" tIns="0" rIns="0" bIns="0" rtlCol="0" anchor="ctr"/>
          <a:lstStyle/>
          <a:p>
            <a:pPr indent="0" marL="0">
              <a:buNone/>
            </a:pPr>
            <a:r>
              <a:rPr lang="en-US" sz="1000" dirty="0">
                <a:solidFill>
                  <a:srgbClr val="000000"/>
                </a:solidFill>
                <a:latin typeface="Times New Roman" pitchFamily="34" charset="0"/>
                <a:ea typeface="Times New Roman" pitchFamily="34" charset="-122"/>
                <a:cs typeface="Times New Roman" pitchFamily="34" charset="-120"/>
              </a:rPr>
              <a:t>PPG alone (−0.075) exceeds the fused set (−0.097). The source paper reports the opposite ordering. A 0.03 gap between two failing configurations is not read as evidence.</a:t>
            </a:r>
            <a:endParaRPr lang="en-US" sz="1000" dirty="0"/>
          </a:p>
        </p:txBody>
      </p:sp>
      <p:sp>
        <p:nvSpPr>
          <p:cNvPr id="12" name="Text 9"/>
          <p:cNvSpPr txBox="1"/>
          <p:nvPr/>
        </p:nvSpPr>
        <p:spPr>
          <a:xfrm>
            <a:off x="7680960" y="3493008"/>
            <a:ext cx="3840480" cy="457200"/>
          </a:xfrm>
          <a:prstGeom prst="rect">
            <a:avLst/>
          </a:prstGeom>
          <a:noFill/>
          <a:ln/>
        </p:spPr>
        <p:txBody>
          <a:bodyPr wrap="square" lIns="0" tIns="0" rIns="0" bIns="0" rtlCol="0" anchor="ctr"/>
          <a:lstStyle/>
          <a:p>
            <a:pPr indent="0" marL="0">
              <a:buNone/>
            </a:pPr>
            <a:r>
              <a:rPr lang="en-US" sz="1100" b="1" dirty="0">
                <a:solidFill>
                  <a:srgbClr val="000000"/>
                </a:solidFill>
                <a:latin typeface="Times New Roman" pitchFamily="34" charset="0"/>
                <a:ea typeface="Times New Roman" pitchFamily="34" charset="-122"/>
                <a:cs typeface="Times New Roman" pitchFamily="34" charset="-120"/>
              </a:rPr>
              <a:t>Fewer features perform better.</a:t>
            </a:r>
            <a:endParaRPr lang="en-US" sz="1100" dirty="0"/>
          </a:p>
        </p:txBody>
      </p:sp>
      <p:sp>
        <p:nvSpPr>
          <p:cNvPr id="13" name="Text 10"/>
          <p:cNvSpPr txBox="1"/>
          <p:nvPr/>
        </p:nvSpPr>
        <p:spPr>
          <a:xfrm>
            <a:off x="7680960" y="3785616"/>
            <a:ext cx="3840480" cy="621792"/>
          </a:xfrm>
          <a:prstGeom prst="rect">
            <a:avLst/>
          </a:prstGeom>
          <a:noFill/>
          <a:ln/>
        </p:spPr>
        <p:txBody>
          <a:bodyPr wrap="square" lIns="0" tIns="0" rIns="0" bIns="0" rtlCol="0" anchor="ctr"/>
          <a:lstStyle/>
          <a:p>
            <a:pPr indent="0" marL="0">
              <a:buNone/>
            </a:pPr>
            <a:r>
              <a:rPr lang="en-US" sz="1000" dirty="0">
                <a:solidFill>
                  <a:srgbClr val="000000"/>
                </a:solidFill>
                <a:latin typeface="Times New Roman" pitchFamily="34" charset="0"/>
                <a:ea typeface="Times New Roman" pitchFamily="34" charset="-122"/>
                <a:cs typeface="Times New Roman" pitchFamily="34" charset="-120"/>
              </a:rPr>
              <a:t>33 features exceed 193. When additional information degrades a model, the model is fitting noise rather than signal.</a:t>
            </a:r>
            <a:endParaRPr lang="en-US" sz="1000" dirty="0"/>
          </a:p>
        </p:txBody>
      </p:sp>
      <p:sp>
        <p:nvSpPr>
          <p:cNvPr id="14" name="Text 11"/>
          <p:cNvSpPr txBox="1"/>
          <p:nvPr/>
        </p:nvSpPr>
        <p:spPr>
          <a:xfrm>
            <a:off x="7680960" y="4425696"/>
            <a:ext cx="3840480" cy="457200"/>
          </a:xfrm>
          <a:prstGeom prst="rect">
            <a:avLst/>
          </a:prstGeom>
          <a:noFill/>
          <a:ln/>
        </p:spPr>
        <p:txBody>
          <a:bodyPr wrap="square" lIns="0" tIns="0" rIns="0" bIns="0" rtlCol="0" anchor="ctr"/>
          <a:lstStyle/>
          <a:p>
            <a:pPr indent="0" marL="0">
              <a:buNone/>
            </a:pPr>
            <a:r>
              <a:rPr lang="en-US" sz="1100" b="1" dirty="0">
                <a:solidFill>
                  <a:srgbClr val="000000"/>
                </a:solidFill>
                <a:latin typeface="Times New Roman" pitchFamily="34" charset="0"/>
                <a:ea typeface="Times New Roman" pitchFamily="34" charset="-122"/>
                <a:cs typeface="Times New Roman" pitchFamily="34" charset="-120"/>
              </a:rPr>
              <a:t>The clinical score is inversely related to R².</a:t>
            </a:r>
            <a:endParaRPr lang="en-US" sz="1100" dirty="0"/>
          </a:p>
        </p:txBody>
      </p:sp>
      <p:sp>
        <p:nvSpPr>
          <p:cNvPr id="15" name="Text 12"/>
          <p:cNvSpPr txBox="1"/>
          <p:nvPr/>
        </p:nvSpPr>
        <p:spPr>
          <a:xfrm>
            <a:off x="7680960" y="4718304"/>
            <a:ext cx="3840480" cy="621792"/>
          </a:xfrm>
          <a:prstGeom prst="rect">
            <a:avLst/>
          </a:prstGeom>
          <a:noFill/>
          <a:ln/>
        </p:spPr>
        <p:txBody>
          <a:bodyPr wrap="square" lIns="0" tIns="0" rIns="0" bIns="0" rtlCol="0" anchor="ctr"/>
          <a:lstStyle/>
          <a:p>
            <a:pPr indent="0" marL="0">
              <a:buNone/>
            </a:pPr>
            <a:r>
              <a:rPr lang="en-US" sz="1000" dirty="0">
                <a:solidFill>
                  <a:srgbClr val="000000"/>
                </a:solidFill>
                <a:latin typeface="Times New Roman" pitchFamily="34" charset="0"/>
                <a:ea typeface="Times New Roman" pitchFamily="34" charset="-122"/>
                <a:cs typeface="Times New Roman" pitchFamily="34" charset="-120"/>
              </a:rPr>
              <a:t>The configurations with the poorest R² carry the highest Zone A+B.</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566928"/>
          </a:xfrm>
          <a:prstGeom prst="rect">
            <a:avLst/>
          </a:prstGeom>
          <a:noFill/>
          <a:ln/>
        </p:spPr>
        <p:txBody>
          <a:bodyPr wrap="square" lIns="0" tIns="0" rIns="0" bIns="0" rtlCol="0" anchor="ctr"/>
          <a:lstStyle/>
          <a:p>
            <a:pPr indent="0" marL="0">
              <a:buNone/>
            </a:pPr>
            <a:r>
              <a:rPr lang="en-US" sz="2100" b="1" dirty="0">
                <a:solidFill>
                  <a:srgbClr val="000000"/>
                </a:solidFill>
                <a:latin typeface="Times New Roman" pitchFamily="34" charset="0"/>
                <a:ea typeface="Times New Roman" pitchFamily="34" charset="-122"/>
                <a:cs typeface="Times New Roman" pitchFamily="34" charset="-120"/>
              </a:rPr>
              <a:t>13. Results V — Degeneracy of the Fusion Operator</a:t>
            </a:r>
            <a:endParaRPr lang="en-US" sz="2100" dirty="0"/>
          </a:p>
        </p:txBody>
      </p:sp>
      <p:sp>
        <p:nvSpPr>
          <p:cNvPr id="3" name="Shape 1"/>
          <p:cNvSpPr/>
          <p:nvPr/>
        </p:nvSpPr>
        <p:spPr>
          <a:xfrm>
            <a:off x="685800" y="1024128"/>
            <a:ext cx="10820095" cy="3658"/>
          </a:xfrm>
          <a:prstGeom prst="line">
            <a:avLst/>
          </a:prstGeom>
          <a:noFill/>
          <a:ln w="13970">
            <a:solidFill>
              <a:srgbClr val="000000"/>
            </a:solidFill>
            <a:prstDash val="solid"/>
          </a:ln>
        </p:spPr>
      </p:sp>
      <p:sp>
        <p:nvSpPr>
          <p:cNvPr id="4" name="Text 2"/>
          <p:cNvSpPr txBox="1"/>
          <p:nvPr/>
        </p:nvSpPr>
        <p:spPr>
          <a:xfrm>
            <a:off x="685800" y="6382512"/>
            <a:ext cx="8229600" cy="256032"/>
          </a:xfrm>
          <a:prstGeom prst="rect">
            <a:avLst/>
          </a:prstGeom>
          <a:noFill/>
          <a:ln/>
        </p:spPr>
        <p:txBody>
          <a:bodyPr wrap="square" lIns="0" tIns="0" rIns="0" bIns="0" rtlCol="0" anchor="ctr"/>
          <a:lstStyle/>
          <a:p>
            <a:pPr indent="0" marL="0">
              <a:buNone/>
            </a:pPr>
            <a:r>
              <a:rPr lang="en-US" sz="800" dirty="0">
                <a:solidFill>
                  <a:srgbClr val="444444"/>
                </a:solidFill>
                <a:latin typeface="Times New Roman" pitchFamily="34" charset="0"/>
                <a:ea typeface="Times New Roman" pitchFamily="34" charset="-122"/>
                <a:cs typeface="Times New Roman" pitchFamily="34" charset="-120"/>
              </a:rPr>
              <a:t>Mid Term Review | Noninvasive Blood Glucose Estimation from ECG and PPG</a:t>
            </a:r>
            <a:endParaRPr lang="en-US" sz="800" dirty="0"/>
          </a:p>
        </p:txBody>
      </p:sp>
      <p:sp>
        <p:nvSpPr>
          <p:cNvPr id="5" name="Text 3"/>
          <p:cNvSpPr txBox="1"/>
          <p:nvPr/>
        </p:nvSpPr>
        <p:spPr>
          <a:xfrm>
            <a:off x="10682935" y="6382512"/>
            <a:ext cx="822960" cy="256032"/>
          </a:xfrm>
          <a:prstGeom prst="rect">
            <a:avLst/>
          </a:prstGeom>
          <a:noFill/>
          <a:ln/>
        </p:spPr>
        <p:txBody>
          <a:bodyPr wrap="square" lIns="0" tIns="0" rIns="0" bIns="0" rtlCol="0" anchor="ctr"/>
          <a:lstStyle/>
          <a:p>
            <a:pPr algn="r" indent="0" marL="0">
              <a:buNone/>
            </a:pPr>
            <a:r>
              <a:rPr lang="en-US" sz="800" dirty="0">
                <a:solidFill>
                  <a:srgbClr val="444444"/>
                </a:solidFill>
                <a:latin typeface="Times New Roman" pitchFamily="34" charset="0"/>
                <a:ea typeface="Times New Roman" pitchFamily="34" charset="-122"/>
                <a:cs typeface="Times New Roman" pitchFamily="34" charset="-120"/>
              </a:rPr>
              <a:t>15</a:t>
            </a:r>
            <a:endParaRPr lang="en-US" sz="800" dirty="0"/>
          </a:p>
        </p:txBody>
      </p:sp>
      <p:sp>
        <p:nvSpPr>
          <p:cNvPr id="6" name="Text 4"/>
          <p:cNvSpPr txBox="1"/>
          <p:nvPr/>
        </p:nvSpPr>
        <p:spPr>
          <a:xfrm>
            <a:off x="685800" y="1170432"/>
            <a:ext cx="10835640" cy="777240"/>
          </a:xfrm>
          <a:prstGeom prst="rect">
            <a:avLst/>
          </a:prstGeom>
          <a:noFill/>
          <a:ln/>
        </p:spPr>
        <p:txBody>
          <a:bodyPr wrap="square" lIns="0" tIns="0" rIns="0" bIns="0" rtlCol="0" anchor="t"/>
          <a:lstStyle/>
          <a:p>
            <a:pPr indent="0" marL="0">
              <a:spcAft>
                <a:spcPts val="800"/>
              </a:spcAft>
              <a:buNone/>
            </a:pPr>
            <a:r>
              <a:rPr lang="en-US" sz="1150" dirty="0">
                <a:solidFill>
                  <a:srgbClr val="000000"/>
                </a:solidFill>
                <a:latin typeface="Times New Roman" pitchFamily="34" charset="0"/>
                <a:ea typeface="Times New Roman" pitchFamily="34" charset="-122"/>
                <a:cs typeface="Times New Roman" pitchFamily="34" charset="-120"/>
              </a:rPr>
              <a:t>Two anomalies appeared in the output: the weighted average and the plain average agreed to three decimal places (3.927 against 3.927), and every fuzzy density sat at the 0.01 clipping floor. With equal densities the Sugeno measure becomes symmetric, and the Choquet integral reduces to a fixed order statistic:</a:t>
            </a:r>
            <a:endParaRPr lang="en-US" sz="1150" dirty="0"/>
          </a:p>
        </p:txBody>
      </p:sp>
      <p:pic>
        <p:nvPicPr>
          <p:cNvPr id="7" name="Image 0" descr="figures\equations\degeneracy.png">    </p:cNvPr>
          <p:cNvPicPr>
            <a:picLocks noChangeAspect="1"/>
          </p:cNvPicPr>
          <p:nvPr/>
        </p:nvPicPr>
        <p:blipFill>
          <a:blip r:embed="rId1"/>
          <a:stretch>
            <a:fillRect/>
          </a:stretch>
        </p:blipFill>
        <p:spPr>
          <a:xfrm>
            <a:off x="868680" y="2011680"/>
            <a:ext cx="5029200" cy="2290684"/>
          </a:xfrm>
          <a:prstGeom prst="rect">
            <a:avLst/>
          </a:prstGeom>
        </p:spPr>
      </p:pic>
      <p:pic>
        <p:nvPicPr>
          <p:cNvPr id="8" name="Image 1" descr="figures\equations\degeneracy_limit.png">    </p:cNvPr>
          <p:cNvPicPr>
            <a:picLocks noChangeAspect="1"/>
          </p:cNvPicPr>
          <p:nvPr/>
        </p:nvPicPr>
        <p:blipFill>
          <a:blip r:embed="rId2"/>
          <a:stretch>
            <a:fillRect/>
          </a:stretch>
        </p:blipFill>
        <p:spPr>
          <a:xfrm>
            <a:off x="868680" y="4343400"/>
            <a:ext cx="5212080" cy="1315995"/>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355080" y="2011680"/>
          <a:ext cx="5120640" cy="914400"/>
        </p:xfrm>
        <a:graphic>
          <a:graphicData uri="http://schemas.openxmlformats.org/drawingml/2006/table">
            <a:tbl>
              <a:tblPr/>
              <a:tblGrid>
                <a:gridCol w="548640"/>
                <a:gridCol w="777240"/>
                <a:gridCol w="877824"/>
                <a:gridCol w="877824"/>
                <a:gridCol w="941832"/>
                <a:gridCol w="1097280"/>
              </a:tblGrid>
              <a:tr h="274320">
                <a:tc>
                  <a:txBody>
                    <a:bodyPr/>
                    <a:lstStyle/>
                    <a:p>
                      <a:pPr algn="ctr" indent="0" marL="0">
                        <a:buNone/>
                      </a:pPr>
                      <a:r>
                        <a:rPr lang="en-US" sz="1000" b="1" dirty="0">
                          <a:solidFill>
                            <a:srgbClr val="000000"/>
                          </a:solidFill>
                          <a:latin typeface="Times New Roman" pitchFamily="34" charset="0"/>
                          <a:ea typeface="Times New Roman" pitchFamily="34" charset="-122"/>
                          <a:cs typeface="Times New Roman" pitchFamily="34" charset="-120"/>
                        </a:rPr>
                        <a:t>g</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000" b="1" dirty="0">
                          <a:solidFill>
                            <a:srgbClr val="000000"/>
                          </a:solidFill>
                          <a:latin typeface="Times New Roman" pitchFamily="34" charset="0"/>
                          <a:ea typeface="Times New Roman" pitchFamily="34" charset="-122"/>
                          <a:cs typeface="Times New Roman" pitchFamily="34" charset="-120"/>
                        </a:rPr>
                        <a:t>λ</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000" b="1" dirty="0">
                          <a:solidFill>
                            <a:srgbClr val="000000"/>
                          </a:solidFill>
                          <a:latin typeface="Times New Roman" pitchFamily="34" charset="0"/>
                          <a:ea typeface="Times New Roman" pitchFamily="34" charset="-122"/>
                          <a:cs typeface="Times New Roman" pitchFamily="34" charset="-120"/>
                        </a:rPr>
                        <a:t>w (largest)</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000" b="1" dirty="0">
                          <a:solidFill>
                            <a:srgbClr val="000000"/>
                          </a:solidFill>
                          <a:latin typeface="Times New Roman" pitchFamily="34" charset="0"/>
                          <a:ea typeface="Times New Roman" pitchFamily="34" charset="-122"/>
                          <a:cs typeface="Times New Roman" pitchFamily="34" charset="-120"/>
                        </a:rPr>
                        <a:t>w (middle)</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000" b="1" dirty="0">
                          <a:solidFill>
                            <a:srgbClr val="000000"/>
                          </a:solidFill>
                          <a:latin typeface="Times New Roman" pitchFamily="34" charset="0"/>
                          <a:ea typeface="Times New Roman" pitchFamily="34" charset="-122"/>
                          <a:cs typeface="Times New Roman" pitchFamily="34" charset="-120"/>
                        </a:rPr>
                        <a:t>w (smallest)</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c>
                  <a:txBody>
                    <a:bodyPr/>
                    <a:lstStyle/>
                    <a:p>
                      <a:pPr algn="ctr" indent="0" marL="0">
                        <a:buNone/>
                      </a:pPr>
                      <a:r>
                        <a:rPr lang="en-US" sz="1000" b="1" dirty="0">
                          <a:solidFill>
                            <a:srgbClr val="000000"/>
                          </a:solidFill>
                          <a:latin typeface="Times New Roman" pitchFamily="34" charset="0"/>
                          <a:ea typeface="Times New Roman" pitchFamily="34" charset="-122"/>
                          <a:cs typeface="Times New Roman" pitchFamily="34" charset="-120"/>
                        </a:rPr>
                        <a:t>Reduces to</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BEBEB"/>
                    </a:solidFill>
                  </a:tcPr>
                </a:tc>
              </a:tr>
              <a:tr h="274320">
                <a:tc>
                  <a:txBody>
                    <a:bodyPr/>
                    <a:lstStyle/>
                    <a:p>
                      <a:pPr algn="l" indent="0" marL="0">
                        <a:buNone/>
                      </a:pPr>
                      <a:r>
                        <a:rPr lang="en-US" sz="1000" b="1" dirty="0">
                          <a:solidFill>
                            <a:srgbClr val="000000"/>
                          </a:solidFill>
                          <a:latin typeface="Times New Roman" pitchFamily="34" charset="0"/>
                          <a:ea typeface="Times New Roman" pitchFamily="34" charset="-122"/>
                          <a:cs typeface="Times New Roman" pitchFamily="34" charset="-120"/>
                        </a:rPr>
                        <a:t>0.010</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00000"/>
                          </a:solidFill>
                          <a:latin typeface="Times New Roman" pitchFamily="34" charset="0"/>
                          <a:ea typeface="Times New Roman" pitchFamily="34" charset="-122"/>
                          <a:cs typeface="Times New Roman" pitchFamily="34" charset="-120"/>
                        </a:rPr>
                        <a:t>846.24</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00000"/>
                          </a:solidFill>
                          <a:latin typeface="Times New Roman" pitchFamily="34" charset="0"/>
                          <a:ea typeface="Times New Roman" pitchFamily="34" charset="-122"/>
                          <a:cs typeface="Times New Roman" pitchFamily="34" charset="-120"/>
                        </a:rPr>
                        <a:t>0.010</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00000"/>
                          </a:solidFill>
                          <a:latin typeface="Times New Roman" pitchFamily="34" charset="0"/>
                          <a:ea typeface="Times New Roman" pitchFamily="34" charset="-122"/>
                          <a:cs typeface="Times New Roman" pitchFamily="34" charset="-120"/>
                        </a:rPr>
                        <a:t>0.095</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00000"/>
                          </a:solidFill>
                          <a:latin typeface="Times New Roman" pitchFamily="34" charset="0"/>
                          <a:ea typeface="Times New Roman" pitchFamily="34" charset="-122"/>
                          <a:cs typeface="Times New Roman" pitchFamily="34" charset="-120"/>
                        </a:rPr>
                        <a:t>0.895</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00000"/>
                          </a:solidFill>
                          <a:latin typeface="Times New Roman" pitchFamily="34" charset="0"/>
                          <a:ea typeface="Times New Roman" pitchFamily="34" charset="-122"/>
                          <a:cs typeface="Times New Roman" pitchFamily="34" charset="-120"/>
                        </a:rPr>
                        <a:t>minimum</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1000" dirty="0">
                          <a:solidFill>
                            <a:srgbClr val="000000"/>
                          </a:solidFill>
                          <a:latin typeface="Times New Roman" pitchFamily="34" charset="0"/>
                          <a:ea typeface="Times New Roman" pitchFamily="34" charset="-122"/>
                          <a:cs typeface="Times New Roman" pitchFamily="34" charset="-120"/>
                        </a:rPr>
                        <a:t>0.100</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15.41</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0.100</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0.254</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0.646</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rank-weighted</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1000" dirty="0">
                          <a:solidFill>
                            <a:srgbClr val="000000"/>
                          </a:solidFill>
                          <a:latin typeface="Times New Roman" pitchFamily="34" charset="0"/>
                          <a:ea typeface="Times New Roman" pitchFamily="34" charset="-122"/>
                          <a:cs typeface="Times New Roman" pitchFamily="34" charset="-120"/>
                        </a:rPr>
                        <a:t>0.333</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0.00</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0.333</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0.333</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0.333</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Times New Roman" pitchFamily="34" charset="0"/>
                          <a:ea typeface="Times New Roman" pitchFamily="34" charset="-122"/>
                          <a:cs typeface="Times New Roman" pitchFamily="34" charset="-120"/>
                        </a:rPr>
                        <a:t>arithmetic mean</a:t>
                      </a:r>
                      <a:endParaRPr lang="en-US" sz="1000" dirty="0">
                        <a:latin typeface="Times New Roman" charset="0"/>
                        <a:ea typeface="Times New Roman" charset="0"/>
                        <a:cs typeface="Times New Roman"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0" name="Shape 5"/>
          <p:cNvSpPr/>
          <p:nvPr/>
        </p:nvSpPr>
        <p:spPr>
          <a:xfrm>
            <a:off x="6355080" y="3337560"/>
            <a:ext cx="5166360" cy="2240280"/>
          </a:xfrm>
          <a:prstGeom prst="roundRect">
            <a:avLst>
              <a:gd name="adj" fmla="val 8980"/>
            </a:avLst>
          </a:prstGeom>
          <a:solidFill>
            <a:srgbClr val="F5F5F5"/>
          </a:solidFill>
          <a:ln w="9525">
            <a:solidFill>
              <a:srgbClr val="BFBFBF"/>
            </a:solidFill>
            <a:prstDash val="solid"/>
          </a:ln>
          <a:effectLst>
            <a:outerShdw sx="100000" sy="100000" kx="0" ky="0" algn="bl" rotWithShape="0" blurRad="63500" dist="25400" dir="2700000">
              <a:srgbClr val="888888">
                <a:alpha val="35000"/>
              </a:srgbClr>
            </a:outerShdw>
          </a:effectLst>
        </p:spPr>
      </p:sp>
      <p:sp>
        <p:nvSpPr>
          <p:cNvPr id="11" name="Text 6"/>
          <p:cNvSpPr txBox="1"/>
          <p:nvPr/>
        </p:nvSpPr>
        <p:spPr>
          <a:xfrm>
            <a:off x="6537960" y="3483864"/>
            <a:ext cx="4800600" cy="292608"/>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Verification against the saved predictions</a:t>
            </a:r>
            <a:endParaRPr lang="en-US" sz="1400" dirty="0"/>
          </a:p>
        </p:txBody>
      </p:sp>
      <p:sp>
        <p:nvSpPr>
          <p:cNvPr id="12" name="Text 7"/>
          <p:cNvSpPr txBox="1"/>
          <p:nvPr/>
        </p:nvSpPr>
        <p:spPr>
          <a:xfrm>
            <a:off x="6611112" y="3904488"/>
            <a:ext cx="4654296" cy="1508760"/>
          </a:xfrm>
          <a:prstGeom prst="rect">
            <a:avLst/>
          </a:prstGeom>
          <a:noFill/>
          <a:ln/>
        </p:spPr>
        <p:txBody>
          <a:bodyPr wrap="square" lIns="0" tIns="0" rIns="0" bIns="0" rtlCol="0" anchor="t"/>
          <a:lstStyle/>
          <a:p>
            <a:pPr indent="0" marL="0">
              <a:spcAft>
                <a:spcPts val="700"/>
              </a:spcAft>
              <a:buNone/>
            </a:pPr>
            <a:r>
              <a:rPr lang="en-US" sz="1050" dirty="0">
                <a:solidFill>
                  <a:srgbClr val="000000"/>
                </a:solidFill>
                <a:latin typeface="Times New Roman" pitchFamily="34" charset="0"/>
                <a:ea typeface="Times New Roman" pitchFamily="34" charset="-122"/>
                <a:cs typeface="Times New Roman" pitchFamily="34" charset="-120"/>
              </a:rPr>
              <a:t>corr(Choquet output, minimum of the three models) = 0.998</a:t>
            </a:r>
            <a:endParaRPr lang="en-US" sz="1050" dirty="0"/>
          </a:p>
          <a:p>
            <a:pPr indent="0" marL="0">
              <a:spcAft>
                <a:spcPts val="700"/>
              </a:spcAft>
              <a:buNone/>
            </a:pPr>
            <a:r>
              <a:rPr lang="en-US" sz="1050" dirty="0">
                <a:solidFill>
                  <a:srgbClr val="000000"/>
                </a:solidFill>
                <a:latin typeface="Times New Roman" pitchFamily="34" charset="0"/>
                <a:ea typeface="Times New Roman" pitchFamily="34" charset="-122"/>
                <a:cs typeface="Times New Roman" pitchFamily="34" charset="-120"/>
              </a:rPr>
              <a:t>mean |Choquet − min| = 0.04 mmol/L, against 0.27 to the mean.</a:t>
            </a:r>
            <a:endParaRPr lang="en-US" sz="1050" dirty="0"/>
          </a:p>
          <a:p>
            <a:pPr indent="0" marL="0">
              <a:spcAft>
                <a:spcPts val="700"/>
              </a:spcAft>
              <a:buNone/>
            </a:pPr>
            <a:r>
              <a:rPr lang="en-US" sz="1050" dirty="0">
                <a:solidFill>
                  <a:srgbClr val="000000"/>
                </a:solidFill>
                <a:latin typeface="Times New Roman" pitchFamily="34" charset="0"/>
                <a:ea typeface="Times New Roman" pitchFamily="34" charset="-122"/>
                <a:cs typeface="Times New Roman" pitchFamily="34" charset="-120"/>
              </a:rPr>
              <a:t>The method's distinguishing component was returning min(h₁, h₂, h₃).</a:t>
            </a:r>
            <a:endParaRPr lang="en-US" sz="1050" dirty="0"/>
          </a:p>
          <a:p>
            <a:pPr indent="0" marL="0">
              <a:spcAft>
                <a:spcPts val="700"/>
              </a:spcAft>
              <a:buNone/>
            </a:pPr>
            <a:r>
              <a:rPr lang="en-US" sz="1050" dirty="0">
                <a:solidFill>
                  <a:srgbClr val="000000"/>
                </a:solidFill>
                <a:latin typeface="Times New Roman" pitchFamily="34" charset="0"/>
                <a:ea typeface="Times New Roman" pitchFamily="34" charset="-122"/>
                <a:cs typeface="Times New Roman" pitchFamily="34" charset="-120"/>
              </a:rPr>
              <a:t>This is not solely a defect. Under honest evaluation the base models genuinely cannot generalise, so the densities floor legitimately. The fusion degenerates precisely when it is most needed.</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566928"/>
          </a:xfrm>
          <a:prstGeom prst="rect">
            <a:avLst/>
          </a:prstGeom>
          <a:noFill/>
          <a:ln/>
        </p:spPr>
        <p:txBody>
          <a:bodyPr wrap="square" lIns="0" tIns="0" rIns="0" bIns="0" rtlCol="0" anchor="ctr"/>
          <a:lstStyle/>
          <a:p>
            <a:pPr indent="0" marL="0">
              <a:buNone/>
            </a:pPr>
            <a:r>
              <a:rPr lang="en-US" sz="2100" b="1" dirty="0">
                <a:solidFill>
                  <a:srgbClr val="000000"/>
                </a:solidFill>
                <a:latin typeface="Times New Roman" pitchFamily="34" charset="0"/>
                <a:ea typeface="Times New Roman" pitchFamily="34" charset="-122"/>
                <a:cs typeface="Times New Roman" pitchFamily="34" charset="-120"/>
              </a:rPr>
              <a:t>14. Future Work and Expected Outcomes</a:t>
            </a:r>
            <a:endParaRPr lang="en-US" sz="2100" dirty="0"/>
          </a:p>
        </p:txBody>
      </p:sp>
      <p:sp>
        <p:nvSpPr>
          <p:cNvPr id="3" name="Shape 1"/>
          <p:cNvSpPr/>
          <p:nvPr/>
        </p:nvSpPr>
        <p:spPr>
          <a:xfrm>
            <a:off x="685800" y="1024128"/>
            <a:ext cx="10820095" cy="3658"/>
          </a:xfrm>
          <a:prstGeom prst="line">
            <a:avLst/>
          </a:prstGeom>
          <a:noFill/>
          <a:ln w="13970">
            <a:solidFill>
              <a:srgbClr val="000000"/>
            </a:solidFill>
            <a:prstDash val="solid"/>
          </a:ln>
        </p:spPr>
      </p:sp>
      <p:sp>
        <p:nvSpPr>
          <p:cNvPr id="4" name="Text 2"/>
          <p:cNvSpPr txBox="1"/>
          <p:nvPr/>
        </p:nvSpPr>
        <p:spPr>
          <a:xfrm>
            <a:off x="685800" y="6382512"/>
            <a:ext cx="8229600" cy="256032"/>
          </a:xfrm>
          <a:prstGeom prst="rect">
            <a:avLst/>
          </a:prstGeom>
          <a:noFill/>
          <a:ln/>
        </p:spPr>
        <p:txBody>
          <a:bodyPr wrap="square" lIns="0" tIns="0" rIns="0" bIns="0" rtlCol="0" anchor="ctr"/>
          <a:lstStyle/>
          <a:p>
            <a:pPr indent="0" marL="0">
              <a:buNone/>
            </a:pPr>
            <a:r>
              <a:rPr lang="en-US" sz="800" dirty="0">
                <a:solidFill>
                  <a:srgbClr val="444444"/>
                </a:solidFill>
                <a:latin typeface="Times New Roman" pitchFamily="34" charset="0"/>
                <a:ea typeface="Times New Roman" pitchFamily="34" charset="-122"/>
                <a:cs typeface="Times New Roman" pitchFamily="34" charset="-120"/>
              </a:rPr>
              <a:t>Mid Term Review | Noninvasive Blood Glucose Estimation from ECG and PPG</a:t>
            </a:r>
            <a:endParaRPr lang="en-US" sz="800" dirty="0"/>
          </a:p>
        </p:txBody>
      </p:sp>
      <p:sp>
        <p:nvSpPr>
          <p:cNvPr id="5" name="Text 3"/>
          <p:cNvSpPr txBox="1"/>
          <p:nvPr/>
        </p:nvSpPr>
        <p:spPr>
          <a:xfrm>
            <a:off x="10682935" y="6382512"/>
            <a:ext cx="822960" cy="256032"/>
          </a:xfrm>
          <a:prstGeom prst="rect">
            <a:avLst/>
          </a:prstGeom>
          <a:noFill/>
          <a:ln/>
        </p:spPr>
        <p:txBody>
          <a:bodyPr wrap="square" lIns="0" tIns="0" rIns="0" bIns="0" rtlCol="0" anchor="ctr"/>
          <a:lstStyle/>
          <a:p>
            <a:pPr algn="r" indent="0" marL="0">
              <a:buNone/>
            </a:pPr>
            <a:r>
              <a:rPr lang="en-US" sz="800" dirty="0">
                <a:solidFill>
                  <a:srgbClr val="444444"/>
                </a:solidFill>
                <a:latin typeface="Times New Roman" pitchFamily="34" charset="0"/>
                <a:ea typeface="Times New Roman" pitchFamily="34" charset="-122"/>
                <a:cs typeface="Times New Roman" pitchFamily="34" charset="-120"/>
              </a:rPr>
              <a:t>16</a:t>
            </a:r>
            <a:endParaRPr lang="en-US" sz="800" dirty="0"/>
          </a:p>
        </p:txBody>
      </p:sp>
      <p:sp>
        <p:nvSpPr>
          <p:cNvPr id="6" name="Text 4"/>
          <p:cNvSpPr txBox="1"/>
          <p:nvPr/>
        </p:nvSpPr>
        <p:spPr>
          <a:xfrm>
            <a:off x="685800" y="1133856"/>
            <a:ext cx="10820095" cy="310896"/>
          </a:xfrm>
          <a:prstGeom prst="rect">
            <a:avLst/>
          </a:prstGeom>
          <a:noFill/>
          <a:ln/>
        </p:spPr>
        <p:txBody>
          <a:bodyPr wrap="square" lIns="0" tIns="0" rIns="0" bIns="0" rtlCol="0" anchor="ctr"/>
          <a:lstStyle/>
          <a:p>
            <a:pPr algn="ctr" indent="0" marL="0">
              <a:buNone/>
            </a:pPr>
            <a:r>
              <a:rPr lang="en-US" sz="1300" b="1" dirty="0">
                <a:solidFill>
                  <a:srgbClr val="000000"/>
                </a:solidFill>
                <a:latin typeface="Times New Roman" pitchFamily="34" charset="0"/>
                <a:ea typeface="Times New Roman" pitchFamily="34" charset="-122"/>
                <a:cs typeface="Times New Roman" pitchFamily="34" charset="-120"/>
              </a:rPr>
              <a:t>Future work</a:t>
            </a:r>
            <a:endParaRPr lang="en-US" sz="1300" dirty="0"/>
          </a:p>
        </p:txBody>
      </p:sp>
      <p:sp>
        <p:nvSpPr>
          <p:cNvPr id="7" name="Text 5"/>
          <p:cNvSpPr txBox="1"/>
          <p:nvPr/>
        </p:nvSpPr>
        <p:spPr>
          <a:xfrm>
            <a:off x="822960" y="1600200"/>
            <a:ext cx="320040" cy="274320"/>
          </a:xfrm>
          <a:prstGeom prst="rect">
            <a:avLst/>
          </a:prstGeom>
          <a:noFill/>
          <a:ln/>
        </p:spPr>
        <p:txBody>
          <a:bodyPr wrap="square" lIns="0" tIns="0" rIns="0" bIns="0" rtlCol="0" anchor="ctr"/>
          <a:lstStyle/>
          <a:p>
            <a:pPr algn="r" indent="0" marL="0">
              <a:buNone/>
            </a:pPr>
            <a:r>
              <a:rPr lang="en-US" sz="1150" dirty="0">
                <a:solidFill>
                  <a:srgbClr val="000000"/>
                </a:solidFill>
                <a:latin typeface="Times New Roman" pitchFamily="34" charset="0"/>
                <a:ea typeface="Times New Roman" pitchFamily="34" charset="-122"/>
                <a:cs typeface="Times New Roman" pitchFamily="34" charset="-120"/>
              </a:rPr>
              <a:t>1.</a:t>
            </a:r>
            <a:endParaRPr lang="en-US" sz="1150" dirty="0"/>
          </a:p>
        </p:txBody>
      </p:sp>
      <p:sp>
        <p:nvSpPr>
          <p:cNvPr id="8" name="Text 6"/>
          <p:cNvSpPr txBox="1"/>
          <p:nvPr/>
        </p:nvSpPr>
        <p:spPr>
          <a:xfrm>
            <a:off x="1234440" y="1600200"/>
            <a:ext cx="10241280" cy="548640"/>
          </a:xfrm>
          <a:prstGeom prst="rect">
            <a:avLst/>
          </a:prstGeom>
          <a:noFill/>
          <a:ln/>
        </p:spPr>
        <p:txBody>
          <a:bodyPr wrap="square" lIns="0" tIns="0" rIns="0" bIns="0" rtlCol="0" anchor="ctr"/>
          <a:lstStyle/>
          <a:p>
            <a:pPr indent="0" marL="0">
              <a:buNone/>
            </a:pPr>
            <a:r>
              <a:rPr lang="en-US" sz="1150" b="1" dirty="0">
                <a:solidFill>
                  <a:srgbClr val="000000"/>
                </a:solidFill>
                <a:latin typeface="Times New Roman" pitchFamily="34" charset="0"/>
                <a:ea typeface="Times New Roman" pitchFamily="34" charset="-122"/>
                <a:cs typeface="Times New Roman" pitchFamily="34" charset="-120"/>
              </a:rPr>
              <a:t>Reframe from regression to classification. </a:t>
            </a:r>
            <a:pPr indent="0" marL="0">
              <a:buNone/>
            </a:pPr>
            <a:r>
              <a:rPr lang="en-US" sz="1150" dirty="0">
                <a:solidFill>
                  <a:srgbClr val="000000"/>
                </a:solidFill>
                <a:latin typeface="Times New Roman" pitchFamily="34" charset="0"/>
                <a:ea typeface="Times New Roman" pitchFamily="34" charset="-122"/>
                <a:cs typeface="Times New Roman" pitchFamily="34" charset="-120"/>
              </a:rPr>
              <a:t>The physiological mechanism supports detection of hypo- and hyperglycaemic events rather than recovery of absolute concentration; published ECG classification reports 84–94% accuracy.</a:t>
            </a:r>
            <a:endParaRPr lang="en-US" sz="1150" dirty="0"/>
          </a:p>
        </p:txBody>
      </p:sp>
      <p:sp>
        <p:nvSpPr>
          <p:cNvPr id="9" name="Text 7"/>
          <p:cNvSpPr txBox="1"/>
          <p:nvPr/>
        </p:nvSpPr>
        <p:spPr>
          <a:xfrm>
            <a:off x="822960" y="2203704"/>
            <a:ext cx="320040" cy="274320"/>
          </a:xfrm>
          <a:prstGeom prst="rect">
            <a:avLst/>
          </a:prstGeom>
          <a:noFill/>
          <a:ln/>
        </p:spPr>
        <p:txBody>
          <a:bodyPr wrap="square" lIns="0" tIns="0" rIns="0" bIns="0" rtlCol="0" anchor="ctr"/>
          <a:lstStyle/>
          <a:p>
            <a:pPr algn="r" indent="0" marL="0">
              <a:buNone/>
            </a:pPr>
            <a:r>
              <a:rPr lang="en-US" sz="1150" dirty="0">
                <a:solidFill>
                  <a:srgbClr val="000000"/>
                </a:solidFill>
                <a:latin typeface="Times New Roman" pitchFamily="34" charset="0"/>
                <a:ea typeface="Times New Roman" pitchFamily="34" charset="-122"/>
                <a:cs typeface="Times New Roman" pitchFamily="34" charset="-120"/>
              </a:rPr>
              <a:t>2.</a:t>
            </a:r>
            <a:endParaRPr lang="en-US" sz="1150" dirty="0"/>
          </a:p>
        </p:txBody>
      </p:sp>
      <p:sp>
        <p:nvSpPr>
          <p:cNvPr id="10" name="Text 8"/>
          <p:cNvSpPr txBox="1"/>
          <p:nvPr/>
        </p:nvSpPr>
        <p:spPr>
          <a:xfrm>
            <a:off x="1234440" y="2203704"/>
            <a:ext cx="10241280" cy="548640"/>
          </a:xfrm>
          <a:prstGeom prst="rect">
            <a:avLst/>
          </a:prstGeom>
          <a:noFill/>
          <a:ln/>
        </p:spPr>
        <p:txBody>
          <a:bodyPr wrap="square" lIns="0" tIns="0" rIns="0" bIns="0" rtlCol="0" anchor="ctr"/>
          <a:lstStyle/>
          <a:p>
            <a:pPr indent="0" marL="0">
              <a:buNone/>
            </a:pPr>
            <a:r>
              <a:rPr lang="en-US" sz="1150" b="1" dirty="0">
                <a:solidFill>
                  <a:srgbClr val="000000"/>
                </a:solidFill>
                <a:latin typeface="Times New Roman" pitchFamily="34" charset="0"/>
                <a:ea typeface="Times New Roman" pitchFamily="34" charset="-122"/>
                <a:cs typeface="Times New Roman" pitchFamily="34" charset="-120"/>
              </a:rPr>
              <a:t>Evaluate per-participant calibration. </a:t>
            </a:r>
            <a:pPr indent="0" marL="0">
              <a:buNone/>
            </a:pPr>
            <a:r>
              <a:rPr lang="en-US" sz="1150" dirty="0">
                <a:solidFill>
                  <a:srgbClr val="000000"/>
                </a:solidFill>
                <a:latin typeface="Times New Roman" pitchFamily="34" charset="0"/>
                <a:ea typeface="Times New Roman" pitchFamily="34" charset="-122"/>
                <a:cs typeface="Times New Roman" pitchFamily="34" charset="-120"/>
              </a:rPr>
              <a:t>The gap between random and subject-aware splitting indicates reliance on participant-specific structure, which matches how CGM devices are deployed.</a:t>
            </a:r>
            <a:endParaRPr lang="en-US" sz="1150" dirty="0"/>
          </a:p>
        </p:txBody>
      </p:sp>
      <p:sp>
        <p:nvSpPr>
          <p:cNvPr id="11" name="Text 9"/>
          <p:cNvSpPr txBox="1"/>
          <p:nvPr/>
        </p:nvSpPr>
        <p:spPr>
          <a:xfrm>
            <a:off x="822960" y="2807208"/>
            <a:ext cx="320040" cy="274320"/>
          </a:xfrm>
          <a:prstGeom prst="rect">
            <a:avLst/>
          </a:prstGeom>
          <a:noFill/>
          <a:ln/>
        </p:spPr>
        <p:txBody>
          <a:bodyPr wrap="square" lIns="0" tIns="0" rIns="0" bIns="0" rtlCol="0" anchor="ctr"/>
          <a:lstStyle/>
          <a:p>
            <a:pPr algn="r" indent="0" marL="0">
              <a:buNone/>
            </a:pPr>
            <a:r>
              <a:rPr lang="en-US" sz="1150" dirty="0">
                <a:solidFill>
                  <a:srgbClr val="000000"/>
                </a:solidFill>
                <a:latin typeface="Times New Roman" pitchFamily="34" charset="0"/>
                <a:ea typeface="Times New Roman" pitchFamily="34" charset="-122"/>
                <a:cs typeface="Times New Roman" pitchFamily="34" charset="-120"/>
              </a:rPr>
              <a:t>3.</a:t>
            </a:r>
            <a:endParaRPr lang="en-US" sz="1150" dirty="0"/>
          </a:p>
        </p:txBody>
      </p:sp>
      <p:sp>
        <p:nvSpPr>
          <p:cNvPr id="12" name="Text 10"/>
          <p:cNvSpPr txBox="1"/>
          <p:nvPr/>
        </p:nvSpPr>
        <p:spPr>
          <a:xfrm>
            <a:off x="1234440" y="2807208"/>
            <a:ext cx="10241280" cy="548640"/>
          </a:xfrm>
          <a:prstGeom prst="rect">
            <a:avLst/>
          </a:prstGeom>
          <a:noFill/>
          <a:ln/>
        </p:spPr>
        <p:txBody>
          <a:bodyPr wrap="square" lIns="0" tIns="0" rIns="0" bIns="0" rtlCol="0" anchor="ctr"/>
          <a:lstStyle/>
          <a:p>
            <a:pPr indent="0" marL="0">
              <a:buNone/>
            </a:pPr>
            <a:r>
              <a:rPr lang="en-US" sz="1150" b="1" dirty="0">
                <a:solidFill>
                  <a:srgbClr val="000000"/>
                </a:solidFill>
                <a:latin typeface="Times New Roman" pitchFamily="34" charset="0"/>
                <a:ea typeface="Times New Roman" pitchFamily="34" charset="-122"/>
                <a:cs typeface="Times New Roman" pitchFamily="34" charset="-120"/>
              </a:rPr>
              <a:t>Implement the ResNet morphological branch as specified, </a:t>
            </a:r>
            <a:pPr indent="0" marL="0">
              <a:buNone/>
            </a:pPr>
            <a:r>
              <a:rPr lang="en-US" sz="1150" dirty="0">
                <a:solidFill>
                  <a:srgbClr val="000000"/>
                </a:solidFill>
                <a:latin typeface="Times New Roman" pitchFamily="34" charset="0"/>
                <a:ea typeface="Times New Roman" pitchFamily="34" charset="-122"/>
                <a:cs typeface="Times New Roman" pitchFamily="34" charset="-120"/>
              </a:rPr>
              <a:t>to isolate the effect of our substitution, given GPU access.</a:t>
            </a:r>
            <a:endParaRPr lang="en-US" sz="1150" dirty="0"/>
          </a:p>
        </p:txBody>
      </p:sp>
      <p:sp>
        <p:nvSpPr>
          <p:cNvPr id="13" name="Text 11"/>
          <p:cNvSpPr txBox="1"/>
          <p:nvPr/>
        </p:nvSpPr>
        <p:spPr>
          <a:xfrm>
            <a:off x="822960" y="3410712"/>
            <a:ext cx="320040" cy="274320"/>
          </a:xfrm>
          <a:prstGeom prst="rect">
            <a:avLst/>
          </a:prstGeom>
          <a:noFill/>
          <a:ln/>
        </p:spPr>
        <p:txBody>
          <a:bodyPr wrap="square" lIns="0" tIns="0" rIns="0" bIns="0" rtlCol="0" anchor="ctr"/>
          <a:lstStyle/>
          <a:p>
            <a:pPr algn="r" indent="0" marL="0">
              <a:buNone/>
            </a:pPr>
            <a:r>
              <a:rPr lang="en-US" sz="1150" dirty="0">
                <a:solidFill>
                  <a:srgbClr val="000000"/>
                </a:solidFill>
                <a:latin typeface="Times New Roman" pitchFamily="34" charset="0"/>
                <a:ea typeface="Times New Roman" pitchFamily="34" charset="-122"/>
                <a:cs typeface="Times New Roman" pitchFamily="34" charset="-120"/>
              </a:rPr>
              <a:t>4.</a:t>
            </a:r>
            <a:endParaRPr lang="en-US" sz="1150" dirty="0"/>
          </a:p>
        </p:txBody>
      </p:sp>
      <p:sp>
        <p:nvSpPr>
          <p:cNvPr id="14" name="Text 12"/>
          <p:cNvSpPr txBox="1"/>
          <p:nvPr/>
        </p:nvSpPr>
        <p:spPr>
          <a:xfrm>
            <a:off x="1234440" y="3410712"/>
            <a:ext cx="10241280" cy="548640"/>
          </a:xfrm>
          <a:prstGeom prst="rect">
            <a:avLst/>
          </a:prstGeom>
          <a:noFill/>
          <a:ln/>
        </p:spPr>
        <p:txBody>
          <a:bodyPr wrap="square" lIns="0" tIns="0" rIns="0" bIns="0" rtlCol="0" anchor="ctr"/>
          <a:lstStyle/>
          <a:p>
            <a:pPr indent="0" marL="0">
              <a:buNone/>
            </a:pPr>
            <a:r>
              <a:rPr lang="en-US" sz="1150" b="1" dirty="0">
                <a:solidFill>
                  <a:srgbClr val="000000"/>
                </a:solidFill>
                <a:latin typeface="Times New Roman" pitchFamily="34" charset="0"/>
                <a:ea typeface="Times New Roman" pitchFamily="34" charset="-122"/>
                <a:cs typeface="Times New Roman" pitchFamily="34" charset="-120"/>
              </a:rPr>
              <a:t>Apply the degeneracy diagnostic to other Choquet-fusion pipelines. </a:t>
            </a:r>
            <a:pPr indent="0" marL="0">
              <a:buNone/>
            </a:pPr>
            <a:r>
              <a:rPr lang="en-US" sz="1150" dirty="0">
                <a:solidFill>
                  <a:srgbClr val="000000"/>
                </a:solidFill>
                <a:latin typeface="Times New Roman" pitchFamily="34" charset="0"/>
                <a:ea typeface="Times New Roman" pitchFamily="34" charset="-122"/>
                <a:cs typeface="Times New Roman" pitchFamily="34" charset="-120"/>
              </a:rPr>
              <a:t>The failure mode is not specific to glucose estimation.</a:t>
            </a:r>
            <a:endParaRPr lang="en-US" sz="1150" dirty="0"/>
          </a:p>
        </p:txBody>
      </p:sp>
      <p:sp>
        <p:nvSpPr>
          <p:cNvPr id="15" name="Text 13"/>
          <p:cNvSpPr txBox="1"/>
          <p:nvPr/>
        </p:nvSpPr>
        <p:spPr>
          <a:xfrm>
            <a:off x="685800" y="4114800"/>
            <a:ext cx="10820095" cy="310896"/>
          </a:xfrm>
          <a:prstGeom prst="rect">
            <a:avLst/>
          </a:prstGeom>
          <a:noFill/>
          <a:ln/>
        </p:spPr>
        <p:txBody>
          <a:bodyPr wrap="square" lIns="0" tIns="0" rIns="0" bIns="0" rtlCol="0" anchor="ctr"/>
          <a:lstStyle/>
          <a:p>
            <a:pPr algn="ctr" indent="0" marL="0">
              <a:buNone/>
            </a:pPr>
            <a:r>
              <a:rPr lang="en-US" sz="1300" b="1" dirty="0">
                <a:solidFill>
                  <a:srgbClr val="000000"/>
                </a:solidFill>
                <a:latin typeface="Times New Roman" pitchFamily="34" charset="0"/>
                <a:ea typeface="Times New Roman" pitchFamily="34" charset="-122"/>
                <a:cs typeface="Times New Roman" pitchFamily="34" charset="-120"/>
              </a:rPr>
              <a:t>Expected outputs and outcomes</a:t>
            </a:r>
            <a:endParaRPr lang="en-US" sz="1300" dirty="0"/>
          </a:p>
        </p:txBody>
      </p:sp>
      <p:sp>
        <p:nvSpPr>
          <p:cNvPr id="16" name="Shape 14"/>
          <p:cNvSpPr/>
          <p:nvPr/>
        </p:nvSpPr>
        <p:spPr>
          <a:xfrm>
            <a:off x="685800" y="4480560"/>
            <a:ext cx="5303520" cy="1417320"/>
          </a:xfrm>
          <a:prstGeom prst="roundRect">
            <a:avLst>
              <a:gd name="adj" fmla="val 14194"/>
            </a:avLst>
          </a:prstGeom>
          <a:solidFill>
            <a:srgbClr val="F5F5F5"/>
          </a:solidFill>
          <a:ln w="9525">
            <a:solidFill>
              <a:srgbClr val="BFBFBF"/>
            </a:solidFill>
            <a:prstDash val="solid"/>
          </a:ln>
          <a:effectLst>
            <a:outerShdw sx="100000" sy="100000" kx="0" ky="0" algn="bl" rotWithShape="0" blurRad="63500" dist="25400" dir="2700000">
              <a:srgbClr val="888888">
                <a:alpha val="35000"/>
              </a:srgbClr>
            </a:outerShdw>
          </a:effectLst>
        </p:spPr>
      </p:sp>
      <p:sp>
        <p:nvSpPr>
          <p:cNvPr id="17" name="Text 15"/>
          <p:cNvSpPr txBox="1"/>
          <p:nvPr/>
        </p:nvSpPr>
        <p:spPr>
          <a:xfrm>
            <a:off x="941832" y="4681728"/>
            <a:ext cx="4791456" cy="1033272"/>
          </a:xfrm>
          <a:prstGeom prst="rect">
            <a:avLst/>
          </a:prstGeom>
          <a:noFill/>
          <a:ln/>
        </p:spPr>
        <p:txBody>
          <a:bodyPr wrap="square" lIns="0" tIns="0" rIns="0" bIns="0" rtlCol="0" anchor="t"/>
          <a:lstStyle/>
          <a:p>
            <a:pPr indent="0" marL="0">
              <a:spcAft>
                <a:spcPts val="700"/>
              </a:spcAft>
              <a:buNone/>
            </a:pPr>
            <a:r>
              <a:rPr lang="en-US" sz="1050" dirty="0">
                <a:solidFill>
                  <a:srgbClr val="000000"/>
                </a:solidFill>
                <a:latin typeface="Times New Roman" pitchFamily="34" charset="0"/>
                <a:ea typeface="Times New Roman" pitchFamily="34" charset="-122"/>
                <a:cs typeface="Times New Roman" pitchFamily="34" charset="-120"/>
              </a:rPr>
              <a:t>• An open, reproducible implementation of all three stages.</a:t>
            </a:r>
            <a:endParaRPr lang="en-US" sz="1050" dirty="0"/>
          </a:p>
          <a:p>
            <a:pPr indent="0" marL="0">
              <a:spcAft>
                <a:spcPts val="700"/>
              </a:spcAft>
              <a:buNone/>
            </a:pPr>
            <a:r>
              <a:rPr lang="en-US" sz="1050" dirty="0">
                <a:solidFill>
                  <a:srgbClr val="000000"/>
                </a:solidFill>
                <a:latin typeface="Times New Roman" pitchFamily="34" charset="0"/>
                <a:ea typeface="Times New Roman" pitchFamily="34" charset="-122"/>
                <a:cs typeface="Times New Roman" pitchFamily="34" charset="-120"/>
              </a:rPr>
              <a:t>• A degeneracy theorem with a runnable diagnostic, reusable in any domain employing fuzzy-integral fusion.</a:t>
            </a:r>
            <a:endParaRPr lang="en-US" sz="1050" dirty="0"/>
          </a:p>
        </p:txBody>
      </p:sp>
      <p:sp>
        <p:nvSpPr>
          <p:cNvPr id="18" name="Shape 16"/>
          <p:cNvSpPr/>
          <p:nvPr/>
        </p:nvSpPr>
        <p:spPr>
          <a:xfrm>
            <a:off x="6400800" y="4480560"/>
            <a:ext cx="5120640" cy="1417320"/>
          </a:xfrm>
          <a:prstGeom prst="roundRect">
            <a:avLst>
              <a:gd name="adj" fmla="val 14194"/>
            </a:avLst>
          </a:prstGeom>
          <a:solidFill>
            <a:srgbClr val="F5F5F5"/>
          </a:solidFill>
          <a:ln w="9525">
            <a:solidFill>
              <a:srgbClr val="BFBFBF"/>
            </a:solidFill>
            <a:prstDash val="solid"/>
          </a:ln>
          <a:effectLst>
            <a:outerShdw sx="100000" sy="100000" kx="0" ky="0" algn="bl" rotWithShape="0" blurRad="63500" dist="25400" dir="2700000">
              <a:srgbClr val="888888">
                <a:alpha val="35000"/>
              </a:srgbClr>
            </a:outerShdw>
          </a:effectLst>
        </p:spPr>
      </p:sp>
      <p:sp>
        <p:nvSpPr>
          <p:cNvPr id="19" name="Text 17"/>
          <p:cNvSpPr txBox="1"/>
          <p:nvPr/>
        </p:nvSpPr>
        <p:spPr>
          <a:xfrm>
            <a:off x="6656832" y="4681728"/>
            <a:ext cx="4608576" cy="1033272"/>
          </a:xfrm>
          <a:prstGeom prst="rect">
            <a:avLst/>
          </a:prstGeom>
          <a:noFill/>
          <a:ln/>
        </p:spPr>
        <p:txBody>
          <a:bodyPr wrap="square" lIns="0" tIns="0" rIns="0" bIns="0" rtlCol="0" anchor="t"/>
          <a:lstStyle/>
          <a:p>
            <a:pPr indent="0" marL="0">
              <a:spcAft>
                <a:spcPts val="700"/>
              </a:spcAft>
              <a:buNone/>
            </a:pPr>
            <a:r>
              <a:rPr lang="en-US" sz="1050" dirty="0">
                <a:solidFill>
                  <a:srgbClr val="000000"/>
                </a:solidFill>
                <a:latin typeface="Times New Roman" pitchFamily="34" charset="0"/>
                <a:ea typeface="Times New Roman" pitchFamily="34" charset="-122"/>
                <a:cs typeface="Times New Roman" pitchFamily="34" charset="-120"/>
              </a:rPr>
              <a:t>• Evidence that evaluation protocol dominates model choice, and that clinical zone metrics require a reported baseline.</a:t>
            </a:r>
            <a:endParaRPr lang="en-US" sz="1050" dirty="0"/>
          </a:p>
          <a:p>
            <a:pPr indent="0" marL="0">
              <a:spcAft>
                <a:spcPts val="700"/>
              </a:spcAft>
              <a:buNone/>
            </a:pPr>
            <a:r>
              <a:rPr lang="en-US" sz="1050" dirty="0">
                <a:solidFill>
                  <a:srgbClr val="000000"/>
                </a:solidFill>
                <a:latin typeface="Times New Roman" pitchFamily="34" charset="0"/>
                <a:ea typeface="Times New Roman" pitchFamily="34" charset="-122"/>
                <a:cs typeface="Times New Roman" pitchFamily="34" charset="-120"/>
              </a:rPr>
              <a:t>• A reproducibility defect reported in a widely used nonlinear-features library.</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566928"/>
          </a:xfrm>
          <a:prstGeom prst="rect">
            <a:avLst/>
          </a:prstGeom>
          <a:noFill/>
          <a:ln/>
        </p:spPr>
        <p:txBody>
          <a:bodyPr wrap="square" lIns="0" tIns="0" rIns="0" bIns="0" rtlCol="0" anchor="ctr"/>
          <a:lstStyle/>
          <a:p>
            <a:pPr indent="0" marL="0">
              <a:buNone/>
            </a:pPr>
            <a:r>
              <a:rPr lang="en-US" sz="2100" b="1" dirty="0">
                <a:solidFill>
                  <a:srgbClr val="000000"/>
                </a:solidFill>
                <a:latin typeface="Times New Roman" pitchFamily="34" charset="0"/>
                <a:ea typeface="Times New Roman" pitchFamily="34" charset="-122"/>
                <a:cs typeface="Times New Roman" pitchFamily="34" charset="-120"/>
              </a:rPr>
              <a:t>15. Conclusion and References</a:t>
            </a:r>
            <a:endParaRPr lang="en-US" sz="2100" dirty="0"/>
          </a:p>
        </p:txBody>
      </p:sp>
      <p:sp>
        <p:nvSpPr>
          <p:cNvPr id="3" name="Shape 1"/>
          <p:cNvSpPr/>
          <p:nvPr/>
        </p:nvSpPr>
        <p:spPr>
          <a:xfrm>
            <a:off x="685800" y="1024128"/>
            <a:ext cx="10820095" cy="3658"/>
          </a:xfrm>
          <a:prstGeom prst="line">
            <a:avLst/>
          </a:prstGeom>
          <a:noFill/>
          <a:ln w="13970">
            <a:solidFill>
              <a:srgbClr val="000000"/>
            </a:solidFill>
            <a:prstDash val="solid"/>
          </a:ln>
        </p:spPr>
      </p:sp>
      <p:sp>
        <p:nvSpPr>
          <p:cNvPr id="4" name="Text 2"/>
          <p:cNvSpPr txBox="1"/>
          <p:nvPr/>
        </p:nvSpPr>
        <p:spPr>
          <a:xfrm>
            <a:off x="685800" y="6382512"/>
            <a:ext cx="8229600" cy="256032"/>
          </a:xfrm>
          <a:prstGeom prst="rect">
            <a:avLst/>
          </a:prstGeom>
          <a:noFill/>
          <a:ln/>
        </p:spPr>
        <p:txBody>
          <a:bodyPr wrap="square" lIns="0" tIns="0" rIns="0" bIns="0" rtlCol="0" anchor="ctr"/>
          <a:lstStyle/>
          <a:p>
            <a:pPr indent="0" marL="0">
              <a:buNone/>
            </a:pPr>
            <a:r>
              <a:rPr lang="en-US" sz="800" dirty="0">
                <a:solidFill>
                  <a:srgbClr val="444444"/>
                </a:solidFill>
                <a:latin typeface="Times New Roman" pitchFamily="34" charset="0"/>
                <a:ea typeface="Times New Roman" pitchFamily="34" charset="-122"/>
                <a:cs typeface="Times New Roman" pitchFamily="34" charset="-120"/>
              </a:rPr>
              <a:t>Mid Term Review | Noninvasive Blood Glucose Estimation from ECG and PPG</a:t>
            </a:r>
            <a:endParaRPr lang="en-US" sz="800" dirty="0"/>
          </a:p>
        </p:txBody>
      </p:sp>
      <p:sp>
        <p:nvSpPr>
          <p:cNvPr id="5" name="Text 3"/>
          <p:cNvSpPr txBox="1"/>
          <p:nvPr/>
        </p:nvSpPr>
        <p:spPr>
          <a:xfrm>
            <a:off x="10682935" y="6382512"/>
            <a:ext cx="822960" cy="256032"/>
          </a:xfrm>
          <a:prstGeom prst="rect">
            <a:avLst/>
          </a:prstGeom>
          <a:noFill/>
          <a:ln/>
        </p:spPr>
        <p:txBody>
          <a:bodyPr wrap="square" lIns="0" tIns="0" rIns="0" bIns="0" rtlCol="0" anchor="ctr"/>
          <a:lstStyle/>
          <a:p>
            <a:pPr algn="r" indent="0" marL="0">
              <a:buNone/>
            </a:pPr>
            <a:r>
              <a:rPr lang="en-US" sz="800" dirty="0">
                <a:solidFill>
                  <a:srgbClr val="444444"/>
                </a:solidFill>
                <a:latin typeface="Times New Roman" pitchFamily="34" charset="0"/>
                <a:ea typeface="Times New Roman" pitchFamily="34" charset="-122"/>
                <a:cs typeface="Times New Roman" pitchFamily="34" charset="-120"/>
              </a:rPr>
              <a:t>17</a:t>
            </a:r>
            <a:endParaRPr lang="en-US" sz="800" dirty="0"/>
          </a:p>
        </p:txBody>
      </p:sp>
      <p:sp>
        <p:nvSpPr>
          <p:cNvPr id="6" name="Shape 4"/>
          <p:cNvSpPr/>
          <p:nvPr/>
        </p:nvSpPr>
        <p:spPr>
          <a:xfrm>
            <a:off x="685800" y="1188720"/>
            <a:ext cx="10835640" cy="1371600"/>
          </a:xfrm>
          <a:prstGeom prst="roundRect">
            <a:avLst>
              <a:gd name="adj" fmla="val 14667"/>
            </a:avLst>
          </a:prstGeom>
          <a:solidFill>
            <a:srgbClr val="F5F5F5"/>
          </a:solidFill>
          <a:ln w="9525">
            <a:solidFill>
              <a:srgbClr val="BFBFBF"/>
            </a:solidFill>
            <a:prstDash val="solid"/>
          </a:ln>
          <a:effectLst>
            <a:outerShdw sx="100000" sy="100000" kx="0" ky="0" algn="bl" rotWithShape="0" blurRad="63500" dist="25400" dir="2700000">
              <a:srgbClr val="888888">
                <a:alpha val="35000"/>
              </a:srgbClr>
            </a:outerShdw>
          </a:effectLst>
        </p:spPr>
      </p:sp>
      <p:sp>
        <p:nvSpPr>
          <p:cNvPr id="7" name="Text 5"/>
          <p:cNvSpPr txBox="1"/>
          <p:nvPr/>
        </p:nvSpPr>
        <p:spPr>
          <a:xfrm>
            <a:off x="868680" y="1335024"/>
            <a:ext cx="10469880" cy="292608"/>
          </a:xfrm>
          <a:prstGeom prst="rect">
            <a:avLst/>
          </a:prstGeom>
          <a:noFill/>
          <a:ln/>
        </p:spPr>
        <p:txBody>
          <a:bodyPr wrap="square" lIns="0" tIns="0" rIns="0" bIns="0" rtlCol="0" anchor="ct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Conclusion</a:t>
            </a:r>
            <a:endParaRPr lang="en-US" sz="1400" dirty="0"/>
          </a:p>
        </p:txBody>
      </p:sp>
      <p:sp>
        <p:nvSpPr>
          <p:cNvPr id="8" name="Text 6"/>
          <p:cNvSpPr txBox="1"/>
          <p:nvPr/>
        </p:nvSpPr>
        <p:spPr>
          <a:xfrm>
            <a:off x="941832" y="1755648"/>
            <a:ext cx="10323576" cy="640080"/>
          </a:xfrm>
          <a:prstGeom prst="rect">
            <a:avLst/>
          </a:prstGeom>
          <a:noFill/>
          <a:ln/>
        </p:spPr>
        <p:txBody>
          <a:bodyPr wrap="square" lIns="0" tIns="0" rIns="0" bIns="0" rtlCol="0" anchor="t"/>
          <a:lstStyle/>
          <a:p>
            <a:pPr indent="0" marL="0">
              <a:spcAft>
                <a:spcPts val="700"/>
              </a:spcAft>
              <a:buNone/>
            </a:pPr>
            <a:r>
              <a:rPr lang="en-US" sz="1150" dirty="0">
                <a:solidFill>
                  <a:srgbClr val="000000"/>
                </a:solidFill>
                <a:latin typeface="Times New Roman" pitchFamily="34" charset="0"/>
                <a:ea typeface="Times New Roman" pitchFamily="34" charset="-122"/>
                <a:cs typeface="Times New Roman" pitchFamily="34" charset="-120"/>
              </a:rPr>
              <a:t>The SFF-WCIM method was rebuilt in full and evaluated on 30,830 paired ECG and PPG windows from ten participants. Under the source paper's own protocol it learns (R² = +0.149). Under either leakage-controlled protocol every method, including the fusion, performs worse than a model that predicts the population mean, while still attaining 89–91% in the clinical acceptability zones. The fusion operator was additionally found to have degenerated into a minimum operator.</a:t>
            </a:r>
            <a:endParaRPr lang="en-US" sz="1150" dirty="0"/>
          </a:p>
        </p:txBody>
      </p:sp>
      <p:sp>
        <p:nvSpPr>
          <p:cNvPr id="9" name="Text 7"/>
          <p:cNvSpPr txBox="1"/>
          <p:nvPr/>
        </p:nvSpPr>
        <p:spPr>
          <a:xfrm>
            <a:off x="685800" y="2697480"/>
            <a:ext cx="10820095" cy="274320"/>
          </a:xfrm>
          <a:prstGeom prst="rect">
            <a:avLst/>
          </a:prstGeom>
          <a:noFill/>
          <a:ln/>
        </p:spPr>
        <p:txBody>
          <a:bodyPr wrap="square" lIns="0" tIns="0" rIns="0" bIns="0" rtlCol="0" anchor="ctr"/>
          <a:lstStyle/>
          <a:p>
            <a:pPr algn="ctr" indent="0" marL="0">
              <a:buNone/>
            </a:pPr>
            <a:r>
              <a:rPr lang="en-US" sz="1300" b="1" dirty="0">
                <a:solidFill>
                  <a:srgbClr val="000000"/>
                </a:solidFill>
                <a:latin typeface="Times New Roman" pitchFamily="34" charset="0"/>
                <a:ea typeface="Times New Roman" pitchFamily="34" charset="-122"/>
                <a:cs typeface="Times New Roman" pitchFamily="34" charset="-120"/>
              </a:rPr>
              <a:t>References</a:t>
            </a:r>
            <a:endParaRPr lang="en-US" sz="1300" dirty="0"/>
          </a:p>
        </p:txBody>
      </p:sp>
      <p:sp>
        <p:nvSpPr>
          <p:cNvPr id="10" name="Text 8"/>
          <p:cNvSpPr txBox="1"/>
          <p:nvPr/>
        </p:nvSpPr>
        <p:spPr>
          <a:xfrm>
            <a:off x="685800" y="3063240"/>
            <a:ext cx="10835640" cy="2743200"/>
          </a:xfrm>
          <a:prstGeom prst="rect">
            <a:avLst/>
          </a:prstGeom>
          <a:noFill/>
          <a:ln/>
        </p:spPr>
        <p:txBody>
          <a:bodyPr wrap="square" lIns="0" tIns="0" rIns="0" bIns="0" rtlCol="0" anchor="ctr"/>
          <a:lstStyle/>
          <a:p>
            <a:pPr indent="0" marL="0">
              <a:spcAft>
                <a:spcPts val="400"/>
              </a:spcAft>
              <a:buNone/>
            </a:pPr>
            <a:r>
              <a:rPr lang="en-US" sz="900" dirty="0">
                <a:solidFill>
                  <a:srgbClr val="000000"/>
                </a:solidFill>
                <a:latin typeface="Times New Roman" pitchFamily="34" charset="0"/>
                <a:ea typeface="Times New Roman" pitchFamily="34" charset="-122"/>
                <a:cs typeface="Times New Roman" pitchFamily="34" charset="-120"/>
              </a:rPr>
              <a:t>[1] J. Li et al., "Noninvasive blood glucose monitoring using spatiotemporal ECG and PPG feature fusion and weight-based Choquet integral multimodel approach," IEEE Trans. Neural Netw. Learn. Syst., vol. 35, no. 10, pp. 14493–14505, Oct. 2024.</a:t>
            </a:r>
            <a:endParaRPr lang="en-US" sz="900" dirty="0"/>
          </a:p>
          <a:p>
            <a:pPr indent="0" marL="0">
              <a:spcAft>
                <a:spcPts val="400"/>
              </a:spcAft>
              <a:buNone/>
            </a:pPr>
            <a:r>
              <a:rPr lang="en-US" sz="900" dirty="0">
                <a:solidFill>
                  <a:srgbClr val="000000"/>
                </a:solidFill>
                <a:latin typeface="Times New Roman" pitchFamily="34" charset="0"/>
                <a:ea typeface="Times New Roman" pitchFamily="34" charset="-122"/>
                <a:cs typeface="Times New Roman" pitchFamily="34" charset="-120"/>
              </a:rPr>
              <a:t>[2] "PhysioCGM: a multimodal physiological dataset for non-invasive blood glucose estimation," Sci. Data, vol. 12, 2025. [Online]. Available: https://doi.org/10.6084/m9.figshare.28136294 (accessed Sep. 25, 2026).</a:t>
            </a:r>
            <a:endParaRPr lang="en-US" sz="900" dirty="0"/>
          </a:p>
          <a:p>
            <a:pPr indent="0" marL="0">
              <a:spcAft>
                <a:spcPts val="400"/>
              </a:spcAft>
              <a:buNone/>
            </a:pPr>
            <a:r>
              <a:rPr lang="en-US" sz="900" dirty="0">
                <a:solidFill>
                  <a:srgbClr val="000000"/>
                </a:solidFill>
                <a:latin typeface="Times New Roman" pitchFamily="34" charset="0"/>
                <a:ea typeface="Times New Roman" pitchFamily="34" charset="-122"/>
                <a:cs typeface="Times New Roman" pitchFamily="34" charset="-120"/>
              </a:rPr>
              <a:t>[3] "Reassessing the feasibility of PPG-based non-invasive blood glucose level estimation," arXiv:2608.01820, 2026.</a:t>
            </a:r>
            <a:endParaRPr lang="en-US" sz="900" dirty="0"/>
          </a:p>
          <a:p>
            <a:pPr indent="0" marL="0">
              <a:spcAft>
                <a:spcPts val="400"/>
              </a:spcAft>
              <a:buNone/>
            </a:pPr>
            <a:r>
              <a:rPr lang="en-US" sz="900" dirty="0">
                <a:solidFill>
                  <a:srgbClr val="000000"/>
                </a:solidFill>
                <a:latin typeface="Times New Roman" pitchFamily="34" charset="0"/>
                <a:ea typeface="Times New Roman" pitchFamily="34" charset="-122"/>
                <a:cs typeface="Times New Roman" pitchFamily="34" charset="-120"/>
              </a:rPr>
              <a:t>[4] "Advances in electrocardiogram-based non-invasive blood glucose monitoring technology," review, 2026.</a:t>
            </a:r>
            <a:endParaRPr lang="en-US" sz="900" dirty="0"/>
          </a:p>
          <a:p>
            <a:pPr indent="0" marL="0">
              <a:spcAft>
                <a:spcPts val="400"/>
              </a:spcAft>
              <a:buNone/>
            </a:pPr>
            <a:r>
              <a:rPr lang="en-US" sz="900" dirty="0">
                <a:solidFill>
                  <a:srgbClr val="000000"/>
                </a:solidFill>
                <a:latin typeface="Times New Roman" pitchFamily="34" charset="0"/>
                <a:ea typeface="Times New Roman" pitchFamily="34" charset="-122"/>
                <a:cs typeface="Times New Roman" pitchFamily="34" charset="-120"/>
              </a:rPr>
              <a:t>[5] J. L. Parkes, S. L. Slatin, S. Pardo and B. H. Ginsberg, "A new consensus error grid to evaluate the clinical significance of inaccuracies in the estimation of blood glucose," Diabetes Care, vol. 23, no. 8, pp. 1143–1148, Aug. 2000.</a:t>
            </a:r>
            <a:endParaRPr lang="en-US" sz="900" dirty="0"/>
          </a:p>
          <a:p>
            <a:pPr indent="0" marL="0">
              <a:spcAft>
                <a:spcPts val="400"/>
              </a:spcAft>
              <a:buNone/>
            </a:pPr>
            <a:r>
              <a:rPr lang="en-US" sz="900" dirty="0">
                <a:solidFill>
                  <a:srgbClr val="000000"/>
                </a:solidFill>
                <a:latin typeface="Times New Roman" pitchFamily="34" charset="0"/>
                <a:ea typeface="Times New Roman" pitchFamily="34" charset="-122"/>
                <a:cs typeface="Times New Roman" pitchFamily="34" charset="-120"/>
              </a:rPr>
              <a:t>[6] A. Pfützner, D. C. Klonoff, S. Pardo and J. L. Parkes, "Technical aspects of the Parkes error grid," J. Diabetes Sci. Technol., vol. 7, no. 5, pp. 1275–1281, 2013.</a:t>
            </a:r>
            <a:endParaRPr lang="en-US" sz="900" dirty="0"/>
          </a:p>
          <a:p>
            <a:pPr indent="0" marL="0">
              <a:spcAft>
                <a:spcPts val="400"/>
              </a:spcAft>
              <a:buNone/>
            </a:pPr>
            <a:r>
              <a:rPr lang="en-US" sz="900" dirty="0">
                <a:solidFill>
                  <a:srgbClr val="000000"/>
                </a:solidFill>
                <a:latin typeface="Times New Roman" pitchFamily="34" charset="0"/>
                <a:ea typeface="Times New Roman" pitchFamily="34" charset="-122"/>
                <a:cs typeface="Times New Roman" pitchFamily="34" charset="-120"/>
              </a:rPr>
              <a:t>[7] B. Eckert and C.-D. Agardh, "Hypoglycaemia leads to an increased QT interval in normal men," Clin. Physiol., vol. 18, no. 6, pp. 570–575, Nov. 1998.</a:t>
            </a:r>
            <a:endParaRPr lang="en-US" sz="900" dirty="0"/>
          </a:p>
          <a:p>
            <a:pPr indent="0" marL="0">
              <a:spcAft>
                <a:spcPts val="400"/>
              </a:spcAft>
              <a:buNone/>
            </a:pPr>
            <a:r>
              <a:rPr lang="en-US" sz="900" dirty="0">
                <a:solidFill>
                  <a:srgbClr val="000000"/>
                </a:solidFill>
                <a:latin typeface="Times New Roman" pitchFamily="34" charset="0"/>
                <a:ea typeface="Times New Roman" pitchFamily="34" charset="-122"/>
                <a:cs typeface="Times New Roman" pitchFamily="34" charset="-120"/>
              </a:rPr>
              <a:t>[8] M. Grabisch, "Fuzzy integral in multicriteria decision making," Fuzzy Sets Syst., vol. 69, no. 3, pp. 279–298, 1995.</a:t>
            </a:r>
            <a:endParaRPr lang="en-US" sz="900" dirty="0"/>
          </a:p>
          <a:p>
            <a:pPr indent="0" marL="0">
              <a:spcAft>
                <a:spcPts val="400"/>
              </a:spcAft>
              <a:buNone/>
            </a:pPr>
            <a:r>
              <a:rPr lang="en-US" sz="900" dirty="0">
                <a:solidFill>
                  <a:srgbClr val="000000"/>
                </a:solidFill>
                <a:latin typeface="Times New Roman" pitchFamily="34" charset="0"/>
                <a:ea typeface="Times New Roman" pitchFamily="34" charset="-122"/>
                <a:cs typeface="Times New Roman" pitchFamily="34" charset="-120"/>
              </a:rPr>
              <a:t>[9] J.-L. Marichal, "On Choquet and Sugeno integrals as aggregation functions," in Fuzzy Measures and Integrals, Heidelberg: Physica-Verlag, 2000, pp. 247–272.</a:t>
            </a:r>
            <a:endParaRPr lang="en-US" sz="900" dirty="0"/>
          </a:p>
          <a:p>
            <a:pPr indent="0" marL="0">
              <a:spcAft>
                <a:spcPts val="400"/>
              </a:spcAft>
              <a:buNone/>
            </a:pPr>
            <a:r>
              <a:rPr lang="en-US" sz="900" dirty="0">
                <a:solidFill>
                  <a:srgbClr val="000000"/>
                </a:solidFill>
                <a:latin typeface="Times New Roman" pitchFamily="34" charset="0"/>
                <a:ea typeface="Times New Roman" pitchFamily="34" charset="-122"/>
                <a:cs typeface="Times New Roman" pitchFamily="34" charset="-120"/>
              </a:rPr>
              <a:t>[10] B. Hjorth, "EEG analysis based on time domain properties," Electroencephalogr. Clin. Neurophysiol., vol. 29, no. 3, pp. 306–310, 1970.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Noninvasive Blood Glucose Estimation from ECG and PPG</dc:title>
  <dc:subject>PptxGenJS Presentation</dc:subject>
  <dc:creator>Vednash Singhal, Navtesh Maken, Aditya Agarwaal, Tushar Sharma</dc:creator>
  <cp:lastModifiedBy>Vednash Singhal, Navtesh Maken, Aditya Agarwaal, Tushar Sharma</cp:lastModifiedBy>
  <cp:revision>1</cp:revision>
  <dcterms:created xsi:type="dcterms:W3CDTF">2026-09-30T03:42:59Z</dcterms:created>
  <dcterms:modified xsi:type="dcterms:W3CDTF">2026-09-30T03:42:59Z</dcterms:modified>
</cp:coreProperties>
</file>