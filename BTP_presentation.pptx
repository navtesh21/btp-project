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Lst>
  <p:notesMasterIdLst>
    <p:notesMasterId r:id="rId18"/>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notesMaster" Target="notesMasters/notesMaster1.xml"/><Relationship Id="rId19" Type="http://schemas.openxmlformats.org/officeDocument/2006/relationships/presProps" Target="presProps.xml"/><Relationship Id="rId20" Type="http://schemas.openxmlformats.org/officeDocument/2006/relationships/viewProps" Target="viewProps.xml"/><Relationship Id="rId21" Type="http://schemas.openxmlformats.org/officeDocument/2006/relationships/theme" Target="theme/theme1.xml"/><Relationship Id="rId22"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reproduce a 2024 IEEE method on open data. The headline is not the accuracy - it is four ways this kind of pipeline produces confident wrong answers.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Open here. The audience needs to know what glucose is, why it matters, and that there IS a real reason to look at the heart - before any maths.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193 features = 80 ECG wavelet + 80 PPG wavelet + 33 morphological (QT, QTc, ST level, T-wave shape, HRV, PPG pulse shape).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 not rush this slide. The key intuition: a weighted average cannot express that two models overlap. The Choquet integral can, because it scores every subset.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If asked why a wavelet: measuring 'irregularity' means something different for the fast QRS than for the slow T wave. Separating them lets each be described on its own terms.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single most convincing slide. Point at the horizontal band. A model that had learned anything would slope upward along the diagonal.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If you only have time for one point about evaluation, make it this one: never report a clinical zone score without the baseline beside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1.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B2F3A"/>
        </a:solidFill>
      </p:bgPr>
    </p:bg>
    <p:spTree>
      <p:nvGrpSpPr>
        <p:cNvPr id="1" name=""/>
        <p:cNvGrpSpPr/>
        <p:nvPr/>
      </p:nvGrpSpPr>
      <p:grpSpPr>
        <a:xfrm>
          <a:off x="0" y="0"/>
          <a:ext cx="0" cy="0"/>
          <a:chOff x="0" y="0"/>
          <a:chExt cx="0" cy="0"/>
        </a:xfrm>
      </p:grpSpPr>
      <p:sp>
        <p:nvSpPr>
          <p:cNvPr id="2" name="Text 0"/>
          <p:cNvSpPr txBox="1"/>
          <p:nvPr/>
        </p:nvSpPr>
        <p:spPr>
          <a:xfrm>
            <a:off x="548640" y="1600200"/>
            <a:ext cx="9997135" cy="1371600"/>
          </a:xfrm>
          <a:prstGeom prst="rect">
            <a:avLst/>
          </a:prstGeom>
          <a:noFill/>
          <a:ln/>
        </p:spPr>
        <p:txBody>
          <a:bodyPr wrap="square" rtlCol="0" anchor="ctr"/>
          <a:lstStyle/>
          <a:p>
            <a:pPr indent="0" marL="0">
              <a:buNone/>
            </a:pPr>
            <a:r>
              <a:rPr lang="en-US" sz="4200" b="1" dirty="0">
                <a:solidFill>
                  <a:srgbClr val="FFFFFF"/>
                </a:solidFill>
                <a:latin typeface="Cambria" pitchFamily="34" charset="0"/>
                <a:ea typeface="Cambria" pitchFamily="34" charset="-122"/>
                <a:cs typeface="Cambria" pitchFamily="34" charset="-120"/>
              </a:rPr>
              <a:t>Can your heartbeat tell us your blood sugar?</a:t>
            </a:r>
            <a:endParaRPr lang="en-US" sz="4200" dirty="0"/>
          </a:p>
        </p:txBody>
      </p:sp>
      <p:sp>
        <p:nvSpPr>
          <p:cNvPr id="3" name="Text 1"/>
          <p:cNvSpPr txBox="1"/>
          <p:nvPr/>
        </p:nvSpPr>
        <p:spPr>
          <a:xfrm>
            <a:off x="548640" y="3017520"/>
            <a:ext cx="9082735" cy="822960"/>
          </a:xfrm>
          <a:prstGeom prst="rect">
            <a:avLst/>
          </a:prstGeom>
          <a:noFill/>
          <a:ln/>
        </p:spPr>
        <p:txBody>
          <a:bodyPr wrap="square" rtlCol="0" anchor="ctr"/>
          <a:lstStyle/>
          <a:p>
            <a:pPr indent="0" marL="0">
              <a:buNone/>
            </a:pPr>
            <a:r>
              <a:rPr lang="en-US" sz="1700" dirty="0">
                <a:solidFill>
                  <a:srgbClr val="AEC6CC"/>
                </a:solidFill>
                <a:latin typeface="Calibri" pitchFamily="34" charset="0"/>
                <a:ea typeface="Calibri" pitchFamily="34" charset="-122"/>
                <a:cs typeface="Calibri" pitchFamily="34" charset="-120"/>
              </a:rPr>
              <a:t>Reproducing a Choquet-integral multimodel approach to noninvasive blood glucose estimation from ECG and PPG</a:t>
            </a:r>
            <a:endParaRPr lang="en-US" sz="1700" dirty="0"/>
          </a:p>
        </p:txBody>
      </p:sp>
      <p:sp>
        <p:nvSpPr>
          <p:cNvPr id="4" name="Text 2"/>
          <p:cNvSpPr txBox="1"/>
          <p:nvPr/>
        </p:nvSpPr>
        <p:spPr>
          <a:xfrm>
            <a:off x="548640" y="4114800"/>
            <a:ext cx="5486400" cy="365760"/>
          </a:xfrm>
          <a:prstGeom prst="rect">
            <a:avLst/>
          </a:prstGeom>
          <a:noFill/>
          <a:ln/>
        </p:spPr>
        <p:txBody>
          <a:bodyPr wrap="square" rtlCol="0" anchor="ctr"/>
          <a:lstStyle/>
          <a:p>
            <a:pPr indent="0" marL="0">
              <a:buNone/>
            </a:pPr>
            <a:r>
              <a:rPr lang="en-US" sz="1300" b="1" spc="200" kern="0" dirty="0">
                <a:solidFill>
                  <a:srgbClr val="00C2A8"/>
                </a:solidFill>
                <a:latin typeface="Calibri" pitchFamily="34" charset="0"/>
                <a:ea typeface="Calibri" pitchFamily="34" charset="-122"/>
                <a:cs typeface="Calibri" pitchFamily="34" charset="-120"/>
              </a:rPr>
              <a:t>B.Tech Final Year Project</a:t>
            </a:r>
            <a:endParaRPr lang="en-US" sz="1300" dirty="0"/>
          </a:p>
        </p:txBody>
      </p:sp>
      <p:sp>
        <p:nvSpPr>
          <p:cNvPr id="5" name="Text 3"/>
          <p:cNvSpPr txBox="1"/>
          <p:nvPr/>
        </p:nvSpPr>
        <p:spPr>
          <a:xfrm>
            <a:off x="548640" y="4526280"/>
            <a:ext cx="5486400" cy="365760"/>
          </a:xfrm>
          <a:prstGeom prst="rect">
            <a:avLst/>
          </a:prstGeom>
          <a:noFill/>
          <a:ln/>
        </p:spPr>
        <p:txBody>
          <a:bodyPr wrap="square" rtlCol="0" anchor="ctr"/>
          <a:lstStyle/>
          <a:p>
            <a:pPr indent="0" marL="0">
              <a:buNone/>
            </a:pPr>
            <a:r>
              <a:rPr lang="en-US" sz="1500" dirty="0">
                <a:solidFill>
                  <a:srgbClr val="FFFFFF"/>
                </a:solidFill>
                <a:latin typeface="Calibri" pitchFamily="34" charset="0"/>
                <a:ea typeface="Calibri" pitchFamily="34" charset="-122"/>
                <a:cs typeface="Calibri" pitchFamily="34" charset="-120"/>
              </a:rPr>
              <a:t>Navtesh Maken</a:t>
            </a:r>
            <a:endParaRPr lang="en-US" sz="1500" dirty="0"/>
          </a:p>
        </p:txBody>
      </p:sp>
      <p:sp>
        <p:nvSpPr>
          <p:cNvPr id="6" name="Shape 4"/>
          <p:cNvSpPr/>
          <p:nvPr/>
        </p:nvSpPr>
        <p:spPr>
          <a:xfrm>
            <a:off x="548640" y="5943600"/>
            <a:ext cx="443777" cy="3658"/>
          </a:xfrm>
          <a:prstGeom prst="line">
            <a:avLst/>
          </a:prstGeom>
          <a:noFill/>
          <a:ln w="31750">
            <a:solidFill>
              <a:srgbClr val="00C2A8"/>
            </a:solidFill>
            <a:prstDash val="solid"/>
          </a:ln>
        </p:spPr>
      </p:sp>
      <p:sp>
        <p:nvSpPr>
          <p:cNvPr id="7" name="Shape 5"/>
          <p:cNvSpPr/>
          <p:nvPr/>
        </p:nvSpPr>
        <p:spPr>
          <a:xfrm flipV="1">
            <a:off x="992417" y="5852160"/>
            <a:ext cx="221888" cy="91440"/>
          </a:xfrm>
          <a:prstGeom prst="line">
            <a:avLst/>
          </a:prstGeom>
          <a:noFill/>
          <a:ln w="31750">
            <a:solidFill>
              <a:srgbClr val="00C2A8"/>
            </a:solidFill>
            <a:prstDash val="solid"/>
          </a:ln>
        </p:spPr>
      </p:sp>
      <p:sp>
        <p:nvSpPr>
          <p:cNvPr id="8" name="Shape 6"/>
          <p:cNvSpPr/>
          <p:nvPr/>
        </p:nvSpPr>
        <p:spPr>
          <a:xfrm>
            <a:off x="1214305" y="5852160"/>
            <a:ext cx="221888" cy="91440"/>
          </a:xfrm>
          <a:prstGeom prst="line">
            <a:avLst/>
          </a:prstGeom>
          <a:noFill/>
          <a:ln w="31750">
            <a:solidFill>
              <a:srgbClr val="00C2A8"/>
            </a:solidFill>
            <a:prstDash val="solid"/>
          </a:ln>
        </p:spPr>
      </p:sp>
      <p:sp>
        <p:nvSpPr>
          <p:cNvPr id="9" name="Shape 7"/>
          <p:cNvSpPr/>
          <p:nvPr/>
        </p:nvSpPr>
        <p:spPr>
          <a:xfrm>
            <a:off x="1436193" y="5943600"/>
            <a:ext cx="332832" cy="3658"/>
          </a:xfrm>
          <a:prstGeom prst="line">
            <a:avLst/>
          </a:prstGeom>
          <a:noFill/>
          <a:ln w="31750">
            <a:solidFill>
              <a:srgbClr val="00C2A8"/>
            </a:solidFill>
            <a:prstDash val="solid"/>
          </a:ln>
        </p:spPr>
      </p:sp>
      <p:sp>
        <p:nvSpPr>
          <p:cNvPr id="10" name="Shape 8"/>
          <p:cNvSpPr/>
          <p:nvPr/>
        </p:nvSpPr>
        <p:spPr>
          <a:xfrm>
            <a:off x="1769026" y="5943600"/>
            <a:ext cx="221888" cy="54864"/>
          </a:xfrm>
          <a:prstGeom prst="line">
            <a:avLst/>
          </a:prstGeom>
          <a:noFill/>
          <a:ln w="31750">
            <a:solidFill>
              <a:srgbClr val="00C2A8"/>
            </a:solidFill>
            <a:prstDash val="solid"/>
          </a:ln>
        </p:spPr>
      </p:sp>
      <p:sp>
        <p:nvSpPr>
          <p:cNvPr id="11" name="Shape 9"/>
          <p:cNvSpPr/>
          <p:nvPr/>
        </p:nvSpPr>
        <p:spPr>
          <a:xfrm flipV="1">
            <a:off x="1990914" y="5577840"/>
            <a:ext cx="221888" cy="420624"/>
          </a:xfrm>
          <a:prstGeom prst="line">
            <a:avLst/>
          </a:prstGeom>
          <a:noFill/>
          <a:ln w="31750">
            <a:solidFill>
              <a:srgbClr val="00C2A8"/>
            </a:solidFill>
            <a:prstDash val="solid"/>
          </a:ln>
        </p:spPr>
      </p:sp>
      <p:sp>
        <p:nvSpPr>
          <p:cNvPr id="12" name="Shape 10"/>
          <p:cNvSpPr/>
          <p:nvPr/>
        </p:nvSpPr>
        <p:spPr>
          <a:xfrm>
            <a:off x="2212802" y="5577840"/>
            <a:ext cx="221888" cy="548640"/>
          </a:xfrm>
          <a:prstGeom prst="line">
            <a:avLst/>
          </a:prstGeom>
          <a:noFill/>
          <a:ln w="31750">
            <a:solidFill>
              <a:srgbClr val="00C2A8"/>
            </a:solidFill>
            <a:prstDash val="solid"/>
          </a:ln>
        </p:spPr>
      </p:sp>
      <p:sp>
        <p:nvSpPr>
          <p:cNvPr id="13" name="Shape 11"/>
          <p:cNvSpPr/>
          <p:nvPr/>
        </p:nvSpPr>
        <p:spPr>
          <a:xfrm flipV="1">
            <a:off x="2434691" y="5943600"/>
            <a:ext cx="221888" cy="182880"/>
          </a:xfrm>
          <a:prstGeom prst="line">
            <a:avLst/>
          </a:prstGeom>
          <a:noFill/>
          <a:ln w="31750">
            <a:solidFill>
              <a:srgbClr val="00C2A8"/>
            </a:solidFill>
            <a:prstDash val="solid"/>
          </a:ln>
        </p:spPr>
      </p:sp>
      <p:sp>
        <p:nvSpPr>
          <p:cNvPr id="14" name="Shape 12"/>
          <p:cNvSpPr/>
          <p:nvPr/>
        </p:nvSpPr>
        <p:spPr>
          <a:xfrm>
            <a:off x="2656579" y="5943600"/>
            <a:ext cx="443777" cy="3658"/>
          </a:xfrm>
          <a:prstGeom prst="line">
            <a:avLst/>
          </a:prstGeom>
          <a:noFill/>
          <a:ln w="31750">
            <a:solidFill>
              <a:srgbClr val="00C2A8"/>
            </a:solidFill>
            <a:prstDash val="solid"/>
          </a:ln>
        </p:spPr>
      </p:sp>
      <p:sp>
        <p:nvSpPr>
          <p:cNvPr id="15" name="Shape 13"/>
          <p:cNvSpPr/>
          <p:nvPr/>
        </p:nvSpPr>
        <p:spPr>
          <a:xfrm flipV="1">
            <a:off x="3100355" y="5779008"/>
            <a:ext cx="443777" cy="164592"/>
          </a:xfrm>
          <a:prstGeom prst="line">
            <a:avLst/>
          </a:prstGeom>
          <a:noFill/>
          <a:ln w="31750">
            <a:solidFill>
              <a:srgbClr val="00C2A8"/>
            </a:solidFill>
            <a:prstDash val="solid"/>
          </a:ln>
        </p:spPr>
      </p:sp>
      <p:sp>
        <p:nvSpPr>
          <p:cNvPr id="16" name="Shape 14"/>
          <p:cNvSpPr/>
          <p:nvPr/>
        </p:nvSpPr>
        <p:spPr>
          <a:xfrm>
            <a:off x="3544132" y="5779008"/>
            <a:ext cx="443777" cy="164592"/>
          </a:xfrm>
          <a:prstGeom prst="line">
            <a:avLst/>
          </a:prstGeom>
          <a:noFill/>
          <a:ln w="31750">
            <a:solidFill>
              <a:srgbClr val="00C2A8"/>
            </a:solidFill>
            <a:prstDash val="solid"/>
          </a:ln>
        </p:spPr>
      </p:sp>
      <p:sp>
        <p:nvSpPr>
          <p:cNvPr id="17" name="Shape 15"/>
          <p:cNvSpPr/>
          <p:nvPr/>
        </p:nvSpPr>
        <p:spPr>
          <a:xfrm>
            <a:off x="3987909" y="5943600"/>
            <a:ext cx="721137" cy="3658"/>
          </a:xfrm>
          <a:prstGeom prst="line">
            <a:avLst/>
          </a:prstGeom>
          <a:noFill/>
          <a:ln w="31750">
            <a:solidFill>
              <a:srgbClr val="00C2A8"/>
            </a:solidFill>
            <a:prstDash val="solid"/>
          </a:ln>
        </p:spPr>
      </p:sp>
      <p:sp>
        <p:nvSpPr>
          <p:cNvPr id="18" name="Shape 16"/>
          <p:cNvSpPr/>
          <p:nvPr/>
        </p:nvSpPr>
        <p:spPr>
          <a:xfrm>
            <a:off x="4709046" y="5943600"/>
            <a:ext cx="1386802" cy="3658"/>
          </a:xfrm>
          <a:prstGeom prst="line">
            <a:avLst/>
          </a:prstGeom>
          <a:noFill/>
          <a:ln w="31750">
            <a:solidFill>
              <a:srgbClr val="00C2A8"/>
            </a:solidFill>
            <a:prstDash val="solid"/>
          </a:ln>
        </p:spPr>
      </p:sp>
      <p:sp>
        <p:nvSpPr>
          <p:cNvPr id="19" name="Shape 17"/>
          <p:cNvSpPr/>
          <p:nvPr/>
        </p:nvSpPr>
        <p:spPr>
          <a:xfrm>
            <a:off x="6095848" y="5943600"/>
            <a:ext cx="0" cy="3658"/>
          </a:xfrm>
          <a:prstGeom prst="line">
            <a:avLst/>
          </a:prstGeom>
          <a:noFill/>
          <a:ln w="31750">
            <a:solidFill>
              <a:srgbClr val="00C2A8"/>
            </a:solidFill>
            <a:prstDash val="solid"/>
          </a:ln>
        </p:spPr>
      </p:sp>
      <p:sp>
        <p:nvSpPr>
          <p:cNvPr id="20" name="Shape 18"/>
          <p:cNvSpPr/>
          <p:nvPr/>
        </p:nvSpPr>
        <p:spPr>
          <a:xfrm>
            <a:off x="6095848" y="5943600"/>
            <a:ext cx="443777" cy="3658"/>
          </a:xfrm>
          <a:prstGeom prst="line">
            <a:avLst/>
          </a:prstGeom>
          <a:noFill/>
          <a:ln w="31750">
            <a:solidFill>
              <a:srgbClr val="00C2A8"/>
            </a:solidFill>
            <a:prstDash val="solid"/>
          </a:ln>
        </p:spPr>
      </p:sp>
      <p:sp>
        <p:nvSpPr>
          <p:cNvPr id="21" name="Shape 19"/>
          <p:cNvSpPr/>
          <p:nvPr/>
        </p:nvSpPr>
        <p:spPr>
          <a:xfrm flipV="1">
            <a:off x="6539624" y="5852160"/>
            <a:ext cx="221888" cy="91440"/>
          </a:xfrm>
          <a:prstGeom prst="line">
            <a:avLst/>
          </a:prstGeom>
          <a:noFill/>
          <a:ln w="31750">
            <a:solidFill>
              <a:srgbClr val="00C2A8"/>
            </a:solidFill>
            <a:prstDash val="solid"/>
          </a:ln>
        </p:spPr>
      </p:sp>
      <p:sp>
        <p:nvSpPr>
          <p:cNvPr id="22" name="Shape 20"/>
          <p:cNvSpPr/>
          <p:nvPr/>
        </p:nvSpPr>
        <p:spPr>
          <a:xfrm>
            <a:off x="6761513" y="5852160"/>
            <a:ext cx="221888" cy="91440"/>
          </a:xfrm>
          <a:prstGeom prst="line">
            <a:avLst/>
          </a:prstGeom>
          <a:noFill/>
          <a:ln w="31750">
            <a:solidFill>
              <a:srgbClr val="00C2A8"/>
            </a:solidFill>
            <a:prstDash val="solid"/>
          </a:ln>
        </p:spPr>
      </p:sp>
      <p:sp>
        <p:nvSpPr>
          <p:cNvPr id="23" name="Shape 21"/>
          <p:cNvSpPr/>
          <p:nvPr/>
        </p:nvSpPr>
        <p:spPr>
          <a:xfrm>
            <a:off x="6983401" y="5943600"/>
            <a:ext cx="332832" cy="3658"/>
          </a:xfrm>
          <a:prstGeom prst="line">
            <a:avLst/>
          </a:prstGeom>
          <a:noFill/>
          <a:ln w="31750">
            <a:solidFill>
              <a:srgbClr val="00C2A8"/>
            </a:solidFill>
            <a:prstDash val="solid"/>
          </a:ln>
        </p:spPr>
      </p:sp>
      <p:sp>
        <p:nvSpPr>
          <p:cNvPr id="24" name="Shape 22"/>
          <p:cNvSpPr/>
          <p:nvPr/>
        </p:nvSpPr>
        <p:spPr>
          <a:xfrm>
            <a:off x="7316233" y="5943600"/>
            <a:ext cx="221888" cy="54864"/>
          </a:xfrm>
          <a:prstGeom prst="line">
            <a:avLst/>
          </a:prstGeom>
          <a:noFill/>
          <a:ln w="31750">
            <a:solidFill>
              <a:srgbClr val="00C2A8"/>
            </a:solidFill>
            <a:prstDash val="solid"/>
          </a:ln>
        </p:spPr>
      </p:sp>
      <p:sp>
        <p:nvSpPr>
          <p:cNvPr id="25" name="Shape 23"/>
          <p:cNvSpPr/>
          <p:nvPr/>
        </p:nvSpPr>
        <p:spPr>
          <a:xfrm flipV="1">
            <a:off x="7538122" y="5577840"/>
            <a:ext cx="221888" cy="420624"/>
          </a:xfrm>
          <a:prstGeom prst="line">
            <a:avLst/>
          </a:prstGeom>
          <a:noFill/>
          <a:ln w="31750">
            <a:solidFill>
              <a:srgbClr val="00C2A8"/>
            </a:solidFill>
            <a:prstDash val="solid"/>
          </a:ln>
        </p:spPr>
      </p:sp>
      <p:sp>
        <p:nvSpPr>
          <p:cNvPr id="26" name="Shape 24"/>
          <p:cNvSpPr/>
          <p:nvPr/>
        </p:nvSpPr>
        <p:spPr>
          <a:xfrm>
            <a:off x="7760010" y="5577840"/>
            <a:ext cx="221888" cy="548640"/>
          </a:xfrm>
          <a:prstGeom prst="line">
            <a:avLst/>
          </a:prstGeom>
          <a:noFill/>
          <a:ln w="31750">
            <a:solidFill>
              <a:srgbClr val="00C2A8"/>
            </a:solidFill>
            <a:prstDash val="solid"/>
          </a:ln>
        </p:spPr>
      </p:sp>
      <p:sp>
        <p:nvSpPr>
          <p:cNvPr id="27" name="Shape 25"/>
          <p:cNvSpPr/>
          <p:nvPr/>
        </p:nvSpPr>
        <p:spPr>
          <a:xfrm flipV="1">
            <a:off x="7981898" y="5943600"/>
            <a:ext cx="221888" cy="182880"/>
          </a:xfrm>
          <a:prstGeom prst="line">
            <a:avLst/>
          </a:prstGeom>
          <a:noFill/>
          <a:ln w="31750">
            <a:solidFill>
              <a:srgbClr val="00C2A8"/>
            </a:solidFill>
            <a:prstDash val="solid"/>
          </a:ln>
        </p:spPr>
      </p:sp>
      <p:sp>
        <p:nvSpPr>
          <p:cNvPr id="28" name="Shape 26"/>
          <p:cNvSpPr/>
          <p:nvPr/>
        </p:nvSpPr>
        <p:spPr>
          <a:xfrm>
            <a:off x="8203786" y="5943600"/>
            <a:ext cx="443777" cy="3658"/>
          </a:xfrm>
          <a:prstGeom prst="line">
            <a:avLst/>
          </a:prstGeom>
          <a:noFill/>
          <a:ln w="31750">
            <a:solidFill>
              <a:srgbClr val="00C2A8"/>
            </a:solidFill>
            <a:prstDash val="solid"/>
          </a:ln>
        </p:spPr>
      </p:sp>
      <p:sp>
        <p:nvSpPr>
          <p:cNvPr id="29" name="Shape 27"/>
          <p:cNvSpPr/>
          <p:nvPr/>
        </p:nvSpPr>
        <p:spPr>
          <a:xfrm flipV="1">
            <a:off x="8647563" y="5779008"/>
            <a:ext cx="443777" cy="164592"/>
          </a:xfrm>
          <a:prstGeom prst="line">
            <a:avLst/>
          </a:prstGeom>
          <a:noFill/>
          <a:ln w="31750">
            <a:solidFill>
              <a:srgbClr val="00C2A8"/>
            </a:solidFill>
            <a:prstDash val="solid"/>
          </a:ln>
        </p:spPr>
      </p:sp>
      <p:sp>
        <p:nvSpPr>
          <p:cNvPr id="30" name="Shape 28"/>
          <p:cNvSpPr/>
          <p:nvPr/>
        </p:nvSpPr>
        <p:spPr>
          <a:xfrm>
            <a:off x="9091340" y="5779008"/>
            <a:ext cx="443777" cy="164592"/>
          </a:xfrm>
          <a:prstGeom prst="line">
            <a:avLst/>
          </a:prstGeom>
          <a:noFill/>
          <a:ln w="31750">
            <a:solidFill>
              <a:srgbClr val="00C2A8"/>
            </a:solidFill>
            <a:prstDash val="solid"/>
          </a:ln>
        </p:spPr>
      </p:sp>
      <p:sp>
        <p:nvSpPr>
          <p:cNvPr id="31" name="Shape 29"/>
          <p:cNvSpPr/>
          <p:nvPr/>
        </p:nvSpPr>
        <p:spPr>
          <a:xfrm>
            <a:off x="9535116" y="5943600"/>
            <a:ext cx="721137" cy="3658"/>
          </a:xfrm>
          <a:prstGeom prst="line">
            <a:avLst/>
          </a:prstGeom>
          <a:noFill/>
          <a:ln w="31750">
            <a:solidFill>
              <a:srgbClr val="00C2A8"/>
            </a:solidFill>
            <a:prstDash val="solid"/>
          </a:ln>
        </p:spPr>
      </p:sp>
      <p:sp>
        <p:nvSpPr>
          <p:cNvPr id="32" name="Shape 30"/>
          <p:cNvSpPr/>
          <p:nvPr/>
        </p:nvSpPr>
        <p:spPr>
          <a:xfrm>
            <a:off x="10256253" y="5943600"/>
            <a:ext cx="1386802" cy="3658"/>
          </a:xfrm>
          <a:prstGeom prst="line">
            <a:avLst/>
          </a:prstGeom>
          <a:noFill/>
          <a:ln w="31750">
            <a:solidFill>
              <a:srgbClr val="00C2A8"/>
            </a:solidFill>
            <a:prstDash val="solid"/>
          </a:ln>
        </p:spPr>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84048"/>
            <a:ext cx="11094415" cy="868680"/>
          </a:xfrm>
          <a:prstGeom prst="rect">
            <a:avLst/>
          </a:prstGeom>
          <a:noFill/>
          <a:ln/>
        </p:spPr>
        <p:txBody>
          <a:bodyPr wrap="square" rtlCol="0" anchor="t"/>
          <a:lstStyle/>
          <a:p>
            <a:pPr indent="0" marL="0">
              <a:buNone/>
            </a:pPr>
            <a:r>
              <a:rPr lang="en-US" sz="2700" b="1" dirty="0">
                <a:solidFill>
                  <a:srgbClr val="0B2F3A"/>
                </a:solidFill>
                <a:latin typeface="Cambria" pitchFamily="34" charset="0"/>
                <a:ea typeface="Cambria" pitchFamily="34" charset="-122"/>
                <a:cs typeface="Cambria" pitchFamily="34" charset="-120"/>
              </a:rPr>
              <a:t>Measuring blood glucose means breaking the skin, several times a day, for life</a:t>
            </a:r>
            <a:endParaRPr lang="en-US" sz="2700" dirty="0"/>
          </a:p>
        </p:txBody>
      </p:sp>
      <p:sp>
        <p:nvSpPr>
          <p:cNvPr id="3" name="Text 1"/>
          <p:cNvSpPr txBox="1"/>
          <p:nvPr/>
        </p:nvSpPr>
        <p:spPr>
          <a:xfrm>
            <a:off x="548640" y="1371600"/>
            <a:ext cx="6583680" cy="2651760"/>
          </a:xfrm>
          <a:prstGeom prst="rect">
            <a:avLst/>
          </a:prstGeom>
          <a:noFill/>
          <a:ln/>
        </p:spPr>
        <p:txBody>
          <a:bodyPr wrap="square" rtlCol="0" anchor="t"/>
          <a:lstStyle/>
          <a:p>
            <a:pPr marL="342900" indent="-342900">
              <a:spcAft>
                <a:spcPts val="900"/>
              </a:spcAft>
              <a:buSzPct val="100000"/>
              <a:buChar char="•"/>
            </a:pPr>
            <a:r>
              <a:rPr lang="en-US" sz="1500" dirty="0">
                <a:solidFill>
                  <a:srgbClr val="0B2F3A"/>
                </a:solidFill>
                <a:latin typeface="Calibri" pitchFamily="34" charset="0"/>
                <a:ea typeface="Calibri" pitchFamily="34" charset="-122"/>
                <a:cs typeface="Calibri" pitchFamily="34" charset="-120"/>
              </a:rPr>
              <a:t>Glucose is the fuel every cell runs on. In Type 1 diabetes the body makes almost no insulin, so it builds up in the blood.</a:t>
            </a:r>
            <a:endParaRPr lang="en-US" sz="1500" dirty="0"/>
          </a:p>
          <a:p>
            <a:pPr marL="342900" indent="-342900">
              <a:spcAft>
                <a:spcPts val="900"/>
              </a:spcAft>
              <a:buSzPct val="100000"/>
              <a:buChar char="•"/>
            </a:pPr>
            <a:r>
              <a:rPr lang="en-US" sz="1500" dirty="0">
                <a:solidFill>
                  <a:srgbClr val="0B2F3A"/>
                </a:solidFill>
                <a:latin typeface="Calibri" pitchFamily="34" charset="0"/>
                <a:ea typeface="Calibri" pitchFamily="34" charset="-122"/>
                <a:cs typeface="Calibri" pitchFamily="34" charset="-120"/>
              </a:rPr>
              <a:t>Below 3.9 mmol/L: confusion, seizure, coma - within minutes. Above 10.0: nerve, eye and kidney damage over years.</a:t>
            </a:r>
            <a:endParaRPr lang="en-US" sz="1500" dirty="0"/>
          </a:p>
          <a:p>
            <a:pPr marL="342900" indent="-342900">
              <a:spcAft>
                <a:spcPts val="900"/>
              </a:spcAft>
              <a:buSzPct val="100000"/>
              <a:buChar char="•"/>
            </a:pPr>
            <a:r>
              <a:rPr lang="en-US" sz="1500" dirty="0">
                <a:solidFill>
                  <a:srgbClr val="0B2F3A"/>
                </a:solidFill>
                <a:latin typeface="Calibri" pitchFamily="34" charset="0"/>
                <a:ea typeface="Calibri" pitchFamily="34" charset="-122"/>
                <a:cs typeface="Calibri" pitchFamily="34" charset="-120"/>
              </a:rPr>
              <a:t>Today that is managed with finger-pricks 4-10 times daily, or a sensor worn under the skin and replaced fortnightly.</a:t>
            </a:r>
            <a:endParaRPr lang="en-US" sz="1500" dirty="0"/>
          </a:p>
          <a:p>
            <a:pPr marL="342900" indent="-342900">
              <a:spcAft>
                <a:spcPts val="900"/>
              </a:spcAft>
              <a:buSzPct val="100000"/>
              <a:buChar char="•"/>
            </a:pPr>
            <a:r>
              <a:rPr lang="en-US" sz="1500" dirty="0">
                <a:solidFill>
                  <a:srgbClr val="0B2F3A"/>
                </a:solidFill>
                <a:latin typeface="Calibri" pitchFamily="34" charset="0"/>
                <a:ea typeface="Calibri" pitchFamily="34" charset="-122"/>
                <a:cs typeface="Calibri" pitchFamily="34" charset="-120"/>
              </a:rPr>
              <a:t>About 590 million adults live with diabetes. All of them manage it by repeatedly breaking their own skin.</a:t>
            </a:r>
            <a:endParaRPr lang="en-US" sz="1500" dirty="0"/>
          </a:p>
        </p:txBody>
      </p:sp>
      <p:sp>
        <p:nvSpPr>
          <p:cNvPr id="4" name="Shape 2"/>
          <p:cNvSpPr/>
          <p:nvPr/>
        </p:nvSpPr>
        <p:spPr>
          <a:xfrm>
            <a:off x="7360920" y="1325880"/>
            <a:ext cx="4343400" cy="2148840"/>
          </a:xfrm>
          <a:prstGeom prst="roundRect">
            <a:avLst>
              <a:gd name="adj" fmla="val 2553"/>
            </a:avLst>
          </a:prstGeom>
          <a:solidFill>
            <a:srgbClr val="EAF2F4"/>
          </a:solidFill>
          <a:ln w="12700">
            <a:solidFill>
              <a:srgbClr val="EAF2F4"/>
            </a:solidFill>
            <a:prstDash val="solid"/>
          </a:ln>
        </p:spPr>
      </p:sp>
      <p:sp>
        <p:nvSpPr>
          <p:cNvPr id="5" name="Text 3"/>
          <p:cNvSpPr txBox="1"/>
          <p:nvPr/>
        </p:nvSpPr>
        <p:spPr>
          <a:xfrm>
            <a:off x="7562088" y="1472184"/>
            <a:ext cx="3941064" cy="347472"/>
          </a:xfrm>
          <a:prstGeom prst="rect">
            <a:avLst/>
          </a:prstGeom>
          <a:noFill/>
          <a:ln/>
        </p:spPr>
        <p:txBody>
          <a:bodyPr wrap="square" lIns="0" tIns="0" rIns="0" bIns="0" rtlCol="0" anchor="ctr"/>
          <a:lstStyle/>
          <a:p>
            <a:pPr indent="0" marL="0">
              <a:buNone/>
            </a:pPr>
            <a:r>
              <a:rPr lang="en-US" sz="1400" b="1" dirty="0">
                <a:solidFill>
                  <a:srgbClr val="0B2F3A"/>
                </a:solidFill>
                <a:latin typeface="Calibri" pitchFamily="34" charset="0"/>
                <a:ea typeface="Calibri" pitchFamily="34" charset="-122"/>
                <a:cs typeface="Calibri" pitchFamily="34" charset="-120"/>
              </a:rPr>
              <a:t>Why a heartbeat might know</a:t>
            </a:r>
            <a:endParaRPr lang="en-US" sz="1400" dirty="0"/>
          </a:p>
        </p:txBody>
      </p:sp>
      <p:sp>
        <p:nvSpPr>
          <p:cNvPr id="6" name="Text 4"/>
          <p:cNvSpPr txBox="1"/>
          <p:nvPr/>
        </p:nvSpPr>
        <p:spPr>
          <a:xfrm>
            <a:off x="7562088" y="1856232"/>
            <a:ext cx="3941064" cy="1463040"/>
          </a:xfrm>
          <a:prstGeom prst="rect">
            <a:avLst/>
          </a:prstGeom>
          <a:noFill/>
          <a:ln/>
        </p:spPr>
        <p:txBody>
          <a:bodyPr wrap="square" lIns="0" tIns="0" rIns="0" bIns="0" rtlCol="0" anchor="t"/>
          <a:lstStyle/>
          <a:p>
            <a:pPr indent="0" marL="0">
              <a:buNone/>
            </a:pPr>
            <a:r>
              <a:rPr lang="en-US" sz="1250" dirty="0">
                <a:solidFill>
                  <a:srgbClr val="0B2F3A"/>
                </a:solidFill>
                <a:latin typeface="Calibri" pitchFamily="34" charset="0"/>
                <a:ea typeface="Calibri" pitchFamily="34" charset="-122"/>
                <a:cs typeface="Calibri" pitchFamily="34" charset="-120"/>
              </a:rPr>
              <a:t>Low glucose triggers adrenaline, which drives potassium into cells. Potassium controls how heart cells reset after each beat - so the ECG's QT interval lengthens. High glucose suppresses vagal tone and alters ST and T waves.</a:t>
            </a:r>
            <a:endParaRPr lang="en-US" sz="1250" dirty="0"/>
          </a:p>
          <a:p>
            <a:pPr indent="0" marL="0">
              <a:buNone/>
            </a:pPr>
            <a:endParaRPr lang="en-US" sz="1250" dirty="0"/>
          </a:p>
          <a:p>
            <a:pPr indent="0" marL="0">
              <a:buNone/>
            </a:pPr>
            <a:r>
              <a:rPr lang="en-US" sz="1250" dirty="0">
                <a:solidFill>
                  <a:srgbClr val="0B2F3A"/>
                </a:solidFill>
                <a:latin typeface="Calibri" pitchFamily="34" charset="0"/>
                <a:ea typeface="Calibri" pitchFamily="34" charset="-122"/>
                <a:cs typeface="Calibri" pitchFamily="34" charset="-120"/>
              </a:rPr>
              <a:t>The mechanism is real and well documented.</a:t>
            </a:r>
            <a:endParaRPr lang="en-US" sz="1250" dirty="0"/>
          </a:p>
        </p:txBody>
      </p:sp>
      <p:sp>
        <p:nvSpPr>
          <p:cNvPr id="7" name="Shape 5"/>
          <p:cNvSpPr/>
          <p:nvPr/>
        </p:nvSpPr>
        <p:spPr>
          <a:xfrm>
            <a:off x="548640" y="4160520"/>
            <a:ext cx="11094415" cy="1325880"/>
          </a:xfrm>
          <a:prstGeom prst="roundRect">
            <a:avLst>
              <a:gd name="adj" fmla="val 4138"/>
            </a:avLst>
          </a:prstGeom>
          <a:solidFill>
            <a:srgbClr val="FFF6E5"/>
          </a:solidFill>
          <a:ln w="12700">
            <a:solidFill>
              <a:srgbClr val="FFF6E5"/>
            </a:solidFill>
            <a:prstDash val="solid"/>
          </a:ln>
        </p:spPr>
      </p:sp>
      <p:sp>
        <p:nvSpPr>
          <p:cNvPr id="8" name="Text 6"/>
          <p:cNvSpPr txBox="1"/>
          <p:nvPr/>
        </p:nvSpPr>
        <p:spPr>
          <a:xfrm>
            <a:off x="822960" y="4334256"/>
            <a:ext cx="7315200" cy="292608"/>
          </a:xfrm>
          <a:prstGeom prst="rect">
            <a:avLst/>
          </a:prstGeom>
          <a:noFill/>
          <a:ln/>
        </p:spPr>
        <p:txBody>
          <a:bodyPr wrap="square" lIns="0" tIns="0" rIns="0" bIns="0" rtlCol="0" anchor="ctr"/>
          <a:lstStyle/>
          <a:p>
            <a:pPr indent="0" marL="0">
              <a:buNone/>
            </a:pPr>
            <a:r>
              <a:rPr lang="en-US" sz="1300" b="1" dirty="0">
                <a:solidFill>
                  <a:srgbClr val="8A5A00"/>
                </a:solidFill>
                <a:latin typeface="Calibri" pitchFamily="34" charset="0"/>
                <a:ea typeface="Calibri" pitchFamily="34" charset="-122"/>
                <a:cs typeface="Calibri" pitchFamily="34" charset="-120"/>
              </a:rPr>
              <a:t>But note what the mechanism actually supports</a:t>
            </a:r>
            <a:endParaRPr lang="en-US" sz="1300" dirty="0"/>
          </a:p>
        </p:txBody>
      </p:sp>
      <p:sp>
        <p:nvSpPr>
          <p:cNvPr id="9" name="Text 7"/>
          <p:cNvSpPr txBox="1"/>
          <p:nvPr/>
        </p:nvSpPr>
        <p:spPr>
          <a:xfrm>
            <a:off x="822960" y="4645152"/>
            <a:ext cx="10545775" cy="731520"/>
          </a:xfrm>
          <a:prstGeom prst="rect">
            <a:avLst/>
          </a:prstGeom>
          <a:noFill/>
          <a:ln/>
        </p:spPr>
        <p:txBody>
          <a:bodyPr wrap="square" lIns="0" tIns="0" rIns="0" bIns="0" rtlCol="0" anchor="ctr"/>
          <a:lstStyle/>
          <a:p>
            <a:pPr indent="0" marL="0">
              <a:buNone/>
            </a:pPr>
            <a:r>
              <a:rPr lang="en-US" sz="1300" dirty="0">
                <a:solidFill>
                  <a:srgbClr val="0B2F3A"/>
                </a:solidFill>
                <a:latin typeface="Calibri" pitchFamily="34" charset="0"/>
                <a:ea typeface="Calibri" pitchFamily="34" charset="-122"/>
                <a:cs typeface="Calibri" pitchFamily="34" charset="-120"/>
              </a:rPr>
              <a:t>It explains DETECTING a dangerous low or high - a classification problem. It does not promise that the exact number can be read off the waveform, which is regression, and far harder. Published ECG classification reaches 84-94% accuracy; regression consistently does not hold up.</a:t>
            </a:r>
            <a:endParaRPr lang="en-US" sz="13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84048"/>
            <a:ext cx="11094415" cy="868680"/>
          </a:xfrm>
          <a:prstGeom prst="rect">
            <a:avLst/>
          </a:prstGeom>
          <a:noFill/>
          <a:ln/>
        </p:spPr>
        <p:txBody>
          <a:bodyPr wrap="square" rtlCol="0" anchor="t"/>
          <a:lstStyle/>
          <a:p>
            <a:pPr indent="0" marL="0">
              <a:buNone/>
            </a:pPr>
            <a:r>
              <a:rPr lang="en-US" sz="2700" b="1" dirty="0">
                <a:solidFill>
                  <a:srgbClr val="0B2F3A"/>
                </a:solidFill>
                <a:latin typeface="Cambria" pitchFamily="34" charset="0"/>
                <a:ea typeface="Cambria" pitchFamily="34" charset="-122"/>
                <a:cs typeface="Cambria" pitchFamily="34" charset="-120"/>
              </a:rPr>
              <a:t>A 2024 IEEE paper reports near-clinical accuracy by fusing two signals and three models</a:t>
            </a:r>
            <a:endParaRPr lang="en-US" sz="2700" dirty="0"/>
          </a:p>
        </p:txBody>
      </p:sp>
      <p:sp>
        <p:nvSpPr>
          <p:cNvPr id="3" name="Text 1"/>
          <p:cNvSpPr txBox="1"/>
          <p:nvPr/>
        </p:nvSpPr>
        <p:spPr>
          <a:xfrm>
            <a:off x="548640" y="1298448"/>
            <a:ext cx="11094415" cy="502920"/>
          </a:xfrm>
          <a:prstGeom prst="rect">
            <a:avLst/>
          </a:prstGeom>
          <a:noFill/>
          <a:ln/>
        </p:spPr>
        <p:txBody>
          <a:bodyPr wrap="square" rtlCol="0" anchor="ctr"/>
          <a:lstStyle/>
          <a:p>
            <a:pPr indent="0" marL="0">
              <a:buNone/>
            </a:pPr>
            <a:r>
              <a:rPr lang="en-US" sz="1350" i="1" dirty="0">
                <a:solidFill>
                  <a:srgbClr val="0B2F3A"/>
                </a:solidFill>
                <a:latin typeface="Calibri" pitchFamily="34" charset="0"/>
                <a:ea typeface="Calibri" pitchFamily="34" charset="-122"/>
                <a:cs typeface="Calibri" pitchFamily="34" charset="-120"/>
              </a:rPr>
              <a:t>Li et al., "Noninvasive Blood Glucose Monitoring Using Spatiotemporal ECG and PPG Feature Fusion and Weight-Based Choquet Integral Multimodel Approach", IEEE TNNLS 35(10), 2024.</a:t>
            </a:r>
            <a:endParaRPr lang="en-US" sz="1350" dirty="0"/>
          </a:p>
        </p:txBody>
      </p:sp>
      <p:sp>
        <p:nvSpPr>
          <p:cNvPr id="4" name="Text 2"/>
          <p:cNvSpPr txBox="1"/>
          <p:nvPr/>
        </p:nvSpPr>
        <p:spPr>
          <a:xfrm>
            <a:off x="548640" y="1920240"/>
            <a:ext cx="2743200" cy="868680"/>
          </a:xfrm>
          <a:prstGeom prst="rect">
            <a:avLst/>
          </a:prstGeom>
          <a:noFill/>
          <a:ln/>
        </p:spPr>
        <p:txBody>
          <a:bodyPr wrap="square" lIns="0" tIns="0" rIns="0" bIns="0" rtlCol="0" anchor="ctr"/>
          <a:lstStyle/>
          <a:p>
            <a:pPr algn="ctr" indent="0" marL="0">
              <a:buNone/>
            </a:pPr>
            <a:r>
              <a:rPr lang="en-US" sz="4200" b="1" dirty="0">
                <a:solidFill>
                  <a:srgbClr val="1C7293"/>
                </a:solidFill>
                <a:latin typeface="Cambria" pitchFamily="34" charset="0"/>
                <a:ea typeface="Cambria" pitchFamily="34" charset="-122"/>
                <a:cs typeface="Cambria" pitchFamily="34" charset="-120"/>
              </a:rPr>
              <a:t>1.49</a:t>
            </a:r>
            <a:endParaRPr lang="en-US" sz="4200" dirty="0"/>
          </a:p>
        </p:txBody>
      </p:sp>
      <p:sp>
        <p:nvSpPr>
          <p:cNvPr id="5" name="Text 3"/>
          <p:cNvSpPr txBox="1"/>
          <p:nvPr/>
        </p:nvSpPr>
        <p:spPr>
          <a:xfrm>
            <a:off x="548640" y="2761488"/>
            <a:ext cx="2743200" cy="548640"/>
          </a:xfrm>
          <a:prstGeom prst="rect">
            <a:avLst/>
          </a:prstGeom>
          <a:noFill/>
          <a:ln/>
        </p:spPr>
        <p:txBody>
          <a:bodyPr wrap="square" lIns="0" tIns="0" rIns="0" bIns="0" rtlCol="0" anchor="ctr"/>
          <a:lstStyle/>
          <a:p>
            <a:pPr algn="ctr" indent="0" marL="0">
              <a:buNone/>
            </a:pPr>
            <a:r>
              <a:rPr lang="en-US" sz="1150" dirty="0">
                <a:solidFill>
                  <a:srgbClr val="5A6B72"/>
                </a:solidFill>
                <a:latin typeface="Calibri" pitchFamily="34" charset="0"/>
                <a:ea typeface="Calibri" pitchFamily="34" charset="-122"/>
                <a:cs typeface="Calibri" pitchFamily="34" charset="-120"/>
              </a:rPr>
              <a:t>RMSE (mmol/L)</a:t>
            </a:r>
            <a:endParaRPr lang="en-US" sz="1150" dirty="0"/>
          </a:p>
        </p:txBody>
      </p:sp>
      <p:sp>
        <p:nvSpPr>
          <p:cNvPr id="6" name="Text 4"/>
          <p:cNvSpPr txBox="1"/>
          <p:nvPr/>
        </p:nvSpPr>
        <p:spPr>
          <a:xfrm>
            <a:off x="3429000" y="1920240"/>
            <a:ext cx="2743200" cy="868680"/>
          </a:xfrm>
          <a:prstGeom prst="rect">
            <a:avLst/>
          </a:prstGeom>
          <a:noFill/>
          <a:ln/>
        </p:spPr>
        <p:txBody>
          <a:bodyPr wrap="square" lIns="0" tIns="0" rIns="0" bIns="0" rtlCol="0" anchor="ctr"/>
          <a:lstStyle/>
          <a:p>
            <a:pPr algn="ctr" indent="0" marL="0">
              <a:buNone/>
            </a:pPr>
            <a:r>
              <a:rPr lang="en-US" sz="4200" b="1" dirty="0">
                <a:solidFill>
                  <a:srgbClr val="1C7293"/>
                </a:solidFill>
                <a:latin typeface="Cambria" pitchFamily="34" charset="0"/>
                <a:ea typeface="Cambria" pitchFamily="34" charset="-122"/>
                <a:cs typeface="Cambria" pitchFamily="34" charset="-120"/>
              </a:rPr>
              <a:t>13.42%</a:t>
            </a:r>
            <a:endParaRPr lang="en-US" sz="4200" dirty="0"/>
          </a:p>
        </p:txBody>
      </p:sp>
      <p:sp>
        <p:nvSpPr>
          <p:cNvPr id="7" name="Text 5"/>
          <p:cNvSpPr txBox="1"/>
          <p:nvPr/>
        </p:nvSpPr>
        <p:spPr>
          <a:xfrm>
            <a:off x="3429000" y="2761488"/>
            <a:ext cx="2743200" cy="548640"/>
          </a:xfrm>
          <a:prstGeom prst="rect">
            <a:avLst/>
          </a:prstGeom>
          <a:noFill/>
          <a:ln/>
        </p:spPr>
        <p:txBody>
          <a:bodyPr wrap="square" lIns="0" tIns="0" rIns="0" bIns="0" rtlCol="0" anchor="ctr"/>
          <a:lstStyle/>
          <a:p>
            <a:pPr algn="ctr" indent="0" marL="0">
              <a:buNone/>
            </a:pPr>
            <a:r>
              <a:rPr lang="en-US" sz="1150" dirty="0">
                <a:solidFill>
                  <a:srgbClr val="5A6B72"/>
                </a:solidFill>
                <a:latin typeface="Calibri" pitchFamily="34" charset="0"/>
                <a:ea typeface="Calibri" pitchFamily="34" charset="-122"/>
                <a:cs typeface="Calibri" pitchFamily="34" charset="-120"/>
              </a:rPr>
              <a:t>MARD</a:t>
            </a:r>
            <a:endParaRPr lang="en-US" sz="1150" dirty="0"/>
          </a:p>
        </p:txBody>
      </p:sp>
      <p:sp>
        <p:nvSpPr>
          <p:cNvPr id="8" name="Text 6"/>
          <p:cNvSpPr txBox="1"/>
          <p:nvPr/>
        </p:nvSpPr>
        <p:spPr>
          <a:xfrm>
            <a:off x="6309360" y="1920240"/>
            <a:ext cx="2743200" cy="868680"/>
          </a:xfrm>
          <a:prstGeom prst="rect">
            <a:avLst/>
          </a:prstGeom>
          <a:noFill/>
          <a:ln/>
        </p:spPr>
        <p:txBody>
          <a:bodyPr wrap="square" lIns="0" tIns="0" rIns="0" bIns="0" rtlCol="0" anchor="ctr"/>
          <a:lstStyle/>
          <a:p>
            <a:pPr algn="ctr" indent="0" marL="0">
              <a:buNone/>
            </a:pPr>
            <a:r>
              <a:rPr lang="en-US" sz="4200" b="1" dirty="0">
                <a:solidFill>
                  <a:srgbClr val="1C7293"/>
                </a:solidFill>
                <a:latin typeface="Cambria" pitchFamily="34" charset="0"/>
                <a:ea typeface="Cambria" pitchFamily="34" charset="-122"/>
                <a:cs typeface="Cambria" pitchFamily="34" charset="-120"/>
              </a:rPr>
              <a:t>80.1%</a:t>
            </a:r>
            <a:endParaRPr lang="en-US" sz="4200" dirty="0"/>
          </a:p>
        </p:txBody>
      </p:sp>
      <p:sp>
        <p:nvSpPr>
          <p:cNvPr id="9" name="Text 7"/>
          <p:cNvSpPr txBox="1"/>
          <p:nvPr/>
        </p:nvSpPr>
        <p:spPr>
          <a:xfrm>
            <a:off x="6309360" y="2761488"/>
            <a:ext cx="2743200" cy="548640"/>
          </a:xfrm>
          <a:prstGeom prst="rect">
            <a:avLst/>
          </a:prstGeom>
          <a:noFill/>
          <a:ln/>
        </p:spPr>
        <p:txBody>
          <a:bodyPr wrap="square" lIns="0" tIns="0" rIns="0" bIns="0" rtlCol="0" anchor="ctr"/>
          <a:lstStyle/>
          <a:p>
            <a:pPr algn="ctr" indent="0" marL="0">
              <a:buNone/>
            </a:pPr>
            <a:r>
              <a:rPr lang="en-US" sz="1150" dirty="0">
                <a:solidFill>
                  <a:srgbClr val="5A6B72"/>
                </a:solidFill>
                <a:latin typeface="Calibri" pitchFamily="34" charset="0"/>
                <a:ea typeface="Calibri" pitchFamily="34" charset="-122"/>
                <a:cs typeface="Calibri" pitchFamily="34" charset="-120"/>
              </a:rPr>
              <a:t>Parkes Zone A</a:t>
            </a:r>
            <a:endParaRPr lang="en-US" sz="1150" dirty="0"/>
          </a:p>
        </p:txBody>
      </p:sp>
      <p:sp>
        <p:nvSpPr>
          <p:cNvPr id="10" name="Text 8"/>
          <p:cNvSpPr txBox="1"/>
          <p:nvPr/>
        </p:nvSpPr>
        <p:spPr>
          <a:xfrm>
            <a:off x="9189720" y="1920240"/>
            <a:ext cx="2743200" cy="868680"/>
          </a:xfrm>
          <a:prstGeom prst="rect">
            <a:avLst/>
          </a:prstGeom>
          <a:noFill/>
          <a:ln/>
        </p:spPr>
        <p:txBody>
          <a:bodyPr wrap="square" lIns="0" tIns="0" rIns="0" bIns="0" rtlCol="0" anchor="ctr"/>
          <a:lstStyle/>
          <a:p>
            <a:pPr algn="ctr" indent="0" marL="0">
              <a:buNone/>
            </a:pPr>
            <a:r>
              <a:rPr lang="en-US" sz="4200" b="1" dirty="0">
                <a:solidFill>
                  <a:srgbClr val="1C7293"/>
                </a:solidFill>
                <a:latin typeface="Cambria" pitchFamily="34" charset="0"/>
                <a:ea typeface="Cambria" pitchFamily="34" charset="-122"/>
                <a:cs typeface="Cambria" pitchFamily="34" charset="-120"/>
              </a:rPr>
              <a:t>99.5%</a:t>
            </a:r>
            <a:endParaRPr lang="en-US" sz="4200" dirty="0"/>
          </a:p>
        </p:txBody>
      </p:sp>
      <p:sp>
        <p:nvSpPr>
          <p:cNvPr id="11" name="Text 9"/>
          <p:cNvSpPr txBox="1"/>
          <p:nvPr/>
        </p:nvSpPr>
        <p:spPr>
          <a:xfrm>
            <a:off x="9189720" y="2761488"/>
            <a:ext cx="2743200" cy="548640"/>
          </a:xfrm>
          <a:prstGeom prst="rect">
            <a:avLst/>
          </a:prstGeom>
          <a:noFill/>
          <a:ln/>
        </p:spPr>
        <p:txBody>
          <a:bodyPr wrap="square" lIns="0" tIns="0" rIns="0" bIns="0" rtlCol="0" anchor="ctr"/>
          <a:lstStyle/>
          <a:p>
            <a:pPr algn="ctr" indent="0" marL="0">
              <a:buNone/>
            </a:pPr>
            <a:r>
              <a:rPr lang="en-US" sz="1150" dirty="0">
                <a:solidFill>
                  <a:srgbClr val="5A6B72"/>
                </a:solidFill>
                <a:latin typeface="Calibri" pitchFamily="34" charset="0"/>
                <a:ea typeface="Calibri" pitchFamily="34" charset="-122"/>
                <a:cs typeface="Calibri" pitchFamily="34" charset="-120"/>
              </a:rPr>
              <a:t>Zone A+B</a:t>
            </a:r>
            <a:endParaRPr lang="en-US" sz="1150" dirty="0"/>
          </a:p>
        </p:txBody>
      </p:sp>
      <p:sp>
        <p:nvSpPr>
          <p:cNvPr id="12" name="Shape 10"/>
          <p:cNvSpPr/>
          <p:nvPr/>
        </p:nvSpPr>
        <p:spPr>
          <a:xfrm>
            <a:off x="548640" y="3566160"/>
            <a:ext cx="3520440" cy="1920240"/>
          </a:xfrm>
          <a:prstGeom prst="roundRect">
            <a:avLst>
              <a:gd name="adj" fmla="val 2857"/>
            </a:avLst>
          </a:prstGeom>
          <a:solidFill>
            <a:srgbClr val="EAF2F4"/>
          </a:solidFill>
          <a:ln w="12700">
            <a:solidFill>
              <a:srgbClr val="EAF2F4"/>
            </a:solidFill>
            <a:prstDash val="solid"/>
          </a:ln>
        </p:spPr>
      </p:sp>
      <p:sp>
        <p:nvSpPr>
          <p:cNvPr id="13" name="Text 11"/>
          <p:cNvSpPr txBox="1"/>
          <p:nvPr/>
        </p:nvSpPr>
        <p:spPr>
          <a:xfrm>
            <a:off x="768096" y="3712464"/>
            <a:ext cx="3108960" cy="256032"/>
          </a:xfrm>
          <a:prstGeom prst="rect">
            <a:avLst/>
          </a:prstGeom>
          <a:noFill/>
          <a:ln/>
        </p:spPr>
        <p:txBody>
          <a:bodyPr wrap="square" lIns="0" tIns="0" rIns="0" bIns="0" rtlCol="0" anchor="ctr"/>
          <a:lstStyle/>
          <a:p>
            <a:pPr indent="0" marL="0">
              <a:buNone/>
            </a:pPr>
            <a:r>
              <a:rPr lang="en-US" sz="1100" b="1" spc="200" kern="0" dirty="0">
                <a:solidFill>
                  <a:srgbClr val="1C7293"/>
                </a:solidFill>
                <a:latin typeface="Calibri" pitchFamily="34" charset="0"/>
                <a:ea typeface="Calibri" pitchFamily="34" charset="-122"/>
                <a:cs typeface="Calibri" pitchFamily="34" charset="-120"/>
              </a:rPr>
              <a:t>STAGE 1</a:t>
            </a:r>
            <a:endParaRPr lang="en-US" sz="1100" dirty="0"/>
          </a:p>
        </p:txBody>
      </p:sp>
      <p:sp>
        <p:nvSpPr>
          <p:cNvPr id="14" name="Text 12"/>
          <p:cNvSpPr txBox="1"/>
          <p:nvPr/>
        </p:nvSpPr>
        <p:spPr>
          <a:xfrm>
            <a:off x="768096" y="3986784"/>
            <a:ext cx="3108960" cy="347472"/>
          </a:xfrm>
          <a:prstGeom prst="rect">
            <a:avLst/>
          </a:prstGeom>
          <a:noFill/>
          <a:ln/>
        </p:spPr>
        <p:txBody>
          <a:bodyPr wrap="square" lIns="0" tIns="0" rIns="0" bIns="0" rtlCol="0" anchor="ctr"/>
          <a:lstStyle/>
          <a:p>
            <a:pPr indent="0" marL="0">
              <a:buNone/>
            </a:pPr>
            <a:r>
              <a:rPr lang="en-US" sz="1700" b="1" dirty="0">
                <a:solidFill>
                  <a:srgbClr val="0B2F3A"/>
                </a:solidFill>
                <a:latin typeface="Cambria" pitchFamily="34" charset="0"/>
                <a:ea typeface="Cambria" pitchFamily="34" charset="-122"/>
                <a:cs typeface="Cambria" pitchFamily="34" charset="-120"/>
              </a:rPr>
              <a:t>Collect and clean</a:t>
            </a:r>
            <a:endParaRPr lang="en-US" sz="1700" dirty="0"/>
          </a:p>
        </p:txBody>
      </p:sp>
      <p:sp>
        <p:nvSpPr>
          <p:cNvPr id="15" name="Text 13"/>
          <p:cNvSpPr txBox="1"/>
          <p:nvPr/>
        </p:nvSpPr>
        <p:spPr>
          <a:xfrm>
            <a:off x="768096" y="4407408"/>
            <a:ext cx="3108960" cy="914400"/>
          </a:xfrm>
          <a:prstGeom prst="rect">
            <a:avLst/>
          </a:prstGeom>
          <a:noFill/>
          <a:ln/>
        </p:spPr>
        <p:txBody>
          <a:bodyPr wrap="square" lIns="0" tIns="0" rIns="0" bIns="0" rtlCol="0" anchor="ctr"/>
          <a:lstStyle/>
          <a:p>
            <a:pPr indent="0" marL="0">
              <a:buNone/>
            </a:pPr>
            <a:r>
              <a:rPr lang="en-US" sz="1150" dirty="0">
                <a:solidFill>
                  <a:srgbClr val="0B2F3A"/>
                </a:solidFill>
                <a:latin typeface="Calibri" pitchFamily="34" charset="0"/>
                <a:ea typeface="Calibri" pitchFamily="34" charset="-122"/>
                <a:cs typeface="Calibri" pitchFamily="34" charset="-120"/>
              </a:rPr>
              <a:t>Record ECG + PPG, filter, cut into 16-second windows paired with a glucose reading</a:t>
            </a:r>
            <a:endParaRPr lang="en-US" sz="1150" dirty="0"/>
          </a:p>
        </p:txBody>
      </p:sp>
      <p:sp>
        <p:nvSpPr>
          <p:cNvPr id="16" name="Shape 14"/>
          <p:cNvSpPr/>
          <p:nvPr/>
        </p:nvSpPr>
        <p:spPr>
          <a:xfrm>
            <a:off x="4315968" y="3566160"/>
            <a:ext cx="3520440" cy="1920240"/>
          </a:xfrm>
          <a:prstGeom prst="roundRect">
            <a:avLst>
              <a:gd name="adj" fmla="val 2857"/>
            </a:avLst>
          </a:prstGeom>
          <a:solidFill>
            <a:srgbClr val="EAF2F4"/>
          </a:solidFill>
          <a:ln w="12700">
            <a:solidFill>
              <a:srgbClr val="EAF2F4"/>
            </a:solidFill>
            <a:prstDash val="solid"/>
          </a:ln>
        </p:spPr>
      </p:sp>
      <p:sp>
        <p:nvSpPr>
          <p:cNvPr id="17" name="Text 15"/>
          <p:cNvSpPr txBox="1"/>
          <p:nvPr/>
        </p:nvSpPr>
        <p:spPr>
          <a:xfrm>
            <a:off x="4535424" y="3712464"/>
            <a:ext cx="3108960" cy="256032"/>
          </a:xfrm>
          <a:prstGeom prst="rect">
            <a:avLst/>
          </a:prstGeom>
          <a:noFill/>
          <a:ln/>
        </p:spPr>
        <p:txBody>
          <a:bodyPr wrap="square" lIns="0" tIns="0" rIns="0" bIns="0" rtlCol="0" anchor="ctr"/>
          <a:lstStyle/>
          <a:p>
            <a:pPr indent="0" marL="0">
              <a:buNone/>
            </a:pPr>
            <a:r>
              <a:rPr lang="en-US" sz="1100" b="1" spc="200" kern="0" dirty="0">
                <a:solidFill>
                  <a:srgbClr val="1C7293"/>
                </a:solidFill>
                <a:latin typeface="Calibri" pitchFamily="34" charset="0"/>
                <a:ea typeface="Calibri" pitchFamily="34" charset="-122"/>
                <a:cs typeface="Calibri" pitchFamily="34" charset="-120"/>
              </a:rPr>
              <a:t>STAGE 2</a:t>
            </a:r>
            <a:endParaRPr lang="en-US" sz="1100" dirty="0"/>
          </a:p>
        </p:txBody>
      </p:sp>
      <p:sp>
        <p:nvSpPr>
          <p:cNvPr id="18" name="Text 16"/>
          <p:cNvSpPr txBox="1"/>
          <p:nvPr/>
        </p:nvSpPr>
        <p:spPr>
          <a:xfrm>
            <a:off x="4535424" y="3986784"/>
            <a:ext cx="3108960" cy="347472"/>
          </a:xfrm>
          <a:prstGeom prst="rect">
            <a:avLst/>
          </a:prstGeom>
          <a:noFill/>
          <a:ln/>
        </p:spPr>
        <p:txBody>
          <a:bodyPr wrap="square" lIns="0" tIns="0" rIns="0" bIns="0" rtlCol="0" anchor="ctr"/>
          <a:lstStyle/>
          <a:p>
            <a:pPr indent="0" marL="0">
              <a:buNone/>
            </a:pPr>
            <a:r>
              <a:rPr lang="en-US" sz="1700" b="1" dirty="0">
                <a:solidFill>
                  <a:srgbClr val="0B2F3A"/>
                </a:solidFill>
                <a:latin typeface="Cambria" pitchFamily="34" charset="0"/>
                <a:ea typeface="Cambria" pitchFamily="34" charset="-122"/>
                <a:cs typeface="Cambria" pitchFamily="34" charset="-120"/>
              </a:rPr>
              <a:t>Describe the signal</a:t>
            </a:r>
            <a:endParaRPr lang="en-US" sz="1700" dirty="0"/>
          </a:p>
        </p:txBody>
      </p:sp>
      <p:sp>
        <p:nvSpPr>
          <p:cNvPr id="19" name="Text 17"/>
          <p:cNvSpPr txBox="1"/>
          <p:nvPr/>
        </p:nvSpPr>
        <p:spPr>
          <a:xfrm>
            <a:off x="4535424" y="4407408"/>
            <a:ext cx="3108960" cy="914400"/>
          </a:xfrm>
          <a:prstGeom prst="rect">
            <a:avLst/>
          </a:prstGeom>
          <a:noFill/>
          <a:ln/>
        </p:spPr>
        <p:txBody>
          <a:bodyPr wrap="square" lIns="0" tIns="0" rIns="0" bIns="0" rtlCol="0" anchor="ctr"/>
          <a:lstStyle/>
          <a:p>
            <a:pPr indent="0" marL="0">
              <a:buNone/>
            </a:pPr>
            <a:r>
              <a:rPr lang="en-US" sz="1150" dirty="0">
                <a:solidFill>
                  <a:srgbClr val="0B2F3A"/>
                </a:solidFill>
                <a:latin typeface="Calibri" pitchFamily="34" charset="0"/>
                <a:ea typeface="Calibri" pitchFamily="34" charset="-122"/>
                <a:cs typeface="Calibri" pitchFamily="34" charset="-120"/>
              </a:rPr>
              <a:t>Wavelet statistics plus waveform-shape measurements: 193 numbers per window</a:t>
            </a:r>
            <a:endParaRPr lang="en-US" sz="1150" dirty="0"/>
          </a:p>
        </p:txBody>
      </p:sp>
      <p:sp>
        <p:nvSpPr>
          <p:cNvPr id="20" name="Shape 18"/>
          <p:cNvSpPr/>
          <p:nvPr/>
        </p:nvSpPr>
        <p:spPr>
          <a:xfrm>
            <a:off x="8083296" y="3566160"/>
            <a:ext cx="3520440" cy="1920240"/>
          </a:xfrm>
          <a:prstGeom prst="roundRect">
            <a:avLst>
              <a:gd name="adj" fmla="val 2857"/>
            </a:avLst>
          </a:prstGeom>
          <a:solidFill>
            <a:srgbClr val="0B2F3A"/>
          </a:solidFill>
          <a:ln w="12700">
            <a:solidFill>
              <a:srgbClr val="0B2F3A"/>
            </a:solidFill>
            <a:prstDash val="solid"/>
          </a:ln>
        </p:spPr>
      </p:sp>
      <p:sp>
        <p:nvSpPr>
          <p:cNvPr id="21" name="Text 19"/>
          <p:cNvSpPr txBox="1"/>
          <p:nvPr/>
        </p:nvSpPr>
        <p:spPr>
          <a:xfrm>
            <a:off x="8302752" y="3712464"/>
            <a:ext cx="3108960" cy="256032"/>
          </a:xfrm>
          <a:prstGeom prst="rect">
            <a:avLst/>
          </a:prstGeom>
          <a:noFill/>
          <a:ln/>
        </p:spPr>
        <p:txBody>
          <a:bodyPr wrap="square" lIns="0" tIns="0" rIns="0" bIns="0" rtlCol="0" anchor="ctr"/>
          <a:lstStyle/>
          <a:p>
            <a:pPr indent="0" marL="0">
              <a:buNone/>
            </a:pPr>
            <a:r>
              <a:rPr lang="en-US" sz="1100" b="1" spc="200" kern="0" dirty="0">
                <a:solidFill>
                  <a:srgbClr val="00C2A8"/>
                </a:solidFill>
                <a:latin typeface="Calibri" pitchFamily="34" charset="0"/>
                <a:ea typeface="Calibri" pitchFamily="34" charset="-122"/>
                <a:cs typeface="Calibri" pitchFamily="34" charset="-120"/>
              </a:rPr>
              <a:t>STAGE 3</a:t>
            </a:r>
            <a:endParaRPr lang="en-US" sz="1100" dirty="0"/>
          </a:p>
        </p:txBody>
      </p:sp>
      <p:sp>
        <p:nvSpPr>
          <p:cNvPr id="22" name="Text 20"/>
          <p:cNvSpPr txBox="1"/>
          <p:nvPr/>
        </p:nvSpPr>
        <p:spPr>
          <a:xfrm>
            <a:off x="8302752" y="3986784"/>
            <a:ext cx="3108960" cy="347472"/>
          </a:xfrm>
          <a:prstGeom prst="rect">
            <a:avLst/>
          </a:prstGeom>
          <a:noFill/>
          <a:ln/>
        </p:spPr>
        <p:txBody>
          <a:bodyPr wrap="square" lIns="0" tIns="0" rIns="0" bIns="0" rtlCol="0" anchor="ctr"/>
          <a:lstStyle/>
          <a:p>
            <a:pPr indent="0" marL="0">
              <a:buNone/>
            </a:pPr>
            <a:r>
              <a:rPr lang="en-US" sz="1700" b="1" dirty="0">
                <a:solidFill>
                  <a:srgbClr val="FFFFFF"/>
                </a:solidFill>
                <a:latin typeface="Cambria" pitchFamily="34" charset="0"/>
                <a:ea typeface="Cambria" pitchFamily="34" charset="-122"/>
                <a:cs typeface="Cambria" pitchFamily="34" charset="-120"/>
              </a:rPr>
              <a:t>Predict and fuse</a:t>
            </a:r>
            <a:endParaRPr lang="en-US" sz="1700" dirty="0"/>
          </a:p>
        </p:txBody>
      </p:sp>
      <p:sp>
        <p:nvSpPr>
          <p:cNvPr id="23" name="Text 21"/>
          <p:cNvSpPr txBox="1"/>
          <p:nvPr/>
        </p:nvSpPr>
        <p:spPr>
          <a:xfrm>
            <a:off x="8302752" y="4407408"/>
            <a:ext cx="3108960" cy="914400"/>
          </a:xfrm>
          <a:prstGeom prst="rect">
            <a:avLst/>
          </a:prstGeom>
          <a:noFill/>
          <a:ln/>
        </p:spPr>
        <p:txBody>
          <a:bodyPr wrap="square" lIns="0" tIns="0" rIns="0" bIns="0" rtlCol="0" anchor="ctr"/>
          <a:lstStyle/>
          <a:p>
            <a:pPr indent="0" marL="0">
              <a:buNone/>
            </a:pPr>
            <a:r>
              <a:rPr lang="en-US" sz="1150" dirty="0">
                <a:solidFill>
                  <a:srgbClr val="D6E6EA"/>
                </a:solidFill>
                <a:latin typeface="Calibri" pitchFamily="34" charset="0"/>
                <a:ea typeface="Calibri" pitchFamily="34" charset="-122"/>
                <a:cs typeface="Calibri" pitchFamily="34" charset="-120"/>
              </a:rPr>
              <a:t>Three models each predict; a Choquet integral combines their answers</a:t>
            </a:r>
            <a:endParaRPr lang="en-US" sz="1150" dirty="0"/>
          </a:p>
        </p:txBody>
      </p:sp>
      <p:sp>
        <p:nvSpPr>
          <p:cNvPr id="24" name="Text 22"/>
          <p:cNvSpPr txBox="1"/>
          <p:nvPr/>
        </p:nvSpPr>
        <p:spPr>
          <a:xfrm>
            <a:off x="548640" y="6291072"/>
            <a:ext cx="11094415" cy="320040"/>
          </a:xfrm>
          <a:prstGeom prst="rect">
            <a:avLst/>
          </a:prstGeom>
          <a:noFill/>
          <a:ln/>
        </p:spPr>
        <p:txBody>
          <a:bodyPr wrap="square" lIns="0" tIns="0" rIns="0" bIns="0" rtlCol="0" anchor="ctr"/>
          <a:lstStyle/>
          <a:p>
            <a:pPr indent="0" marL="0">
              <a:buNone/>
            </a:pPr>
            <a:r>
              <a:rPr lang="en-US" sz="1050" i="1" dirty="0">
                <a:solidFill>
                  <a:srgbClr val="5A6B72"/>
                </a:solidFill>
                <a:latin typeface="Calibri" pitchFamily="34" charset="0"/>
                <a:ea typeface="Calibri" pitchFamily="34" charset="-122"/>
                <a:cs typeface="Calibri" pitchFamily="34" charset="-120"/>
              </a:rPr>
              <a:t>1.49 mmol/L approaches approved CGM accuracy. The authors published code but not data, so the claim had never been independently checked.</a:t>
            </a:r>
            <a:endParaRPr lang="en-US" sz="10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84048"/>
            <a:ext cx="11094415" cy="868680"/>
          </a:xfrm>
          <a:prstGeom prst="rect">
            <a:avLst/>
          </a:prstGeom>
          <a:noFill/>
          <a:ln/>
        </p:spPr>
        <p:txBody>
          <a:bodyPr wrap="square" rtlCol="0" anchor="t"/>
          <a:lstStyle/>
          <a:p>
            <a:pPr indent="0" marL="0">
              <a:buNone/>
            </a:pPr>
            <a:r>
              <a:rPr lang="en-US" sz="2700" b="1" dirty="0">
                <a:solidFill>
                  <a:srgbClr val="0B2F3A"/>
                </a:solidFill>
                <a:latin typeface="Cambria" pitchFamily="34" charset="0"/>
                <a:ea typeface="Cambria" pitchFamily="34" charset="-122"/>
                <a:cs typeface="Cambria" pitchFamily="34" charset="-120"/>
              </a:rPr>
              <a:t>We rebuilt all three stages and ran them on the largest open ECG+PPG+CGM dataset</a:t>
            </a:r>
            <a:endParaRPr lang="en-US" sz="2700" dirty="0"/>
          </a:p>
        </p:txBody>
      </p:sp>
      <p:sp>
        <p:nvSpPr>
          <p:cNvPr id="3" name="Text 1"/>
          <p:cNvSpPr txBox="1"/>
          <p:nvPr/>
        </p:nvSpPr>
        <p:spPr>
          <a:xfrm>
            <a:off x="548640" y="1371600"/>
            <a:ext cx="2743200" cy="868680"/>
          </a:xfrm>
          <a:prstGeom prst="rect">
            <a:avLst/>
          </a:prstGeom>
          <a:noFill/>
          <a:ln/>
        </p:spPr>
        <p:txBody>
          <a:bodyPr wrap="square" lIns="0" tIns="0" rIns="0" bIns="0" rtlCol="0" anchor="ctr"/>
          <a:lstStyle/>
          <a:p>
            <a:pPr algn="ctr" indent="0" marL="0">
              <a:buNone/>
            </a:pPr>
            <a:r>
              <a:rPr lang="en-US" sz="4200" b="1" dirty="0">
                <a:solidFill>
                  <a:srgbClr val="1C7293"/>
                </a:solidFill>
                <a:latin typeface="Cambria" pitchFamily="34" charset="0"/>
                <a:ea typeface="Cambria" pitchFamily="34" charset="-122"/>
                <a:cs typeface="Cambria" pitchFamily="34" charset="-120"/>
              </a:rPr>
              <a:t>30,830</a:t>
            </a:r>
            <a:endParaRPr lang="en-US" sz="4200" dirty="0"/>
          </a:p>
        </p:txBody>
      </p:sp>
      <p:sp>
        <p:nvSpPr>
          <p:cNvPr id="4" name="Text 2"/>
          <p:cNvSpPr txBox="1"/>
          <p:nvPr/>
        </p:nvSpPr>
        <p:spPr>
          <a:xfrm>
            <a:off x="548640" y="2212848"/>
            <a:ext cx="2743200" cy="548640"/>
          </a:xfrm>
          <a:prstGeom prst="rect">
            <a:avLst/>
          </a:prstGeom>
          <a:noFill/>
          <a:ln/>
        </p:spPr>
        <p:txBody>
          <a:bodyPr wrap="square" lIns="0" tIns="0" rIns="0" bIns="0" rtlCol="0" anchor="ctr"/>
          <a:lstStyle/>
          <a:p>
            <a:pPr algn="ctr" indent="0" marL="0">
              <a:buNone/>
            </a:pPr>
            <a:r>
              <a:rPr lang="en-US" sz="1150" dirty="0">
                <a:solidFill>
                  <a:srgbClr val="5A6B72"/>
                </a:solidFill>
                <a:latin typeface="Calibri" pitchFamily="34" charset="0"/>
                <a:ea typeface="Calibri" pitchFamily="34" charset="-122"/>
                <a:cs typeface="Calibri" pitchFamily="34" charset="-120"/>
              </a:rPr>
              <a:t>paired ECG+PPG windows</a:t>
            </a:r>
            <a:endParaRPr lang="en-US" sz="1150" dirty="0"/>
          </a:p>
        </p:txBody>
      </p:sp>
      <p:sp>
        <p:nvSpPr>
          <p:cNvPr id="5" name="Text 3"/>
          <p:cNvSpPr txBox="1"/>
          <p:nvPr/>
        </p:nvSpPr>
        <p:spPr>
          <a:xfrm>
            <a:off x="3429000" y="1371600"/>
            <a:ext cx="2743200" cy="868680"/>
          </a:xfrm>
          <a:prstGeom prst="rect">
            <a:avLst/>
          </a:prstGeom>
          <a:noFill/>
          <a:ln/>
        </p:spPr>
        <p:txBody>
          <a:bodyPr wrap="square" lIns="0" tIns="0" rIns="0" bIns="0" rtlCol="0" anchor="ctr"/>
          <a:lstStyle/>
          <a:p>
            <a:pPr algn="ctr" indent="0" marL="0">
              <a:buNone/>
            </a:pPr>
            <a:r>
              <a:rPr lang="en-US" sz="4200" b="1" dirty="0">
                <a:solidFill>
                  <a:srgbClr val="1C7293"/>
                </a:solidFill>
                <a:latin typeface="Cambria" pitchFamily="34" charset="0"/>
                <a:ea typeface="Cambria" pitchFamily="34" charset="-122"/>
                <a:cs typeface="Cambria" pitchFamily="34" charset="-120"/>
              </a:rPr>
              <a:t>193</a:t>
            </a:r>
            <a:endParaRPr lang="en-US" sz="4200" dirty="0"/>
          </a:p>
        </p:txBody>
      </p:sp>
      <p:sp>
        <p:nvSpPr>
          <p:cNvPr id="6" name="Text 4"/>
          <p:cNvSpPr txBox="1"/>
          <p:nvPr/>
        </p:nvSpPr>
        <p:spPr>
          <a:xfrm>
            <a:off x="3429000" y="2212848"/>
            <a:ext cx="2743200" cy="548640"/>
          </a:xfrm>
          <a:prstGeom prst="rect">
            <a:avLst/>
          </a:prstGeom>
          <a:noFill/>
          <a:ln/>
        </p:spPr>
        <p:txBody>
          <a:bodyPr wrap="square" lIns="0" tIns="0" rIns="0" bIns="0" rtlCol="0" anchor="ctr"/>
          <a:lstStyle/>
          <a:p>
            <a:pPr algn="ctr" indent="0" marL="0">
              <a:buNone/>
            </a:pPr>
            <a:r>
              <a:rPr lang="en-US" sz="1150" dirty="0">
                <a:solidFill>
                  <a:srgbClr val="5A6B72"/>
                </a:solidFill>
                <a:latin typeface="Calibri" pitchFamily="34" charset="0"/>
                <a:ea typeface="Calibri" pitchFamily="34" charset="-122"/>
                <a:cs typeface="Calibri" pitchFamily="34" charset="-120"/>
              </a:rPr>
              <a:t>features per window</a:t>
            </a:r>
            <a:endParaRPr lang="en-US" sz="1150" dirty="0"/>
          </a:p>
        </p:txBody>
      </p:sp>
      <p:sp>
        <p:nvSpPr>
          <p:cNvPr id="7" name="Text 5"/>
          <p:cNvSpPr txBox="1"/>
          <p:nvPr/>
        </p:nvSpPr>
        <p:spPr>
          <a:xfrm>
            <a:off x="6309360" y="1371600"/>
            <a:ext cx="2743200" cy="868680"/>
          </a:xfrm>
          <a:prstGeom prst="rect">
            <a:avLst/>
          </a:prstGeom>
          <a:noFill/>
          <a:ln/>
        </p:spPr>
        <p:txBody>
          <a:bodyPr wrap="square" lIns="0" tIns="0" rIns="0" bIns="0" rtlCol="0" anchor="ctr"/>
          <a:lstStyle/>
          <a:p>
            <a:pPr algn="ctr" indent="0" marL="0">
              <a:buNone/>
            </a:pPr>
            <a:r>
              <a:rPr lang="en-US" sz="4200" b="1" dirty="0">
                <a:solidFill>
                  <a:srgbClr val="1C7293"/>
                </a:solidFill>
                <a:latin typeface="Cambria" pitchFamily="34" charset="0"/>
                <a:ea typeface="Cambria" pitchFamily="34" charset="-122"/>
                <a:cs typeface="Cambria" pitchFamily="34" charset="-120"/>
              </a:rPr>
              <a:t>10</a:t>
            </a:r>
            <a:endParaRPr lang="en-US" sz="4200" dirty="0"/>
          </a:p>
        </p:txBody>
      </p:sp>
      <p:sp>
        <p:nvSpPr>
          <p:cNvPr id="8" name="Text 6"/>
          <p:cNvSpPr txBox="1"/>
          <p:nvPr/>
        </p:nvSpPr>
        <p:spPr>
          <a:xfrm>
            <a:off x="6309360" y="2212848"/>
            <a:ext cx="2743200" cy="548640"/>
          </a:xfrm>
          <a:prstGeom prst="rect">
            <a:avLst/>
          </a:prstGeom>
          <a:noFill/>
          <a:ln/>
        </p:spPr>
        <p:txBody>
          <a:bodyPr wrap="square" lIns="0" tIns="0" rIns="0" bIns="0" rtlCol="0" anchor="ctr"/>
          <a:lstStyle/>
          <a:p>
            <a:pPr algn="ctr" indent="0" marL="0">
              <a:buNone/>
            </a:pPr>
            <a:r>
              <a:rPr lang="en-US" sz="1150" dirty="0">
                <a:solidFill>
                  <a:srgbClr val="5A6B72"/>
                </a:solidFill>
                <a:latin typeface="Calibri" pitchFamily="34" charset="0"/>
                <a:ea typeface="Calibri" pitchFamily="34" charset="-122"/>
                <a:cs typeface="Calibri" pitchFamily="34" charset="-120"/>
              </a:rPr>
              <a:t>Type-1 patients</a:t>
            </a:r>
            <a:endParaRPr lang="en-US" sz="1150" dirty="0"/>
          </a:p>
        </p:txBody>
      </p:sp>
      <p:sp>
        <p:nvSpPr>
          <p:cNvPr id="9" name="Text 7"/>
          <p:cNvSpPr txBox="1"/>
          <p:nvPr/>
        </p:nvSpPr>
        <p:spPr>
          <a:xfrm>
            <a:off x="9189720" y="1371600"/>
            <a:ext cx="2743200" cy="868680"/>
          </a:xfrm>
          <a:prstGeom prst="rect">
            <a:avLst/>
          </a:prstGeom>
          <a:noFill/>
          <a:ln/>
        </p:spPr>
        <p:txBody>
          <a:bodyPr wrap="square" lIns="0" tIns="0" rIns="0" bIns="0" rtlCol="0" anchor="ctr"/>
          <a:lstStyle/>
          <a:p>
            <a:pPr algn="ctr" indent="0" marL="0">
              <a:buNone/>
            </a:pPr>
            <a:r>
              <a:rPr lang="en-US" sz="4200" b="1" dirty="0">
                <a:solidFill>
                  <a:srgbClr val="C62828"/>
                </a:solidFill>
                <a:latin typeface="Cambria" pitchFamily="34" charset="0"/>
                <a:ea typeface="Cambria" pitchFamily="34" charset="-122"/>
                <a:cs typeface="Cambria" pitchFamily="34" charset="-120"/>
              </a:rPr>
              <a:t>2.519</a:t>
            </a:r>
            <a:endParaRPr lang="en-US" sz="4200" dirty="0"/>
          </a:p>
        </p:txBody>
      </p:sp>
      <p:sp>
        <p:nvSpPr>
          <p:cNvPr id="10" name="Text 8"/>
          <p:cNvSpPr txBox="1"/>
          <p:nvPr/>
        </p:nvSpPr>
        <p:spPr>
          <a:xfrm>
            <a:off x="9189720" y="2212848"/>
            <a:ext cx="2743200" cy="548640"/>
          </a:xfrm>
          <a:prstGeom prst="rect">
            <a:avLst/>
          </a:prstGeom>
          <a:noFill/>
          <a:ln/>
        </p:spPr>
        <p:txBody>
          <a:bodyPr wrap="square" lIns="0" tIns="0" rIns="0" bIns="0" rtlCol="0" anchor="ctr"/>
          <a:lstStyle/>
          <a:p>
            <a:pPr algn="ctr" indent="0" marL="0">
              <a:buNone/>
            </a:pPr>
            <a:r>
              <a:rPr lang="en-US" sz="1150" dirty="0">
                <a:solidFill>
                  <a:srgbClr val="5A6B72"/>
                </a:solidFill>
                <a:latin typeface="Calibri" pitchFamily="34" charset="0"/>
                <a:ea typeface="Calibri" pitchFamily="34" charset="-122"/>
                <a:cs typeface="Calibri" pitchFamily="34" charset="-120"/>
              </a:rPr>
              <a:t>baseline RMSE to beat</a:t>
            </a:r>
            <a:endParaRPr lang="en-US" sz="1150" dirty="0"/>
          </a:p>
        </p:txBody>
      </p:sp>
      <p:graphicFrame>
        <p:nvGraphicFramePr>
          <p:cNvPr id="5" name="Table 0"/>
          <p:cNvGraphicFramePr>
            <a:graphicFrameLocks noGrp="1"/>
          </p:cNvGraphicFramePr>
          <p:nvPr>
            <p:extLst>
              <p:ext uri="{D42A27DB-BD31-4B8C-83A1-F6EECF244321}">
                <p14:modId xmlns:p14="http://schemas.microsoft.com/office/powerpoint/2010/main" val="1579011935"/>
              </p:ext>
            </p:extLst>
          </p:nvPr>
        </p:nvGraphicFramePr>
        <p:xfrm>
          <a:off x="548640" y="3017520"/>
          <a:ext cx="5760720" cy="914400"/>
        </p:xfrm>
        <a:graphic>
          <a:graphicData uri="http://schemas.openxmlformats.org/drawingml/2006/table">
            <a:tbl>
              <a:tblPr/>
              <a:tblGrid>
                <a:gridCol w="1280160"/>
                <a:gridCol w="1371600"/>
                <a:gridCol w="3108960"/>
              </a:tblGrid>
              <a:tr h="301752">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Signal</a:t>
                      </a:r>
                      <a:endParaRPr lang="en-US" sz="1200" dirty="0">
                        <a:latin typeface="Calibri" charset="0"/>
                        <a:ea typeface="Calibri" charset="0"/>
                        <a:cs typeface="Calibri" charset="0"/>
                      </a:endParaRPr>
                    </a:p>
                  </a:txBody>
                  <a:tcPr marL="91440" marR="91440" marT="45720" marB="45720" anchor="ctr">
                    <a:lnL w="6350" cap="flat" cmpd="sng" algn="ctr">
                      <a:solidFill>
                        <a:srgbClr val="D5E2E6"/>
                      </a:solidFill>
                      <a:prstDash val="solid"/>
                      <a:round/>
                      <a:headEnd type="none" w="med" len="med"/>
                      <a:tailEnd type="none" w="med" len="med"/>
                    </a:lnL>
                    <a:lnR w="6350" cap="flat" cmpd="sng" algn="ctr">
                      <a:solidFill>
                        <a:srgbClr val="D5E2E6"/>
                      </a:solidFill>
                      <a:prstDash val="solid"/>
                      <a:round/>
                      <a:headEnd type="none" w="med" len="med"/>
                      <a:tailEnd type="none" w="med" len="med"/>
                    </a:lnR>
                    <a:lnT w="6350" cap="flat" cmpd="sng" algn="ctr">
                      <a:solidFill>
                        <a:srgbClr val="D5E2E6"/>
                      </a:solidFill>
                      <a:prstDash val="solid"/>
                      <a:round/>
                      <a:headEnd type="none" w="med" len="med"/>
                      <a:tailEnd type="none" w="med" len="med"/>
                    </a:lnT>
                    <a:lnB w="6350" cap="flat" cmpd="sng" algn="ctr">
                      <a:solidFill>
                        <a:srgbClr val="D5E2E6"/>
                      </a:solidFill>
                      <a:prstDash val="solid"/>
                      <a:round/>
                      <a:headEnd type="none" w="med" len="med"/>
                      <a:tailEnd type="none" w="med" len="med"/>
                    </a:lnB>
                    <a:solidFill>
                      <a:srgbClr val="0B2F3A"/>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Rate</a:t>
                      </a:r>
                      <a:endParaRPr lang="en-US" sz="1200" dirty="0">
                        <a:latin typeface="Calibri" charset="0"/>
                        <a:ea typeface="Calibri" charset="0"/>
                        <a:cs typeface="Calibri" charset="0"/>
                      </a:endParaRPr>
                    </a:p>
                  </a:txBody>
                  <a:tcPr marL="91440" marR="91440" marT="45720" marB="45720" anchor="ctr">
                    <a:lnL w="6350" cap="flat" cmpd="sng" algn="ctr">
                      <a:solidFill>
                        <a:srgbClr val="D5E2E6"/>
                      </a:solidFill>
                      <a:prstDash val="solid"/>
                      <a:round/>
                      <a:headEnd type="none" w="med" len="med"/>
                      <a:tailEnd type="none" w="med" len="med"/>
                    </a:lnL>
                    <a:lnR w="6350" cap="flat" cmpd="sng" algn="ctr">
                      <a:solidFill>
                        <a:srgbClr val="D5E2E6"/>
                      </a:solidFill>
                      <a:prstDash val="solid"/>
                      <a:round/>
                      <a:headEnd type="none" w="med" len="med"/>
                      <a:tailEnd type="none" w="med" len="med"/>
                    </a:lnR>
                    <a:lnT w="6350" cap="flat" cmpd="sng" algn="ctr">
                      <a:solidFill>
                        <a:srgbClr val="D5E2E6"/>
                      </a:solidFill>
                      <a:prstDash val="solid"/>
                      <a:round/>
                      <a:headEnd type="none" w="med" len="med"/>
                      <a:tailEnd type="none" w="med" len="med"/>
                    </a:lnT>
                    <a:lnB w="6350" cap="flat" cmpd="sng" algn="ctr">
                      <a:solidFill>
                        <a:srgbClr val="D5E2E6"/>
                      </a:solidFill>
                      <a:prstDash val="solid"/>
                      <a:round/>
                      <a:headEnd type="none" w="med" len="med"/>
                      <a:tailEnd type="none" w="med" len="med"/>
                    </a:lnB>
                    <a:solidFill>
                      <a:srgbClr val="0B2F3A"/>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Device</a:t>
                      </a:r>
                      <a:endParaRPr lang="en-US" sz="1200" dirty="0">
                        <a:latin typeface="Calibri" charset="0"/>
                        <a:ea typeface="Calibri" charset="0"/>
                        <a:cs typeface="Calibri" charset="0"/>
                      </a:endParaRPr>
                    </a:p>
                  </a:txBody>
                  <a:tcPr marL="91440" marR="91440" marT="45720" marB="45720" anchor="ctr">
                    <a:lnL w="6350" cap="flat" cmpd="sng" algn="ctr">
                      <a:solidFill>
                        <a:srgbClr val="D5E2E6"/>
                      </a:solidFill>
                      <a:prstDash val="solid"/>
                      <a:round/>
                      <a:headEnd type="none" w="med" len="med"/>
                      <a:tailEnd type="none" w="med" len="med"/>
                    </a:lnL>
                    <a:lnR w="6350" cap="flat" cmpd="sng" algn="ctr">
                      <a:solidFill>
                        <a:srgbClr val="D5E2E6"/>
                      </a:solidFill>
                      <a:prstDash val="solid"/>
                      <a:round/>
                      <a:headEnd type="none" w="med" len="med"/>
                      <a:tailEnd type="none" w="med" len="med"/>
                    </a:lnR>
                    <a:lnT w="6350" cap="flat" cmpd="sng" algn="ctr">
                      <a:solidFill>
                        <a:srgbClr val="D5E2E6"/>
                      </a:solidFill>
                      <a:prstDash val="solid"/>
                      <a:round/>
                      <a:headEnd type="none" w="med" len="med"/>
                      <a:tailEnd type="none" w="med" len="med"/>
                    </a:lnT>
                    <a:lnB w="6350" cap="flat" cmpd="sng" algn="ctr">
                      <a:solidFill>
                        <a:srgbClr val="D5E2E6"/>
                      </a:solidFill>
                      <a:prstDash val="solid"/>
                      <a:round/>
                      <a:headEnd type="none" w="med" len="med"/>
                      <a:tailEnd type="none" w="med" len="med"/>
                    </a:lnB>
                    <a:solidFill>
                      <a:srgbClr val="0B2F3A"/>
                    </a:solidFill>
                  </a:tcPr>
                </a:tc>
              </a:tr>
              <a:tr h="301752">
                <a:tc>
                  <a:txBody>
                    <a:bodyPr/>
                    <a:lstStyle/>
                    <a:p>
                      <a:pPr algn="l" indent="0" marL="0">
                        <a:buNone/>
                      </a:pPr>
                      <a:r>
                        <a:rPr lang="en-US" sz="1200" dirty="0">
                          <a:solidFill>
                            <a:srgbClr val="0B2F3A"/>
                          </a:solidFill>
                          <a:latin typeface="Calibri" pitchFamily="34" charset="0"/>
                          <a:ea typeface="Calibri" pitchFamily="34" charset="-122"/>
                          <a:cs typeface="Calibri" pitchFamily="34" charset="-120"/>
                        </a:rPr>
                        <a:t>ECG</a:t>
                      </a:r>
                      <a:endParaRPr lang="en-US" sz="1200" dirty="0">
                        <a:latin typeface="Calibri" charset="0"/>
                        <a:ea typeface="Calibri" charset="0"/>
                        <a:cs typeface="Calibri" charset="0"/>
                      </a:endParaRPr>
                    </a:p>
                  </a:txBody>
                  <a:tcPr marL="91440" marR="91440" marT="45720" marB="45720" anchor="ctr">
                    <a:lnL w="6350" cap="flat" cmpd="sng" algn="ctr">
                      <a:solidFill>
                        <a:srgbClr val="D5E2E6"/>
                      </a:solidFill>
                      <a:prstDash val="solid"/>
                      <a:round/>
                      <a:headEnd type="none" w="med" len="med"/>
                      <a:tailEnd type="none" w="med" len="med"/>
                    </a:lnL>
                    <a:lnR w="6350" cap="flat" cmpd="sng" algn="ctr">
                      <a:solidFill>
                        <a:srgbClr val="D5E2E6"/>
                      </a:solidFill>
                      <a:prstDash val="solid"/>
                      <a:round/>
                      <a:headEnd type="none" w="med" len="med"/>
                      <a:tailEnd type="none" w="med" len="med"/>
                    </a:lnR>
                    <a:lnT w="6350" cap="flat" cmpd="sng" algn="ctr">
                      <a:solidFill>
                        <a:srgbClr val="D5E2E6"/>
                      </a:solidFill>
                      <a:prstDash val="solid"/>
                      <a:round/>
                      <a:headEnd type="none" w="med" len="med"/>
                      <a:tailEnd type="none" w="med" len="med"/>
                    </a:lnT>
                    <a:lnB w="6350" cap="flat" cmpd="sng" algn="ctr">
                      <a:solidFill>
                        <a:srgbClr val="D5E2E6"/>
                      </a:solidFill>
                      <a:prstDash val="solid"/>
                      <a:round/>
                      <a:headEnd type="none" w="med" len="med"/>
                      <a:tailEnd type="none" w="med" len="med"/>
                    </a:lnB>
                    <a:solidFill>
                      <a:srgbClr val="FFFFFF"/>
                    </a:solidFill>
                  </a:tcPr>
                </a:tc>
                <a:tc>
                  <a:txBody>
                    <a:bodyPr/>
                    <a:lstStyle/>
                    <a:p>
                      <a:pPr algn="l" indent="0" marL="0">
                        <a:buNone/>
                      </a:pPr>
                      <a:r>
                        <a:rPr lang="en-US" sz="1200" dirty="0">
                          <a:solidFill>
                            <a:srgbClr val="0B2F3A"/>
                          </a:solidFill>
                          <a:latin typeface="Calibri" pitchFamily="34" charset="0"/>
                          <a:ea typeface="Calibri" pitchFamily="34" charset="-122"/>
                          <a:cs typeface="Calibri" pitchFamily="34" charset="-120"/>
                        </a:rPr>
                        <a:t>250 Hz</a:t>
                      </a:r>
                      <a:endParaRPr lang="en-US" sz="1200" dirty="0">
                        <a:latin typeface="Calibri" charset="0"/>
                        <a:ea typeface="Calibri" charset="0"/>
                        <a:cs typeface="Calibri" charset="0"/>
                      </a:endParaRPr>
                    </a:p>
                  </a:txBody>
                  <a:tcPr marL="91440" marR="91440" marT="45720" marB="45720" anchor="ctr">
                    <a:lnL w="6350" cap="flat" cmpd="sng" algn="ctr">
                      <a:solidFill>
                        <a:srgbClr val="D5E2E6"/>
                      </a:solidFill>
                      <a:prstDash val="solid"/>
                      <a:round/>
                      <a:headEnd type="none" w="med" len="med"/>
                      <a:tailEnd type="none" w="med" len="med"/>
                    </a:lnL>
                    <a:lnR w="6350" cap="flat" cmpd="sng" algn="ctr">
                      <a:solidFill>
                        <a:srgbClr val="D5E2E6"/>
                      </a:solidFill>
                      <a:prstDash val="solid"/>
                      <a:round/>
                      <a:headEnd type="none" w="med" len="med"/>
                      <a:tailEnd type="none" w="med" len="med"/>
                    </a:lnR>
                    <a:lnT w="6350" cap="flat" cmpd="sng" algn="ctr">
                      <a:solidFill>
                        <a:srgbClr val="D5E2E6"/>
                      </a:solidFill>
                      <a:prstDash val="solid"/>
                      <a:round/>
                      <a:headEnd type="none" w="med" len="med"/>
                      <a:tailEnd type="none" w="med" len="med"/>
                    </a:lnT>
                    <a:lnB w="6350" cap="flat" cmpd="sng" algn="ctr">
                      <a:solidFill>
                        <a:srgbClr val="D5E2E6"/>
                      </a:solidFill>
                      <a:prstDash val="solid"/>
                      <a:round/>
                      <a:headEnd type="none" w="med" len="med"/>
                      <a:tailEnd type="none" w="med" len="med"/>
                    </a:lnB>
                    <a:solidFill>
                      <a:srgbClr val="FFFFFF"/>
                    </a:solidFill>
                  </a:tcPr>
                </a:tc>
                <a:tc>
                  <a:txBody>
                    <a:bodyPr/>
                    <a:lstStyle/>
                    <a:p>
                      <a:pPr algn="l" indent="0" marL="0">
                        <a:buNone/>
                      </a:pPr>
                      <a:r>
                        <a:rPr lang="en-US" sz="1200" dirty="0">
                          <a:solidFill>
                            <a:srgbClr val="0B2F3A"/>
                          </a:solidFill>
                          <a:latin typeface="Calibri" pitchFamily="34" charset="0"/>
                          <a:ea typeface="Calibri" pitchFamily="34" charset="-122"/>
                          <a:cs typeface="Calibri" pitchFamily="34" charset="-120"/>
                        </a:rPr>
                        <a:t>Zephyr BioHarness chest strap</a:t>
                      </a:r>
                      <a:endParaRPr lang="en-US" sz="1200" dirty="0">
                        <a:latin typeface="Calibri" charset="0"/>
                        <a:ea typeface="Calibri" charset="0"/>
                        <a:cs typeface="Calibri" charset="0"/>
                      </a:endParaRPr>
                    </a:p>
                  </a:txBody>
                  <a:tcPr marL="91440" marR="91440" marT="45720" marB="45720" anchor="ctr">
                    <a:lnL w="6350" cap="flat" cmpd="sng" algn="ctr">
                      <a:solidFill>
                        <a:srgbClr val="D5E2E6"/>
                      </a:solidFill>
                      <a:prstDash val="solid"/>
                      <a:round/>
                      <a:headEnd type="none" w="med" len="med"/>
                      <a:tailEnd type="none" w="med" len="med"/>
                    </a:lnL>
                    <a:lnR w="6350" cap="flat" cmpd="sng" algn="ctr">
                      <a:solidFill>
                        <a:srgbClr val="D5E2E6"/>
                      </a:solidFill>
                      <a:prstDash val="solid"/>
                      <a:round/>
                      <a:headEnd type="none" w="med" len="med"/>
                      <a:tailEnd type="none" w="med" len="med"/>
                    </a:lnR>
                    <a:lnT w="6350" cap="flat" cmpd="sng" algn="ctr">
                      <a:solidFill>
                        <a:srgbClr val="D5E2E6"/>
                      </a:solidFill>
                      <a:prstDash val="solid"/>
                      <a:round/>
                      <a:headEnd type="none" w="med" len="med"/>
                      <a:tailEnd type="none" w="med" len="med"/>
                    </a:lnT>
                    <a:lnB w="6350" cap="flat" cmpd="sng" algn="ctr">
                      <a:solidFill>
                        <a:srgbClr val="D5E2E6"/>
                      </a:solidFill>
                      <a:prstDash val="solid"/>
                      <a:round/>
                      <a:headEnd type="none" w="med" len="med"/>
                      <a:tailEnd type="none" w="med" len="med"/>
                    </a:lnB>
                    <a:solidFill>
                      <a:srgbClr val="FFFFFF"/>
                    </a:solidFill>
                  </a:tcPr>
                </a:tc>
              </a:tr>
              <a:tr h="301752">
                <a:tc>
                  <a:txBody>
                    <a:bodyPr/>
                    <a:lstStyle/>
                    <a:p>
                      <a:pPr algn="l" indent="0" marL="0">
                        <a:buNone/>
                      </a:pPr>
                      <a:r>
                        <a:rPr lang="en-US" sz="1200" dirty="0">
                          <a:solidFill>
                            <a:srgbClr val="0B2F3A"/>
                          </a:solidFill>
                          <a:latin typeface="Calibri" pitchFamily="34" charset="0"/>
                          <a:ea typeface="Calibri" pitchFamily="34" charset="-122"/>
                          <a:cs typeface="Calibri" pitchFamily="34" charset="-120"/>
                        </a:rPr>
                        <a:t>PPG</a:t>
                      </a:r>
                      <a:endParaRPr lang="en-US" sz="1200" dirty="0">
                        <a:latin typeface="Calibri" charset="0"/>
                        <a:ea typeface="Calibri" charset="0"/>
                        <a:cs typeface="Calibri" charset="0"/>
                      </a:endParaRPr>
                    </a:p>
                  </a:txBody>
                  <a:tcPr marL="91440" marR="91440" marT="45720" marB="45720" anchor="ctr">
                    <a:lnL w="6350" cap="flat" cmpd="sng" algn="ctr">
                      <a:solidFill>
                        <a:srgbClr val="D5E2E6"/>
                      </a:solidFill>
                      <a:prstDash val="solid"/>
                      <a:round/>
                      <a:headEnd type="none" w="med" len="med"/>
                      <a:tailEnd type="none" w="med" len="med"/>
                    </a:lnL>
                    <a:lnR w="6350" cap="flat" cmpd="sng" algn="ctr">
                      <a:solidFill>
                        <a:srgbClr val="D5E2E6"/>
                      </a:solidFill>
                      <a:prstDash val="solid"/>
                      <a:round/>
                      <a:headEnd type="none" w="med" len="med"/>
                      <a:tailEnd type="none" w="med" len="med"/>
                    </a:lnR>
                    <a:lnT w="6350" cap="flat" cmpd="sng" algn="ctr">
                      <a:solidFill>
                        <a:srgbClr val="D5E2E6"/>
                      </a:solidFill>
                      <a:prstDash val="solid"/>
                      <a:round/>
                      <a:headEnd type="none" w="med" len="med"/>
                      <a:tailEnd type="none" w="med" len="med"/>
                    </a:lnT>
                    <a:lnB w="6350" cap="flat" cmpd="sng" algn="ctr">
                      <a:solidFill>
                        <a:srgbClr val="D5E2E6"/>
                      </a:solidFill>
                      <a:prstDash val="solid"/>
                      <a:round/>
                      <a:headEnd type="none" w="med" len="med"/>
                      <a:tailEnd type="none" w="med" len="med"/>
                    </a:lnB>
                    <a:solidFill>
                      <a:srgbClr val="EAF2F4"/>
                    </a:solidFill>
                  </a:tcPr>
                </a:tc>
                <a:tc>
                  <a:txBody>
                    <a:bodyPr/>
                    <a:lstStyle/>
                    <a:p>
                      <a:pPr algn="l" indent="0" marL="0">
                        <a:buNone/>
                      </a:pPr>
                      <a:r>
                        <a:rPr lang="en-US" sz="1200" dirty="0">
                          <a:solidFill>
                            <a:srgbClr val="0B2F3A"/>
                          </a:solidFill>
                          <a:latin typeface="Calibri" pitchFamily="34" charset="0"/>
                          <a:ea typeface="Calibri" pitchFamily="34" charset="-122"/>
                          <a:cs typeface="Calibri" pitchFamily="34" charset="-120"/>
                        </a:rPr>
                        <a:t>64 Hz</a:t>
                      </a:r>
                      <a:endParaRPr lang="en-US" sz="1200" dirty="0">
                        <a:latin typeface="Calibri" charset="0"/>
                        <a:ea typeface="Calibri" charset="0"/>
                        <a:cs typeface="Calibri" charset="0"/>
                      </a:endParaRPr>
                    </a:p>
                  </a:txBody>
                  <a:tcPr marL="91440" marR="91440" marT="45720" marB="45720" anchor="ctr">
                    <a:lnL w="6350" cap="flat" cmpd="sng" algn="ctr">
                      <a:solidFill>
                        <a:srgbClr val="D5E2E6"/>
                      </a:solidFill>
                      <a:prstDash val="solid"/>
                      <a:round/>
                      <a:headEnd type="none" w="med" len="med"/>
                      <a:tailEnd type="none" w="med" len="med"/>
                    </a:lnL>
                    <a:lnR w="6350" cap="flat" cmpd="sng" algn="ctr">
                      <a:solidFill>
                        <a:srgbClr val="D5E2E6"/>
                      </a:solidFill>
                      <a:prstDash val="solid"/>
                      <a:round/>
                      <a:headEnd type="none" w="med" len="med"/>
                      <a:tailEnd type="none" w="med" len="med"/>
                    </a:lnR>
                    <a:lnT w="6350" cap="flat" cmpd="sng" algn="ctr">
                      <a:solidFill>
                        <a:srgbClr val="D5E2E6"/>
                      </a:solidFill>
                      <a:prstDash val="solid"/>
                      <a:round/>
                      <a:headEnd type="none" w="med" len="med"/>
                      <a:tailEnd type="none" w="med" len="med"/>
                    </a:lnT>
                    <a:lnB w="6350" cap="flat" cmpd="sng" algn="ctr">
                      <a:solidFill>
                        <a:srgbClr val="D5E2E6"/>
                      </a:solidFill>
                      <a:prstDash val="solid"/>
                      <a:round/>
                      <a:headEnd type="none" w="med" len="med"/>
                      <a:tailEnd type="none" w="med" len="med"/>
                    </a:lnB>
                    <a:solidFill>
                      <a:srgbClr val="EAF2F4"/>
                    </a:solidFill>
                  </a:tcPr>
                </a:tc>
                <a:tc>
                  <a:txBody>
                    <a:bodyPr/>
                    <a:lstStyle/>
                    <a:p>
                      <a:pPr algn="l" indent="0" marL="0">
                        <a:buNone/>
                      </a:pPr>
                      <a:r>
                        <a:rPr lang="en-US" sz="1200" dirty="0">
                          <a:solidFill>
                            <a:srgbClr val="0B2F3A"/>
                          </a:solidFill>
                          <a:latin typeface="Calibri" pitchFamily="34" charset="0"/>
                          <a:ea typeface="Calibri" pitchFamily="34" charset="-122"/>
                          <a:cs typeface="Calibri" pitchFamily="34" charset="-120"/>
                        </a:rPr>
                        <a:t>Empatica E4 wristband</a:t>
                      </a:r>
                      <a:endParaRPr lang="en-US" sz="1200" dirty="0">
                        <a:latin typeface="Calibri" charset="0"/>
                        <a:ea typeface="Calibri" charset="0"/>
                        <a:cs typeface="Calibri" charset="0"/>
                      </a:endParaRPr>
                    </a:p>
                  </a:txBody>
                  <a:tcPr marL="91440" marR="91440" marT="45720" marB="45720" anchor="ctr">
                    <a:lnL w="6350" cap="flat" cmpd="sng" algn="ctr">
                      <a:solidFill>
                        <a:srgbClr val="D5E2E6"/>
                      </a:solidFill>
                      <a:prstDash val="solid"/>
                      <a:round/>
                      <a:headEnd type="none" w="med" len="med"/>
                      <a:tailEnd type="none" w="med" len="med"/>
                    </a:lnL>
                    <a:lnR w="6350" cap="flat" cmpd="sng" algn="ctr">
                      <a:solidFill>
                        <a:srgbClr val="D5E2E6"/>
                      </a:solidFill>
                      <a:prstDash val="solid"/>
                      <a:round/>
                      <a:headEnd type="none" w="med" len="med"/>
                      <a:tailEnd type="none" w="med" len="med"/>
                    </a:lnR>
                    <a:lnT w="6350" cap="flat" cmpd="sng" algn="ctr">
                      <a:solidFill>
                        <a:srgbClr val="D5E2E6"/>
                      </a:solidFill>
                      <a:prstDash val="solid"/>
                      <a:round/>
                      <a:headEnd type="none" w="med" len="med"/>
                      <a:tailEnd type="none" w="med" len="med"/>
                    </a:lnT>
                    <a:lnB w="6350" cap="flat" cmpd="sng" algn="ctr">
                      <a:solidFill>
                        <a:srgbClr val="D5E2E6"/>
                      </a:solidFill>
                      <a:prstDash val="solid"/>
                      <a:round/>
                      <a:headEnd type="none" w="med" len="med"/>
                      <a:tailEnd type="none" w="med" len="med"/>
                    </a:lnB>
                    <a:solidFill>
                      <a:srgbClr val="EAF2F4"/>
                    </a:solidFill>
                  </a:tcPr>
                </a:tc>
              </a:tr>
              <a:tr h="301752">
                <a:tc>
                  <a:txBody>
                    <a:bodyPr/>
                    <a:lstStyle/>
                    <a:p>
                      <a:pPr algn="l" indent="0" marL="0">
                        <a:buNone/>
                      </a:pPr>
                      <a:r>
                        <a:rPr lang="en-US" sz="1200" dirty="0">
                          <a:solidFill>
                            <a:srgbClr val="0B2F3A"/>
                          </a:solidFill>
                          <a:latin typeface="Calibri" pitchFamily="34" charset="0"/>
                          <a:ea typeface="Calibri" pitchFamily="34" charset="-122"/>
                          <a:cs typeface="Calibri" pitchFamily="34" charset="-120"/>
                        </a:rPr>
                        <a:t>Glucose</a:t>
                      </a:r>
                      <a:endParaRPr lang="en-US" sz="1200" dirty="0">
                        <a:latin typeface="Calibri" charset="0"/>
                        <a:ea typeface="Calibri" charset="0"/>
                        <a:cs typeface="Calibri" charset="0"/>
                      </a:endParaRPr>
                    </a:p>
                  </a:txBody>
                  <a:tcPr marL="91440" marR="91440" marT="45720" marB="45720" anchor="ctr">
                    <a:lnL w="6350" cap="flat" cmpd="sng" algn="ctr">
                      <a:solidFill>
                        <a:srgbClr val="D5E2E6"/>
                      </a:solidFill>
                      <a:prstDash val="solid"/>
                      <a:round/>
                      <a:headEnd type="none" w="med" len="med"/>
                      <a:tailEnd type="none" w="med" len="med"/>
                    </a:lnL>
                    <a:lnR w="6350" cap="flat" cmpd="sng" algn="ctr">
                      <a:solidFill>
                        <a:srgbClr val="D5E2E6"/>
                      </a:solidFill>
                      <a:prstDash val="solid"/>
                      <a:round/>
                      <a:headEnd type="none" w="med" len="med"/>
                      <a:tailEnd type="none" w="med" len="med"/>
                    </a:lnR>
                    <a:lnT w="6350" cap="flat" cmpd="sng" algn="ctr">
                      <a:solidFill>
                        <a:srgbClr val="D5E2E6"/>
                      </a:solidFill>
                      <a:prstDash val="solid"/>
                      <a:round/>
                      <a:headEnd type="none" w="med" len="med"/>
                      <a:tailEnd type="none" w="med" len="med"/>
                    </a:lnT>
                    <a:lnB w="6350" cap="flat" cmpd="sng" algn="ctr">
                      <a:solidFill>
                        <a:srgbClr val="D5E2E6"/>
                      </a:solidFill>
                      <a:prstDash val="solid"/>
                      <a:round/>
                      <a:headEnd type="none" w="med" len="med"/>
                      <a:tailEnd type="none" w="med" len="med"/>
                    </a:lnB>
                    <a:solidFill>
                      <a:srgbClr val="FFFFFF"/>
                    </a:solidFill>
                  </a:tcPr>
                </a:tc>
                <a:tc>
                  <a:txBody>
                    <a:bodyPr/>
                    <a:lstStyle/>
                    <a:p>
                      <a:pPr algn="l" indent="0" marL="0">
                        <a:buNone/>
                      </a:pPr>
                      <a:r>
                        <a:rPr lang="en-US" sz="1200" dirty="0">
                          <a:solidFill>
                            <a:srgbClr val="0B2F3A"/>
                          </a:solidFill>
                          <a:latin typeface="Calibri" pitchFamily="34" charset="0"/>
                          <a:ea typeface="Calibri" pitchFamily="34" charset="-122"/>
                          <a:cs typeface="Calibri" pitchFamily="34" charset="-120"/>
                        </a:rPr>
                        <a:t>every 5 min</a:t>
                      </a:r>
                      <a:endParaRPr lang="en-US" sz="1200" dirty="0">
                        <a:latin typeface="Calibri" charset="0"/>
                        <a:ea typeface="Calibri" charset="0"/>
                        <a:cs typeface="Calibri" charset="0"/>
                      </a:endParaRPr>
                    </a:p>
                  </a:txBody>
                  <a:tcPr marL="91440" marR="91440" marT="45720" marB="45720" anchor="ctr">
                    <a:lnL w="6350" cap="flat" cmpd="sng" algn="ctr">
                      <a:solidFill>
                        <a:srgbClr val="D5E2E6"/>
                      </a:solidFill>
                      <a:prstDash val="solid"/>
                      <a:round/>
                      <a:headEnd type="none" w="med" len="med"/>
                      <a:tailEnd type="none" w="med" len="med"/>
                    </a:lnL>
                    <a:lnR w="6350" cap="flat" cmpd="sng" algn="ctr">
                      <a:solidFill>
                        <a:srgbClr val="D5E2E6"/>
                      </a:solidFill>
                      <a:prstDash val="solid"/>
                      <a:round/>
                      <a:headEnd type="none" w="med" len="med"/>
                      <a:tailEnd type="none" w="med" len="med"/>
                    </a:lnR>
                    <a:lnT w="6350" cap="flat" cmpd="sng" algn="ctr">
                      <a:solidFill>
                        <a:srgbClr val="D5E2E6"/>
                      </a:solidFill>
                      <a:prstDash val="solid"/>
                      <a:round/>
                      <a:headEnd type="none" w="med" len="med"/>
                      <a:tailEnd type="none" w="med" len="med"/>
                    </a:lnT>
                    <a:lnB w="6350" cap="flat" cmpd="sng" algn="ctr">
                      <a:solidFill>
                        <a:srgbClr val="D5E2E6"/>
                      </a:solidFill>
                      <a:prstDash val="solid"/>
                      <a:round/>
                      <a:headEnd type="none" w="med" len="med"/>
                      <a:tailEnd type="none" w="med" len="med"/>
                    </a:lnB>
                    <a:solidFill>
                      <a:srgbClr val="FFFFFF"/>
                    </a:solidFill>
                  </a:tcPr>
                </a:tc>
                <a:tc>
                  <a:txBody>
                    <a:bodyPr/>
                    <a:lstStyle/>
                    <a:p>
                      <a:pPr algn="l" indent="0" marL="0">
                        <a:buNone/>
                      </a:pPr>
                      <a:r>
                        <a:rPr lang="en-US" sz="1200" dirty="0">
                          <a:solidFill>
                            <a:srgbClr val="0B2F3A"/>
                          </a:solidFill>
                          <a:latin typeface="Calibri" pitchFamily="34" charset="0"/>
                          <a:ea typeface="Calibri" pitchFamily="34" charset="-122"/>
                          <a:cs typeface="Calibri" pitchFamily="34" charset="-120"/>
                        </a:rPr>
                        <a:t>Dexcom CGM - the reference</a:t>
                      </a:r>
                      <a:endParaRPr lang="en-US" sz="1200" dirty="0">
                        <a:latin typeface="Calibri" charset="0"/>
                        <a:ea typeface="Calibri" charset="0"/>
                        <a:cs typeface="Calibri" charset="0"/>
                      </a:endParaRPr>
                    </a:p>
                  </a:txBody>
                  <a:tcPr marL="91440" marR="91440" marT="45720" marB="45720" anchor="ctr">
                    <a:lnL w="6350" cap="flat" cmpd="sng" algn="ctr">
                      <a:solidFill>
                        <a:srgbClr val="D5E2E6"/>
                      </a:solidFill>
                      <a:prstDash val="solid"/>
                      <a:round/>
                      <a:headEnd type="none" w="med" len="med"/>
                      <a:tailEnd type="none" w="med" len="med"/>
                    </a:lnL>
                    <a:lnR w="6350" cap="flat" cmpd="sng" algn="ctr">
                      <a:solidFill>
                        <a:srgbClr val="D5E2E6"/>
                      </a:solidFill>
                      <a:prstDash val="solid"/>
                      <a:round/>
                      <a:headEnd type="none" w="med" len="med"/>
                      <a:tailEnd type="none" w="med" len="med"/>
                    </a:lnR>
                    <a:lnT w="6350" cap="flat" cmpd="sng" algn="ctr">
                      <a:solidFill>
                        <a:srgbClr val="D5E2E6"/>
                      </a:solidFill>
                      <a:prstDash val="solid"/>
                      <a:round/>
                      <a:headEnd type="none" w="med" len="med"/>
                      <a:tailEnd type="none" w="med" len="med"/>
                    </a:lnT>
                    <a:lnB w="6350" cap="flat" cmpd="sng" algn="ctr">
                      <a:solidFill>
                        <a:srgbClr val="D5E2E6"/>
                      </a:solidFill>
                      <a:prstDash val="solid"/>
                      <a:round/>
                      <a:headEnd type="none" w="med" len="med"/>
                      <a:tailEnd type="none" w="med" len="med"/>
                    </a:lnB>
                    <a:solidFill>
                      <a:srgbClr val="FFFFFF"/>
                    </a:solidFill>
                  </a:tcPr>
                </a:tc>
              </a:tr>
            </a:tbl>
          </a:graphicData>
        </a:graphic>
      </p:graphicFrame>
      <p:sp>
        <p:nvSpPr>
          <p:cNvPr id="12" name="Shape 9"/>
          <p:cNvSpPr/>
          <p:nvPr/>
        </p:nvSpPr>
        <p:spPr>
          <a:xfrm>
            <a:off x="6629400" y="3017520"/>
            <a:ext cx="5074920" cy="1325880"/>
          </a:xfrm>
          <a:prstGeom prst="roundRect">
            <a:avLst>
              <a:gd name="adj" fmla="val 4138"/>
            </a:avLst>
          </a:prstGeom>
          <a:solidFill>
            <a:srgbClr val="EAF2F4"/>
          </a:solidFill>
          <a:ln w="12700">
            <a:solidFill>
              <a:srgbClr val="EAF2F4"/>
            </a:solidFill>
            <a:prstDash val="solid"/>
          </a:ln>
        </p:spPr>
      </p:sp>
      <p:sp>
        <p:nvSpPr>
          <p:cNvPr id="13" name="Text 10"/>
          <p:cNvSpPr txBox="1"/>
          <p:nvPr/>
        </p:nvSpPr>
        <p:spPr>
          <a:xfrm>
            <a:off x="6830568" y="3163824"/>
            <a:ext cx="4672584" cy="347472"/>
          </a:xfrm>
          <a:prstGeom prst="rect">
            <a:avLst/>
          </a:prstGeom>
          <a:noFill/>
          <a:ln/>
        </p:spPr>
        <p:txBody>
          <a:bodyPr wrap="square" lIns="0" tIns="0" rIns="0" bIns="0" rtlCol="0" anchor="ctr"/>
          <a:lstStyle/>
          <a:p>
            <a:pPr indent="0" marL="0">
              <a:buNone/>
            </a:pPr>
            <a:r>
              <a:rPr lang="en-US" sz="1300" b="1" dirty="0">
                <a:solidFill>
                  <a:srgbClr val="0B2F3A"/>
                </a:solidFill>
                <a:latin typeface="Calibri" pitchFamily="34" charset="0"/>
                <a:ea typeface="Calibri" pitchFamily="34" charset="-122"/>
                <a:cs typeface="Calibri" pitchFamily="34" charset="-120"/>
              </a:rPr>
              <a:t>PhysioCGM (Scientific Data, 2025)</a:t>
            </a:r>
            <a:endParaRPr lang="en-US" sz="1300" dirty="0"/>
          </a:p>
        </p:txBody>
      </p:sp>
      <p:sp>
        <p:nvSpPr>
          <p:cNvPr id="14" name="Text 11"/>
          <p:cNvSpPr txBox="1"/>
          <p:nvPr/>
        </p:nvSpPr>
        <p:spPr>
          <a:xfrm>
            <a:off x="6830568" y="3547872"/>
            <a:ext cx="4672584" cy="640080"/>
          </a:xfrm>
          <a:prstGeom prst="rect">
            <a:avLst/>
          </a:prstGeom>
          <a:noFill/>
          <a:ln/>
        </p:spPr>
        <p:txBody>
          <a:bodyPr wrap="square" lIns="0" tIns="0" rIns="0" bIns="0" rtlCol="0" anchor="t"/>
          <a:lstStyle/>
          <a:p>
            <a:pPr indent="0" marL="0">
              <a:buNone/>
            </a:pPr>
            <a:r>
              <a:rPr lang="en-US" sz="1200" dirty="0">
                <a:solidFill>
                  <a:srgbClr val="0B2F3A"/>
                </a:solidFill>
                <a:latin typeface="Calibri" pitchFamily="34" charset="0"/>
                <a:ea typeface="Calibri" pitchFamily="34" charset="-122"/>
                <a:cs typeface="Calibri" pitchFamily="34" charset="-120"/>
              </a:rPr>
              <a:t>Public domain, CC0. The only open dataset carrying ECG AND PPG against a CGM reference - exactly the pair this paper needs.</a:t>
            </a:r>
            <a:endParaRPr lang="en-US" sz="1200" dirty="0"/>
          </a:p>
        </p:txBody>
      </p:sp>
      <p:sp>
        <p:nvSpPr>
          <p:cNvPr id="15" name="Shape 12"/>
          <p:cNvSpPr/>
          <p:nvPr/>
        </p:nvSpPr>
        <p:spPr>
          <a:xfrm>
            <a:off x="548640" y="4526280"/>
            <a:ext cx="11094415" cy="1097280"/>
          </a:xfrm>
          <a:prstGeom prst="roundRect">
            <a:avLst>
              <a:gd name="adj" fmla="val 4167"/>
            </a:avLst>
          </a:prstGeom>
          <a:solidFill>
            <a:srgbClr val="0B2F3A"/>
          </a:solidFill>
          <a:ln w="12700">
            <a:solidFill>
              <a:srgbClr val="0B2F3A"/>
            </a:solidFill>
            <a:prstDash val="solid"/>
          </a:ln>
        </p:spPr>
      </p:sp>
      <p:sp>
        <p:nvSpPr>
          <p:cNvPr id="16" name="Text 13"/>
          <p:cNvSpPr txBox="1"/>
          <p:nvPr/>
        </p:nvSpPr>
        <p:spPr>
          <a:xfrm>
            <a:off x="822960" y="4718304"/>
            <a:ext cx="10545775" cy="777240"/>
          </a:xfrm>
          <a:prstGeom prst="rect">
            <a:avLst/>
          </a:prstGeom>
          <a:noFill/>
          <a:ln/>
        </p:spPr>
        <p:txBody>
          <a:bodyPr wrap="square" lIns="0" tIns="0" rIns="0" bIns="0" rtlCol="0" anchor="ctr"/>
          <a:lstStyle/>
          <a:p>
            <a:pPr indent="0" marL="0">
              <a:buNone/>
            </a:pPr>
            <a:r>
              <a:rPr lang="en-US" sz="1400" dirty="0">
                <a:solidFill>
                  <a:srgbClr val="FFFFFF"/>
                </a:solidFill>
                <a:latin typeface="Calibri" pitchFamily="34" charset="0"/>
                <a:ea typeface="Calibri" pitchFamily="34" charset="-122"/>
                <a:cs typeface="Calibri" pitchFamily="34" charset="-120"/>
              </a:rPr>
              <a:t>The number that matters most is 2.519 mmol/L - the standard deviation of glucose, and therefore the error of a model that simply guesses the average every time. Nothing counts as learning unless it beats that.</a:t>
            </a:r>
            <a:endParaRPr lang="en-US" sz="14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84048"/>
            <a:ext cx="11094415" cy="868680"/>
          </a:xfrm>
          <a:prstGeom prst="rect">
            <a:avLst/>
          </a:prstGeom>
          <a:noFill/>
          <a:ln/>
        </p:spPr>
        <p:txBody>
          <a:bodyPr wrap="square" rtlCol="0" anchor="t"/>
          <a:lstStyle/>
          <a:p>
            <a:pPr indent="0" marL="0">
              <a:buNone/>
            </a:pPr>
            <a:r>
              <a:rPr lang="en-US" sz="2700" b="1" dirty="0">
                <a:solidFill>
                  <a:srgbClr val="0B2F3A"/>
                </a:solidFill>
                <a:latin typeface="Cambria" pitchFamily="34" charset="0"/>
                <a:ea typeface="Cambria" pitchFamily="34" charset="-122"/>
                <a:cs typeface="Cambria" pitchFamily="34" charset="-120"/>
              </a:rPr>
              <a:t>The Choquet integral assigns importance to GROUPS of models, not just to each one</a:t>
            </a:r>
            <a:endParaRPr lang="en-US" sz="2700" dirty="0"/>
          </a:p>
        </p:txBody>
      </p:sp>
      <p:sp>
        <p:nvSpPr>
          <p:cNvPr id="3" name="Text 1"/>
          <p:cNvSpPr txBox="1"/>
          <p:nvPr/>
        </p:nvSpPr>
        <p:spPr>
          <a:xfrm>
            <a:off x="548640" y="1280160"/>
            <a:ext cx="11094415" cy="566928"/>
          </a:xfrm>
          <a:prstGeom prst="rect">
            <a:avLst/>
          </a:prstGeom>
          <a:noFill/>
          <a:ln/>
        </p:spPr>
        <p:txBody>
          <a:bodyPr wrap="square" rtlCol="0" anchor="ctr"/>
          <a:lstStyle/>
          <a:p>
            <a:pPr indent="0" marL="0">
              <a:buNone/>
            </a:pPr>
            <a:r>
              <a:rPr lang="en-US" sz="1400" dirty="0">
                <a:solidFill>
                  <a:srgbClr val="0B2F3A"/>
                </a:solidFill>
                <a:latin typeface="Calibri" pitchFamily="34" charset="0"/>
                <a:ea typeface="Calibri" pitchFamily="34" charset="-122"/>
                <a:cs typeface="Calibri" pitchFamily="34" charset="-120"/>
              </a:rPr>
              <a:t>A weighted average gives each model a number. A fuzzy measure gives every SUBSET a number - so it can say two models overlap, or that two work well together. The Sugeno lambda-measure builds all of them from one density per model:</a:t>
            </a:r>
            <a:endParaRPr lang="en-US" sz="1400" dirty="0"/>
          </a:p>
        </p:txBody>
      </p:sp>
      <p:sp>
        <p:nvSpPr>
          <p:cNvPr id="4" name="Shape 2"/>
          <p:cNvSpPr/>
          <p:nvPr/>
        </p:nvSpPr>
        <p:spPr>
          <a:xfrm>
            <a:off x="548640" y="1920240"/>
            <a:ext cx="6858000" cy="2022793"/>
          </a:xfrm>
          <a:prstGeom prst="roundRect">
            <a:avLst>
              <a:gd name="adj" fmla="val 2260"/>
            </a:avLst>
          </a:prstGeom>
          <a:solidFill>
            <a:srgbClr val="0B2F3A"/>
          </a:solidFill>
          <a:ln w="12700">
            <a:solidFill>
              <a:srgbClr val="0B2F3A"/>
            </a:solidFill>
            <a:prstDash val="solid"/>
          </a:ln>
        </p:spPr>
      </p:sp>
      <p:sp>
        <p:nvSpPr>
          <p:cNvPr id="5" name="Text 3"/>
          <p:cNvSpPr txBox="1"/>
          <p:nvPr/>
        </p:nvSpPr>
        <p:spPr>
          <a:xfrm>
            <a:off x="777240" y="2066544"/>
            <a:ext cx="6400800" cy="1730185"/>
          </a:xfrm>
          <a:prstGeom prst="rect">
            <a:avLst/>
          </a:prstGeom>
          <a:noFill/>
          <a:ln/>
        </p:spPr>
        <p:txBody>
          <a:bodyPr wrap="square" lIns="0" tIns="0" rIns="0" bIns="0" rtlCol="0" anchor="t"/>
          <a:lstStyle/>
          <a:p>
            <a:pPr indent="0" marL="0">
              <a:lnSpc>
                <a:spcPct val="130000"/>
              </a:lnSpc>
              <a:buNone/>
            </a:pPr>
            <a:r>
              <a:rPr lang="en-US" sz="1250" dirty="0">
                <a:solidFill>
                  <a:srgbClr val="00C2A8"/>
                </a:solidFill>
                <a:latin typeface="Courier New" pitchFamily="34" charset="0"/>
                <a:ea typeface="Courier New" pitchFamily="34" charset="-122"/>
                <a:cs typeface="Courier New" pitchFamily="34" charset="-120"/>
              </a:rPr>
              <a:t>g(A u B) = g(A) + g(B) + lambda*g(A)*g(B)</a:t>
            </a:r>
            <a:endParaRPr lang="en-US" sz="1250" dirty="0"/>
          </a:p>
          <a:p>
            <a:pPr indent="0" marL="0">
              <a:lnSpc>
                <a:spcPct val="130000"/>
              </a:lnSpc>
              <a:buNone/>
            </a:pPr>
            <a:endParaRPr lang="en-US" sz="1250" dirty="0"/>
          </a:p>
          <a:p>
            <a:pPr indent="0" marL="0">
              <a:lnSpc>
                <a:spcPct val="130000"/>
              </a:lnSpc>
              <a:buNone/>
            </a:pPr>
            <a:r>
              <a:rPr lang="en-US" sz="1250" dirty="0">
                <a:solidFill>
                  <a:srgbClr val="00C2A8"/>
                </a:solidFill>
                <a:latin typeface="Courier New" pitchFamily="34" charset="0"/>
                <a:ea typeface="Courier New" pitchFamily="34" charset="-122"/>
                <a:cs typeface="Courier New" pitchFamily="34" charset="-120"/>
              </a:rPr>
              <a:t>lambda fixed by   1 + lambda = PROD (1 + lambda*g_i)</a:t>
            </a:r>
            <a:endParaRPr lang="en-US" sz="1250" dirty="0"/>
          </a:p>
          <a:p>
            <a:pPr indent="0" marL="0">
              <a:lnSpc>
                <a:spcPct val="130000"/>
              </a:lnSpc>
              <a:buNone/>
            </a:pPr>
            <a:endParaRPr lang="en-US" sz="1250" dirty="0"/>
          </a:p>
          <a:p>
            <a:pPr indent="0" marL="0">
              <a:lnSpc>
                <a:spcPct val="130000"/>
              </a:lnSpc>
              <a:buNone/>
            </a:pPr>
            <a:r>
              <a:rPr lang="en-US" sz="1250" dirty="0">
                <a:solidFill>
                  <a:srgbClr val="00C2A8"/>
                </a:solidFill>
                <a:latin typeface="Courier New" pitchFamily="34" charset="0"/>
                <a:ea typeface="Courier New" pitchFamily="34" charset="-122"/>
                <a:cs typeface="Courier New" pitchFamily="34" charset="-120"/>
              </a:rPr>
              <a:t>Sort predictions largest first, then</a:t>
            </a:r>
            <a:endParaRPr lang="en-US" sz="1250" dirty="0"/>
          </a:p>
          <a:p>
            <a:pPr indent="0" marL="0">
              <a:lnSpc>
                <a:spcPct val="130000"/>
              </a:lnSpc>
              <a:buNone/>
            </a:pPr>
            <a:endParaRPr lang="en-US" sz="1250" dirty="0"/>
          </a:p>
          <a:p>
            <a:pPr indent="0" marL="0">
              <a:lnSpc>
                <a:spcPct val="130000"/>
              </a:lnSpc>
              <a:buNone/>
            </a:pPr>
            <a:r>
              <a:rPr lang="en-US" sz="1250" dirty="0">
                <a:solidFill>
                  <a:srgbClr val="00C2A8"/>
                </a:solidFill>
                <a:latin typeface="Courier New" pitchFamily="34" charset="0"/>
                <a:ea typeface="Courier New" pitchFamily="34" charset="-122"/>
                <a:cs typeface="Courier New" pitchFamily="34" charset="-120"/>
              </a:rPr>
              <a:t>   C = SUM_j  h(j) * [ g(top j) - g(top j-1) ]</a:t>
            </a:r>
            <a:endParaRPr lang="en-US" sz="1250" dirty="0"/>
          </a:p>
        </p:txBody>
      </p:sp>
      <p:sp>
        <p:nvSpPr>
          <p:cNvPr id="6" name="Text 4"/>
          <p:cNvSpPr txBox="1"/>
          <p:nvPr/>
        </p:nvSpPr>
        <p:spPr>
          <a:xfrm>
            <a:off x="7589520" y="1920240"/>
            <a:ext cx="4114800" cy="2011680"/>
          </a:xfrm>
          <a:prstGeom prst="rect">
            <a:avLst/>
          </a:prstGeom>
          <a:noFill/>
          <a:ln/>
        </p:spPr>
        <p:txBody>
          <a:bodyPr wrap="square" rtlCol="0" anchor="t"/>
          <a:lstStyle/>
          <a:p>
            <a:pPr marL="342900" indent="-342900">
              <a:spcAft>
                <a:spcPts val="900"/>
              </a:spcAft>
              <a:buSzPct val="100000"/>
              <a:buChar char="•"/>
            </a:pPr>
            <a:r>
              <a:rPr lang="en-US" sz="1250" dirty="0">
                <a:solidFill>
                  <a:srgbClr val="0B2F3A"/>
                </a:solidFill>
                <a:latin typeface="Calibri" pitchFamily="34" charset="0"/>
                <a:ea typeface="Calibri" pitchFamily="34" charset="-122"/>
                <a:cs typeface="Calibri" pitchFamily="34" charset="-120"/>
              </a:rPr>
              <a:t>Each prediction is weighted by how much the group's importance GREW when it was added.</a:t>
            </a:r>
            <a:endParaRPr lang="en-US" sz="1250" dirty="0"/>
          </a:p>
          <a:p>
            <a:pPr marL="342900" indent="-342900">
              <a:spcAft>
                <a:spcPts val="900"/>
              </a:spcAft>
              <a:buSzPct val="100000"/>
              <a:buChar char="•"/>
            </a:pPr>
            <a:r>
              <a:rPr lang="en-US" sz="1250" dirty="0">
                <a:solidFill>
                  <a:srgbClr val="0B2F3A"/>
                </a:solidFill>
                <a:latin typeface="Calibri" pitchFamily="34" charset="0"/>
                <a:ea typeface="Calibri" pitchFamily="34" charset="-122"/>
                <a:cs typeface="Calibri" pitchFamily="34" charset="-120"/>
              </a:rPr>
              <a:t>If the densities sum to 1 then lambda = 0 and this is exactly a weighted average - so the Choquet integral generalises it.</a:t>
            </a:r>
            <a:endParaRPr lang="en-US" sz="1250" dirty="0"/>
          </a:p>
          <a:p>
            <a:pPr marL="342900" indent="-342900">
              <a:spcAft>
                <a:spcPts val="900"/>
              </a:spcAft>
              <a:buSzPct val="100000"/>
              <a:buChar char="•"/>
            </a:pPr>
            <a:r>
              <a:rPr lang="en-US" sz="1250" dirty="0">
                <a:solidFill>
                  <a:srgbClr val="0B2F3A"/>
                </a:solidFill>
                <a:latin typeface="Calibri" pitchFamily="34" charset="0"/>
                <a:ea typeface="Calibri" pitchFamily="34" charset="-122"/>
                <a:cs typeface="Calibri" pitchFamily="34" charset="-120"/>
              </a:rPr>
              <a:t>Densities come from each model's honest out-of-fold accuracy.</a:t>
            </a:r>
            <a:endParaRPr lang="en-US" sz="1250" dirty="0"/>
          </a:p>
        </p:txBody>
      </p:sp>
      <p:sp>
        <p:nvSpPr>
          <p:cNvPr id="7" name="Text 5"/>
          <p:cNvSpPr txBox="1"/>
          <p:nvPr/>
        </p:nvSpPr>
        <p:spPr>
          <a:xfrm>
            <a:off x="7589520" y="4023360"/>
            <a:ext cx="4114800" cy="274320"/>
          </a:xfrm>
          <a:prstGeom prst="rect">
            <a:avLst/>
          </a:prstGeom>
          <a:noFill/>
          <a:ln/>
        </p:spPr>
        <p:txBody>
          <a:bodyPr wrap="square" rtlCol="0" anchor="ctr"/>
          <a:lstStyle/>
          <a:p>
            <a:pPr indent="0" marL="0">
              <a:buNone/>
            </a:pPr>
            <a:r>
              <a:rPr lang="en-US" sz="1300" b="1" dirty="0">
                <a:solidFill>
                  <a:srgbClr val="0B2F3A"/>
                </a:solidFill>
                <a:latin typeface="Calibri" pitchFamily="34" charset="0"/>
                <a:ea typeface="Calibri" pitchFamily="34" charset="-122"/>
                <a:cs typeface="Calibri" pitchFamily="34" charset="-120"/>
              </a:rPr>
              <a:t>Worked example</a:t>
            </a:r>
            <a:endParaRPr lang="en-US" sz="1300" dirty="0"/>
          </a:p>
        </p:txBody>
      </p:sp>
      <p:sp>
        <p:nvSpPr>
          <p:cNvPr id="8" name="Shape 6"/>
          <p:cNvSpPr/>
          <p:nvPr/>
        </p:nvSpPr>
        <p:spPr>
          <a:xfrm>
            <a:off x="7589520" y="4343400"/>
            <a:ext cx="4114800" cy="1221740"/>
          </a:xfrm>
          <a:prstGeom prst="roundRect">
            <a:avLst>
              <a:gd name="adj" fmla="val 3742"/>
            </a:avLst>
          </a:prstGeom>
          <a:solidFill>
            <a:srgbClr val="0B2F3A"/>
          </a:solidFill>
          <a:ln w="12700">
            <a:solidFill>
              <a:srgbClr val="0B2F3A"/>
            </a:solidFill>
            <a:prstDash val="solid"/>
          </a:ln>
        </p:spPr>
      </p:sp>
      <p:sp>
        <p:nvSpPr>
          <p:cNvPr id="9" name="Text 7"/>
          <p:cNvSpPr txBox="1"/>
          <p:nvPr/>
        </p:nvSpPr>
        <p:spPr>
          <a:xfrm>
            <a:off x="7818120" y="4489704"/>
            <a:ext cx="3657600" cy="929132"/>
          </a:xfrm>
          <a:prstGeom prst="rect">
            <a:avLst/>
          </a:prstGeom>
          <a:noFill/>
          <a:ln/>
        </p:spPr>
        <p:txBody>
          <a:bodyPr wrap="square" lIns="0" tIns="0" rIns="0" bIns="0" rtlCol="0" anchor="t"/>
          <a:lstStyle/>
          <a:p>
            <a:pPr indent="0" marL="0">
              <a:lnSpc>
                <a:spcPct val="130000"/>
              </a:lnSpc>
              <a:buNone/>
            </a:pPr>
            <a:r>
              <a:rPr lang="en-US" sz="1100" dirty="0">
                <a:solidFill>
                  <a:srgbClr val="00C2A8"/>
                </a:solidFill>
                <a:latin typeface="Courier New" pitchFamily="34" charset="0"/>
                <a:ea typeface="Courier New" pitchFamily="34" charset="-122"/>
                <a:cs typeface="Courier New" pitchFamily="34" charset="-120"/>
              </a:rPr>
              <a:t>g   = (.30, .25, .20)</a:t>
            </a:r>
            <a:endParaRPr lang="en-US" sz="1100" dirty="0"/>
          </a:p>
          <a:p>
            <a:pPr indent="0" marL="0">
              <a:lnSpc>
                <a:spcPct val="130000"/>
              </a:lnSpc>
              <a:buNone/>
            </a:pPr>
            <a:r>
              <a:rPr lang="en-US" sz="1100" dirty="0">
                <a:solidFill>
                  <a:srgbClr val="00C2A8"/>
                </a:solidFill>
                <a:latin typeface="Courier New" pitchFamily="34" charset="0"/>
                <a:ea typeface="Courier New" pitchFamily="34" charset="-122"/>
                <a:cs typeface="Courier New" pitchFamily="34" charset="-120"/>
              </a:rPr>
              <a:t>h   = (9.0, 7.0, 5.0)</a:t>
            </a:r>
            <a:endParaRPr lang="en-US" sz="1100" dirty="0"/>
          </a:p>
          <a:p>
            <a:pPr indent="0" marL="0">
              <a:lnSpc>
                <a:spcPct val="130000"/>
              </a:lnSpc>
              <a:buNone/>
            </a:pPr>
            <a:r>
              <a:rPr lang="en-US" sz="1100" dirty="0">
                <a:solidFill>
                  <a:srgbClr val="00C2A8"/>
                </a:solidFill>
                <a:latin typeface="Courier New" pitchFamily="34" charset="0"/>
                <a:ea typeface="Courier New" pitchFamily="34" charset="-122"/>
                <a:cs typeface="Courier New" pitchFamily="34" charset="-120"/>
              </a:rPr>
              <a:t>w   = (.300,.342,.358)</a:t>
            </a:r>
            <a:endParaRPr lang="en-US" sz="1100" dirty="0"/>
          </a:p>
          <a:p>
            <a:pPr indent="0" marL="0">
              <a:lnSpc>
                <a:spcPct val="130000"/>
              </a:lnSpc>
              <a:buNone/>
            </a:pPr>
            <a:r>
              <a:rPr lang="en-US" sz="1100" dirty="0">
                <a:solidFill>
                  <a:srgbClr val="00C2A8"/>
                </a:solidFill>
                <a:latin typeface="Courier New" pitchFamily="34" charset="0"/>
                <a:ea typeface="Courier New" pitchFamily="34" charset="-122"/>
                <a:cs typeface="Courier New" pitchFamily="34" charset="-120"/>
              </a:rPr>
              <a:t>C   = 6.88   mean 7.00</a:t>
            </a:r>
            <a:endParaRPr lang="en-US" sz="1100" dirty="0"/>
          </a:p>
        </p:txBody>
      </p:sp>
      <p:sp>
        <p:nvSpPr>
          <p:cNvPr id="10" name="Shape 8"/>
          <p:cNvSpPr/>
          <p:nvPr/>
        </p:nvSpPr>
        <p:spPr>
          <a:xfrm>
            <a:off x="548640" y="4069080"/>
            <a:ext cx="6858000" cy="1508760"/>
          </a:xfrm>
          <a:prstGeom prst="roundRect">
            <a:avLst>
              <a:gd name="adj" fmla="val 3636"/>
            </a:avLst>
          </a:prstGeom>
          <a:solidFill>
            <a:srgbClr val="EAF2F4"/>
          </a:solidFill>
          <a:ln w="12700">
            <a:solidFill>
              <a:srgbClr val="EAF2F4"/>
            </a:solidFill>
            <a:prstDash val="solid"/>
          </a:ln>
        </p:spPr>
      </p:sp>
      <p:sp>
        <p:nvSpPr>
          <p:cNvPr id="11" name="Text 9"/>
          <p:cNvSpPr txBox="1"/>
          <p:nvPr/>
        </p:nvSpPr>
        <p:spPr>
          <a:xfrm>
            <a:off x="749808" y="4215384"/>
            <a:ext cx="6455664" cy="347472"/>
          </a:xfrm>
          <a:prstGeom prst="rect">
            <a:avLst/>
          </a:prstGeom>
          <a:noFill/>
          <a:ln/>
        </p:spPr>
        <p:txBody>
          <a:bodyPr wrap="square" lIns="0" tIns="0" rIns="0" bIns="0" rtlCol="0" anchor="ctr"/>
          <a:lstStyle/>
          <a:p>
            <a:pPr indent="0" marL="0">
              <a:buNone/>
            </a:pPr>
            <a:r>
              <a:rPr lang="en-US" sz="1400" b="1" dirty="0">
                <a:solidFill>
                  <a:srgbClr val="0B2F3A"/>
                </a:solidFill>
                <a:latin typeface="Calibri" pitchFamily="34" charset="0"/>
                <a:ea typeface="Calibri" pitchFamily="34" charset="-122"/>
                <a:cs typeface="Calibri" pitchFamily="34" charset="-120"/>
              </a:rPr>
              <a:t>The intuition, in one sentence</a:t>
            </a:r>
            <a:endParaRPr lang="en-US" sz="1400" dirty="0"/>
          </a:p>
        </p:txBody>
      </p:sp>
      <p:sp>
        <p:nvSpPr>
          <p:cNvPr id="12" name="Text 10"/>
          <p:cNvSpPr txBox="1"/>
          <p:nvPr/>
        </p:nvSpPr>
        <p:spPr>
          <a:xfrm>
            <a:off x="749808" y="4599432"/>
            <a:ext cx="6455664" cy="822960"/>
          </a:xfrm>
          <a:prstGeom prst="rect">
            <a:avLst/>
          </a:prstGeom>
          <a:noFill/>
          <a:ln/>
        </p:spPr>
        <p:txBody>
          <a:bodyPr wrap="square" lIns="0" tIns="0" rIns="0" bIns="0" rtlCol="0" anchor="t"/>
          <a:lstStyle/>
          <a:p>
            <a:pPr indent="0" marL="0">
              <a:buNone/>
            </a:pPr>
            <a:r>
              <a:rPr lang="en-US" sz="1250" dirty="0">
                <a:solidFill>
                  <a:srgbClr val="0B2F3A"/>
                </a:solidFill>
                <a:latin typeface="Calibri" pitchFamily="34" charset="0"/>
                <a:ea typeface="Calibri" pitchFamily="34" charset="-122"/>
                <a:cs typeface="Calibri" pitchFamily="34" charset="-120"/>
              </a:rPr>
              <a:t>Three doctors give three opinions. Averaging counts a shared view twice if two of them trained together, and ignores that one is far more experienced. A fuzzy measure can express BOTH - because it scores every combination of doctors, not just each doctor.</a:t>
            </a:r>
            <a:endParaRPr lang="en-US" sz="12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84048"/>
            <a:ext cx="11094415" cy="868680"/>
          </a:xfrm>
          <a:prstGeom prst="rect">
            <a:avLst/>
          </a:prstGeom>
          <a:noFill/>
          <a:ln/>
        </p:spPr>
        <p:txBody>
          <a:bodyPr wrap="square" rtlCol="0" anchor="t"/>
          <a:lstStyle/>
          <a:p>
            <a:pPr indent="0" marL="0">
              <a:buNone/>
            </a:pPr>
            <a:r>
              <a:rPr lang="en-US" sz="2700" b="1" dirty="0">
                <a:solidFill>
                  <a:srgbClr val="0B2F3A"/>
                </a:solidFill>
                <a:latin typeface="Cambria" pitchFamily="34" charset="0"/>
                <a:ea typeface="Cambria" pitchFamily="34" charset="-122"/>
                <a:cs typeface="Cambria" pitchFamily="34" charset="-120"/>
              </a:rPr>
              <a:t>Before fusion: how 4000 raw samples become 193 numbers</a:t>
            </a:r>
            <a:endParaRPr lang="en-US" sz="2700" dirty="0"/>
          </a:p>
        </p:txBody>
      </p:sp>
      <p:sp>
        <p:nvSpPr>
          <p:cNvPr id="3" name="Text 1"/>
          <p:cNvSpPr txBox="1"/>
          <p:nvPr/>
        </p:nvSpPr>
        <p:spPr>
          <a:xfrm>
            <a:off x="548640" y="1280160"/>
            <a:ext cx="11094415" cy="548640"/>
          </a:xfrm>
          <a:prstGeom prst="rect">
            <a:avLst/>
          </a:prstGeom>
          <a:noFill/>
          <a:ln/>
        </p:spPr>
        <p:txBody>
          <a:bodyPr wrap="square" rtlCol="0" anchor="ctr"/>
          <a:lstStyle/>
          <a:p>
            <a:pPr indent="0" marL="0">
              <a:buNone/>
            </a:pPr>
            <a:r>
              <a:rPr lang="en-US" sz="1400" dirty="0">
                <a:solidFill>
                  <a:srgbClr val="0B2F3A"/>
                </a:solidFill>
                <a:latin typeface="Calibri" pitchFamily="34" charset="0"/>
                <a:ea typeface="Calibri" pitchFamily="34" charset="-122"/>
                <a:cs typeface="Calibri" pitchFamily="34" charset="-120"/>
              </a:rPr>
              <a:t>A heartbeat mixes a sharp spike (QRS) with broad waves (P and T). The db4 wavelet transform splits the window into 8 sub-signals by speed, and each gets the same 10 measurements: 8 x 10 = 80 per signal, x2 signals = the paper's 160.</a:t>
            </a:r>
            <a:endParaRPr lang="en-US" sz="1400" dirty="0"/>
          </a:p>
        </p:txBody>
      </p:sp>
      <p:sp>
        <p:nvSpPr>
          <p:cNvPr id="4" name="Shape 2"/>
          <p:cNvSpPr/>
          <p:nvPr/>
        </p:nvSpPr>
        <p:spPr>
          <a:xfrm>
            <a:off x="548640" y="1874520"/>
            <a:ext cx="6035040" cy="2317433"/>
          </a:xfrm>
          <a:prstGeom prst="roundRect">
            <a:avLst>
              <a:gd name="adj" fmla="val 1973"/>
            </a:avLst>
          </a:prstGeom>
          <a:solidFill>
            <a:srgbClr val="0B2F3A"/>
          </a:solidFill>
          <a:ln w="12700">
            <a:solidFill>
              <a:srgbClr val="0B2F3A"/>
            </a:solidFill>
            <a:prstDash val="solid"/>
          </a:ln>
        </p:spPr>
      </p:sp>
      <p:sp>
        <p:nvSpPr>
          <p:cNvPr id="5" name="Text 3"/>
          <p:cNvSpPr txBox="1"/>
          <p:nvPr/>
        </p:nvSpPr>
        <p:spPr>
          <a:xfrm>
            <a:off x="777240" y="2020824"/>
            <a:ext cx="5577840" cy="2024825"/>
          </a:xfrm>
          <a:prstGeom prst="rect">
            <a:avLst/>
          </a:prstGeom>
          <a:noFill/>
          <a:ln/>
        </p:spPr>
        <p:txBody>
          <a:bodyPr wrap="square" lIns="0" tIns="0" rIns="0" bIns="0" rtlCol="0" anchor="t"/>
          <a:lstStyle/>
          <a:p>
            <a:pPr indent="0" marL="0">
              <a:lnSpc>
                <a:spcPct val="130000"/>
              </a:lnSpc>
              <a:buNone/>
            </a:pPr>
            <a:r>
              <a:rPr lang="en-US" sz="1150" dirty="0">
                <a:solidFill>
                  <a:srgbClr val="00C2A8"/>
                </a:solidFill>
                <a:latin typeface="Courier New" pitchFamily="34" charset="0"/>
                <a:ea typeface="Courier New" pitchFamily="34" charset="-122"/>
                <a:cs typeface="Courier New" pitchFamily="34" charset="-120"/>
              </a:rPr>
              <a:t>Hjorth parameters (SM, SC):</a:t>
            </a:r>
            <a:endParaRPr lang="en-US" sz="1150" dirty="0"/>
          </a:p>
          <a:p>
            <a:pPr indent="0" marL="0">
              <a:lnSpc>
                <a:spcPct val="130000"/>
              </a:lnSpc>
              <a:buNone/>
            </a:pPr>
            <a:r>
              <a:rPr lang="en-US" sz="1150" dirty="0">
                <a:solidFill>
                  <a:srgbClr val="00C2A8"/>
                </a:solidFill>
                <a:latin typeface="Courier New" pitchFamily="34" charset="0"/>
                <a:ea typeface="Courier New" pitchFamily="34" charset="-122"/>
                <a:cs typeface="Courier New" pitchFamily="34" charset="-120"/>
              </a:rPr>
              <a:t>  Mobility   = sqrt( var(x') / var(x) )</a:t>
            </a:r>
            <a:endParaRPr lang="en-US" sz="1150" dirty="0"/>
          </a:p>
          <a:p>
            <a:pPr indent="0" marL="0">
              <a:lnSpc>
                <a:spcPct val="130000"/>
              </a:lnSpc>
              <a:buNone/>
            </a:pPr>
            <a:r>
              <a:rPr lang="en-US" sz="1150" dirty="0">
                <a:solidFill>
                  <a:srgbClr val="00C2A8"/>
                </a:solidFill>
                <a:latin typeface="Courier New" pitchFamily="34" charset="0"/>
                <a:ea typeface="Courier New" pitchFamily="34" charset="-122"/>
                <a:cs typeface="Courier New" pitchFamily="34" charset="-120"/>
              </a:rPr>
              <a:t>  Complexity = Mobility(x') / Mobility(x)</a:t>
            </a:r>
            <a:endParaRPr lang="en-US" sz="1150" dirty="0"/>
          </a:p>
          <a:p>
            <a:pPr indent="0" marL="0">
              <a:lnSpc>
                <a:spcPct val="130000"/>
              </a:lnSpc>
              <a:buNone/>
            </a:pPr>
            <a:endParaRPr lang="en-US" sz="1150" dirty="0"/>
          </a:p>
          <a:p>
            <a:pPr indent="0" marL="0">
              <a:lnSpc>
                <a:spcPct val="130000"/>
              </a:lnSpc>
              <a:buNone/>
            </a:pPr>
            <a:r>
              <a:rPr lang="en-US" sz="1150" dirty="0">
                <a:solidFill>
                  <a:srgbClr val="00C2A8"/>
                </a:solidFill>
                <a:latin typeface="Courier New" pitchFamily="34" charset="0"/>
                <a:ea typeface="Courier New" pitchFamily="34" charset="-122"/>
                <a:cs typeface="Courier New" pitchFamily="34" charset="-120"/>
              </a:rPr>
              <a:t>Shannon entropy (SE), over amplitude bins p_i:</a:t>
            </a:r>
            <a:endParaRPr lang="en-US" sz="1150" dirty="0"/>
          </a:p>
          <a:p>
            <a:pPr indent="0" marL="0">
              <a:lnSpc>
                <a:spcPct val="130000"/>
              </a:lnSpc>
              <a:buNone/>
            </a:pPr>
            <a:r>
              <a:rPr lang="en-US" sz="1150" dirty="0">
                <a:solidFill>
                  <a:srgbClr val="00C2A8"/>
                </a:solidFill>
                <a:latin typeface="Courier New" pitchFamily="34" charset="0"/>
                <a:ea typeface="Courier New" pitchFamily="34" charset="-122"/>
                <a:cs typeface="Courier New" pitchFamily="34" charset="-120"/>
              </a:rPr>
              <a:t>  SE = - SUM_i  p_i * log2(p_i)</a:t>
            </a:r>
            <a:endParaRPr lang="en-US" sz="1150" dirty="0"/>
          </a:p>
          <a:p>
            <a:pPr indent="0" marL="0">
              <a:lnSpc>
                <a:spcPct val="130000"/>
              </a:lnSpc>
              <a:buNone/>
            </a:pPr>
            <a:endParaRPr lang="en-US" sz="1150" dirty="0"/>
          </a:p>
          <a:p>
            <a:pPr indent="0" marL="0">
              <a:lnSpc>
                <a:spcPct val="130000"/>
              </a:lnSpc>
              <a:buNone/>
            </a:pPr>
            <a:r>
              <a:rPr lang="en-US" sz="1150" dirty="0">
                <a:solidFill>
                  <a:srgbClr val="00C2A8"/>
                </a:solidFill>
                <a:latin typeface="Courier New" pitchFamily="34" charset="0"/>
                <a:ea typeface="Courier New" pitchFamily="34" charset="-122"/>
                <a:cs typeface="Courier New" pitchFamily="34" charset="-120"/>
              </a:rPr>
              <a:t>Correlation dimension (CD), the log-log slope:</a:t>
            </a:r>
            <a:endParaRPr lang="en-US" sz="1150" dirty="0"/>
          </a:p>
          <a:p>
            <a:pPr indent="0" marL="0">
              <a:lnSpc>
                <a:spcPct val="130000"/>
              </a:lnSpc>
              <a:buNone/>
            </a:pPr>
            <a:r>
              <a:rPr lang="en-US" sz="1150" dirty="0">
                <a:solidFill>
                  <a:srgbClr val="00C2A8"/>
                </a:solidFill>
                <a:latin typeface="Courier New" pitchFamily="34" charset="0"/>
                <a:ea typeface="Courier New" pitchFamily="34" charset="-122"/>
                <a:cs typeface="Courier New" pitchFamily="34" charset="-120"/>
              </a:rPr>
              <a:t>  CD = lim(r-&gt;0)  d log C(r) / d log r</a:t>
            </a:r>
            <a:endParaRPr lang="en-US" sz="1150" dirty="0"/>
          </a:p>
        </p:txBody>
      </p:sp>
      <p:graphicFrame>
        <p:nvGraphicFramePr>
          <p:cNvPr id="7" name="Table 0"/>
          <p:cNvGraphicFramePr>
            <a:graphicFrameLocks noGrp="1"/>
          </p:cNvGraphicFramePr>
          <p:nvPr>
            <p:extLst>
              <p:ext uri="{D42A27DB-BD31-4B8C-83A1-F6EECF244321}">
                <p14:modId xmlns:p14="http://schemas.microsoft.com/office/powerpoint/2010/main" val="1579011935"/>
              </p:ext>
            </p:extLst>
          </p:nvPr>
        </p:nvGraphicFramePr>
        <p:xfrm>
          <a:off x="6766560" y="1874520"/>
          <a:ext cx="4800600" cy="914400"/>
        </p:xfrm>
        <a:graphic>
          <a:graphicData uri="http://schemas.openxmlformats.org/drawingml/2006/table">
            <a:tbl>
              <a:tblPr/>
              <a:tblGrid>
                <a:gridCol w="1280160"/>
                <a:gridCol w="3520440"/>
              </a:tblGrid>
              <a:tr h="274320">
                <a:tc>
                  <a:txBody>
                    <a:bodyPr/>
                    <a:lstStyle/>
                    <a:p>
                      <a:pPr algn="l" indent="0" marL="0">
                        <a:buNone/>
                      </a:pPr>
                      <a:r>
                        <a:rPr lang="en-US" sz="1100" b="1" dirty="0">
                          <a:solidFill>
                            <a:srgbClr val="FFFFFF"/>
                          </a:solidFill>
                          <a:latin typeface="Calibri" pitchFamily="34" charset="0"/>
                          <a:ea typeface="Calibri" pitchFamily="34" charset="-122"/>
                          <a:cs typeface="Calibri" pitchFamily="34" charset="-120"/>
                        </a:rPr>
                        <a:t>Symbol</a:t>
                      </a:r>
                      <a:endParaRPr lang="en-US" sz="1100" dirty="0">
                        <a:latin typeface="Calibri" charset="0"/>
                        <a:ea typeface="Calibri" charset="0"/>
                        <a:cs typeface="Calibri" charset="0"/>
                      </a:endParaRPr>
                    </a:p>
                  </a:txBody>
                  <a:tcPr marL="91440" marR="91440" marT="45720" marB="45720" anchor="ctr">
                    <a:lnL w="6350" cap="flat" cmpd="sng" algn="ctr">
                      <a:solidFill>
                        <a:srgbClr val="D5E2E6"/>
                      </a:solidFill>
                      <a:prstDash val="solid"/>
                      <a:round/>
                      <a:headEnd type="none" w="med" len="med"/>
                      <a:tailEnd type="none" w="med" len="med"/>
                    </a:lnL>
                    <a:lnR w="6350" cap="flat" cmpd="sng" algn="ctr">
                      <a:solidFill>
                        <a:srgbClr val="D5E2E6"/>
                      </a:solidFill>
                      <a:prstDash val="solid"/>
                      <a:round/>
                      <a:headEnd type="none" w="med" len="med"/>
                      <a:tailEnd type="none" w="med" len="med"/>
                    </a:lnR>
                    <a:lnT w="6350" cap="flat" cmpd="sng" algn="ctr">
                      <a:solidFill>
                        <a:srgbClr val="D5E2E6"/>
                      </a:solidFill>
                      <a:prstDash val="solid"/>
                      <a:round/>
                      <a:headEnd type="none" w="med" len="med"/>
                      <a:tailEnd type="none" w="med" len="med"/>
                    </a:lnT>
                    <a:lnB w="6350" cap="flat" cmpd="sng" algn="ctr">
                      <a:solidFill>
                        <a:srgbClr val="D5E2E6"/>
                      </a:solidFill>
                      <a:prstDash val="solid"/>
                      <a:round/>
                      <a:headEnd type="none" w="med" len="med"/>
                      <a:tailEnd type="none" w="med" len="med"/>
                    </a:lnB>
                    <a:solidFill>
                      <a:srgbClr val="0B2F3A"/>
                    </a:solidFill>
                  </a:tcPr>
                </a:tc>
                <a:tc>
                  <a:txBody>
                    <a:bodyPr/>
                    <a:lstStyle/>
                    <a:p>
                      <a:pPr algn="l" indent="0" marL="0">
                        <a:buNone/>
                      </a:pPr>
                      <a:r>
                        <a:rPr lang="en-US" sz="1100" b="1" dirty="0">
                          <a:solidFill>
                            <a:srgbClr val="FFFFFF"/>
                          </a:solidFill>
                          <a:latin typeface="Calibri" pitchFamily="34" charset="0"/>
                          <a:ea typeface="Calibri" pitchFamily="34" charset="-122"/>
                          <a:cs typeface="Calibri" pitchFamily="34" charset="-120"/>
                        </a:rPr>
                        <a:t>What it measures</a:t>
                      </a:r>
                      <a:endParaRPr lang="en-US" sz="1100" dirty="0">
                        <a:latin typeface="Calibri" charset="0"/>
                        <a:ea typeface="Calibri" charset="0"/>
                        <a:cs typeface="Calibri" charset="0"/>
                      </a:endParaRPr>
                    </a:p>
                  </a:txBody>
                  <a:tcPr marL="91440" marR="91440" marT="45720" marB="45720" anchor="ctr">
                    <a:lnL w="6350" cap="flat" cmpd="sng" algn="ctr">
                      <a:solidFill>
                        <a:srgbClr val="D5E2E6"/>
                      </a:solidFill>
                      <a:prstDash val="solid"/>
                      <a:round/>
                      <a:headEnd type="none" w="med" len="med"/>
                      <a:tailEnd type="none" w="med" len="med"/>
                    </a:lnL>
                    <a:lnR w="6350" cap="flat" cmpd="sng" algn="ctr">
                      <a:solidFill>
                        <a:srgbClr val="D5E2E6"/>
                      </a:solidFill>
                      <a:prstDash val="solid"/>
                      <a:round/>
                      <a:headEnd type="none" w="med" len="med"/>
                      <a:tailEnd type="none" w="med" len="med"/>
                    </a:lnR>
                    <a:lnT w="6350" cap="flat" cmpd="sng" algn="ctr">
                      <a:solidFill>
                        <a:srgbClr val="D5E2E6"/>
                      </a:solidFill>
                      <a:prstDash val="solid"/>
                      <a:round/>
                      <a:headEnd type="none" w="med" len="med"/>
                      <a:tailEnd type="none" w="med" len="med"/>
                    </a:lnT>
                    <a:lnB w="6350" cap="flat" cmpd="sng" algn="ctr">
                      <a:solidFill>
                        <a:srgbClr val="D5E2E6"/>
                      </a:solidFill>
                      <a:prstDash val="solid"/>
                      <a:round/>
                      <a:headEnd type="none" w="med" len="med"/>
                      <a:tailEnd type="none" w="med" len="med"/>
                    </a:lnB>
                    <a:solidFill>
                      <a:srgbClr val="0B2F3A"/>
                    </a:solidFill>
                  </a:tcPr>
                </a:tc>
              </a:tr>
              <a:tr h="274320">
                <a:tc>
                  <a:txBody>
                    <a:bodyPr/>
                    <a:lstStyle/>
                    <a:p>
                      <a:pPr algn="l" indent="0" marL="0">
                        <a:buNone/>
                      </a:pPr>
                      <a:r>
                        <a:rPr lang="en-US" sz="1100" dirty="0">
                          <a:solidFill>
                            <a:srgbClr val="0B2F3A"/>
                          </a:solidFill>
                          <a:latin typeface="Calibri" pitchFamily="34" charset="0"/>
                          <a:ea typeface="Calibri" pitchFamily="34" charset="-122"/>
                          <a:cs typeface="Calibri" pitchFamily="34" charset="-120"/>
                        </a:rPr>
                        <a:t>Kur, Ske</a:t>
                      </a:r>
                      <a:endParaRPr lang="en-US" sz="1100" dirty="0">
                        <a:latin typeface="Calibri" charset="0"/>
                        <a:ea typeface="Calibri" charset="0"/>
                        <a:cs typeface="Calibri" charset="0"/>
                      </a:endParaRPr>
                    </a:p>
                  </a:txBody>
                  <a:tcPr marL="91440" marR="91440" marT="45720" marB="45720" anchor="ctr">
                    <a:lnL w="6350" cap="flat" cmpd="sng" algn="ctr">
                      <a:solidFill>
                        <a:srgbClr val="D5E2E6"/>
                      </a:solidFill>
                      <a:prstDash val="solid"/>
                      <a:round/>
                      <a:headEnd type="none" w="med" len="med"/>
                      <a:tailEnd type="none" w="med" len="med"/>
                    </a:lnL>
                    <a:lnR w="6350" cap="flat" cmpd="sng" algn="ctr">
                      <a:solidFill>
                        <a:srgbClr val="D5E2E6"/>
                      </a:solidFill>
                      <a:prstDash val="solid"/>
                      <a:round/>
                      <a:headEnd type="none" w="med" len="med"/>
                      <a:tailEnd type="none" w="med" len="med"/>
                    </a:lnR>
                    <a:lnT w="6350" cap="flat" cmpd="sng" algn="ctr">
                      <a:solidFill>
                        <a:srgbClr val="D5E2E6"/>
                      </a:solidFill>
                      <a:prstDash val="solid"/>
                      <a:round/>
                      <a:headEnd type="none" w="med" len="med"/>
                      <a:tailEnd type="none" w="med" len="med"/>
                    </a:lnT>
                    <a:lnB w="6350" cap="flat" cmpd="sng" algn="ctr">
                      <a:solidFill>
                        <a:srgbClr val="D5E2E6"/>
                      </a:solidFill>
                      <a:prstDash val="solid"/>
                      <a:round/>
                      <a:headEnd type="none" w="med" len="med"/>
                      <a:tailEnd type="none" w="med" len="med"/>
                    </a:lnB>
                    <a:solidFill>
                      <a:srgbClr val="FFFFFF"/>
                    </a:solidFill>
                  </a:tcPr>
                </a:tc>
                <a:tc>
                  <a:txBody>
                    <a:bodyPr/>
                    <a:lstStyle/>
                    <a:p>
                      <a:pPr algn="l" indent="0" marL="0">
                        <a:buNone/>
                      </a:pPr>
                      <a:r>
                        <a:rPr lang="en-US" sz="1100" dirty="0">
                          <a:solidFill>
                            <a:srgbClr val="0B2F3A"/>
                          </a:solidFill>
                          <a:latin typeface="Calibri" pitchFamily="34" charset="0"/>
                          <a:ea typeface="Calibri" pitchFamily="34" charset="-122"/>
                          <a:cs typeface="Calibri" pitchFamily="34" charset="-120"/>
                        </a:rPr>
                        <a:t>How spiky / how lopsided</a:t>
                      </a:r>
                      <a:endParaRPr lang="en-US" sz="1100" dirty="0">
                        <a:latin typeface="Calibri" charset="0"/>
                        <a:ea typeface="Calibri" charset="0"/>
                        <a:cs typeface="Calibri" charset="0"/>
                      </a:endParaRPr>
                    </a:p>
                  </a:txBody>
                  <a:tcPr marL="91440" marR="91440" marT="45720" marB="45720" anchor="ctr">
                    <a:lnL w="6350" cap="flat" cmpd="sng" algn="ctr">
                      <a:solidFill>
                        <a:srgbClr val="D5E2E6"/>
                      </a:solidFill>
                      <a:prstDash val="solid"/>
                      <a:round/>
                      <a:headEnd type="none" w="med" len="med"/>
                      <a:tailEnd type="none" w="med" len="med"/>
                    </a:lnL>
                    <a:lnR w="6350" cap="flat" cmpd="sng" algn="ctr">
                      <a:solidFill>
                        <a:srgbClr val="D5E2E6"/>
                      </a:solidFill>
                      <a:prstDash val="solid"/>
                      <a:round/>
                      <a:headEnd type="none" w="med" len="med"/>
                      <a:tailEnd type="none" w="med" len="med"/>
                    </a:lnR>
                    <a:lnT w="6350" cap="flat" cmpd="sng" algn="ctr">
                      <a:solidFill>
                        <a:srgbClr val="D5E2E6"/>
                      </a:solidFill>
                      <a:prstDash val="solid"/>
                      <a:round/>
                      <a:headEnd type="none" w="med" len="med"/>
                      <a:tailEnd type="none" w="med" len="med"/>
                    </a:lnT>
                    <a:lnB w="6350" cap="flat" cmpd="sng" algn="ctr">
                      <a:solidFill>
                        <a:srgbClr val="D5E2E6"/>
                      </a:solidFill>
                      <a:prstDash val="solid"/>
                      <a:round/>
                      <a:headEnd type="none" w="med" len="med"/>
                      <a:tailEnd type="none" w="med" len="med"/>
                    </a:lnB>
                    <a:solidFill>
                      <a:srgbClr val="FFFFFF"/>
                    </a:solidFill>
                  </a:tcPr>
                </a:tc>
              </a:tr>
              <a:tr h="274320">
                <a:tc>
                  <a:txBody>
                    <a:bodyPr/>
                    <a:lstStyle/>
                    <a:p>
                      <a:pPr algn="l" indent="0" marL="0">
                        <a:buNone/>
                      </a:pPr>
                      <a:r>
                        <a:rPr lang="en-US" sz="1100" dirty="0">
                          <a:solidFill>
                            <a:srgbClr val="0B2F3A"/>
                          </a:solidFill>
                          <a:latin typeface="Calibri" pitchFamily="34" charset="0"/>
                          <a:ea typeface="Calibri" pitchFamily="34" charset="-122"/>
                          <a:cs typeface="Calibri" pitchFamily="34" charset="-120"/>
                        </a:rPr>
                        <a:t>SM, SC</a:t>
                      </a:r>
                      <a:endParaRPr lang="en-US" sz="1100" dirty="0">
                        <a:latin typeface="Calibri" charset="0"/>
                        <a:ea typeface="Calibri" charset="0"/>
                        <a:cs typeface="Calibri" charset="0"/>
                      </a:endParaRPr>
                    </a:p>
                  </a:txBody>
                  <a:tcPr marL="91440" marR="91440" marT="45720" marB="45720" anchor="ctr">
                    <a:lnL w="6350" cap="flat" cmpd="sng" algn="ctr">
                      <a:solidFill>
                        <a:srgbClr val="D5E2E6"/>
                      </a:solidFill>
                      <a:prstDash val="solid"/>
                      <a:round/>
                      <a:headEnd type="none" w="med" len="med"/>
                      <a:tailEnd type="none" w="med" len="med"/>
                    </a:lnL>
                    <a:lnR w="6350" cap="flat" cmpd="sng" algn="ctr">
                      <a:solidFill>
                        <a:srgbClr val="D5E2E6"/>
                      </a:solidFill>
                      <a:prstDash val="solid"/>
                      <a:round/>
                      <a:headEnd type="none" w="med" len="med"/>
                      <a:tailEnd type="none" w="med" len="med"/>
                    </a:lnR>
                    <a:lnT w="6350" cap="flat" cmpd="sng" algn="ctr">
                      <a:solidFill>
                        <a:srgbClr val="D5E2E6"/>
                      </a:solidFill>
                      <a:prstDash val="solid"/>
                      <a:round/>
                      <a:headEnd type="none" w="med" len="med"/>
                      <a:tailEnd type="none" w="med" len="med"/>
                    </a:lnT>
                    <a:lnB w="6350" cap="flat" cmpd="sng" algn="ctr">
                      <a:solidFill>
                        <a:srgbClr val="D5E2E6"/>
                      </a:solidFill>
                      <a:prstDash val="solid"/>
                      <a:round/>
                      <a:headEnd type="none" w="med" len="med"/>
                      <a:tailEnd type="none" w="med" len="med"/>
                    </a:lnB>
                    <a:solidFill>
                      <a:srgbClr val="EAF2F4"/>
                    </a:solidFill>
                  </a:tcPr>
                </a:tc>
                <a:tc>
                  <a:txBody>
                    <a:bodyPr/>
                    <a:lstStyle/>
                    <a:p>
                      <a:pPr algn="l" indent="0" marL="0">
                        <a:buNone/>
                      </a:pPr>
                      <a:r>
                        <a:rPr lang="en-US" sz="1100" dirty="0">
                          <a:solidFill>
                            <a:srgbClr val="0B2F3A"/>
                          </a:solidFill>
                          <a:latin typeface="Calibri" pitchFamily="34" charset="0"/>
                          <a:ea typeface="Calibri" pitchFamily="34" charset="-122"/>
                          <a:cs typeface="Calibri" pitchFamily="34" charset="-120"/>
                        </a:rPr>
                        <a:t>Wiggle rate, and its variation</a:t>
                      </a:r>
                      <a:endParaRPr lang="en-US" sz="1100" dirty="0">
                        <a:latin typeface="Calibri" charset="0"/>
                        <a:ea typeface="Calibri" charset="0"/>
                        <a:cs typeface="Calibri" charset="0"/>
                      </a:endParaRPr>
                    </a:p>
                  </a:txBody>
                  <a:tcPr marL="91440" marR="91440" marT="45720" marB="45720" anchor="ctr">
                    <a:lnL w="6350" cap="flat" cmpd="sng" algn="ctr">
                      <a:solidFill>
                        <a:srgbClr val="D5E2E6"/>
                      </a:solidFill>
                      <a:prstDash val="solid"/>
                      <a:round/>
                      <a:headEnd type="none" w="med" len="med"/>
                      <a:tailEnd type="none" w="med" len="med"/>
                    </a:lnL>
                    <a:lnR w="6350" cap="flat" cmpd="sng" algn="ctr">
                      <a:solidFill>
                        <a:srgbClr val="D5E2E6"/>
                      </a:solidFill>
                      <a:prstDash val="solid"/>
                      <a:round/>
                      <a:headEnd type="none" w="med" len="med"/>
                      <a:tailEnd type="none" w="med" len="med"/>
                    </a:lnR>
                    <a:lnT w="6350" cap="flat" cmpd="sng" algn="ctr">
                      <a:solidFill>
                        <a:srgbClr val="D5E2E6"/>
                      </a:solidFill>
                      <a:prstDash val="solid"/>
                      <a:round/>
                      <a:headEnd type="none" w="med" len="med"/>
                      <a:tailEnd type="none" w="med" len="med"/>
                    </a:lnT>
                    <a:lnB w="6350" cap="flat" cmpd="sng" algn="ctr">
                      <a:solidFill>
                        <a:srgbClr val="D5E2E6"/>
                      </a:solidFill>
                      <a:prstDash val="solid"/>
                      <a:round/>
                      <a:headEnd type="none" w="med" len="med"/>
                      <a:tailEnd type="none" w="med" len="med"/>
                    </a:lnB>
                    <a:solidFill>
                      <a:srgbClr val="EAF2F4"/>
                    </a:solidFill>
                  </a:tcPr>
                </a:tc>
              </a:tr>
              <a:tr h="274320">
                <a:tc>
                  <a:txBody>
                    <a:bodyPr/>
                    <a:lstStyle/>
                    <a:p>
                      <a:pPr algn="l" indent="0" marL="0">
                        <a:buNone/>
                      </a:pPr>
                      <a:r>
                        <a:rPr lang="en-US" sz="1100" dirty="0">
                          <a:solidFill>
                            <a:srgbClr val="0B2F3A"/>
                          </a:solidFill>
                          <a:latin typeface="Calibri" pitchFamily="34" charset="0"/>
                          <a:ea typeface="Calibri" pitchFamily="34" charset="-122"/>
                          <a:cs typeface="Calibri" pitchFamily="34" charset="-120"/>
                        </a:rPr>
                        <a:t>FD</a:t>
                      </a:r>
                      <a:endParaRPr lang="en-US" sz="1100" dirty="0">
                        <a:latin typeface="Calibri" charset="0"/>
                        <a:ea typeface="Calibri" charset="0"/>
                        <a:cs typeface="Calibri" charset="0"/>
                      </a:endParaRPr>
                    </a:p>
                  </a:txBody>
                  <a:tcPr marL="91440" marR="91440" marT="45720" marB="45720" anchor="ctr">
                    <a:lnL w="6350" cap="flat" cmpd="sng" algn="ctr">
                      <a:solidFill>
                        <a:srgbClr val="D5E2E6"/>
                      </a:solidFill>
                      <a:prstDash val="solid"/>
                      <a:round/>
                      <a:headEnd type="none" w="med" len="med"/>
                      <a:tailEnd type="none" w="med" len="med"/>
                    </a:lnL>
                    <a:lnR w="6350" cap="flat" cmpd="sng" algn="ctr">
                      <a:solidFill>
                        <a:srgbClr val="D5E2E6"/>
                      </a:solidFill>
                      <a:prstDash val="solid"/>
                      <a:round/>
                      <a:headEnd type="none" w="med" len="med"/>
                      <a:tailEnd type="none" w="med" len="med"/>
                    </a:lnR>
                    <a:lnT w="6350" cap="flat" cmpd="sng" algn="ctr">
                      <a:solidFill>
                        <a:srgbClr val="D5E2E6"/>
                      </a:solidFill>
                      <a:prstDash val="solid"/>
                      <a:round/>
                      <a:headEnd type="none" w="med" len="med"/>
                      <a:tailEnd type="none" w="med" len="med"/>
                    </a:lnT>
                    <a:lnB w="6350" cap="flat" cmpd="sng" algn="ctr">
                      <a:solidFill>
                        <a:srgbClr val="D5E2E6"/>
                      </a:solidFill>
                      <a:prstDash val="solid"/>
                      <a:round/>
                      <a:headEnd type="none" w="med" len="med"/>
                      <a:tailEnd type="none" w="med" len="med"/>
                    </a:lnB>
                    <a:solidFill>
                      <a:srgbClr val="FFFFFF"/>
                    </a:solidFill>
                  </a:tcPr>
                </a:tc>
                <a:tc>
                  <a:txBody>
                    <a:bodyPr/>
                    <a:lstStyle/>
                    <a:p>
                      <a:pPr algn="l" indent="0" marL="0">
                        <a:buNone/>
                      </a:pPr>
                      <a:r>
                        <a:rPr lang="en-US" sz="1100" dirty="0">
                          <a:solidFill>
                            <a:srgbClr val="0B2F3A"/>
                          </a:solidFill>
                          <a:latin typeface="Calibri" pitchFamily="34" charset="0"/>
                          <a:ea typeface="Calibri" pitchFamily="34" charset="-122"/>
                          <a:cs typeface="Calibri" pitchFamily="34" charset="-120"/>
                        </a:rPr>
                        <a:t>How jagged the line is</a:t>
                      </a:r>
                      <a:endParaRPr lang="en-US" sz="1100" dirty="0">
                        <a:latin typeface="Calibri" charset="0"/>
                        <a:ea typeface="Calibri" charset="0"/>
                        <a:cs typeface="Calibri" charset="0"/>
                      </a:endParaRPr>
                    </a:p>
                  </a:txBody>
                  <a:tcPr marL="91440" marR="91440" marT="45720" marB="45720" anchor="ctr">
                    <a:lnL w="6350" cap="flat" cmpd="sng" algn="ctr">
                      <a:solidFill>
                        <a:srgbClr val="D5E2E6"/>
                      </a:solidFill>
                      <a:prstDash val="solid"/>
                      <a:round/>
                      <a:headEnd type="none" w="med" len="med"/>
                      <a:tailEnd type="none" w="med" len="med"/>
                    </a:lnL>
                    <a:lnR w="6350" cap="flat" cmpd="sng" algn="ctr">
                      <a:solidFill>
                        <a:srgbClr val="D5E2E6"/>
                      </a:solidFill>
                      <a:prstDash val="solid"/>
                      <a:round/>
                      <a:headEnd type="none" w="med" len="med"/>
                      <a:tailEnd type="none" w="med" len="med"/>
                    </a:lnR>
                    <a:lnT w="6350" cap="flat" cmpd="sng" algn="ctr">
                      <a:solidFill>
                        <a:srgbClr val="D5E2E6"/>
                      </a:solidFill>
                      <a:prstDash val="solid"/>
                      <a:round/>
                      <a:headEnd type="none" w="med" len="med"/>
                      <a:tailEnd type="none" w="med" len="med"/>
                    </a:lnT>
                    <a:lnB w="6350" cap="flat" cmpd="sng" algn="ctr">
                      <a:solidFill>
                        <a:srgbClr val="D5E2E6"/>
                      </a:solidFill>
                      <a:prstDash val="solid"/>
                      <a:round/>
                      <a:headEnd type="none" w="med" len="med"/>
                      <a:tailEnd type="none" w="med" len="med"/>
                    </a:lnB>
                    <a:solidFill>
                      <a:srgbClr val="FFFFFF"/>
                    </a:solidFill>
                  </a:tcPr>
                </a:tc>
              </a:tr>
              <a:tr h="274320">
                <a:tc>
                  <a:txBody>
                    <a:bodyPr/>
                    <a:lstStyle/>
                    <a:p>
                      <a:pPr algn="l" indent="0" marL="0">
                        <a:buNone/>
                      </a:pPr>
                      <a:r>
                        <a:rPr lang="en-US" sz="1100" dirty="0">
                          <a:solidFill>
                            <a:srgbClr val="0B2F3A"/>
                          </a:solidFill>
                          <a:latin typeface="Calibri" pitchFamily="34" charset="0"/>
                          <a:ea typeface="Calibri" pitchFamily="34" charset="-122"/>
                          <a:cs typeface="Calibri" pitchFamily="34" charset="-120"/>
                        </a:rPr>
                        <a:t>CD</a:t>
                      </a:r>
                      <a:endParaRPr lang="en-US" sz="1100" dirty="0">
                        <a:latin typeface="Calibri" charset="0"/>
                        <a:ea typeface="Calibri" charset="0"/>
                        <a:cs typeface="Calibri" charset="0"/>
                      </a:endParaRPr>
                    </a:p>
                  </a:txBody>
                  <a:tcPr marL="91440" marR="91440" marT="45720" marB="45720" anchor="ctr">
                    <a:lnL w="6350" cap="flat" cmpd="sng" algn="ctr">
                      <a:solidFill>
                        <a:srgbClr val="D5E2E6"/>
                      </a:solidFill>
                      <a:prstDash val="solid"/>
                      <a:round/>
                      <a:headEnd type="none" w="med" len="med"/>
                      <a:tailEnd type="none" w="med" len="med"/>
                    </a:lnL>
                    <a:lnR w="6350" cap="flat" cmpd="sng" algn="ctr">
                      <a:solidFill>
                        <a:srgbClr val="D5E2E6"/>
                      </a:solidFill>
                      <a:prstDash val="solid"/>
                      <a:round/>
                      <a:headEnd type="none" w="med" len="med"/>
                      <a:tailEnd type="none" w="med" len="med"/>
                    </a:lnR>
                    <a:lnT w="6350" cap="flat" cmpd="sng" algn="ctr">
                      <a:solidFill>
                        <a:srgbClr val="D5E2E6"/>
                      </a:solidFill>
                      <a:prstDash val="solid"/>
                      <a:round/>
                      <a:headEnd type="none" w="med" len="med"/>
                      <a:tailEnd type="none" w="med" len="med"/>
                    </a:lnT>
                    <a:lnB w="6350" cap="flat" cmpd="sng" algn="ctr">
                      <a:solidFill>
                        <a:srgbClr val="D5E2E6"/>
                      </a:solidFill>
                      <a:prstDash val="solid"/>
                      <a:round/>
                      <a:headEnd type="none" w="med" len="med"/>
                      <a:tailEnd type="none" w="med" len="med"/>
                    </a:lnB>
                    <a:solidFill>
                      <a:srgbClr val="EAF2F4"/>
                    </a:solidFill>
                  </a:tcPr>
                </a:tc>
                <a:tc>
                  <a:txBody>
                    <a:bodyPr/>
                    <a:lstStyle/>
                    <a:p>
                      <a:pPr algn="l" indent="0" marL="0">
                        <a:buNone/>
                      </a:pPr>
                      <a:r>
                        <a:rPr lang="en-US" sz="1100" dirty="0">
                          <a:solidFill>
                            <a:srgbClr val="0B2F3A"/>
                          </a:solidFill>
                          <a:latin typeface="Calibri" pitchFamily="34" charset="0"/>
                          <a:ea typeface="Calibri" pitchFamily="34" charset="-122"/>
                          <a:cs typeface="Calibri" pitchFamily="34" charset="-120"/>
                        </a:rPr>
                        <a:t>How many processes drive it</a:t>
                      </a:r>
                      <a:endParaRPr lang="en-US" sz="1100" dirty="0">
                        <a:latin typeface="Calibri" charset="0"/>
                        <a:ea typeface="Calibri" charset="0"/>
                        <a:cs typeface="Calibri" charset="0"/>
                      </a:endParaRPr>
                    </a:p>
                  </a:txBody>
                  <a:tcPr marL="91440" marR="91440" marT="45720" marB="45720" anchor="ctr">
                    <a:lnL w="6350" cap="flat" cmpd="sng" algn="ctr">
                      <a:solidFill>
                        <a:srgbClr val="D5E2E6"/>
                      </a:solidFill>
                      <a:prstDash val="solid"/>
                      <a:round/>
                      <a:headEnd type="none" w="med" len="med"/>
                      <a:tailEnd type="none" w="med" len="med"/>
                    </a:lnL>
                    <a:lnR w="6350" cap="flat" cmpd="sng" algn="ctr">
                      <a:solidFill>
                        <a:srgbClr val="D5E2E6"/>
                      </a:solidFill>
                      <a:prstDash val="solid"/>
                      <a:round/>
                      <a:headEnd type="none" w="med" len="med"/>
                      <a:tailEnd type="none" w="med" len="med"/>
                    </a:lnR>
                    <a:lnT w="6350" cap="flat" cmpd="sng" algn="ctr">
                      <a:solidFill>
                        <a:srgbClr val="D5E2E6"/>
                      </a:solidFill>
                      <a:prstDash val="solid"/>
                      <a:round/>
                      <a:headEnd type="none" w="med" len="med"/>
                      <a:tailEnd type="none" w="med" len="med"/>
                    </a:lnT>
                    <a:lnB w="6350" cap="flat" cmpd="sng" algn="ctr">
                      <a:solidFill>
                        <a:srgbClr val="D5E2E6"/>
                      </a:solidFill>
                      <a:prstDash val="solid"/>
                      <a:round/>
                      <a:headEnd type="none" w="med" len="med"/>
                      <a:tailEnd type="none" w="med" len="med"/>
                    </a:lnB>
                    <a:solidFill>
                      <a:srgbClr val="EAF2F4"/>
                    </a:solidFill>
                  </a:tcPr>
                </a:tc>
              </a:tr>
              <a:tr h="274320">
                <a:tc>
                  <a:txBody>
                    <a:bodyPr/>
                    <a:lstStyle/>
                    <a:p>
                      <a:pPr algn="l" indent="0" marL="0">
                        <a:buNone/>
                      </a:pPr>
                      <a:r>
                        <a:rPr lang="en-US" sz="1100" dirty="0">
                          <a:solidFill>
                            <a:srgbClr val="0B2F3A"/>
                          </a:solidFill>
                          <a:latin typeface="Calibri" pitchFamily="34" charset="0"/>
                          <a:ea typeface="Calibri" pitchFamily="34" charset="-122"/>
                          <a:cs typeface="Calibri" pitchFamily="34" charset="-120"/>
                        </a:rPr>
                        <a:t>C0</a:t>
                      </a:r>
                      <a:endParaRPr lang="en-US" sz="1100" dirty="0">
                        <a:latin typeface="Calibri" charset="0"/>
                        <a:ea typeface="Calibri" charset="0"/>
                        <a:cs typeface="Calibri" charset="0"/>
                      </a:endParaRPr>
                    </a:p>
                  </a:txBody>
                  <a:tcPr marL="91440" marR="91440" marT="45720" marB="45720" anchor="ctr">
                    <a:lnL w="6350" cap="flat" cmpd="sng" algn="ctr">
                      <a:solidFill>
                        <a:srgbClr val="D5E2E6"/>
                      </a:solidFill>
                      <a:prstDash val="solid"/>
                      <a:round/>
                      <a:headEnd type="none" w="med" len="med"/>
                      <a:tailEnd type="none" w="med" len="med"/>
                    </a:lnL>
                    <a:lnR w="6350" cap="flat" cmpd="sng" algn="ctr">
                      <a:solidFill>
                        <a:srgbClr val="D5E2E6"/>
                      </a:solidFill>
                      <a:prstDash val="solid"/>
                      <a:round/>
                      <a:headEnd type="none" w="med" len="med"/>
                      <a:tailEnd type="none" w="med" len="med"/>
                    </a:lnR>
                    <a:lnT w="6350" cap="flat" cmpd="sng" algn="ctr">
                      <a:solidFill>
                        <a:srgbClr val="D5E2E6"/>
                      </a:solidFill>
                      <a:prstDash val="solid"/>
                      <a:round/>
                      <a:headEnd type="none" w="med" len="med"/>
                      <a:tailEnd type="none" w="med" len="med"/>
                    </a:lnT>
                    <a:lnB w="6350" cap="flat" cmpd="sng" algn="ctr">
                      <a:solidFill>
                        <a:srgbClr val="D5E2E6"/>
                      </a:solidFill>
                      <a:prstDash val="solid"/>
                      <a:round/>
                      <a:headEnd type="none" w="med" len="med"/>
                      <a:tailEnd type="none" w="med" len="med"/>
                    </a:lnB>
                    <a:solidFill>
                      <a:srgbClr val="FFFFFF"/>
                    </a:solidFill>
                  </a:tcPr>
                </a:tc>
                <a:tc>
                  <a:txBody>
                    <a:bodyPr/>
                    <a:lstStyle/>
                    <a:p>
                      <a:pPr algn="l" indent="0" marL="0">
                        <a:buNone/>
                      </a:pPr>
                      <a:r>
                        <a:rPr lang="en-US" sz="1100" dirty="0">
                          <a:solidFill>
                            <a:srgbClr val="0B2F3A"/>
                          </a:solidFill>
                          <a:latin typeface="Calibri" pitchFamily="34" charset="0"/>
                          <a:ea typeface="Calibri" pitchFamily="34" charset="-122"/>
                          <a:cs typeface="Calibri" pitchFamily="34" charset="-120"/>
                        </a:rPr>
                        <a:t>Fraction that is irregular</a:t>
                      </a:r>
                      <a:endParaRPr lang="en-US" sz="1100" dirty="0">
                        <a:latin typeface="Calibri" charset="0"/>
                        <a:ea typeface="Calibri" charset="0"/>
                        <a:cs typeface="Calibri" charset="0"/>
                      </a:endParaRPr>
                    </a:p>
                  </a:txBody>
                  <a:tcPr marL="91440" marR="91440" marT="45720" marB="45720" anchor="ctr">
                    <a:lnL w="6350" cap="flat" cmpd="sng" algn="ctr">
                      <a:solidFill>
                        <a:srgbClr val="D5E2E6"/>
                      </a:solidFill>
                      <a:prstDash val="solid"/>
                      <a:round/>
                      <a:headEnd type="none" w="med" len="med"/>
                      <a:tailEnd type="none" w="med" len="med"/>
                    </a:lnL>
                    <a:lnR w="6350" cap="flat" cmpd="sng" algn="ctr">
                      <a:solidFill>
                        <a:srgbClr val="D5E2E6"/>
                      </a:solidFill>
                      <a:prstDash val="solid"/>
                      <a:round/>
                      <a:headEnd type="none" w="med" len="med"/>
                      <a:tailEnd type="none" w="med" len="med"/>
                    </a:lnR>
                    <a:lnT w="6350" cap="flat" cmpd="sng" algn="ctr">
                      <a:solidFill>
                        <a:srgbClr val="D5E2E6"/>
                      </a:solidFill>
                      <a:prstDash val="solid"/>
                      <a:round/>
                      <a:headEnd type="none" w="med" len="med"/>
                      <a:tailEnd type="none" w="med" len="med"/>
                    </a:lnT>
                    <a:lnB w="6350" cap="flat" cmpd="sng" algn="ctr">
                      <a:solidFill>
                        <a:srgbClr val="D5E2E6"/>
                      </a:solidFill>
                      <a:prstDash val="solid"/>
                      <a:round/>
                      <a:headEnd type="none" w="med" len="med"/>
                      <a:tailEnd type="none" w="med" len="med"/>
                    </a:lnB>
                    <a:solidFill>
                      <a:srgbClr val="FFFFFF"/>
                    </a:solidFill>
                  </a:tcPr>
                </a:tc>
              </a:tr>
              <a:tr h="274320">
                <a:tc>
                  <a:txBody>
                    <a:bodyPr/>
                    <a:lstStyle/>
                    <a:p>
                      <a:pPr algn="l" indent="0" marL="0">
                        <a:buNone/>
                      </a:pPr>
                      <a:r>
                        <a:rPr lang="en-US" sz="1100" dirty="0">
                          <a:solidFill>
                            <a:srgbClr val="0B2F3A"/>
                          </a:solidFill>
                          <a:latin typeface="Calibri" pitchFamily="34" charset="0"/>
                          <a:ea typeface="Calibri" pitchFamily="34" charset="-122"/>
                          <a:cs typeface="Calibri" pitchFamily="34" charset="-120"/>
                        </a:rPr>
                        <a:t>PSE</a:t>
                      </a:r>
                      <a:endParaRPr lang="en-US" sz="1100" dirty="0">
                        <a:latin typeface="Calibri" charset="0"/>
                        <a:ea typeface="Calibri" charset="0"/>
                        <a:cs typeface="Calibri" charset="0"/>
                      </a:endParaRPr>
                    </a:p>
                  </a:txBody>
                  <a:tcPr marL="91440" marR="91440" marT="45720" marB="45720" anchor="ctr">
                    <a:lnL w="6350" cap="flat" cmpd="sng" algn="ctr">
                      <a:solidFill>
                        <a:srgbClr val="D5E2E6"/>
                      </a:solidFill>
                      <a:prstDash val="solid"/>
                      <a:round/>
                      <a:headEnd type="none" w="med" len="med"/>
                      <a:tailEnd type="none" w="med" len="med"/>
                    </a:lnL>
                    <a:lnR w="6350" cap="flat" cmpd="sng" algn="ctr">
                      <a:solidFill>
                        <a:srgbClr val="D5E2E6"/>
                      </a:solidFill>
                      <a:prstDash val="solid"/>
                      <a:round/>
                      <a:headEnd type="none" w="med" len="med"/>
                      <a:tailEnd type="none" w="med" len="med"/>
                    </a:lnR>
                    <a:lnT w="6350" cap="flat" cmpd="sng" algn="ctr">
                      <a:solidFill>
                        <a:srgbClr val="D5E2E6"/>
                      </a:solidFill>
                      <a:prstDash val="solid"/>
                      <a:round/>
                      <a:headEnd type="none" w="med" len="med"/>
                      <a:tailEnd type="none" w="med" len="med"/>
                    </a:lnT>
                    <a:lnB w="6350" cap="flat" cmpd="sng" algn="ctr">
                      <a:solidFill>
                        <a:srgbClr val="D5E2E6"/>
                      </a:solidFill>
                      <a:prstDash val="solid"/>
                      <a:round/>
                      <a:headEnd type="none" w="med" len="med"/>
                      <a:tailEnd type="none" w="med" len="med"/>
                    </a:lnB>
                    <a:solidFill>
                      <a:srgbClr val="EAF2F4"/>
                    </a:solidFill>
                  </a:tcPr>
                </a:tc>
                <a:tc>
                  <a:txBody>
                    <a:bodyPr/>
                    <a:lstStyle/>
                    <a:p>
                      <a:pPr algn="l" indent="0" marL="0">
                        <a:buNone/>
                      </a:pPr>
                      <a:r>
                        <a:rPr lang="en-US" sz="1100" dirty="0">
                          <a:solidFill>
                            <a:srgbClr val="0B2F3A"/>
                          </a:solidFill>
                          <a:latin typeface="Calibri" pitchFamily="34" charset="0"/>
                          <a:ea typeface="Calibri" pitchFamily="34" charset="-122"/>
                          <a:cs typeface="Calibri" pitchFamily="34" charset="-120"/>
                        </a:rPr>
                        <a:t>Energy spread across frequencies</a:t>
                      </a:r>
                      <a:endParaRPr lang="en-US" sz="1100" dirty="0">
                        <a:latin typeface="Calibri" charset="0"/>
                        <a:ea typeface="Calibri" charset="0"/>
                        <a:cs typeface="Calibri" charset="0"/>
                      </a:endParaRPr>
                    </a:p>
                  </a:txBody>
                  <a:tcPr marL="91440" marR="91440" marT="45720" marB="45720" anchor="ctr">
                    <a:lnL w="6350" cap="flat" cmpd="sng" algn="ctr">
                      <a:solidFill>
                        <a:srgbClr val="D5E2E6"/>
                      </a:solidFill>
                      <a:prstDash val="solid"/>
                      <a:round/>
                      <a:headEnd type="none" w="med" len="med"/>
                      <a:tailEnd type="none" w="med" len="med"/>
                    </a:lnL>
                    <a:lnR w="6350" cap="flat" cmpd="sng" algn="ctr">
                      <a:solidFill>
                        <a:srgbClr val="D5E2E6"/>
                      </a:solidFill>
                      <a:prstDash val="solid"/>
                      <a:round/>
                      <a:headEnd type="none" w="med" len="med"/>
                      <a:tailEnd type="none" w="med" len="med"/>
                    </a:lnR>
                    <a:lnT w="6350" cap="flat" cmpd="sng" algn="ctr">
                      <a:solidFill>
                        <a:srgbClr val="D5E2E6"/>
                      </a:solidFill>
                      <a:prstDash val="solid"/>
                      <a:round/>
                      <a:headEnd type="none" w="med" len="med"/>
                      <a:tailEnd type="none" w="med" len="med"/>
                    </a:lnT>
                    <a:lnB w="6350" cap="flat" cmpd="sng" algn="ctr">
                      <a:solidFill>
                        <a:srgbClr val="D5E2E6"/>
                      </a:solidFill>
                      <a:prstDash val="solid"/>
                      <a:round/>
                      <a:headEnd type="none" w="med" len="med"/>
                      <a:tailEnd type="none" w="med" len="med"/>
                    </a:lnB>
                    <a:solidFill>
                      <a:srgbClr val="EAF2F4"/>
                    </a:solidFill>
                  </a:tcPr>
                </a:tc>
              </a:tr>
              <a:tr h="274320">
                <a:tc>
                  <a:txBody>
                    <a:bodyPr/>
                    <a:lstStyle/>
                    <a:p>
                      <a:pPr algn="l" indent="0" marL="0">
                        <a:buNone/>
                      </a:pPr>
                      <a:r>
                        <a:rPr lang="en-US" sz="1100" dirty="0">
                          <a:solidFill>
                            <a:srgbClr val="0B2F3A"/>
                          </a:solidFill>
                          <a:latin typeface="Calibri" pitchFamily="34" charset="0"/>
                          <a:ea typeface="Calibri" pitchFamily="34" charset="-122"/>
                          <a:cs typeface="Calibri" pitchFamily="34" charset="-120"/>
                        </a:rPr>
                        <a:t>KE, SE</a:t>
                      </a:r>
                      <a:endParaRPr lang="en-US" sz="1100" dirty="0">
                        <a:latin typeface="Calibri" charset="0"/>
                        <a:ea typeface="Calibri" charset="0"/>
                        <a:cs typeface="Calibri" charset="0"/>
                      </a:endParaRPr>
                    </a:p>
                  </a:txBody>
                  <a:tcPr marL="91440" marR="91440" marT="45720" marB="45720" anchor="ctr">
                    <a:lnL w="6350" cap="flat" cmpd="sng" algn="ctr">
                      <a:solidFill>
                        <a:srgbClr val="D5E2E6"/>
                      </a:solidFill>
                      <a:prstDash val="solid"/>
                      <a:round/>
                      <a:headEnd type="none" w="med" len="med"/>
                      <a:tailEnd type="none" w="med" len="med"/>
                    </a:lnL>
                    <a:lnR w="6350" cap="flat" cmpd="sng" algn="ctr">
                      <a:solidFill>
                        <a:srgbClr val="D5E2E6"/>
                      </a:solidFill>
                      <a:prstDash val="solid"/>
                      <a:round/>
                      <a:headEnd type="none" w="med" len="med"/>
                      <a:tailEnd type="none" w="med" len="med"/>
                    </a:lnR>
                    <a:lnT w="6350" cap="flat" cmpd="sng" algn="ctr">
                      <a:solidFill>
                        <a:srgbClr val="D5E2E6"/>
                      </a:solidFill>
                      <a:prstDash val="solid"/>
                      <a:round/>
                      <a:headEnd type="none" w="med" len="med"/>
                      <a:tailEnd type="none" w="med" len="med"/>
                    </a:lnT>
                    <a:lnB w="6350" cap="flat" cmpd="sng" algn="ctr">
                      <a:solidFill>
                        <a:srgbClr val="D5E2E6"/>
                      </a:solidFill>
                      <a:prstDash val="solid"/>
                      <a:round/>
                      <a:headEnd type="none" w="med" len="med"/>
                      <a:tailEnd type="none" w="med" len="med"/>
                    </a:lnB>
                    <a:solidFill>
                      <a:srgbClr val="FFFFFF"/>
                    </a:solidFill>
                  </a:tcPr>
                </a:tc>
                <a:tc>
                  <a:txBody>
                    <a:bodyPr/>
                    <a:lstStyle/>
                    <a:p>
                      <a:pPr algn="l" indent="0" marL="0">
                        <a:buNone/>
                      </a:pPr>
                      <a:r>
                        <a:rPr lang="en-US" sz="1100" dirty="0">
                          <a:solidFill>
                            <a:srgbClr val="0B2F3A"/>
                          </a:solidFill>
                          <a:latin typeface="Calibri" pitchFamily="34" charset="0"/>
                          <a:ea typeface="Calibri" pitchFamily="34" charset="-122"/>
                          <a:cs typeface="Calibri" pitchFamily="34" charset="-120"/>
                        </a:rPr>
                        <a:t>How unpredictable / how informative</a:t>
                      </a:r>
                      <a:endParaRPr lang="en-US" sz="1100" dirty="0">
                        <a:latin typeface="Calibri" charset="0"/>
                        <a:ea typeface="Calibri" charset="0"/>
                        <a:cs typeface="Calibri" charset="0"/>
                      </a:endParaRPr>
                    </a:p>
                  </a:txBody>
                  <a:tcPr marL="91440" marR="91440" marT="45720" marB="45720" anchor="ctr">
                    <a:lnL w="6350" cap="flat" cmpd="sng" algn="ctr">
                      <a:solidFill>
                        <a:srgbClr val="D5E2E6"/>
                      </a:solidFill>
                      <a:prstDash val="solid"/>
                      <a:round/>
                      <a:headEnd type="none" w="med" len="med"/>
                      <a:tailEnd type="none" w="med" len="med"/>
                    </a:lnL>
                    <a:lnR w="6350" cap="flat" cmpd="sng" algn="ctr">
                      <a:solidFill>
                        <a:srgbClr val="D5E2E6"/>
                      </a:solidFill>
                      <a:prstDash val="solid"/>
                      <a:round/>
                      <a:headEnd type="none" w="med" len="med"/>
                      <a:tailEnd type="none" w="med" len="med"/>
                    </a:lnR>
                    <a:lnT w="6350" cap="flat" cmpd="sng" algn="ctr">
                      <a:solidFill>
                        <a:srgbClr val="D5E2E6"/>
                      </a:solidFill>
                      <a:prstDash val="solid"/>
                      <a:round/>
                      <a:headEnd type="none" w="med" len="med"/>
                      <a:tailEnd type="none" w="med" len="med"/>
                    </a:lnT>
                    <a:lnB w="6350" cap="flat" cmpd="sng" algn="ctr">
                      <a:solidFill>
                        <a:srgbClr val="D5E2E6"/>
                      </a:solidFill>
                      <a:prstDash val="solid"/>
                      <a:round/>
                      <a:headEnd type="none" w="med" len="med"/>
                      <a:tailEnd type="none" w="med" len="med"/>
                    </a:lnB>
                    <a:solidFill>
                      <a:srgbClr val="FFFFFF"/>
                    </a:solidFill>
                  </a:tcPr>
                </a:tc>
              </a:tr>
            </a:tbl>
          </a:graphicData>
        </a:graphic>
      </p:graphicFrame>
      <p:sp>
        <p:nvSpPr>
          <p:cNvPr id="7" name="Shape 4"/>
          <p:cNvSpPr/>
          <p:nvPr/>
        </p:nvSpPr>
        <p:spPr>
          <a:xfrm>
            <a:off x="6766560" y="4251960"/>
            <a:ext cx="4800600" cy="1325880"/>
          </a:xfrm>
          <a:prstGeom prst="roundRect">
            <a:avLst>
              <a:gd name="adj" fmla="val 4138"/>
            </a:avLst>
          </a:prstGeom>
          <a:solidFill>
            <a:srgbClr val="EAF2F4"/>
          </a:solidFill>
          <a:ln w="12700">
            <a:solidFill>
              <a:srgbClr val="EAF2F4"/>
            </a:solidFill>
            <a:prstDash val="solid"/>
          </a:ln>
        </p:spPr>
      </p:sp>
      <p:sp>
        <p:nvSpPr>
          <p:cNvPr id="8" name="Text 5"/>
          <p:cNvSpPr txBox="1"/>
          <p:nvPr/>
        </p:nvSpPr>
        <p:spPr>
          <a:xfrm>
            <a:off x="6967728" y="4398264"/>
            <a:ext cx="4398264" cy="347472"/>
          </a:xfrm>
          <a:prstGeom prst="rect">
            <a:avLst/>
          </a:prstGeom>
          <a:noFill/>
          <a:ln/>
        </p:spPr>
        <p:txBody>
          <a:bodyPr wrap="square" lIns="0" tIns="0" rIns="0" bIns="0" rtlCol="0" anchor="ctr"/>
          <a:lstStyle/>
          <a:p>
            <a:pPr indent="0" marL="0">
              <a:buNone/>
            </a:pPr>
            <a:r>
              <a:rPr lang="en-US" sz="1300" b="1" dirty="0">
                <a:solidFill>
                  <a:srgbClr val="0B2F3A"/>
                </a:solidFill>
                <a:latin typeface="Calibri" pitchFamily="34" charset="0"/>
                <a:ea typeface="Calibri" pitchFamily="34" charset="-122"/>
                <a:cs typeface="Calibri" pitchFamily="34" charset="-120"/>
              </a:rPr>
              <a:t>Plus 33 morphological features</a:t>
            </a:r>
            <a:endParaRPr lang="en-US" sz="1300" dirty="0"/>
          </a:p>
        </p:txBody>
      </p:sp>
      <p:sp>
        <p:nvSpPr>
          <p:cNvPr id="9" name="Text 6"/>
          <p:cNvSpPr txBox="1"/>
          <p:nvPr/>
        </p:nvSpPr>
        <p:spPr>
          <a:xfrm>
            <a:off x="6967728" y="4782312"/>
            <a:ext cx="4398264" cy="640080"/>
          </a:xfrm>
          <a:prstGeom prst="rect">
            <a:avLst/>
          </a:prstGeom>
          <a:noFill/>
          <a:ln/>
        </p:spPr>
        <p:txBody>
          <a:bodyPr wrap="square" lIns="0" tIns="0" rIns="0" bIns="0" rtlCol="0" anchor="t"/>
          <a:lstStyle/>
          <a:p>
            <a:pPr indent="0" marL="0">
              <a:buNone/>
            </a:pPr>
            <a:r>
              <a:rPr lang="en-US" sz="1150" dirty="0">
                <a:solidFill>
                  <a:srgbClr val="0B2F3A"/>
                </a:solidFill>
                <a:latin typeface="Calibri" pitchFamily="34" charset="0"/>
                <a:ea typeface="Calibri" pitchFamily="34" charset="-122"/>
                <a:cs typeface="Calibri" pitchFamily="34" charset="-120"/>
              </a:rPr>
              <a:t>QT and QTc = QT/sqrt(RR), ST level, T-wave amplitude and sharpness, SDNN, RMSSD, pNN50, and PPG pulse shape. Each is citable to the glucose mechanism.</a:t>
            </a:r>
            <a:endParaRPr lang="en-US" sz="1150" dirty="0"/>
          </a:p>
        </p:txBody>
      </p:sp>
      <p:sp>
        <p:nvSpPr>
          <p:cNvPr id="10" name="Text 7"/>
          <p:cNvSpPr txBox="1"/>
          <p:nvPr/>
        </p:nvSpPr>
        <p:spPr>
          <a:xfrm>
            <a:off x="548640" y="6291072"/>
            <a:ext cx="11094415" cy="320040"/>
          </a:xfrm>
          <a:prstGeom prst="rect">
            <a:avLst/>
          </a:prstGeom>
          <a:noFill/>
          <a:ln/>
        </p:spPr>
        <p:txBody>
          <a:bodyPr wrap="square" lIns="0" tIns="0" rIns="0" bIns="0" rtlCol="0" anchor="ctr"/>
          <a:lstStyle/>
          <a:p>
            <a:pPr indent="0" marL="0">
              <a:buNone/>
            </a:pPr>
            <a:r>
              <a:rPr lang="en-US" sz="1050" i="1" dirty="0">
                <a:solidFill>
                  <a:srgbClr val="5A6B72"/>
                </a:solidFill>
                <a:latin typeface="Calibri" pitchFamily="34" charset="0"/>
                <a:ea typeface="Calibri" pitchFamily="34" charset="-122"/>
                <a:cs typeface="Calibri" pitchFamily="34" charset="-120"/>
              </a:rPr>
              <a:t>We use the paper's exact choices: db4 wavelet, 7 decomposition levels, these ten features.</a:t>
            </a:r>
            <a:endParaRPr lang="en-US" sz="10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84048"/>
            <a:ext cx="11094415" cy="868680"/>
          </a:xfrm>
          <a:prstGeom prst="rect">
            <a:avLst/>
          </a:prstGeom>
          <a:noFill/>
          <a:ln/>
        </p:spPr>
        <p:txBody>
          <a:bodyPr wrap="square" rtlCol="0" anchor="t"/>
          <a:lstStyle/>
          <a:p>
            <a:pPr indent="0" marL="0">
              <a:buNone/>
            </a:pPr>
            <a:r>
              <a:rPr lang="en-US" sz="2700" b="1" dirty="0">
                <a:solidFill>
                  <a:srgbClr val="0B2F3A"/>
                </a:solidFill>
                <a:latin typeface="Cambria" pitchFamily="34" charset="0"/>
                <a:ea typeface="Cambria" pitchFamily="34" charset="-122"/>
                <a:cs typeface="Cambria" pitchFamily="34" charset="-120"/>
              </a:rPr>
              <a:t>Finding 1: how you split the data changes the answer more than the model does</a:t>
            </a:r>
            <a:endParaRPr lang="en-US" sz="2700" dirty="0"/>
          </a:p>
        </p:txBody>
      </p:sp>
      <p:sp>
        <p:nvSpPr>
          <p:cNvPr id="3" name="Text 1"/>
          <p:cNvSpPr txBox="1"/>
          <p:nvPr/>
        </p:nvSpPr>
        <p:spPr>
          <a:xfrm>
            <a:off x="548640" y="1298448"/>
            <a:ext cx="11094415" cy="548640"/>
          </a:xfrm>
          <a:prstGeom prst="rect">
            <a:avLst/>
          </a:prstGeom>
          <a:noFill/>
          <a:ln/>
        </p:spPr>
        <p:txBody>
          <a:bodyPr wrap="square" rtlCol="0" anchor="ctr"/>
          <a:lstStyle/>
          <a:p>
            <a:pPr indent="0" marL="0">
              <a:buNone/>
            </a:pPr>
            <a:r>
              <a:rPr lang="en-US" sz="1500" dirty="0">
                <a:solidFill>
                  <a:srgbClr val="0B2F3A"/>
                </a:solidFill>
                <a:latin typeface="Calibri" pitchFamily="34" charset="0"/>
                <a:ea typeface="Calibri" pitchFamily="34" charset="-122"/>
                <a:cs typeface="Calibri" pitchFamily="34" charset="-120"/>
              </a:rPr>
              <a:t>Consecutive windows from one person are extremely similar. Shuffle them all and split at random, and the SAME patient appears in training and test - so a model can recognise the person instead of learning about glucose.</a:t>
            </a:r>
            <a:endParaRPr lang="en-US" sz="1500" dirty="0"/>
          </a:p>
        </p:txBody>
      </p:sp>
      <p:sp>
        <p:nvSpPr>
          <p:cNvPr id="4" name="Shape 2"/>
          <p:cNvSpPr/>
          <p:nvPr/>
        </p:nvSpPr>
        <p:spPr>
          <a:xfrm>
            <a:off x="548640" y="1965960"/>
            <a:ext cx="3520440" cy="2194560"/>
          </a:xfrm>
          <a:prstGeom prst="roundRect">
            <a:avLst>
              <a:gd name="adj" fmla="val 2500"/>
            </a:avLst>
          </a:prstGeom>
          <a:solidFill>
            <a:srgbClr val="EAF2F4"/>
          </a:solidFill>
          <a:ln w="12700">
            <a:solidFill>
              <a:srgbClr val="EAF2F4"/>
            </a:solidFill>
            <a:prstDash val="solid"/>
          </a:ln>
        </p:spPr>
      </p:sp>
      <p:sp>
        <p:nvSpPr>
          <p:cNvPr id="5" name="Text 3"/>
          <p:cNvSpPr txBox="1"/>
          <p:nvPr/>
        </p:nvSpPr>
        <p:spPr>
          <a:xfrm>
            <a:off x="768096" y="2130552"/>
            <a:ext cx="3108960" cy="301752"/>
          </a:xfrm>
          <a:prstGeom prst="rect">
            <a:avLst/>
          </a:prstGeom>
          <a:noFill/>
          <a:ln/>
        </p:spPr>
        <p:txBody>
          <a:bodyPr wrap="square" lIns="0" tIns="0" rIns="0" bIns="0" rtlCol="0" anchor="ctr"/>
          <a:lstStyle/>
          <a:p>
            <a:pPr indent="0" marL="0">
              <a:buNone/>
            </a:pPr>
            <a:r>
              <a:rPr lang="en-US" sz="1400" b="1" dirty="0">
                <a:solidFill>
                  <a:srgbClr val="0B2F3A"/>
                </a:solidFill>
                <a:latin typeface="Calibri" pitchFamily="34" charset="0"/>
                <a:ea typeface="Calibri" pitchFamily="34" charset="-122"/>
                <a:cs typeface="Calibri" pitchFamily="34" charset="-120"/>
              </a:rPr>
              <a:t>1. Random window</a:t>
            </a:r>
            <a:endParaRPr lang="en-US" sz="1400" dirty="0"/>
          </a:p>
        </p:txBody>
      </p:sp>
      <p:sp>
        <p:nvSpPr>
          <p:cNvPr id="6" name="Text 4"/>
          <p:cNvSpPr txBox="1"/>
          <p:nvPr/>
        </p:nvSpPr>
        <p:spPr>
          <a:xfrm>
            <a:off x="768096" y="2468880"/>
            <a:ext cx="3108960" cy="457200"/>
          </a:xfrm>
          <a:prstGeom prst="rect">
            <a:avLst/>
          </a:prstGeom>
          <a:noFill/>
          <a:ln/>
        </p:spPr>
        <p:txBody>
          <a:bodyPr wrap="square" lIns="0" tIns="0" rIns="0" bIns="0" rtlCol="0" anchor="ctr"/>
          <a:lstStyle/>
          <a:p>
            <a:pPr indent="0" marL="0">
              <a:buNone/>
            </a:pPr>
            <a:r>
              <a:rPr lang="en-US" sz="1150" i="1" dirty="0">
                <a:solidFill>
                  <a:srgbClr val="1C7293"/>
                </a:solidFill>
                <a:latin typeface="Calibri" pitchFamily="34" charset="0"/>
                <a:ea typeface="Calibri" pitchFamily="34" charset="-122"/>
                <a:cs typeface="Calibri" pitchFamily="34" charset="-120"/>
              </a:rPr>
              <a:t>Shuffle everything, split at random</a:t>
            </a:r>
            <a:endParaRPr lang="en-US" sz="1150" dirty="0"/>
          </a:p>
        </p:txBody>
      </p:sp>
      <p:sp>
        <p:nvSpPr>
          <p:cNvPr id="7" name="Text 5"/>
          <p:cNvSpPr txBox="1"/>
          <p:nvPr/>
        </p:nvSpPr>
        <p:spPr>
          <a:xfrm>
            <a:off x="768096" y="2944368"/>
            <a:ext cx="3108960" cy="1051560"/>
          </a:xfrm>
          <a:prstGeom prst="rect">
            <a:avLst/>
          </a:prstGeom>
          <a:noFill/>
          <a:ln/>
        </p:spPr>
        <p:txBody>
          <a:bodyPr wrap="square" lIns="0" tIns="0" rIns="0" bIns="0" rtlCol="0" anchor="ctr"/>
          <a:lstStyle/>
          <a:p>
            <a:pPr indent="0" marL="0">
              <a:buNone/>
            </a:pPr>
            <a:r>
              <a:rPr lang="en-US" sz="1150" dirty="0">
                <a:solidFill>
                  <a:srgbClr val="0B2F3A"/>
                </a:solidFill>
                <a:latin typeface="Calibri" pitchFamily="34" charset="0"/>
                <a:ea typeface="Calibri" pitchFamily="34" charset="-122"/>
                <a:cs typeface="Calibri" pitchFamily="34" charset="-120"/>
              </a:rPr>
              <a:t>The same patient on both sides. This is what most published work reports.</a:t>
            </a:r>
            <a:endParaRPr lang="en-US" sz="1150" dirty="0"/>
          </a:p>
        </p:txBody>
      </p:sp>
      <p:sp>
        <p:nvSpPr>
          <p:cNvPr id="8" name="Shape 6"/>
          <p:cNvSpPr/>
          <p:nvPr/>
        </p:nvSpPr>
        <p:spPr>
          <a:xfrm>
            <a:off x="4315968" y="1965960"/>
            <a:ext cx="3520440" cy="2194560"/>
          </a:xfrm>
          <a:prstGeom prst="roundRect">
            <a:avLst>
              <a:gd name="adj" fmla="val 2500"/>
            </a:avLst>
          </a:prstGeom>
          <a:solidFill>
            <a:srgbClr val="E3EEF0"/>
          </a:solidFill>
          <a:ln w="12700">
            <a:solidFill>
              <a:srgbClr val="E3EEF0"/>
            </a:solidFill>
            <a:prstDash val="solid"/>
          </a:ln>
        </p:spPr>
      </p:sp>
      <p:sp>
        <p:nvSpPr>
          <p:cNvPr id="9" name="Text 7"/>
          <p:cNvSpPr txBox="1"/>
          <p:nvPr/>
        </p:nvSpPr>
        <p:spPr>
          <a:xfrm>
            <a:off x="4535424" y="2130552"/>
            <a:ext cx="3108960" cy="301752"/>
          </a:xfrm>
          <a:prstGeom prst="rect">
            <a:avLst/>
          </a:prstGeom>
          <a:noFill/>
          <a:ln/>
        </p:spPr>
        <p:txBody>
          <a:bodyPr wrap="square" lIns="0" tIns="0" rIns="0" bIns="0" rtlCol="0" anchor="ctr"/>
          <a:lstStyle/>
          <a:p>
            <a:pPr indent="0" marL="0">
              <a:buNone/>
            </a:pPr>
            <a:r>
              <a:rPr lang="en-US" sz="1400" b="1" dirty="0">
                <a:solidFill>
                  <a:srgbClr val="0B2F3A"/>
                </a:solidFill>
                <a:latin typeface="Calibri" pitchFamily="34" charset="0"/>
                <a:ea typeface="Calibri" pitchFamily="34" charset="-122"/>
                <a:cs typeface="Calibri" pitchFamily="34" charset="-120"/>
              </a:rPr>
              <a:t>2. Subject-aware</a:t>
            </a:r>
            <a:endParaRPr lang="en-US" sz="1400" dirty="0"/>
          </a:p>
        </p:txBody>
      </p:sp>
      <p:sp>
        <p:nvSpPr>
          <p:cNvPr id="10" name="Text 8"/>
          <p:cNvSpPr txBox="1"/>
          <p:nvPr/>
        </p:nvSpPr>
        <p:spPr>
          <a:xfrm>
            <a:off x="4535424" y="2468880"/>
            <a:ext cx="3108960" cy="457200"/>
          </a:xfrm>
          <a:prstGeom prst="rect">
            <a:avLst/>
          </a:prstGeom>
          <a:noFill/>
          <a:ln/>
        </p:spPr>
        <p:txBody>
          <a:bodyPr wrap="square" lIns="0" tIns="0" rIns="0" bIns="0" rtlCol="0" anchor="ctr"/>
          <a:lstStyle/>
          <a:p>
            <a:pPr indent="0" marL="0">
              <a:buNone/>
            </a:pPr>
            <a:r>
              <a:rPr lang="en-US" sz="1150" i="1" dirty="0">
                <a:solidFill>
                  <a:srgbClr val="1C7293"/>
                </a:solidFill>
                <a:latin typeface="Calibri" pitchFamily="34" charset="0"/>
                <a:ea typeface="Calibri" pitchFamily="34" charset="-122"/>
                <a:cs typeface="Calibri" pitchFamily="34" charset="-120"/>
              </a:rPr>
              <a:t>No patient on both sides</a:t>
            </a:r>
            <a:endParaRPr lang="en-US" sz="1150" dirty="0"/>
          </a:p>
        </p:txBody>
      </p:sp>
      <p:sp>
        <p:nvSpPr>
          <p:cNvPr id="11" name="Text 9"/>
          <p:cNvSpPr txBox="1"/>
          <p:nvPr/>
        </p:nvSpPr>
        <p:spPr>
          <a:xfrm>
            <a:off x="4535424" y="2944368"/>
            <a:ext cx="3108960" cy="1051560"/>
          </a:xfrm>
          <a:prstGeom prst="rect">
            <a:avLst/>
          </a:prstGeom>
          <a:noFill/>
          <a:ln/>
        </p:spPr>
        <p:txBody>
          <a:bodyPr wrap="square" lIns="0" tIns="0" rIns="0" bIns="0" rtlCol="0" anchor="ctr"/>
          <a:lstStyle/>
          <a:p>
            <a:pPr indent="0" marL="0">
              <a:buNone/>
            </a:pPr>
            <a:r>
              <a:rPr lang="en-US" sz="1150" dirty="0">
                <a:solidFill>
                  <a:srgbClr val="0B2F3A"/>
                </a:solidFill>
                <a:latin typeface="Calibri" pitchFamily="34" charset="0"/>
                <a:ea typeface="Calibri" pitchFamily="34" charset="-122"/>
                <a:cs typeface="Calibri" pitchFamily="34" charset="-120"/>
              </a:rPr>
              <a:t>The model must now generalise across people, not memorise them.</a:t>
            </a:r>
            <a:endParaRPr lang="en-US" sz="1150" dirty="0"/>
          </a:p>
        </p:txBody>
      </p:sp>
      <p:sp>
        <p:nvSpPr>
          <p:cNvPr id="12" name="Shape 10"/>
          <p:cNvSpPr/>
          <p:nvPr/>
        </p:nvSpPr>
        <p:spPr>
          <a:xfrm>
            <a:off x="8083296" y="1965960"/>
            <a:ext cx="3520440" cy="2194560"/>
          </a:xfrm>
          <a:prstGeom prst="roundRect">
            <a:avLst>
              <a:gd name="adj" fmla="val 2500"/>
            </a:avLst>
          </a:prstGeom>
          <a:solidFill>
            <a:srgbClr val="0B2F3A"/>
          </a:solidFill>
          <a:ln w="12700">
            <a:solidFill>
              <a:srgbClr val="0B2F3A"/>
            </a:solidFill>
            <a:prstDash val="solid"/>
          </a:ln>
        </p:spPr>
      </p:sp>
      <p:sp>
        <p:nvSpPr>
          <p:cNvPr id="13" name="Text 11"/>
          <p:cNvSpPr txBox="1"/>
          <p:nvPr/>
        </p:nvSpPr>
        <p:spPr>
          <a:xfrm>
            <a:off x="8302752" y="2130552"/>
            <a:ext cx="3108960" cy="301752"/>
          </a:xfrm>
          <a:prstGeom prst="rect">
            <a:avLst/>
          </a:prstGeom>
          <a:noFill/>
          <a:ln/>
        </p:spPr>
        <p:txBody>
          <a:bodyPr wrap="square" lIns="0" tIns="0" rIns="0" bIns="0" rtlCol="0" anchor="ctr"/>
          <a:lstStyle/>
          <a:p>
            <a:pPr indent="0" marL="0">
              <a:buNone/>
            </a:pPr>
            <a:r>
              <a:rPr lang="en-US" sz="1400" b="1" dirty="0">
                <a:solidFill>
                  <a:srgbClr val="00C2A8"/>
                </a:solidFill>
                <a:latin typeface="Calibri" pitchFamily="34" charset="0"/>
                <a:ea typeface="Calibri" pitchFamily="34" charset="-122"/>
                <a:cs typeface="Calibri" pitchFamily="34" charset="-120"/>
              </a:rPr>
              <a:t>3. Leave-one-subject-out</a:t>
            </a:r>
            <a:endParaRPr lang="en-US" sz="1400" dirty="0"/>
          </a:p>
        </p:txBody>
      </p:sp>
      <p:sp>
        <p:nvSpPr>
          <p:cNvPr id="14" name="Text 12"/>
          <p:cNvSpPr txBox="1"/>
          <p:nvPr/>
        </p:nvSpPr>
        <p:spPr>
          <a:xfrm>
            <a:off x="8302752" y="2468880"/>
            <a:ext cx="3108960" cy="457200"/>
          </a:xfrm>
          <a:prstGeom prst="rect">
            <a:avLst/>
          </a:prstGeom>
          <a:noFill/>
          <a:ln/>
        </p:spPr>
        <p:txBody>
          <a:bodyPr wrap="square" lIns="0" tIns="0" rIns="0" bIns="0" rtlCol="0" anchor="ctr"/>
          <a:lstStyle/>
          <a:p>
            <a:pPr indent="0" marL="0">
              <a:buNone/>
            </a:pPr>
            <a:r>
              <a:rPr lang="en-US" sz="1150" i="1" dirty="0">
                <a:solidFill>
                  <a:srgbClr val="FFFFFF"/>
                </a:solidFill>
                <a:latin typeface="Calibri" pitchFamily="34" charset="0"/>
                <a:ea typeface="Calibri" pitchFamily="34" charset="-122"/>
                <a:cs typeface="Calibri" pitchFamily="34" charset="-120"/>
              </a:rPr>
              <a:t>Train on 9, test on the 10th</a:t>
            </a:r>
            <a:endParaRPr lang="en-US" sz="1150" dirty="0"/>
          </a:p>
        </p:txBody>
      </p:sp>
      <p:sp>
        <p:nvSpPr>
          <p:cNvPr id="15" name="Text 13"/>
          <p:cNvSpPr txBox="1"/>
          <p:nvPr/>
        </p:nvSpPr>
        <p:spPr>
          <a:xfrm>
            <a:off x="8302752" y="2944368"/>
            <a:ext cx="3108960" cy="1051560"/>
          </a:xfrm>
          <a:prstGeom prst="rect">
            <a:avLst/>
          </a:prstGeom>
          <a:noFill/>
          <a:ln/>
        </p:spPr>
        <p:txBody>
          <a:bodyPr wrap="square" lIns="0" tIns="0" rIns="0" bIns="0" rtlCol="0" anchor="ctr"/>
          <a:lstStyle/>
          <a:p>
            <a:pPr indent="0" marL="0">
              <a:buNone/>
            </a:pPr>
            <a:r>
              <a:rPr lang="en-US" sz="1150" dirty="0">
                <a:solidFill>
                  <a:srgbClr val="D6E6EA"/>
                </a:solidFill>
                <a:latin typeface="Calibri" pitchFamily="34" charset="0"/>
                <a:ea typeface="Calibri" pitchFamily="34" charset="-122"/>
                <a:cs typeface="Calibri" pitchFamily="34" charset="-120"/>
              </a:rPr>
              <a:t>The deployment case: a brand-new patient. (Not completed - we do not claim it.)</a:t>
            </a:r>
            <a:endParaRPr lang="en-US" sz="1150" dirty="0"/>
          </a:p>
        </p:txBody>
      </p:sp>
      <p:sp>
        <p:nvSpPr>
          <p:cNvPr id="16" name="Shape 14"/>
          <p:cNvSpPr/>
          <p:nvPr/>
        </p:nvSpPr>
        <p:spPr>
          <a:xfrm>
            <a:off x="548640" y="4434840"/>
            <a:ext cx="11094415" cy="1143000"/>
          </a:xfrm>
          <a:prstGeom prst="roundRect">
            <a:avLst>
              <a:gd name="adj" fmla="val 4000"/>
            </a:avLst>
          </a:prstGeom>
          <a:solidFill>
            <a:srgbClr val="FBEFEF"/>
          </a:solidFill>
          <a:ln w="12700">
            <a:solidFill>
              <a:srgbClr val="FBEFEF"/>
            </a:solidFill>
            <a:prstDash val="solid"/>
          </a:ln>
        </p:spPr>
      </p:sp>
      <p:sp>
        <p:nvSpPr>
          <p:cNvPr id="17" name="Text 15"/>
          <p:cNvSpPr txBox="1"/>
          <p:nvPr/>
        </p:nvSpPr>
        <p:spPr>
          <a:xfrm>
            <a:off x="822960" y="4636008"/>
            <a:ext cx="10545775" cy="777240"/>
          </a:xfrm>
          <a:prstGeom prst="rect">
            <a:avLst/>
          </a:prstGeom>
          <a:noFill/>
          <a:ln/>
        </p:spPr>
        <p:txBody>
          <a:bodyPr wrap="square" lIns="0" tIns="0" rIns="0" bIns="0" rtlCol="0" anchor="ctr"/>
          <a:lstStyle/>
          <a:p>
            <a:pPr indent="0" marL="0">
              <a:buNone/>
            </a:pPr>
            <a:r>
              <a:rPr lang="en-US" sz="1350" dirty="0">
                <a:solidFill>
                  <a:srgbClr val="0B2F3A"/>
                </a:solidFill>
                <a:latin typeface="Calibri" pitchFamily="34" charset="0"/>
                <a:ea typeface="Calibri" pitchFamily="34" charset="-122"/>
                <a:cs typeface="Calibri" pitchFamily="34" charset="-120"/>
              </a:rPr>
              <a:t>A 2026 study re-tested five published PPG-glucose methods this way. The best scored R-squared 0.60 under random splitting and -0.08 under participant-aware splitting - no better than guessing the mean.</a:t>
            </a:r>
            <a:endParaRPr lang="en-US" sz="1350" dirty="0"/>
          </a:p>
        </p:txBody>
      </p:sp>
      <p:sp>
        <p:nvSpPr>
          <p:cNvPr id="18" name="Text 16"/>
          <p:cNvSpPr txBox="1"/>
          <p:nvPr/>
        </p:nvSpPr>
        <p:spPr>
          <a:xfrm>
            <a:off x="548640" y="6291072"/>
            <a:ext cx="11094415" cy="320040"/>
          </a:xfrm>
          <a:prstGeom prst="rect">
            <a:avLst/>
          </a:prstGeom>
          <a:noFill/>
          <a:ln/>
        </p:spPr>
        <p:txBody>
          <a:bodyPr wrap="square" lIns="0" tIns="0" rIns="0" bIns="0" rtlCol="0" anchor="ctr"/>
          <a:lstStyle/>
          <a:p>
            <a:pPr indent="0" marL="0">
              <a:buNone/>
            </a:pPr>
            <a:r>
              <a:rPr lang="en-US" sz="1050" i="1" dirty="0">
                <a:solidFill>
                  <a:srgbClr val="5A6B72"/>
                </a:solidFill>
                <a:latin typeface="Calibri" pitchFamily="34" charset="0"/>
                <a:ea typeface="Calibri" pitchFamily="34" charset="-122"/>
                <a:cs typeface="Calibri" pitchFamily="34" charset="-120"/>
              </a:rPr>
              <a:t>Reassessing the Feasibility of PPG-Based Non-Invasive Blood Glucose Level Estimation, arXiv:2608.01820 (2026).</a:t>
            </a:r>
            <a:endParaRPr lang="en-US" sz="10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84048"/>
            <a:ext cx="11094415" cy="868680"/>
          </a:xfrm>
          <a:prstGeom prst="rect">
            <a:avLst/>
          </a:prstGeom>
          <a:noFill/>
          <a:ln/>
        </p:spPr>
        <p:txBody>
          <a:bodyPr wrap="square" rtlCol="0" anchor="t"/>
          <a:lstStyle/>
          <a:p>
            <a:pPr indent="0" marL="0">
              <a:buNone/>
            </a:pPr>
            <a:r>
              <a:rPr lang="en-US" sz="2700" b="1" dirty="0">
                <a:solidFill>
                  <a:srgbClr val="0B2F3A"/>
                </a:solidFill>
                <a:latin typeface="Cambria" pitchFamily="34" charset="0"/>
                <a:ea typeface="Cambria" pitchFamily="34" charset="-122"/>
                <a:cs typeface="Cambria" pitchFamily="34" charset="-120"/>
              </a:rPr>
              <a:t>Our result: honest splits put every method behind the baseline</a:t>
            </a:r>
            <a:endParaRPr lang="en-US" sz="2700" dirty="0"/>
          </a:p>
        </p:txBody>
      </p:sp>
      <p:graphicFrame>
        <p:nvGraphicFramePr>
          <p:cNvPr id="9" name="Table 0"/>
          <p:cNvGraphicFramePr>
            <a:graphicFrameLocks noGrp="1"/>
          </p:cNvGraphicFramePr>
          <p:nvPr>
            <p:extLst>
              <p:ext uri="{D42A27DB-BD31-4B8C-83A1-F6EECF244321}">
                <p14:modId xmlns:p14="http://schemas.microsoft.com/office/powerpoint/2010/main" val="1579011935"/>
              </p:ext>
            </p:extLst>
          </p:nvPr>
        </p:nvGraphicFramePr>
        <p:xfrm>
          <a:off x="548640" y="1417320"/>
          <a:ext cx="6949440" cy="914400"/>
        </p:xfrm>
        <a:graphic>
          <a:graphicData uri="http://schemas.openxmlformats.org/drawingml/2006/table">
            <a:tbl>
              <a:tblPr/>
              <a:tblGrid>
                <a:gridCol w="2286000"/>
                <a:gridCol w="1463040"/>
                <a:gridCol w="1691640"/>
                <a:gridCol w="1508760"/>
              </a:tblGrid>
              <a:tr h="301752">
                <a:tc>
                  <a:txBody>
                    <a:bodyPr/>
                    <a:lstStyle/>
                    <a:p>
                      <a:pPr algn="l" indent="0" marL="0">
                        <a:buNone/>
                      </a:pPr>
                      <a:endParaRPr lang="en-US" sz="1150" dirty="0">
                        <a:latin typeface="Calibri" charset="0"/>
                        <a:ea typeface="Calibri" charset="0"/>
                        <a:cs typeface="Calibri" charset="0"/>
                      </a:endParaRPr>
                    </a:p>
                  </a:txBody>
                  <a:tcPr marL="91440" marR="91440" marT="45720" marB="45720" anchor="ctr">
                    <a:lnL w="6350" cap="flat" cmpd="sng" algn="ctr">
                      <a:solidFill>
                        <a:srgbClr val="D5E2E6"/>
                      </a:solidFill>
                      <a:prstDash val="solid"/>
                      <a:round/>
                      <a:headEnd type="none" w="med" len="med"/>
                      <a:tailEnd type="none" w="med" len="med"/>
                    </a:lnL>
                    <a:lnR w="6350" cap="flat" cmpd="sng" algn="ctr">
                      <a:solidFill>
                        <a:srgbClr val="D5E2E6"/>
                      </a:solidFill>
                      <a:prstDash val="solid"/>
                      <a:round/>
                      <a:headEnd type="none" w="med" len="med"/>
                      <a:tailEnd type="none" w="med" len="med"/>
                    </a:lnR>
                    <a:lnT w="6350" cap="flat" cmpd="sng" algn="ctr">
                      <a:solidFill>
                        <a:srgbClr val="D5E2E6"/>
                      </a:solidFill>
                      <a:prstDash val="solid"/>
                      <a:round/>
                      <a:headEnd type="none" w="med" len="med"/>
                      <a:tailEnd type="none" w="med" len="med"/>
                    </a:lnT>
                    <a:lnB w="6350" cap="flat" cmpd="sng" algn="ctr">
                      <a:solidFill>
                        <a:srgbClr val="D5E2E6"/>
                      </a:solidFill>
                      <a:prstDash val="solid"/>
                      <a:round/>
                      <a:headEnd type="none" w="med" len="med"/>
                      <a:tailEnd type="none" w="med" len="med"/>
                    </a:lnB>
                    <a:solidFill>
                      <a:srgbClr val="0B2F3A"/>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Random</a:t>
                      </a:r>
                      <a:endParaRPr lang="en-US" sz="1150" dirty="0">
                        <a:latin typeface="Calibri" charset="0"/>
                        <a:ea typeface="Calibri" charset="0"/>
                        <a:cs typeface="Calibri" charset="0"/>
                      </a:endParaRPr>
                    </a:p>
                  </a:txBody>
                  <a:tcPr marL="91440" marR="91440" marT="45720" marB="45720" anchor="ctr">
                    <a:lnL w="6350" cap="flat" cmpd="sng" algn="ctr">
                      <a:solidFill>
                        <a:srgbClr val="D5E2E6"/>
                      </a:solidFill>
                      <a:prstDash val="solid"/>
                      <a:round/>
                      <a:headEnd type="none" w="med" len="med"/>
                      <a:tailEnd type="none" w="med" len="med"/>
                    </a:lnL>
                    <a:lnR w="6350" cap="flat" cmpd="sng" algn="ctr">
                      <a:solidFill>
                        <a:srgbClr val="D5E2E6"/>
                      </a:solidFill>
                      <a:prstDash val="solid"/>
                      <a:round/>
                      <a:headEnd type="none" w="med" len="med"/>
                      <a:tailEnd type="none" w="med" len="med"/>
                    </a:lnR>
                    <a:lnT w="6350" cap="flat" cmpd="sng" algn="ctr">
                      <a:solidFill>
                        <a:srgbClr val="D5E2E6"/>
                      </a:solidFill>
                      <a:prstDash val="solid"/>
                      <a:round/>
                      <a:headEnd type="none" w="med" len="med"/>
                      <a:tailEnd type="none" w="med" len="med"/>
                    </a:lnT>
                    <a:lnB w="6350" cap="flat" cmpd="sng" algn="ctr">
                      <a:solidFill>
                        <a:srgbClr val="D5E2E6"/>
                      </a:solidFill>
                      <a:prstDash val="solid"/>
                      <a:round/>
                      <a:headEnd type="none" w="med" len="med"/>
                      <a:tailEnd type="none" w="med" len="med"/>
                    </a:lnB>
                    <a:solidFill>
                      <a:srgbClr val="0B2F3A"/>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Subject-aware</a:t>
                      </a:r>
                      <a:endParaRPr lang="en-US" sz="1150" dirty="0">
                        <a:latin typeface="Calibri" charset="0"/>
                        <a:ea typeface="Calibri" charset="0"/>
                        <a:cs typeface="Calibri" charset="0"/>
                      </a:endParaRPr>
                    </a:p>
                  </a:txBody>
                  <a:tcPr marL="91440" marR="91440" marT="45720" marB="45720" anchor="ctr">
                    <a:lnL w="6350" cap="flat" cmpd="sng" algn="ctr">
                      <a:solidFill>
                        <a:srgbClr val="D5E2E6"/>
                      </a:solidFill>
                      <a:prstDash val="solid"/>
                      <a:round/>
                      <a:headEnd type="none" w="med" len="med"/>
                      <a:tailEnd type="none" w="med" len="med"/>
                    </a:lnL>
                    <a:lnR w="6350" cap="flat" cmpd="sng" algn="ctr">
                      <a:solidFill>
                        <a:srgbClr val="D5E2E6"/>
                      </a:solidFill>
                      <a:prstDash val="solid"/>
                      <a:round/>
                      <a:headEnd type="none" w="med" len="med"/>
                      <a:tailEnd type="none" w="med" len="med"/>
                    </a:lnR>
                    <a:lnT w="6350" cap="flat" cmpd="sng" algn="ctr">
                      <a:solidFill>
                        <a:srgbClr val="D5E2E6"/>
                      </a:solidFill>
                      <a:prstDash val="solid"/>
                      <a:round/>
                      <a:headEnd type="none" w="med" len="med"/>
                      <a:tailEnd type="none" w="med" len="med"/>
                    </a:lnT>
                    <a:lnB w="6350" cap="flat" cmpd="sng" algn="ctr">
                      <a:solidFill>
                        <a:srgbClr val="D5E2E6"/>
                      </a:solidFill>
                      <a:prstDash val="solid"/>
                      <a:round/>
                      <a:headEnd type="none" w="med" len="med"/>
                      <a:tailEnd type="none" w="med" len="med"/>
                    </a:lnB>
                    <a:solidFill>
                      <a:srgbClr val="0B2F3A"/>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Leave-one-out</a:t>
                      </a:r>
                      <a:endParaRPr lang="en-US" sz="1150" dirty="0">
                        <a:latin typeface="Calibri" charset="0"/>
                        <a:ea typeface="Calibri" charset="0"/>
                        <a:cs typeface="Calibri" charset="0"/>
                      </a:endParaRPr>
                    </a:p>
                  </a:txBody>
                  <a:tcPr marL="91440" marR="91440" marT="45720" marB="45720" anchor="ctr">
                    <a:lnL w="6350" cap="flat" cmpd="sng" algn="ctr">
                      <a:solidFill>
                        <a:srgbClr val="D5E2E6"/>
                      </a:solidFill>
                      <a:prstDash val="solid"/>
                      <a:round/>
                      <a:headEnd type="none" w="med" len="med"/>
                      <a:tailEnd type="none" w="med" len="med"/>
                    </a:lnL>
                    <a:lnR w="6350" cap="flat" cmpd="sng" algn="ctr">
                      <a:solidFill>
                        <a:srgbClr val="D5E2E6"/>
                      </a:solidFill>
                      <a:prstDash val="solid"/>
                      <a:round/>
                      <a:headEnd type="none" w="med" len="med"/>
                      <a:tailEnd type="none" w="med" len="med"/>
                    </a:lnR>
                    <a:lnT w="6350" cap="flat" cmpd="sng" algn="ctr">
                      <a:solidFill>
                        <a:srgbClr val="D5E2E6"/>
                      </a:solidFill>
                      <a:prstDash val="solid"/>
                      <a:round/>
                      <a:headEnd type="none" w="med" len="med"/>
                      <a:tailEnd type="none" w="med" len="med"/>
                    </a:lnT>
                    <a:lnB w="6350" cap="flat" cmpd="sng" algn="ctr">
                      <a:solidFill>
                        <a:srgbClr val="D5E2E6"/>
                      </a:solidFill>
                      <a:prstDash val="solid"/>
                      <a:round/>
                      <a:headEnd type="none" w="med" len="med"/>
                      <a:tailEnd type="none" w="med" len="med"/>
                    </a:lnB>
                    <a:solidFill>
                      <a:srgbClr val="0B2F3A"/>
                    </a:solidFill>
                  </a:tcPr>
                </a:tc>
              </a:tr>
              <a:tr h="301752">
                <a:tc>
                  <a:txBody>
                    <a:bodyPr/>
                    <a:lstStyle/>
                    <a:p>
                      <a:pPr algn="l" indent="0" marL="0">
                        <a:buNone/>
                      </a:pPr>
                      <a:r>
                        <a:rPr lang="en-US" sz="1150" dirty="0">
                          <a:solidFill>
                            <a:srgbClr val="0B2F3A"/>
                          </a:solidFill>
                          <a:latin typeface="Calibri" pitchFamily="34" charset="0"/>
                          <a:ea typeface="Calibri" pitchFamily="34" charset="-122"/>
                          <a:cs typeface="Calibri" pitchFamily="34" charset="-120"/>
                        </a:rPr>
                        <a:t>Best single model (R2)</a:t>
                      </a:r>
                      <a:endParaRPr lang="en-US" sz="1150" dirty="0">
                        <a:latin typeface="Calibri" charset="0"/>
                        <a:ea typeface="Calibri" charset="0"/>
                        <a:cs typeface="Calibri" charset="0"/>
                      </a:endParaRPr>
                    </a:p>
                  </a:txBody>
                  <a:tcPr marL="91440" marR="91440" marT="45720" marB="45720" anchor="ctr">
                    <a:lnL w="6350" cap="flat" cmpd="sng" algn="ctr">
                      <a:solidFill>
                        <a:srgbClr val="D5E2E6"/>
                      </a:solidFill>
                      <a:prstDash val="solid"/>
                      <a:round/>
                      <a:headEnd type="none" w="med" len="med"/>
                      <a:tailEnd type="none" w="med" len="med"/>
                    </a:lnL>
                    <a:lnR w="6350" cap="flat" cmpd="sng" algn="ctr">
                      <a:solidFill>
                        <a:srgbClr val="D5E2E6"/>
                      </a:solidFill>
                      <a:prstDash val="solid"/>
                      <a:round/>
                      <a:headEnd type="none" w="med" len="med"/>
                      <a:tailEnd type="none" w="med" len="med"/>
                    </a:lnR>
                    <a:lnT w="6350" cap="flat" cmpd="sng" algn="ctr">
                      <a:solidFill>
                        <a:srgbClr val="D5E2E6"/>
                      </a:solidFill>
                      <a:prstDash val="solid"/>
                      <a:round/>
                      <a:headEnd type="none" w="med" len="med"/>
                      <a:tailEnd type="none" w="med" len="med"/>
                    </a:lnT>
                    <a:lnB w="6350" cap="flat" cmpd="sng" algn="ctr">
                      <a:solidFill>
                        <a:srgbClr val="D5E2E6"/>
                      </a:solidFill>
                      <a:prstDash val="solid"/>
                      <a:round/>
                      <a:headEnd type="none" w="med" len="med"/>
                      <a:tailEnd type="none" w="med" len="med"/>
                    </a:lnB>
                    <a:solidFill>
                      <a:srgbClr val="FFFFFF"/>
                    </a:solidFill>
                  </a:tcPr>
                </a:tc>
                <a:tc>
                  <a:txBody>
                    <a:bodyPr/>
                    <a:lstStyle/>
                    <a:p>
                      <a:pPr algn="l" indent="0" marL="0">
                        <a:buNone/>
                      </a:pPr>
                      <a:r>
                        <a:rPr lang="en-US" sz="1150" dirty="0">
                          <a:solidFill>
                            <a:srgbClr val="0B2F3A"/>
                          </a:solidFill>
                          <a:latin typeface="Calibri" pitchFamily="34" charset="0"/>
                          <a:ea typeface="Calibri" pitchFamily="34" charset="-122"/>
                          <a:cs typeface="Calibri" pitchFamily="34" charset="-120"/>
                        </a:rPr>
                        <a:t>+0.194</a:t>
                      </a:r>
                      <a:endParaRPr lang="en-US" sz="1150" dirty="0">
                        <a:latin typeface="Calibri" charset="0"/>
                        <a:ea typeface="Calibri" charset="0"/>
                        <a:cs typeface="Calibri" charset="0"/>
                      </a:endParaRPr>
                    </a:p>
                  </a:txBody>
                  <a:tcPr marL="91440" marR="91440" marT="45720" marB="45720" anchor="ctr">
                    <a:lnL w="6350" cap="flat" cmpd="sng" algn="ctr">
                      <a:solidFill>
                        <a:srgbClr val="D5E2E6"/>
                      </a:solidFill>
                      <a:prstDash val="solid"/>
                      <a:round/>
                      <a:headEnd type="none" w="med" len="med"/>
                      <a:tailEnd type="none" w="med" len="med"/>
                    </a:lnL>
                    <a:lnR w="6350" cap="flat" cmpd="sng" algn="ctr">
                      <a:solidFill>
                        <a:srgbClr val="D5E2E6"/>
                      </a:solidFill>
                      <a:prstDash val="solid"/>
                      <a:round/>
                      <a:headEnd type="none" w="med" len="med"/>
                      <a:tailEnd type="none" w="med" len="med"/>
                    </a:lnR>
                    <a:lnT w="6350" cap="flat" cmpd="sng" algn="ctr">
                      <a:solidFill>
                        <a:srgbClr val="D5E2E6"/>
                      </a:solidFill>
                      <a:prstDash val="solid"/>
                      <a:round/>
                      <a:headEnd type="none" w="med" len="med"/>
                      <a:tailEnd type="none" w="med" len="med"/>
                    </a:lnT>
                    <a:lnB w="6350" cap="flat" cmpd="sng" algn="ctr">
                      <a:solidFill>
                        <a:srgbClr val="D5E2E6"/>
                      </a:solidFill>
                      <a:prstDash val="solid"/>
                      <a:round/>
                      <a:headEnd type="none" w="med" len="med"/>
                      <a:tailEnd type="none" w="med" len="med"/>
                    </a:lnB>
                    <a:solidFill>
                      <a:srgbClr val="FFFFFF"/>
                    </a:solidFill>
                  </a:tcPr>
                </a:tc>
                <a:tc>
                  <a:txBody>
                    <a:bodyPr/>
                    <a:lstStyle/>
                    <a:p>
                      <a:pPr algn="l" indent="0" marL="0">
                        <a:buNone/>
                      </a:pPr>
                      <a:r>
                        <a:rPr lang="en-US" sz="1150" dirty="0">
                          <a:solidFill>
                            <a:srgbClr val="0B2F3A"/>
                          </a:solidFill>
                          <a:latin typeface="Calibri" pitchFamily="34" charset="0"/>
                          <a:ea typeface="Calibri" pitchFamily="34" charset="-122"/>
                          <a:cs typeface="Calibri" pitchFamily="34" charset="-120"/>
                        </a:rPr>
                        <a:t>-0.243</a:t>
                      </a:r>
                      <a:endParaRPr lang="en-US" sz="1150" dirty="0">
                        <a:latin typeface="Calibri" charset="0"/>
                        <a:ea typeface="Calibri" charset="0"/>
                        <a:cs typeface="Calibri" charset="0"/>
                      </a:endParaRPr>
                    </a:p>
                  </a:txBody>
                  <a:tcPr marL="91440" marR="91440" marT="45720" marB="45720" anchor="ctr">
                    <a:lnL w="6350" cap="flat" cmpd="sng" algn="ctr">
                      <a:solidFill>
                        <a:srgbClr val="D5E2E6"/>
                      </a:solidFill>
                      <a:prstDash val="solid"/>
                      <a:round/>
                      <a:headEnd type="none" w="med" len="med"/>
                      <a:tailEnd type="none" w="med" len="med"/>
                    </a:lnL>
                    <a:lnR w="6350" cap="flat" cmpd="sng" algn="ctr">
                      <a:solidFill>
                        <a:srgbClr val="D5E2E6"/>
                      </a:solidFill>
                      <a:prstDash val="solid"/>
                      <a:round/>
                      <a:headEnd type="none" w="med" len="med"/>
                      <a:tailEnd type="none" w="med" len="med"/>
                    </a:lnR>
                    <a:lnT w="6350" cap="flat" cmpd="sng" algn="ctr">
                      <a:solidFill>
                        <a:srgbClr val="D5E2E6"/>
                      </a:solidFill>
                      <a:prstDash val="solid"/>
                      <a:round/>
                      <a:headEnd type="none" w="med" len="med"/>
                      <a:tailEnd type="none" w="med" len="med"/>
                    </a:lnT>
                    <a:lnB w="6350" cap="flat" cmpd="sng" algn="ctr">
                      <a:solidFill>
                        <a:srgbClr val="D5E2E6"/>
                      </a:solidFill>
                      <a:prstDash val="solid"/>
                      <a:round/>
                      <a:headEnd type="none" w="med" len="med"/>
                      <a:tailEnd type="none" w="med" len="med"/>
                    </a:lnB>
                    <a:solidFill>
                      <a:srgbClr val="FFFFFF"/>
                    </a:solidFill>
                  </a:tcPr>
                </a:tc>
                <a:tc>
                  <a:txBody>
                    <a:bodyPr/>
                    <a:lstStyle/>
                    <a:p>
                      <a:pPr algn="l" indent="0" marL="0">
                        <a:buNone/>
                      </a:pPr>
                      <a:r>
                        <a:rPr lang="en-US" sz="1150" dirty="0">
                          <a:solidFill>
                            <a:srgbClr val="0B2F3A"/>
                          </a:solidFill>
                          <a:latin typeface="Calibri" pitchFamily="34" charset="0"/>
                          <a:ea typeface="Calibri" pitchFamily="34" charset="-122"/>
                          <a:cs typeface="Calibri" pitchFamily="34" charset="-120"/>
                        </a:rPr>
                        <a:t>-0.092</a:t>
                      </a:r>
                      <a:endParaRPr lang="en-US" sz="1150" dirty="0">
                        <a:latin typeface="Calibri" charset="0"/>
                        <a:ea typeface="Calibri" charset="0"/>
                        <a:cs typeface="Calibri" charset="0"/>
                      </a:endParaRPr>
                    </a:p>
                  </a:txBody>
                  <a:tcPr marL="91440" marR="91440" marT="45720" marB="45720" anchor="ctr">
                    <a:lnL w="6350" cap="flat" cmpd="sng" algn="ctr">
                      <a:solidFill>
                        <a:srgbClr val="D5E2E6"/>
                      </a:solidFill>
                      <a:prstDash val="solid"/>
                      <a:round/>
                      <a:headEnd type="none" w="med" len="med"/>
                      <a:tailEnd type="none" w="med" len="med"/>
                    </a:lnL>
                    <a:lnR w="6350" cap="flat" cmpd="sng" algn="ctr">
                      <a:solidFill>
                        <a:srgbClr val="D5E2E6"/>
                      </a:solidFill>
                      <a:prstDash val="solid"/>
                      <a:round/>
                      <a:headEnd type="none" w="med" len="med"/>
                      <a:tailEnd type="none" w="med" len="med"/>
                    </a:lnR>
                    <a:lnT w="6350" cap="flat" cmpd="sng" algn="ctr">
                      <a:solidFill>
                        <a:srgbClr val="D5E2E6"/>
                      </a:solidFill>
                      <a:prstDash val="solid"/>
                      <a:round/>
                      <a:headEnd type="none" w="med" len="med"/>
                      <a:tailEnd type="none" w="med" len="med"/>
                    </a:lnT>
                    <a:lnB w="6350" cap="flat" cmpd="sng" algn="ctr">
                      <a:solidFill>
                        <a:srgbClr val="D5E2E6"/>
                      </a:solidFill>
                      <a:prstDash val="solid"/>
                      <a:round/>
                      <a:headEnd type="none" w="med" len="med"/>
                      <a:tailEnd type="none" w="med" len="med"/>
                    </a:lnB>
                    <a:solidFill>
                      <a:srgbClr val="FFFFFF"/>
                    </a:solidFill>
                  </a:tcPr>
                </a:tc>
              </a:tr>
              <a:tr h="301752">
                <a:tc>
                  <a:txBody>
                    <a:bodyPr/>
                    <a:lstStyle/>
                    <a:p>
                      <a:pPr algn="l" indent="0" marL="0">
                        <a:buNone/>
                      </a:pPr>
                      <a:r>
                        <a:rPr lang="en-US" sz="1150" dirty="0">
                          <a:solidFill>
                            <a:srgbClr val="0B2F3A"/>
                          </a:solidFill>
                          <a:latin typeface="Calibri" pitchFamily="34" charset="0"/>
                          <a:ea typeface="Calibri" pitchFamily="34" charset="-122"/>
                          <a:cs typeface="Calibri" pitchFamily="34" charset="-120"/>
                        </a:rPr>
                        <a:t>Choquet fusion (R2)</a:t>
                      </a:r>
                      <a:endParaRPr lang="en-US" sz="1150" dirty="0">
                        <a:latin typeface="Calibri" charset="0"/>
                        <a:ea typeface="Calibri" charset="0"/>
                        <a:cs typeface="Calibri" charset="0"/>
                      </a:endParaRPr>
                    </a:p>
                  </a:txBody>
                  <a:tcPr marL="91440" marR="91440" marT="45720" marB="45720" anchor="ctr">
                    <a:lnL w="6350" cap="flat" cmpd="sng" algn="ctr">
                      <a:solidFill>
                        <a:srgbClr val="D5E2E6"/>
                      </a:solidFill>
                      <a:prstDash val="solid"/>
                      <a:round/>
                      <a:headEnd type="none" w="med" len="med"/>
                      <a:tailEnd type="none" w="med" len="med"/>
                    </a:lnL>
                    <a:lnR w="6350" cap="flat" cmpd="sng" algn="ctr">
                      <a:solidFill>
                        <a:srgbClr val="D5E2E6"/>
                      </a:solidFill>
                      <a:prstDash val="solid"/>
                      <a:round/>
                      <a:headEnd type="none" w="med" len="med"/>
                      <a:tailEnd type="none" w="med" len="med"/>
                    </a:lnR>
                    <a:lnT w="6350" cap="flat" cmpd="sng" algn="ctr">
                      <a:solidFill>
                        <a:srgbClr val="D5E2E6"/>
                      </a:solidFill>
                      <a:prstDash val="solid"/>
                      <a:round/>
                      <a:headEnd type="none" w="med" len="med"/>
                      <a:tailEnd type="none" w="med" len="med"/>
                    </a:lnT>
                    <a:lnB w="6350" cap="flat" cmpd="sng" algn="ctr">
                      <a:solidFill>
                        <a:srgbClr val="D5E2E6"/>
                      </a:solidFill>
                      <a:prstDash val="solid"/>
                      <a:round/>
                      <a:headEnd type="none" w="med" len="med"/>
                      <a:tailEnd type="none" w="med" len="med"/>
                    </a:lnB>
                    <a:solidFill>
                      <a:srgbClr val="EAF2F4"/>
                    </a:solidFill>
                  </a:tcPr>
                </a:tc>
                <a:tc>
                  <a:txBody>
                    <a:bodyPr/>
                    <a:lstStyle/>
                    <a:p>
                      <a:pPr algn="l" indent="0" marL="0">
                        <a:buNone/>
                      </a:pPr>
                      <a:r>
                        <a:rPr lang="en-US" sz="1150" dirty="0">
                          <a:solidFill>
                            <a:srgbClr val="0B2F3A"/>
                          </a:solidFill>
                          <a:latin typeface="Calibri" pitchFamily="34" charset="0"/>
                          <a:ea typeface="Calibri" pitchFamily="34" charset="-122"/>
                          <a:cs typeface="Calibri" pitchFamily="34" charset="-120"/>
                        </a:rPr>
                        <a:t>+0.149</a:t>
                      </a:r>
                      <a:endParaRPr lang="en-US" sz="1150" dirty="0">
                        <a:latin typeface="Calibri" charset="0"/>
                        <a:ea typeface="Calibri" charset="0"/>
                        <a:cs typeface="Calibri" charset="0"/>
                      </a:endParaRPr>
                    </a:p>
                  </a:txBody>
                  <a:tcPr marL="91440" marR="91440" marT="45720" marB="45720" anchor="ctr">
                    <a:lnL w="6350" cap="flat" cmpd="sng" algn="ctr">
                      <a:solidFill>
                        <a:srgbClr val="D5E2E6"/>
                      </a:solidFill>
                      <a:prstDash val="solid"/>
                      <a:round/>
                      <a:headEnd type="none" w="med" len="med"/>
                      <a:tailEnd type="none" w="med" len="med"/>
                    </a:lnL>
                    <a:lnR w="6350" cap="flat" cmpd="sng" algn="ctr">
                      <a:solidFill>
                        <a:srgbClr val="D5E2E6"/>
                      </a:solidFill>
                      <a:prstDash val="solid"/>
                      <a:round/>
                      <a:headEnd type="none" w="med" len="med"/>
                      <a:tailEnd type="none" w="med" len="med"/>
                    </a:lnR>
                    <a:lnT w="6350" cap="flat" cmpd="sng" algn="ctr">
                      <a:solidFill>
                        <a:srgbClr val="D5E2E6"/>
                      </a:solidFill>
                      <a:prstDash val="solid"/>
                      <a:round/>
                      <a:headEnd type="none" w="med" len="med"/>
                      <a:tailEnd type="none" w="med" len="med"/>
                    </a:lnT>
                    <a:lnB w="6350" cap="flat" cmpd="sng" algn="ctr">
                      <a:solidFill>
                        <a:srgbClr val="D5E2E6"/>
                      </a:solidFill>
                      <a:prstDash val="solid"/>
                      <a:round/>
                      <a:headEnd type="none" w="med" len="med"/>
                      <a:tailEnd type="none" w="med" len="med"/>
                    </a:lnB>
                    <a:solidFill>
                      <a:srgbClr val="EAF2F4"/>
                    </a:solidFill>
                  </a:tcPr>
                </a:tc>
                <a:tc>
                  <a:txBody>
                    <a:bodyPr/>
                    <a:lstStyle/>
                    <a:p>
                      <a:pPr algn="l" indent="0" marL="0">
                        <a:buNone/>
                      </a:pPr>
                      <a:r>
                        <a:rPr lang="en-US" sz="1150" dirty="0">
                          <a:solidFill>
                            <a:srgbClr val="0B2F3A"/>
                          </a:solidFill>
                          <a:latin typeface="Calibri" pitchFamily="34" charset="0"/>
                          <a:ea typeface="Calibri" pitchFamily="34" charset="-122"/>
                          <a:cs typeface="Calibri" pitchFamily="34" charset="-120"/>
                        </a:rPr>
                        <a:t>-0.223</a:t>
                      </a:r>
                      <a:endParaRPr lang="en-US" sz="1150" dirty="0">
                        <a:latin typeface="Calibri" charset="0"/>
                        <a:ea typeface="Calibri" charset="0"/>
                        <a:cs typeface="Calibri" charset="0"/>
                      </a:endParaRPr>
                    </a:p>
                  </a:txBody>
                  <a:tcPr marL="91440" marR="91440" marT="45720" marB="45720" anchor="ctr">
                    <a:lnL w="6350" cap="flat" cmpd="sng" algn="ctr">
                      <a:solidFill>
                        <a:srgbClr val="D5E2E6"/>
                      </a:solidFill>
                      <a:prstDash val="solid"/>
                      <a:round/>
                      <a:headEnd type="none" w="med" len="med"/>
                      <a:tailEnd type="none" w="med" len="med"/>
                    </a:lnL>
                    <a:lnR w="6350" cap="flat" cmpd="sng" algn="ctr">
                      <a:solidFill>
                        <a:srgbClr val="D5E2E6"/>
                      </a:solidFill>
                      <a:prstDash val="solid"/>
                      <a:round/>
                      <a:headEnd type="none" w="med" len="med"/>
                      <a:tailEnd type="none" w="med" len="med"/>
                    </a:lnR>
                    <a:lnT w="6350" cap="flat" cmpd="sng" algn="ctr">
                      <a:solidFill>
                        <a:srgbClr val="D5E2E6"/>
                      </a:solidFill>
                      <a:prstDash val="solid"/>
                      <a:round/>
                      <a:headEnd type="none" w="med" len="med"/>
                      <a:tailEnd type="none" w="med" len="med"/>
                    </a:lnT>
                    <a:lnB w="6350" cap="flat" cmpd="sng" algn="ctr">
                      <a:solidFill>
                        <a:srgbClr val="D5E2E6"/>
                      </a:solidFill>
                      <a:prstDash val="solid"/>
                      <a:round/>
                      <a:headEnd type="none" w="med" len="med"/>
                      <a:tailEnd type="none" w="med" len="med"/>
                    </a:lnB>
                    <a:solidFill>
                      <a:srgbClr val="EAF2F4"/>
                    </a:solidFill>
                  </a:tcPr>
                </a:tc>
                <a:tc>
                  <a:txBody>
                    <a:bodyPr/>
                    <a:lstStyle/>
                    <a:p>
                      <a:pPr algn="l" indent="0" marL="0">
                        <a:buNone/>
                      </a:pPr>
                      <a:r>
                        <a:rPr lang="en-US" sz="1150" dirty="0">
                          <a:solidFill>
                            <a:srgbClr val="0B2F3A"/>
                          </a:solidFill>
                          <a:latin typeface="Calibri" pitchFamily="34" charset="0"/>
                          <a:ea typeface="Calibri" pitchFamily="34" charset="-122"/>
                          <a:cs typeface="Calibri" pitchFamily="34" charset="-120"/>
                        </a:rPr>
                        <a:t>-0.097</a:t>
                      </a:r>
                      <a:endParaRPr lang="en-US" sz="1150" dirty="0">
                        <a:latin typeface="Calibri" charset="0"/>
                        <a:ea typeface="Calibri" charset="0"/>
                        <a:cs typeface="Calibri" charset="0"/>
                      </a:endParaRPr>
                    </a:p>
                  </a:txBody>
                  <a:tcPr marL="91440" marR="91440" marT="45720" marB="45720" anchor="ctr">
                    <a:lnL w="6350" cap="flat" cmpd="sng" algn="ctr">
                      <a:solidFill>
                        <a:srgbClr val="D5E2E6"/>
                      </a:solidFill>
                      <a:prstDash val="solid"/>
                      <a:round/>
                      <a:headEnd type="none" w="med" len="med"/>
                      <a:tailEnd type="none" w="med" len="med"/>
                    </a:lnL>
                    <a:lnR w="6350" cap="flat" cmpd="sng" algn="ctr">
                      <a:solidFill>
                        <a:srgbClr val="D5E2E6"/>
                      </a:solidFill>
                      <a:prstDash val="solid"/>
                      <a:round/>
                      <a:headEnd type="none" w="med" len="med"/>
                      <a:tailEnd type="none" w="med" len="med"/>
                    </a:lnR>
                    <a:lnT w="6350" cap="flat" cmpd="sng" algn="ctr">
                      <a:solidFill>
                        <a:srgbClr val="D5E2E6"/>
                      </a:solidFill>
                      <a:prstDash val="solid"/>
                      <a:round/>
                      <a:headEnd type="none" w="med" len="med"/>
                      <a:tailEnd type="none" w="med" len="med"/>
                    </a:lnT>
                    <a:lnB w="6350" cap="flat" cmpd="sng" algn="ctr">
                      <a:solidFill>
                        <a:srgbClr val="D5E2E6"/>
                      </a:solidFill>
                      <a:prstDash val="solid"/>
                      <a:round/>
                      <a:headEnd type="none" w="med" len="med"/>
                      <a:tailEnd type="none" w="med" len="med"/>
                    </a:lnB>
                    <a:solidFill>
                      <a:srgbClr val="EAF2F4"/>
                    </a:solidFill>
                  </a:tcPr>
                </a:tc>
              </a:tr>
              <a:tr h="301752">
                <a:tc>
                  <a:txBody>
                    <a:bodyPr/>
                    <a:lstStyle/>
                    <a:p>
                      <a:pPr algn="l" indent="0" marL="0">
                        <a:buNone/>
                      </a:pPr>
                      <a:r>
                        <a:rPr lang="en-US" sz="1150" dirty="0">
                          <a:solidFill>
                            <a:srgbClr val="0B2F3A"/>
                          </a:solidFill>
                          <a:latin typeface="Calibri" pitchFamily="34" charset="0"/>
                          <a:ea typeface="Calibri" pitchFamily="34" charset="-122"/>
                          <a:cs typeface="Calibri" pitchFamily="34" charset="-120"/>
                        </a:rPr>
                        <a:t>No-skill baseline (R2)</a:t>
                      </a:r>
                      <a:endParaRPr lang="en-US" sz="1150" dirty="0">
                        <a:latin typeface="Calibri" charset="0"/>
                        <a:ea typeface="Calibri" charset="0"/>
                        <a:cs typeface="Calibri" charset="0"/>
                      </a:endParaRPr>
                    </a:p>
                  </a:txBody>
                  <a:tcPr marL="91440" marR="91440" marT="45720" marB="45720" anchor="ctr">
                    <a:lnL w="6350" cap="flat" cmpd="sng" algn="ctr">
                      <a:solidFill>
                        <a:srgbClr val="D5E2E6"/>
                      </a:solidFill>
                      <a:prstDash val="solid"/>
                      <a:round/>
                      <a:headEnd type="none" w="med" len="med"/>
                      <a:tailEnd type="none" w="med" len="med"/>
                    </a:lnL>
                    <a:lnR w="6350" cap="flat" cmpd="sng" algn="ctr">
                      <a:solidFill>
                        <a:srgbClr val="D5E2E6"/>
                      </a:solidFill>
                      <a:prstDash val="solid"/>
                      <a:round/>
                      <a:headEnd type="none" w="med" len="med"/>
                      <a:tailEnd type="none" w="med" len="med"/>
                    </a:lnR>
                    <a:lnT w="6350" cap="flat" cmpd="sng" algn="ctr">
                      <a:solidFill>
                        <a:srgbClr val="D5E2E6"/>
                      </a:solidFill>
                      <a:prstDash val="solid"/>
                      <a:round/>
                      <a:headEnd type="none" w="med" len="med"/>
                      <a:tailEnd type="none" w="med" len="med"/>
                    </a:lnT>
                    <a:lnB w="6350" cap="flat" cmpd="sng" algn="ctr">
                      <a:solidFill>
                        <a:srgbClr val="D5E2E6"/>
                      </a:solidFill>
                      <a:prstDash val="solid"/>
                      <a:round/>
                      <a:headEnd type="none" w="med" len="med"/>
                      <a:tailEnd type="none" w="med" len="med"/>
                    </a:lnB>
                    <a:solidFill>
                      <a:srgbClr val="FFFFFF"/>
                    </a:solidFill>
                  </a:tcPr>
                </a:tc>
                <a:tc>
                  <a:txBody>
                    <a:bodyPr/>
                    <a:lstStyle/>
                    <a:p>
                      <a:pPr algn="l" indent="0" marL="0">
                        <a:buNone/>
                      </a:pPr>
                      <a:r>
                        <a:rPr lang="en-US" sz="1150" dirty="0">
                          <a:solidFill>
                            <a:srgbClr val="0B2F3A"/>
                          </a:solidFill>
                          <a:latin typeface="Calibri" pitchFamily="34" charset="0"/>
                          <a:ea typeface="Calibri" pitchFamily="34" charset="-122"/>
                          <a:cs typeface="Calibri" pitchFamily="34" charset="-120"/>
                        </a:rPr>
                        <a:t>-0.000</a:t>
                      </a:r>
                      <a:endParaRPr lang="en-US" sz="1150" dirty="0">
                        <a:latin typeface="Calibri" charset="0"/>
                        <a:ea typeface="Calibri" charset="0"/>
                        <a:cs typeface="Calibri" charset="0"/>
                      </a:endParaRPr>
                    </a:p>
                  </a:txBody>
                  <a:tcPr marL="91440" marR="91440" marT="45720" marB="45720" anchor="ctr">
                    <a:lnL w="6350" cap="flat" cmpd="sng" algn="ctr">
                      <a:solidFill>
                        <a:srgbClr val="D5E2E6"/>
                      </a:solidFill>
                      <a:prstDash val="solid"/>
                      <a:round/>
                      <a:headEnd type="none" w="med" len="med"/>
                      <a:tailEnd type="none" w="med" len="med"/>
                    </a:lnL>
                    <a:lnR w="6350" cap="flat" cmpd="sng" algn="ctr">
                      <a:solidFill>
                        <a:srgbClr val="D5E2E6"/>
                      </a:solidFill>
                      <a:prstDash val="solid"/>
                      <a:round/>
                      <a:headEnd type="none" w="med" len="med"/>
                      <a:tailEnd type="none" w="med" len="med"/>
                    </a:lnR>
                    <a:lnT w="6350" cap="flat" cmpd="sng" algn="ctr">
                      <a:solidFill>
                        <a:srgbClr val="D5E2E6"/>
                      </a:solidFill>
                      <a:prstDash val="solid"/>
                      <a:round/>
                      <a:headEnd type="none" w="med" len="med"/>
                      <a:tailEnd type="none" w="med" len="med"/>
                    </a:lnT>
                    <a:lnB w="6350" cap="flat" cmpd="sng" algn="ctr">
                      <a:solidFill>
                        <a:srgbClr val="D5E2E6"/>
                      </a:solidFill>
                      <a:prstDash val="solid"/>
                      <a:round/>
                      <a:headEnd type="none" w="med" len="med"/>
                      <a:tailEnd type="none" w="med" len="med"/>
                    </a:lnB>
                    <a:solidFill>
                      <a:srgbClr val="FFFFFF"/>
                    </a:solidFill>
                  </a:tcPr>
                </a:tc>
                <a:tc>
                  <a:txBody>
                    <a:bodyPr/>
                    <a:lstStyle/>
                    <a:p>
                      <a:pPr algn="l" indent="0" marL="0">
                        <a:buNone/>
                      </a:pPr>
                      <a:r>
                        <a:rPr lang="en-US" sz="1150" dirty="0">
                          <a:solidFill>
                            <a:srgbClr val="0B2F3A"/>
                          </a:solidFill>
                          <a:latin typeface="Calibri" pitchFamily="34" charset="0"/>
                          <a:ea typeface="Calibri" pitchFamily="34" charset="-122"/>
                          <a:cs typeface="Calibri" pitchFamily="34" charset="-120"/>
                        </a:rPr>
                        <a:t>-0.074</a:t>
                      </a:r>
                      <a:endParaRPr lang="en-US" sz="1150" dirty="0">
                        <a:latin typeface="Calibri" charset="0"/>
                        <a:ea typeface="Calibri" charset="0"/>
                        <a:cs typeface="Calibri" charset="0"/>
                      </a:endParaRPr>
                    </a:p>
                  </a:txBody>
                  <a:tcPr marL="91440" marR="91440" marT="45720" marB="45720" anchor="ctr">
                    <a:lnL w="6350" cap="flat" cmpd="sng" algn="ctr">
                      <a:solidFill>
                        <a:srgbClr val="D5E2E6"/>
                      </a:solidFill>
                      <a:prstDash val="solid"/>
                      <a:round/>
                      <a:headEnd type="none" w="med" len="med"/>
                      <a:tailEnd type="none" w="med" len="med"/>
                    </a:lnL>
                    <a:lnR w="6350" cap="flat" cmpd="sng" algn="ctr">
                      <a:solidFill>
                        <a:srgbClr val="D5E2E6"/>
                      </a:solidFill>
                      <a:prstDash val="solid"/>
                      <a:round/>
                      <a:headEnd type="none" w="med" len="med"/>
                      <a:tailEnd type="none" w="med" len="med"/>
                    </a:lnR>
                    <a:lnT w="6350" cap="flat" cmpd="sng" algn="ctr">
                      <a:solidFill>
                        <a:srgbClr val="D5E2E6"/>
                      </a:solidFill>
                      <a:prstDash val="solid"/>
                      <a:round/>
                      <a:headEnd type="none" w="med" len="med"/>
                      <a:tailEnd type="none" w="med" len="med"/>
                    </a:lnT>
                    <a:lnB w="6350" cap="flat" cmpd="sng" algn="ctr">
                      <a:solidFill>
                        <a:srgbClr val="D5E2E6"/>
                      </a:solidFill>
                      <a:prstDash val="solid"/>
                      <a:round/>
                      <a:headEnd type="none" w="med" len="med"/>
                      <a:tailEnd type="none" w="med" len="med"/>
                    </a:lnB>
                    <a:solidFill>
                      <a:srgbClr val="FFFFFF"/>
                    </a:solidFill>
                  </a:tcPr>
                </a:tc>
                <a:tc>
                  <a:txBody>
                    <a:bodyPr/>
                    <a:lstStyle/>
                    <a:p>
                      <a:pPr algn="l" indent="0" marL="0">
                        <a:buNone/>
                      </a:pPr>
                      <a:r>
                        <a:rPr lang="en-US" sz="1150" dirty="0">
                          <a:solidFill>
                            <a:srgbClr val="0B2F3A"/>
                          </a:solidFill>
                          <a:latin typeface="Calibri" pitchFamily="34" charset="0"/>
                          <a:ea typeface="Calibri" pitchFamily="34" charset="-122"/>
                          <a:cs typeface="Calibri" pitchFamily="34" charset="-120"/>
                        </a:rPr>
                        <a:t>-0.035</a:t>
                      </a:r>
                      <a:endParaRPr lang="en-US" sz="1150" dirty="0">
                        <a:latin typeface="Calibri" charset="0"/>
                        <a:ea typeface="Calibri" charset="0"/>
                        <a:cs typeface="Calibri" charset="0"/>
                      </a:endParaRPr>
                    </a:p>
                  </a:txBody>
                  <a:tcPr marL="91440" marR="91440" marT="45720" marB="45720" anchor="ctr">
                    <a:lnL w="6350" cap="flat" cmpd="sng" algn="ctr">
                      <a:solidFill>
                        <a:srgbClr val="D5E2E6"/>
                      </a:solidFill>
                      <a:prstDash val="solid"/>
                      <a:round/>
                      <a:headEnd type="none" w="med" len="med"/>
                      <a:tailEnd type="none" w="med" len="med"/>
                    </a:lnL>
                    <a:lnR w="6350" cap="flat" cmpd="sng" algn="ctr">
                      <a:solidFill>
                        <a:srgbClr val="D5E2E6"/>
                      </a:solidFill>
                      <a:prstDash val="solid"/>
                      <a:round/>
                      <a:headEnd type="none" w="med" len="med"/>
                      <a:tailEnd type="none" w="med" len="med"/>
                    </a:lnR>
                    <a:lnT w="6350" cap="flat" cmpd="sng" algn="ctr">
                      <a:solidFill>
                        <a:srgbClr val="D5E2E6"/>
                      </a:solidFill>
                      <a:prstDash val="solid"/>
                      <a:round/>
                      <a:headEnd type="none" w="med" len="med"/>
                      <a:tailEnd type="none" w="med" len="med"/>
                    </a:lnT>
                    <a:lnB w="6350" cap="flat" cmpd="sng" algn="ctr">
                      <a:solidFill>
                        <a:srgbClr val="D5E2E6"/>
                      </a:solidFill>
                      <a:prstDash val="solid"/>
                      <a:round/>
                      <a:headEnd type="none" w="med" len="med"/>
                      <a:tailEnd type="none" w="med" len="med"/>
                    </a:lnB>
                    <a:solidFill>
                      <a:srgbClr val="FFFFFF"/>
                    </a:solidFill>
                  </a:tcPr>
                </a:tc>
              </a:tr>
              <a:tr h="301752">
                <a:tc>
                  <a:txBody>
                    <a:bodyPr/>
                    <a:lstStyle/>
                    <a:p>
                      <a:pPr algn="l" indent="0" marL="0">
                        <a:buNone/>
                      </a:pPr>
                      <a:r>
                        <a:rPr lang="en-US" sz="1150" dirty="0">
                          <a:solidFill>
                            <a:srgbClr val="0B2F3A"/>
                          </a:solidFill>
                          <a:latin typeface="Calibri" pitchFamily="34" charset="0"/>
                          <a:ea typeface="Calibri" pitchFamily="34" charset="-122"/>
                          <a:cs typeface="Calibri" pitchFamily="34" charset="-120"/>
                        </a:rPr>
                        <a:t>Choquet RMSE (mmol/L)</a:t>
                      </a:r>
                      <a:endParaRPr lang="en-US" sz="1150" dirty="0">
                        <a:latin typeface="Calibri" charset="0"/>
                        <a:ea typeface="Calibri" charset="0"/>
                        <a:cs typeface="Calibri" charset="0"/>
                      </a:endParaRPr>
                    </a:p>
                  </a:txBody>
                  <a:tcPr marL="91440" marR="91440" marT="45720" marB="45720" anchor="ctr">
                    <a:lnL w="6350" cap="flat" cmpd="sng" algn="ctr">
                      <a:solidFill>
                        <a:srgbClr val="D5E2E6"/>
                      </a:solidFill>
                      <a:prstDash val="solid"/>
                      <a:round/>
                      <a:headEnd type="none" w="med" len="med"/>
                      <a:tailEnd type="none" w="med" len="med"/>
                    </a:lnL>
                    <a:lnR w="6350" cap="flat" cmpd="sng" algn="ctr">
                      <a:solidFill>
                        <a:srgbClr val="D5E2E6"/>
                      </a:solidFill>
                      <a:prstDash val="solid"/>
                      <a:round/>
                      <a:headEnd type="none" w="med" len="med"/>
                      <a:tailEnd type="none" w="med" len="med"/>
                    </a:lnR>
                    <a:lnT w="6350" cap="flat" cmpd="sng" algn="ctr">
                      <a:solidFill>
                        <a:srgbClr val="D5E2E6"/>
                      </a:solidFill>
                      <a:prstDash val="solid"/>
                      <a:round/>
                      <a:headEnd type="none" w="med" len="med"/>
                      <a:tailEnd type="none" w="med" len="med"/>
                    </a:lnT>
                    <a:lnB w="6350" cap="flat" cmpd="sng" algn="ctr">
                      <a:solidFill>
                        <a:srgbClr val="D5E2E6"/>
                      </a:solidFill>
                      <a:prstDash val="solid"/>
                      <a:round/>
                      <a:headEnd type="none" w="med" len="med"/>
                      <a:tailEnd type="none" w="med" len="med"/>
                    </a:lnB>
                    <a:solidFill>
                      <a:srgbClr val="EAF2F4"/>
                    </a:solidFill>
                  </a:tcPr>
                </a:tc>
                <a:tc>
                  <a:txBody>
                    <a:bodyPr/>
                    <a:lstStyle/>
                    <a:p>
                      <a:pPr algn="l" indent="0" marL="0">
                        <a:buNone/>
                      </a:pPr>
                      <a:r>
                        <a:rPr lang="en-US" sz="1150" dirty="0">
                          <a:solidFill>
                            <a:srgbClr val="0B2F3A"/>
                          </a:solidFill>
                          <a:latin typeface="Calibri" pitchFamily="34" charset="0"/>
                          <a:ea typeface="Calibri" pitchFamily="34" charset="-122"/>
                          <a:cs typeface="Calibri" pitchFamily="34" charset="-120"/>
                        </a:rPr>
                        <a:t>2.324</a:t>
                      </a:r>
                      <a:endParaRPr lang="en-US" sz="1150" dirty="0">
                        <a:latin typeface="Calibri" charset="0"/>
                        <a:ea typeface="Calibri" charset="0"/>
                        <a:cs typeface="Calibri" charset="0"/>
                      </a:endParaRPr>
                    </a:p>
                  </a:txBody>
                  <a:tcPr marL="91440" marR="91440" marT="45720" marB="45720" anchor="ctr">
                    <a:lnL w="6350" cap="flat" cmpd="sng" algn="ctr">
                      <a:solidFill>
                        <a:srgbClr val="D5E2E6"/>
                      </a:solidFill>
                      <a:prstDash val="solid"/>
                      <a:round/>
                      <a:headEnd type="none" w="med" len="med"/>
                      <a:tailEnd type="none" w="med" len="med"/>
                    </a:lnL>
                    <a:lnR w="6350" cap="flat" cmpd="sng" algn="ctr">
                      <a:solidFill>
                        <a:srgbClr val="D5E2E6"/>
                      </a:solidFill>
                      <a:prstDash val="solid"/>
                      <a:round/>
                      <a:headEnd type="none" w="med" len="med"/>
                      <a:tailEnd type="none" w="med" len="med"/>
                    </a:lnR>
                    <a:lnT w="6350" cap="flat" cmpd="sng" algn="ctr">
                      <a:solidFill>
                        <a:srgbClr val="D5E2E6"/>
                      </a:solidFill>
                      <a:prstDash val="solid"/>
                      <a:round/>
                      <a:headEnd type="none" w="med" len="med"/>
                      <a:tailEnd type="none" w="med" len="med"/>
                    </a:lnT>
                    <a:lnB w="6350" cap="flat" cmpd="sng" algn="ctr">
                      <a:solidFill>
                        <a:srgbClr val="D5E2E6"/>
                      </a:solidFill>
                      <a:prstDash val="solid"/>
                      <a:round/>
                      <a:headEnd type="none" w="med" len="med"/>
                      <a:tailEnd type="none" w="med" len="med"/>
                    </a:lnB>
                    <a:solidFill>
                      <a:srgbClr val="EAF2F4"/>
                    </a:solidFill>
                  </a:tcPr>
                </a:tc>
                <a:tc>
                  <a:txBody>
                    <a:bodyPr/>
                    <a:lstStyle/>
                    <a:p>
                      <a:pPr algn="l" indent="0" marL="0">
                        <a:buNone/>
                      </a:pPr>
                      <a:r>
                        <a:rPr lang="en-US" sz="1150" dirty="0">
                          <a:solidFill>
                            <a:srgbClr val="0B2F3A"/>
                          </a:solidFill>
                          <a:latin typeface="Calibri" pitchFamily="34" charset="0"/>
                          <a:ea typeface="Calibri" pitchFamily="34" charset="-122"/>
                          <a:cs typeface="Calibri" pitchFamily="34" charset="-120"/>
                        </a:rPr>
                        <a:t>2.786</a:t>
                      </a:r>
                      <a:endParaRPr lang="en-US" sz="1150" dirty="0">
                        <a:latin typeface="Calibri" charset="0"/>
                        <a:ea typeface="Calibri" charset="0"/>
                        <a:cs typeface="Calibri" charset="0"/>
                      </a:endParaRPr>
                    </a:p>
                  </a:txBody>
                  <a:tcPr marL="91440" marR="91440" marT="45720" marB="45720" anchor="ctr">
                    <a:lnL w="6350" cap="flat" cmpd="sng" algn="ctr">
                      <a:solidFill>
                        <a:srgbClr val="D5E2E6"/>
                      </a:solidFill>
                      <a:prstDash val="solid"/>
                      <a:round/>
                      <a:headEnd type="none" w="med" len="med"/>
                      <a:tailEnd type="none" w="med" len="med"/>
                    </a:lnL>
                    <a:lnR w="6350" cap="flat" cmpd="sng" algn="ctr">
                      <a:solidFill>
                        <a:srgbClr val="D5E2E6"/>
                      </a:solidFill>
                      <a:prstDash val="solid"/>
                      <a:round/>
                      <a:headEnd type="none" w="med" len="med"/>
                      <a:tailEnd type="none" w="med" len="med"/>
                    </a:lnR>
                    <a:lnT w="6350" cap="flat" cmpd="sng" algn="ctr">
                      <a:solidFill>
                        <a:srgbClr val="D5E2E6"/>
                      </a:solidFill>
                      <a:prstDash val="solid"/>
                      <a:round/>
                      <a:headEnd type="none" w="med" len="med"/>
                      <a:tailEnd type="none" w="med" len="med"/>
                    </a:lnT>
                    <a:lnB w="6350" cap="flat" cmpd="sng" algn="ctr">
                      <a:solidFill>
                        <a:srgbClr val="D5E2E6"/>
                      </a:solidFill>
                      <a:prstDash val="solid"/>
                      <a:round/>
                      <a:headEnd type="none" w="med" len="med"/>
                      <a:tailEnd type="none" w="med" len="med"/>
                    </a:lnB>
                    <a:solidFill>
                      <a:srgbClr val="EAF2F4"/>
                    </a:solidFill>
                  </a:tcPr>
                </a:tc>
                <a:tc>
                  <a:txBody>
                    <a:bodyPr/>
                    <a:lstStyle/>
                    <a:p>
                      <a:pPr algn="l" indent="0" marL="0">
                        <a:buNone/>
                      </a:pPr>
                      <a:r>
                        <a:rPr lang="en-US" sz="1150" dirty="0">
                          <a:solidFill>
                            <a:srgbClr val="0B2F3A"/>
                          </a:solidFill>
                          <a:latin typeface="Calibri" pitchFamily="34" charset="0"/>
                          <a:ea typeface="Calibri" pitchFamily="34" charset="-122"/>
                          <a:cs typeface="Calibri" pitchFamily="34" charset="-120"/>
                        </a:rPr>
                        <a:t>2.639</a:t>
                      </a:r>
                      <a:endParaRPr lang="en-US" sz="1150" dirty="0">
                        <a:latin typeface="Calibri" charset="0"/>
                        <a:ea typeface="Calibri" charset="0"/>
                        <a:cs typeface="Calibri" charset="0"/>
                      </a:endParaRPr>
                    </a:p>
                  </a:txBody>
                  <a:tcPr marL="91440" marR="91440" marT="45720" marB="45720" anchor="ctr">
                    <a:lnL w="6350" cap="flat" cmpd="sng" algn="ctr">
                      <a:solidFill>
                        <a:srgbClr val="D5E2E6"/>
                      </a:solidFill>
                      <a:prstDash val="solid"/>
                      <a:round/>
                      <a:headEnd type="none" w="med" len="med"/>
                      <a:tailEnd type="none" w="med" len="med"/>
                    </a:lnL>
                    <a:lnR w="6350" cap="flat" cmpd="sng" algn="ctr">
                      <a:solidFill>
                        <a:srgbClr val="D5E2E6"/>
                      </a:solidFill>
                      <a:prstDash val="solid"/>
                      <a:round/>
                      <a:headEnd type="none" w="med" len="med"/>
                      <a:tailEnd type="none" w="med" len="med"/>
                    </a:lnR>
                    <a:lnT w="6350" cap="flat" cmpd="sng" algn="ctr">
                      <a:solidFill>
                        <a:srgbClr val="D5E2E6"/>
                      </a:solidFill>
                      <a:prstDash val="solid"/>
                      <a:round/>
                      <a:headEnd type="none" w="med" len="med"/>
                      <a:tailEnd type="none" w="med" len="med"/>
                    </a:lnT>
                    <a:lnB w="6350" cap="flat" cmpd="sng" algn="ctr">
                      <a:solidFill>
                        <a:srgbClr val="D5E2E6"/>
                      </a:solidFill>
                      <a:prstDash val="solid"/>
                      <a:round/>
                      <a:headEnd type="none" w="med" len="med"/>
                      <a:tailEnd type="none" w="med" len="med"/>
                    </a:lnB>
                    <a:solidFill>
                      <a:srgbClr val="EAF2F4"/>
                    </a:solidFill>
                  </a:tcPr>
                </a:tc>
              </a:tr>
              <a:tr h="301752">
                <a:tc>
                  <a:txBody>
                    <a:bodyPr/>
                    <a:lstStyle/>
                    <a:p>
                      <a:pPr algn="l" indent="0" marL="0">
                        <a:buNone/>
                      </a:pPr>
                      <a:r>
                        <a:rPr lang="en-US" sz="1150" dirty="0">
                          <a:solidFill>
                            <a:srgbClr val="0B2F3A"/>
                          </a:solidFill>
                          <a:latin typeface="Calibri" pitchFamily="34" charset="0"/>
                          <a:ea typeface="Calibri" pitchFamily="34" charset="-122"/>
                          <a:cs typeface="Calibri" pitchFamily="34" charset="-120"/>
                        </a:rPr>
                        <a:t>Baseline RMSE (mmol/L)</a:t>
                      </a:r>
                      <a:endParaRPr lang="en-US" sz="1150" dirty="0">
                        <a:latin typeface="Calibri" charset="0"/>
                        <a:ea typeface="Calibri" charset="0"/>
                        <a:cs typeface="Calibri" charset="0"/>
                      </a:endParaRPr>
                    </a:p>
                  </a:txBody>
                  <a:tcPr marL="91440" marR="91440" marT="45720" marB="45720" anchor="ctr">
                    <a:lnL w="6350" cap="flat" cmpd="sng" algn="ctr">
                      <a:solidFill>
                        <a:srgbClr val="D5E2E6"/>
                      </a:solidFill>
                      <a:prstDash val="solid"/>
                      <a:round/>
                      <a:headEnd type="none" w="med" len="med"/>
                      <a:tailEnd type="none" w="med" len="med"/>
                    </a:lnL>
                    <a:lnR w="6350" cap="flat" cmpd="sng" algn="ctr">
                      <a:solidFill>
                        <a:srgbClr val="D5E2E6"/>
                      </a:solidFill>
                      <a:prstDash val="solid"/>
                      <a:round/>
                      <a:headEnd type="none" w="med" len="med"/>
                      <a:tailEnd type="none" w="med" len="med"/>
                    </a:lnR>
                    <a:lnT w="6350" cap="flat" cmpd="sng" algn="ctr">
                      <a:solidFill>
                        <a:srgbClr val="D5E2E6"/>
                      </a:solidFill>
                      <a:prstDash val="solid"/>
                      <a:round/>
                      <a:headEnd type="none" w="med" len="med"/>
                      <a:tailEnd type="none" w="med" len="med"/>
                    </a:lnT>
                    <a:lnB w="6350" cap="flat" cmpd="sng" algn="ctr">
                      <a:solidFill>
                        <a:srgbClr val="D5E2E6"/>
                      </a:solidFill>
                      <a:prstDash val="solid"/>
                      <a:round/>
                      <a:headEnd type="none" w="med" len="med"/>
                      <a:tailEnd type="none" w="med" len="med"/>
                    </a:lnB>
                    <a:solidFill>
                      <a:srgbClr val="FFFFFF"/>
                    </a:solidFill>
                  </a:tcPr>
                </a:tc>
                <a:tc>
                  <a:txBody>
                    <a:bodyPr/>
                    <a:lstStyle/>
                    <a:p>
                      <a:pPr algn="l" indent="0" marL="0">
                        <a:buNone/>
                      </a:pPr>
                      <a:r>
                        <a:rPr lang="en-US" sz="1150" dirty="0">
                          <a:solidFill>
                            <a:srgbClr val="0B2F3A"/>
                          </a:solidFill>
                          <a:latin typeface="Calibri" pitchFamily="34" charset="0"/>
                          <a:ea typeface="Calibri" pitchFamily="34" charset="-122"/>
                          <a:cs typeface="Calibri" pitchFamily="34" charset="-120"/>
                        </a:rPr>
                        <a:t>2.520</a:t>
                      </a:r>
                      <a:endParaRPr lang="en-US" sz="1150" dirty="0">
                        <a:latin typeface="Calibri" charset="0"/>
                        <a:ea typeface="Calibri" charset="0"/>
                        <a:cs typeface="Calibri" charset="0"/>
                      </a:endParaRPr>
                    </a:p>
                  </a:txBody>
                  <a:tcPr marL="91440" marR="91440" marT="45720" marB="45720" anchor="ctr">
                    <a:lnL w="6350" cap="flat" cmpd="sng" algn="ctr">
                      <a:solidFill>
                        <a:srgbClr val="D5E2E6"/>
                      </a:solidFill>
                      <a:prstDash val="solid"/>
                      <a:round/>
                      <a:headEnd type="none" w="med" len="med"/>
                      <a:tailEnd type="none" w="med" len="med"/>
                    </a:lnL>
                    <a:lnR w="6350" cap="flat" cmpd="sng" algn="ctr">
                      <a:solidFill>
                        <a:srgbClr val="D5E2E6"/>
                      </a:solidFill>
                      <a:prstDash val="solid"/>
                      <a:round/>
                      <a:headEnd type="none" w="med" len="med"/>
                      <a:tailEnd type="none" w="med" len="med"/>
                    </a:lnR>
                    <a:lnT w="6350" cap="flat" cmpd="sng" algn="ctr">
                      <a:solidFill>
                        <a:srgbClr val="D5E2E6"/>
                      </a:solidFill>
                      <a:prstDash val="solid"/>
                      <a:round/>
                      <a:headEnd type="none" w="med" len="med"/>
                      <a:tailEnd type="none" w="med" len="med"/>
                    </a:lnT>
                    <a:lnB w="6350" cap="flat" cmpd="sng" algn="ctr">
                      <a:solidFill>
                        <a:srgbClr val="D5E2E6"/>
                      </a:solidFill>
                      <a:prstDash val="solid"/>
                      <a:round/>
                      <a:headEnd type="none" w="med" len="med"/>
                      <a:tailEnd type="none" w="med" len="med"/>
                    </a:lnB>
                    <a:solidFill>
                      <a:srgbClr val="FFFFFF"/>
                    </a:solidFill>
                  </a:tcPr>
                </a:tc>
                <a:tc>
                  <a:txBody>
                    <a:bodyPr/>
                    <a:lstStyle/>
                    <a:p>
                      <a:pPr algn="l" indent="0" marL="0">
                        <a:buNone/>
                      </a:pPr>
                      <a:r>
                        <a:rPr lang="en-US" sz="1150" dirty="0">
                          <a:solidFill>
                            <a:srgbClr val="0B2F3A"/>
                          </a:solidFill>
                          <a:latin typeface="Calibri" pitchFamily="34" charset="0"/>
                          <a:ea typeface="Calibri" pitchFamily="34" charset="-122"/>
                          <a:cs typeface="Calibri" pitchFamily="34" charset="-120"/>
                        </a:rPr>
                        <a:t>2.610</a:t>
                      </a:r>
                      <a:endParaRPr lang="en-US" sz="1150" dirty="0">
                        <a:latin typeface="Calibri" charset="0"/>
                        <a:ea typeface="Calibri" charset="0"/>
                        <a:cs typeface="Calibri" charset="0"/>
                      </a:endParaRPr>
                    </a:p>
                  </a:txBody>
                  <a:tcPr marL="91440" marR="91440" marT="45720" marB="45720" anchor="ctr">
                    <a:lnL w="6350" cap="flat" cmpd="sng" algn="ctr">
                      <a:solidFill>
                        <a:srgbClr val="D5E2E6"/>
                      </a:solidFill>
                      <a:prstDash val="solid"/>
                      <a:round/>
                      <a:headEnd type="none" w="med" len="med"/>
                      <a:tailEnd type="none" w="med" len="med"/>
                    </a:lnL>
                    <a:lnR w="6350" cap="flat" cmpd="sng" algn="ctr">
                      <a:solidFill>
                        <a:srgbClr val="D5E2E6"/>
                      </a:solidFill>
                      <a:prstDash val="solid"/>
                      <a:round/>
                      <a:headEnd type="none" w="med" len="med"/>
                      <a:tailEnd type="none" w="med" len="med"/>
                    </a:lnR>
                    <a:lnT w="6350" cap="flat" cmpd="sng" algn="ctr">
                      <a:solidFill>
                        <a:srgbClr val="D5E2E6"/>
                      </a:solidFill>
                      <a:prstDash val="solid"/>
                      <a:round/>
                      <a:headEnd type="none" w="med" len="med"/>
                      <a:tailEnd type="none" w="med" len="med"/>
                    </a:lnT>
                    <a:lnB w="6350" cap="flat" cmpd="sng" algn="ctr">
                      <a:solidFill>
                        <a:srgbClr val="D5E2E6"/>
                      </a:solidFill>
                      <a:prstDash val="solid"/>
                      <a:round/>
                      <a:headEnd type="none" w="med" len="med"/>
                      <a:tailEnd type="none" w="med" len="med"/>
                    </a:lnB>
                    <a:solidFill>
                      <a:srgbClr val="FFFFFF"/>
                    </a:solidFill>
                  </a:tcPr>
                </a:tc>
                <a:tc>
                  <a:txBody>
                    <a:bodyPr/>
                    <a:lstStyle/>
                    <a:p>
                      <a:pPr algn="l" indent="0" marL="0">
                        <a:buNone/>
                      </a:pPr>
                      <a:r>
                        <a:rPr lang="en-US" sz="1150" dirty="0">
                          <a:solidFill>
                            <a:srgbClr val="0B2F3A"/>
                          </a:solidFill>
                          <a:latin typeface="Calibri" pitchFamily="34" charset="0"/>
                          <a:ea typeface="Calibri" pitchFamily="34" charset="-122"/>
                          <a:cs typeface="Calibri" pitchFamily="34" charset="-120"/>
                        </a:rPr>
                        <a:t>2.564</a:t>
                      </a:r>
                      <a:endParaRPr lang="en-US" sz="1150" dirty="0">
                        <a:latin typeface="Calibri" charset="0"/>
                        <a:ea typeface="Calibri" charset="0"/>
                        <a:cs typeface="Calibri" charset="0"/>
                      </a:endParaRPr>
                    </a:p>
                  </a:txBody>
                  <a:tcPr marL="91440" marR="91440" marT="45720" marB="45720" anchor="ctr">
                    <a:lnL w="6350" cap="flat" cmpd="sng" algn="ctr">
                      <a:solidFill>
                        <a:srgbClr val="D5E2E6"/>
                      </a:solidFill>
                      <a:prstDash val="solid"/>
                      <a:round/>
                      <a:headEnd type="none" w="med" len="med"/>
                      <a:tailEnd type="none" w="med" len="med"/>
                    </a:lnL>
                    <a:lnR w="6350" cap="flat" cmpd="sng" algn="ctr">
                      <a:solidFill>
                        <a:srgbClr val="D5E2E6"/>
                      </a:solidFill>
                      <a:prstDash val="solid"/>
                      <a:round/>
                      <a:headEnd type="none" w="med" len="med"/>
                      <a:tailEnd type="none" w="med" len="med"/>
                    </a:lnR>
                    <a:lnT w="6350" cap="flat" cmpd="sng" algn="ctr">
                      <a:solidFill>
                        <a:srgbClr val="D5E2E6"/>
                      </a:solidFill>
                      <a:prstDash val="solid"/>
                      <a:round/>
                      <a:headEnd type="none" w="med" len="med"/>
                      <a:tailEnd type="none" w="med" len="med"/>
                    </a:lnT>
                    <a:lnB w="6350" cap="flat" cmpd="sng" algn="ctr">
                      <a:solidFill>
                        <a:srgbClr val="D5E2E6"/>
                      </a:solidFill>
                      <a:prstDash val="solid"/>
                      <a:round/>
                      <a:headEnd type="none" w="med" len="med"/>
                      <a:tailEnd type="none" w="med" len="med"/>
                    </a:lnB>
                    <a:solidFill>
                      <a:srgbClr val="FFFFFF"/>
                    </a:solidFill>
                  </a:tcPr>
                </a:tc>
              </a:tr>
              <a:tr h="301752">
                <a:tc>
                  <a:txBody>
                    <a:bodyPr/>
                    <a:lstStyle/>
                    <a:p>
                      <a:pPr algn="l" indent="0" marL="0">
                        <a:buNone/>
                      </a:pPr>
                      <a:r>
                        <a:rPr lang="en-US" sz="1150" dirty="0">
                          <a:solidFill>
                            <a:srgbClr val="0B2F3A"/>
                          </a:solidFill>
                          <a:latin typeface="Calibri" pitchFamily="34" charset="0"/>
                          <a:ea typeface="Calibri" pitchFamily="34" charset="-122"/>
                          <a:cs typeface="Calibri" pitchFamily="34" charset="-120"/>
                        </a:rPr>
                        <a:t>Beats the baseline?</a:t>
                      </a:r>
                      <a:endParaRPr lang="en-US" sz="1150" dirty="0">
                        <a:latin typeface="Calibri" charset="0"/>
                        <a:ea typeface="Calibri" charset="0"/>
                        <a:cs typeface="Calibri" charset="0"/>
                      </a:endParaRPr>
                    </a:p>
                  </a:txBody>
                  <a:tcPr marL="91440" marR="91440" marT="45720" marB="45720" anchor="ctr">
                    <a:lnL w="6350" cap="flat" cmpd="sng" algn="ctr">
                      <a:solidFill>
                        <a:srgbClr val="D5E2E6"/>
                      </a:solidFill>
                      <a:prstDash val="solid"/>
                      <a:round/>
                      <a:headEnd type="none" w="med" len="med"/>
                      <a:tailEnd type="none" w="med" len="med"/>
                    </a:lnL>
                    <a:lnR w="6350" cap="flat" cmpd="sng" algn="ctr">
                      <a:solidFill>
                        <a:srgbClr val="D5E2E6"/>
                      </a:solidFill>
                      <a:prstDash val="solid"/>
                      <a:round/>
                      <a:headEnd type="none" w="med" len="med"/>
                      <a:tailEnd type="none" w="med" len="med"/>
                    </a:lnR>
                    <a:lnT w="6350" cap="flat" cmpd="sng" algn="ctr">
                      <a:solidFill>
                        <a:srgbClr val="D5E2E6"/>
                      </a:solidFill>
                      <a:prstDash val="solid"/>
                      <a:round/>
                      <a:headEnd type="none" w="med" len="med"/>
                      <a:tailEnd type="none" w="med" len="med"/>
                    </a:lnT>
                    <a:lnB w="6350" cap="flat" cmpd="sng" algn="ctr">
                      <a:solidFill>
                        <a:srgbClr val="D5E2E6"/>
                      </a:solidFill>
                      <a:prstDash val="solid"/>
                      <a:round/>
                      <a:headEnd type="none" w="med" len="med"/>
                      <a:tailEnd type="none" w="med" len="med"/>
                    </a:lnB>
                    <a:solidFill>
                      <a:srgbClr val="EAF2F4"/>
                    </a:solidFill>
                  </a:tcPr>
                </a:tc>
                <a:tc>
                  <a:txBody>
                    <a:bodyPr/>
                    <a:lstStyle/>
                    <a:p>
                      <a:pPr algn="l" indent="0" marL="0">
                        <a:buNone/>
                      </a:pPr>
                      <a:r>
                        <a:rPr lang="en-US" sz="1150" dirty="0">
                          <a:solidFill>
                            <a:srgbClr val="0B2F3A"/>
                          </a:solidFill>
                          <a:latin typeface="Calibri" pitchFamily="34" charset="0"/>
                          <a:ea typeface="Calibri" pitchFamily="34" charset="-122"/>
                          <a:cs typeface="Calibri" pitchFamily="34" charset="-120"/>
                        </a:rPr>
                        <a:t>YES</a:t>
                      </a:r>
                      <a:endParaRPr lang="en-US" sz="1150" dirty="0">
                        <a:latin typeface="Calibri" charset="0"/>
                        <a:ea typeface="Calibri" charset="0"/>
                        <a:cs typeface="Calibri" charset="0"/>
                      </a:endParaRPr>
                    </a:p>
                  </a:txBody>
                  <a:tcPr marL="91440" marR="91440" marT="45720" marB="45720" anchor="ctr">
                    <a:lnL w="6350" cap="flat" cmpd="sng" algn="ctr">
                      <a:solidFill>
                        <a:srgbClr val="D5E2E6"/>
                      </a:solidFill>
                      <a:prstDash val="solid"/>
                      <a:round/>
                      <a:headEnd type="none" w="med" len="med"/>
                      <a:tailEnd type="none" w="med" len="med"/>
                    </a:lnL>
                    <a:lnR w="6350" cap="flat" cmpd="sng" algn="ctr">
                      <a:solidFill>
                        <a:srgbClr val="D5E2E6"/>
                      </a:solidFill>
                      <a:prstDash val="solid"/>
                      <a:round/>
                      <a:headEnd type="none" w="med" len="med"/>
                      <a:tailEnd type="none" w="med" len="med"/>
                    </a:lnR>
                    <a:lnT w="6350" cap="flat" cmpd="sng" algn="ctr">
                      <a:solidFill>
                        <a:srgbClr val="D5E2E6"/>
                      </a:solidFill>
                      <a:prstDash val="solid"/>
                      <a:round/>
                      <a:headEnd type="none" w="med" len="med"/>
                      <a:tailEnd type="none" w="med" len="med"/>
                    </a:lnT>
                    <a:lnB w="6350" cap="flat" cmpd="sng" algn="ctr">
                      <a:solidFill>
                        <a:srgbClr val="D5E2E6"/>
                      </a:solidFill>
                      <a:prstDash val="solid"/>
                      <a:round/>
                      <a:headEnd type="none" w="med" len="med"/>
                      <a:tailEnd type="none" w="med" len="med"/>
                    </a:lnB>
                    <a:solidFill>
                      <a:srgbClr val="EAF2F4"/>
                    </a:solidFill>
                  </a:tcPr>
                </a:tc>
                <a:tc>
                  <a:txBody>
                    <a:bodyPr/>
                    <a:lstStyle/>
                    <a:p>
                      <a:pPr algn="l" indent="0" marL="0">
                        <a:buNone/>
                      </a:pPr>
                      <a:r>
                        <a:rPr lang="en-US" sz="1150" dirty="0">
                          <a:solidFill>
                            <a:srgbClr val="0B2F3A"/>
                          </a:solidFill>
                          <a:latin typeface="Calibri" pitchFamily="34" charset="0"/>
                          <a:ea typeface="Calibri" pitchFamily="34" charset="-122"/>
                          <a:cs typeface="Calibri" pitchFamily="34" charset="-120"/>
                        </a:rPr>
                        <a:t>no</a:t>
                      </a:r>
                      <a:endParaRPr lang="en-US" sz="1150" dirty="0">
                        <a:latin typeface="Calibri" charset="0"/>
                        <a:ea typeface="Calibri" charset="0"/>
                        <a:cs typeface="Calibri" charset="0"/>
                      </a:endParaRPr>
                    </a:p>
                  </a:txBody>
                  <a:tcPr marL="91440" marR="91440" marT="45720" marB="45720" anchor="ctr">
                    <a:lnL w="6350" cap="flat" cmpd="sng" algn="ctr">
                      <a:solidFill>
                        <a:srgbClr val="D5E2E6"/>
                      </a:solidFill>
                      <a:prstDash val="solid"/>
                      <a:round/>
                      <a:headEnd type="none" w="med" len="med"/>
                      <a:tailEnd type="none" w="med" len="med"/>
                    </a:lnL>
                    <a:lnR w="6350" cap="flat" cmpd="sng" algn="ctr">
                      <a:solidFill>
                        <a:srgbClr val="D5E2E6"/>
                      </a:solidFill>
                      <a:prstDash val="solid"/>
                      <a:round/>
                      <a:headEnd type="none" w="med" len="med"/>
                      <a:tailEnd type="none" w="med" len="med"/>
                    </a:lnR>
                    <a:lnT w="6350" cap="flat" cmpd="sng" algn="ctr">
                      <a:solidFill>
                        <a:srgbClr val="D5E2E6"/>
                      </a:solidFill>
                      <a:prstDash val="solid"/>
                      <a:round/>
                      <a:headEnd type="none" w="med" len="med"/>
                      <a:tailEnd type="none" w="med" len="med"/>
                    </a:lnT>
                    <a:lnB w="6350" cap="flat" cmpd="sng" algn="ctr">
                      <a:solidFill>
                        <a:srgbClr val="D5E2E6"/>
                      </a:solidFill>
                      <a:prstDash val="solid"/>
                      <a:round/>
                      <a:headEnd type="none" w="med" len="med"/>
                      <a:tailEnd type="none" w="med" len="med"/>
                    </a:lnB>
                    <a:solidFill>
                      <a:srgbClr val="EAF2F4"/>
                    </a:solidFill>
                  </a:tcPr>
                </a:tc>
                <a:tc>
                  <a:txBody>
                    <a:bodyPr/>
                    <a:lstStyle/>
                    <a:p>
                      <a:pPr algn="l" indent="0" marL="0">
                        <a:buNone/>
                      </a:pPr>
                      <a:r>
                        <a:rPr lang="en-US" sz="1150" dirty="0">
                          <a:solidFill>
                            <a:srgbClr val="0B2F3A"/>
                          </a:solidFill>
                          <a:latin typeface="Calibri" pitchFamily="34" charset="0"/>
                          <a:ea typeface="Calibri" pitchFamily="34" charset="-122"/>
                          <a:cs typeface="Calibri" pitchFamily="34" charset="-120"/>
                        </a:rPr>
                        <a:t>no</a:t>
                      </a:r>
                      <a:endParaRPr lang="en-US" sz="1150" dirty="0">
                        <a:latin typeface="Calibri" charset="0"/>
                        <a:ea typeface="Calibri" charset="0"/>
                        <a:cs typeface="Calibri" charset="0"/>
                      </a:endParaRPr>
                    </a:p>
                  </a:txBody>
                  <a:tcPr marL="91440" marR="91440" marT="45720" marB="45720" anchor="ctr">
                    <a:lnL w="6350" cap="flat" cmpd="sng" algn="ctr">
                      <a:solidFill>
                        <a:srgbClr val="D5E2E6"/>
                      </a:solidFill>
                      <a:prstDash val="solid"/>
                      <a:round/>
                      <a:headEnd type="none" w="med" len="med"/>
                      <a:tailEnd type="none" w="med" len="med"/>
                    </a:lnL>
                    <a:lnR w="6350" cap="flat" cmpd="sng" algn="ctr">
                      <a:solidFill>
                        <a:srgbClr val="D5E2E6"/>
                      </a:solidFill>
                      <a:prstDash val="solid"/>
                      <a:round/>
                      <a:headEnd type="none" w="med" len="med"/>
                      <a:tailEnd type="none" w="med" len="med"/>
                    </a:lnR>
                    <a:lnT w="6350" cap="flat" cmpd="sng" algn="ctr">
                      <a:solidFill>
                        <a:srgbClr val="D5E2E6"/>
                      </a:solidFill>
                      <a:prstDash val="solid"/>
                      <a:round/>
                      <a:headEnd type="none" w="med" len="med"/>
                      <a:tailEnd type="none" w="med" len="med"/>
                    </a:lnT>
                    <a:lnB w="6350" cap="flat" cmpd="sng" algn="ctr">
                      <a:solidFill>
                        <a:srgbClr val="D5E2E6"/>
                      </a:solidFill>
                      <a:prstDash val="solid"/>
                      <a:round/>
                      <a:headEnd type="none" w="med" len="med"/>
                      <a:tailEnd type="none" w="med" len="med"/>
                    </a:lnB>
                    <a:solidFill>
                      <a:srgbClr val="EAF2F4"/>
                    </a:solidFill>
                  </a:tcPr>
                </a:tc>
              </a:tr>
            </a:tbl>
          </a:graphicData>
        </a:graphic>
      </p:graphicFrame>
      <p:sp>
        <p:nvSpPr>
          <p:cNvPr id="4" name="Shape 1"/>
          <p:cNvSpPr/>
          <p:nvPr/>
        </p:nvSpPr>
        <p:spPr>
          <a:xfrm>
            <a:off x="7635240" y="1463040"/>
            <a:ext cx="4069080" cy="1371600"/>
          </a:xfrm>
          <a:prstGeom prst="roundRect">
            <a:avLst>
              <a:gd name="adj" fmla="val 4000"/>
            </a:avLst>
          </a:prstGeom>
          <a:solidFill>
            <a:srgbClr val="EAF2F4"/>
          </a:solidFill>
          <a:ln w="12700">
            <a:solidFill>
              <a:srgbClr val="EAF2F4"/>
            </a:solidFill>
            <a:prstDash val="solid"/>
          </a:ln>
        </p:spPr>
      </p:sp>
      <p:sp>
        <p:nvSpPr>
          <p:cNvPr id="5" name="Text 2"/>
          <p:cNvSpPr txBox="1"/>
          <p:nvPr/>
        </p:nvSpPr>
        <p:spPr>
          <a:xfrm>
            <a:off x="7836408" y="1609344"/>
            <a:ext cx="3666744" cy="347472"/>
          </a:xfrm>
          <a:prstGeom prst="rect">
            <a:avLst/>
          </a:prstGeom>
          <a:noFill/>
          <a:ln/>
        </p:spPr>
        <p:txBody>
          <a:bodyPr wrap="square" lIns="0" tIns="0" rIns="0" bIns="0" rtlCol="0" anchor="ctr"/>
          <a:lstStyle/>
          <a:p>
            <a:pPr indent="0" marL="0">
              <a:buNone/>
            </a:pPr>
            <a:r>
              <a:rPr lang="en-US" sz="1300" b="1" dirty="0">
                <a:solidFill>
                  <a:srgbClr val="0B2F3A"/>
                </a:solidFill>
                <a:latin typeface="Calibri" pitchFamily="34" charset="0"/>
                <a:ea typeface="Calibri" pitchFamily="34" charset="-122"/>
                <a:cs typeface="Calibri" pitchFamily="34" charset="-120"/>
              </a:rPr>
              <a:t>Read the R2 column first</a:t>
            </a:r>
            <a:endParaRPr lang="en-US" sz="1300" dirty="0"/>
          </a:p>
        </p:txBody>
      </p:sp>
      <p:sp>
        <p:nvSpPr>
          <p:cNvPr id="6" name="Text 3"/>
          <p:cNvSpPr txBox="1"/>
          <p:nvPr/>
        </p:nvSpPr>
        <p:spPr>
          <a:xfrm>
            <a:off x="7836408" y="1993392"/>
            <a:ext cx="3666744" cy="685800"/>
          </a:xfrm>
          <a:prstGeom prst="rect">
            <a:avLst/>
          </a:prstGeom>
          <a:noFill/>
          <a:ln/>
        </p:spPr>
        <p:txBody>
          <a:bodyPr wrap="square" lIns="0" tIns="0" rIns="0" bIns="0" rtlCol="0" anchor="t"/>
          <a:lstStyle/>
          <a:p>
            <a:pPr indent="0" marL="0">
              <a:buNone/>
            </a:pPr>
            <a:r>
              <a:rPr lang="en-US" sz="1200" dirty="0">
                <a:solidFill>
                  <a:srgbClr val="0B2F3A"/>
                </a:solidFill>
                <a:latin typeface="Calibri" pitchFamily="34" charset="0"/>
                <a:ea typeface="Calibri" pitchFamily="34" charset="-122"/>
                <a:cs typeface="Calibri" pitchFamily="34" charset="-120"/>
              </a:rPr>
              <a:t>It is the one metric that exposes a model doing no better than predicting the average. Negative means worse than guessing.</a:t>
            </a:r>
            <a:endParaRPr lang="en-US" sz="1200" dirty="0"/>
          </a:p>
        </p:txBody>
      </p:sp>
      <p:sp>
        <p:nvSpPr>
          <p:cNvPr id="7" name="Shape 4"/>
          <p:cNvSpPr/>
          <p:nvPr/>
        </p:nvSpPr>
        <p:spPr>
          <a:xfrm>
            <a:off x="7635240" y="2971800"/>
            <a:ext cx="4069080" cy="1417320"/>
          </a:xfrm>
          <a:prstGeom prst="roundRect">
            <a:avLst>
              <a:gd name="adj" fmla="val 3871"/>
            </a:avLst>
          </a:prstGeom>
          <a:solidFill>
            <a:srgbClr val="FBEFEF"/>
          </a:solidFill>
          <a:ln w="12700">
            <a:solidFill>
              <a:srgbClr val="FBEFEF"/>
            </a:solidFill>
            <a:prstDash val="solid"/>
          </a:ln>
        </p:spPr>
      </p:sp>
      <p:sp>
        <p:nvSpPr>
          <p:cNvPr id="8" name="Text 5"/>
          <p:cNvSpPr txBox="1"/>
          <p:nvPr/>
        </p:nvSpPr>
        <p:spPr>
          <a:xfrm>
            <a:off x="7863840" y="3127248"/>
            <a:ext cx="3611880" cy="274320"/>
          </a:xfrm>
          <a:prstGeom prst="rect">
            <a:avLst/>
          </a:prstGeom>
          <a:noFill/>
          <a:ln/>
        </p:spPr>
        <p:txBody>
          <a:bodyPr wrap="square" lIns="0" tIns="0" rIns="0" bIns="0" rtlCol="0" anchor="ctr"/>
          <a:lstStyle/>
          <a:p>
            <a:pPr indent="0" marL="0">
              <a:buNone/>
            </a:pPr>
            <a:r>
              <a:rPr lang="en-US" sz="1300" b="1" dirty="0">
                <a:solidFill>
                  <a:srgbClr val="C62828"/>
                </a:solidFill>
                <a:latin typeface="Calibri" pitchFamily="34" charset="0"/>
                <a:ea typeface="Calibri" pitchFamily="34" charset="-122"/>
                <a:cs typeface="Calibri" pitchFamily="34" charset="-120"/>
              </a:rPr>
              <a:t>Under the honest split</a:t>
            </a:r>
            <a:endParaRPr lang="en-US" sz="1300" dirty="0"/>
          </a:p>
        </p:txBody>
      </p:sp>
      <p:sp>
        <p:nvSpPr>
          <p:cNvPr id="9" name="Text 6"/>
          <p:cNvSpPr txBox="1"/>
          <p:nvPr/>
        </p:nvSpPr>
        <p:spPr>
          <a:xfrm>
            <a:off x="7863840" y="3438144"/>
            <a:ext cx="3611880" cy="822960"/>
          </a:xfrm>
          <a:prstGeom prst="rect">
            <a:avLst/>
          </a:prstGeom>
          <a:noFill/>
          <a:ln/>
        </p:spPr>
        <p:txBody>
          <a:bodyPr wrap="square" lIns="0" tIns="0" rIns="0" bIns="0" rtlCol="0" anchor="ctr"/>
          <a:lstStyle/>
          <a:p>
            <a:pPr indent="0" marL="0">
              <a:buNone/>
            </a:pPr>
            <a:r>
              <a:rPr lang="en-US" sz="1250" dirty="0">
                <a:solidFill>
                  <a:srgbClr val="0B2F3A"/>
                </a:solidFill>
                <a:latin typeface="Calibri" pitchFamily="34" charset="0"/>
                <a:ea typeface="Calibri" pitchFamily="34" charset="-122"/>
                <a:cs typeface="Calibri" pitchFamily="34" charset="-120"/>
              </a:rPr>
              <a:t>every model - including the fusion - is WORSE than simply guessing that patient's average glucose.</a:t>
            </a:r>
            <a:endParaRPr lang="en-US" sz="1250" dirty="0"/>
          </a:p>
        </p:txBody>
      </p:sp>
      <p:sp>
        <p:nvSpPr>
          <p:cNvPr id="10" name="Shape 7"/>
          <p:cNvSpPr/>
          <p:nvPr/>
        </p:nvSpPr>
        <p:spPr>
          <a:xfrm>
            <a:off x="548640" y="3886200"/>
            <a:ext cx="6949440" cy="1691640"/>
          </a:xfrm>
          <a:prstGeom prst="roundRect">
            <a:avLst>
              <a:gd name="adj" fmla="val 3243"/>
            </a:avLst>
          </a:prstGeom>
          <a:solidFill>
            <a:srgbClr val="0B2F3A"/>
          </a:solidFill>
          <a:ln w="12700">
            <a:solidFill>
              <a:srgbClr val="0B2F3A"/>
            </a:solidFill>
            <a:prstDash val="solid"/>
          </a:ln>
        </p:spPr>
      </p:sp>
      <p:sp>
        <p:nvSpPr>
          <p:cNvPr id="11" name="Text 8"/>
          <p:cNvSpPr txBox="1"/>
          <p:nvPr/>
        </p:nvSpPr>
        <p:spPr>
          <a:xfrm>
            <a:off x="822960" y="4114800"/>
            <a:ext cx="6400800" cy="731520"/>
          </a:xfrm>
          <a:prstGeom prst="rect">
            <a:avLst/>
          </a:prstGeom>
          <a:noFill/>
          <a:ln/>
        </p:spPr>
        <p:txBody>
          <a:bodyPr wrap="square" lIns="0" tIns="0" rIns="0" bIns="0" rtlCol="0" anchor="ctr"/>
          <a:lstStyle/>
          <a:p>
            <a:pPr indent="0" marL="0">
              <a:buNone/>
            </a:pPr>
            <a:r>
              <a:rPr lang="en-US" sz="2200" b="1" dirty="0">
                <a:solidFill>
                  <a:srgbClr val="FFFFFF"/>
                </a:solidFill>
                <a:latin typeface="Cambria" pitchFamily="34" charset="0"/>
                <a:ea typeface="Cambria" pitchFamily="34" charset="-122"/>
                <a:cs typeface="Cambria" pitchFamily="34" charset="-120"/>
              </a:rPr>
              <a:t>Same data. Same model. Same code.</a:t>
            </a:r>
            <a:endParaRPr lang="en-US" sz="2200" dirty="0"/>
          </a:p>
          <a:p>
            <a:pPr indent="0" marL="0">
              <a:buNone/>
            </a:pPr>
            <a:r>
              <a:rPr lang="en-US" sz="2200" b="1" dirty="0">
                <a:solidFill>
                  <a:srgbClr val="FFFFFF"/>
                </a:solidFill>
                <a:latin typeface="Cambria" pitchFamily="34" charset="0"/>
                <a:ea typeface="Cambria" pitchFamily="34" charset="-122"/>
                <a:cs typeface="Cambria" pitchFamily="34" charset="-120"/>
              </a:rPr>
              <a:t>Only the split changed.</a:t>
            </a:r>
            <a:endParaRPr lang="en-US" sz="2200" dirty="0"/>
          </a:p>
        </p:txBody>
      </p:sp>
      <p:sp>
        <p:nvSpPr>
          <p:cNvPr id="12" name="Text 9"/>
          <p:cNvSpPr txBox="1"/>
          <p:nvPr/>
        </p:nvSpPr>
        <p:spPr>
          <a:xfrm>
            <a:off x="822960" y="4846320"/>
            <a:ext cx="6400800" cy="640080"/>
          </a:xfrm>
          <a:prstGeom prst="rect">
            <a:avLst/>
          </a:prstGeom>
          <a:noFill/>
          <a:ln/>
        </p:spPr>
        <p:txBody>
          <a:bodyPr wrap="square" lIns="0" tIns="0" rIns="0" bIns="0" rtlCol="0" anchor="ctr"/>
          <a:lstStyle/>
          <a:p>
            <a:pPr indent="0" marL="0">
              <a:buNone/>
            </a:pPr>
            <a:r>
              <a:rPr lang="en-US" sz="1200" dirty="0">
                <a:solidFill>
                  <a:srgbClr val="D6E6EA"/>
                </a:solidFill>
                <a:latin typeface="Calibri" pitchFamily="34" charset="0"/>
                <a:ea typeface="Calibri" pitchFamily="34" charset="-122"/>
                <a:cs typeface="Calibri" pitchFamily="34" charset="-120"/>
              </a:rPr>
              <a:t>Note leave-one-out is not worse than subject-aware: it trains on 9 of 10 patients rather than 4 of 5, so it has more data. The invariant is that BOTH honest splits put every method behind the baseline.</a:t>
            </a:r>
            <a:endParaRPr lang="en-US" sz="12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84048"/>
            <a:ext cx="11094415" cy="868680"/>
          </a:xfrm>
          <a:prstGeom prst="rect">
            <a:avLst/>
          </a:prstGeom>
          <a:noFill/>
          <a:ln/>
        </p:spPr>
        <p:txBody>
          <a:bodyPr wrap="square" rtlCol="0" anchor="t"/>
          <a:lstStyle/>
          <a:p>
            <a:pPr indent="0" marL="0">
              <a:buNone/>
            </a:pPr>
            <a:r>
              <a:rPr lang="en-US" sz="2700" b="1" dirty="0">
                <a:solidFill>
                  <a:srgbClr val="0B2F3A"/>
                </a:solidFill>
                <a:latin typeface="Cambria" pitchFamily="34" charset="0"/>
                <a:ea typeface="Cambria" pitchFamily="34" charset="-122"/>
                <a:cs typeface="Cambria" pitchFamily="34" charset="-120"/>
              </a:rPr>
              <a:t>What the failure looks like: predictions form a flat band, whatever the truth</a:t>
            </a:r>
            <a:endParaRPr lang="en-US" sz="2700" dirty="0"/>
          </a:p>
        </p:txBody>
      </p:sp>
      <p:pic>
        <p:nvPicPr>
          <p:cNvPr id="3" name="Image 0" descr="figures/results/fig10_parkes_subject_aware.png">    </p:cNvPr>
          <p:cNvPicPr>
            <a:picLocks noChangeAspect="1"/>
          </p:cNvPicPr>
          <p:nvPr/>
        </p:nvPicPr>
        <p:blipFill>
          <a:blip r:embed="rId1"/>
          <a:stretch>
            <a:fillRect/>
          </a:stretch>
        </p:blipFill>
        <p:spPr>
          <a:xfrm>
            <a:off x="548640" y="1234440"/>
            <a:ext cx="4434840" cy="4434840"/>
          </a:xfrm>
          <a:prstGeom prst="rect">
            <a:avLst/>
          </a:prstGeom>
        </p:spPr>
      </p:pic>
      <p:sp>
        <p:nvSpPr>
          <p:cNvPr id="4" name="Text 1"/>
          <p:cNvSpPr txBox="1"/>
          <p:nvPr/>
        </p:nvSpPr>
        <p:spPr>
          <a:xfrm>
            <a:off x="5349240" y="1371600"/>
            <a:ext cx="6355080" cy="3657600"/>
          </a:xfrm>
          <a:prstGeom prst="rect">
            <a:avLst/>
          </a:prstGeom>
          <a:noFill/>
          <a:ln/>
        </p:spPr>
        <p:txBody>
          <a:bodyPr wrap="square" rtlCol="0" anchor="t"/>
          <a:lstStyle/>
          <a:p>
            <a:pPr marL="342900" indent="-342900">
              <a:spcAft>
                <a:spcPts val="900"/>
              </a:spcAft>
              <a:buSzPct val="100000"/>
              <a:buChar char="•"/>
            </a:pPr>
            <a:r>
              <a:rPr lang="en-US" sz="1400" dirty="0">
                <a:solidFill>
                  <a:srgbClr val="0B2F3A"/>
                </a:solidFill>
                <a:latin typeface="Calibri" pitchFamily="34" charset="0"/>
                <a:ea typeface="Calibri" pitchFamily="34" charset="-122"/>
                <a:cs typeface="Calibri" pitchFamily="34" charset="-120"/>
              </a:rPr>
              <a:t>This is the paper's Fig. 10 - the Parkes error grid - drawn on our subject-aware predictions.</a:t>
            </a:r>
            <a:endParaRPr lang="en-US" sz="1400" dirty="0"/>
          </a:p>
          <a:p>
            <a:pPr marL="342900" indent="-342900">
              <a:spcAft>
                <a:spcPts val="900"/>
              </a:spcAft>
              <a:buSzPct val="100000"/>
              <a:buChar char="•"/>
            </a:pPr>
            <a:r>
              <a:rPr lang="en-US" sz="1400" dirty="0">
                <a:solidFill>
                  <a:srgbClr val="0B2F3A"/>
                </a:solidFill>
                <a:latin typeface="Calibri" pitchFamily="34" charset="0"/>
                <a:ea typeface="Calibri" pitchFamily="34" charset="-122"/>
                <a:cs typeface="Calibri" pitchFamily="34" charset="-120"/>
              </a:rPr>
              <a:t>The horizontal axis is the true glucose; the vertical axis is what the model predicted.</a:t>
            </a:r>
            <a:endParaRPr lang="en-US" sz="1400" dirty="0"/>
          </a:p>
          <a:p>
            <a:pPr marL="342900" indent="-342900">
              <a:spcAft>
                <a:spcPts val="900"/>
              </a:spcAft>
              <a:buSzPct val="100000"/>
              <a:buChar char="•"/>
            </a:pPr>
            <a:r>
              <a:rPr lang="en-US" sz="1400" dirty="0">
                <a:solidFill>
                  <a:srgbClr val="0B2F3A"/>
                </a:solidFill>
                <a:latin typeface="Calibri" pitchFamily="34" charset="0"/>
                <a:ea typeface="Calibri" pitchFamily="34" charset="-122"/>
                <a:cs typeface="Calibri" pitchFamily="34" charset="-120"/>
              </a:rPr>
              <a:t>A good model would produce a diagonal cloud along the dotted line.</a:t>
            </a:r>
            <a:endParaRPr lang="en-US" sz="1400" dirty="0"/>
          </a:p>
          <a:p>
            <a:pPr marL="342900" indent="-342900">
              <a:spcAft>
                <a:spcPts val="900"/>
              </a:spcAft>
              <a:buSzPct val="100000"/>
              <a:buChar char="•"/>
            </a:pPr>
            <a:r>
              <a:rPr lang="en-US" sz="1400" dirty="0">
                <a:solidFill>
                  <a:srgbClr val="0B2F3A"/>
                </a:solidFill>
                <a:latin typeface="Calibri" pitchFamily="34" charset="0"/>
                <a:ea typeface="Calibri" pitchFamily="34" charset="-122"/>
                <a:cs typeface="Calibri" pitchFamily="34" charset="-120"/>
              </a:rPr>
              <a:t>Ours is a HORIZONTAL band: whether the patient was at 4 or at 20 mmol/L, the model predicts roughly 6-9.</a:t>
            </a:r>
            <a:endParaRPr lang="en-US" sz="1400" dirty="0"/>
          </a:p>
          <a:p>
            <a:pPr marL="342900" indent="-342900">
              <a:spcAft>
                <a:spcPts val="900"/>
              </a:spcAft>
              <a:buSzPct val="100000"/>
              <a:buChar char="•"/>
            </a:pPr>
            <a:r>
              <a:rPr lang="en-US" sz="1400" dirty="0">
                <a:solidFill>
                  <a:srgbClr val="0B2F3A"/>
                </a:solidFill>
                <a:latin typeface="Calibri" pitchFamily="34" charset="0"/>
                <a:ea typeface="Calibri" pitchFamily="34" charset="-122"/>
                <a:cs typeface="Calibri" pitchFamily="34" charset="-120"/>
              </a:rPr>
              <a:t>That is what 'no better than predicting the average' looks like - and it is invisible in the zone percentages, because a flat band still lands inside zones A and B.</a:t>
            </a:r>
            <a:endParaRPr lang="en-US" sz="1400" dirty="0"/>
          </a:p>
        </p:txBody>
      </p:sp>
      <p:sp>
        <p:nvSpPr>
          <p:cNvPr id="5" name="Text 2"/>
          <p:cNvSpPr txBox="1"/>
          <p:nvPr/>
        </p:nvSpPr>
        <p:spPr>
          <a:xfrm>
            <a:off x="548640" y="6291072"/>
            <a:ext cx="11094415" cy="320040"/>
          </a:xfrm>
          <a:prstGeom prst="rect">
            <a:avLst/>
          </a:prstGeom>
          <a:noFill/>
          <a:ln/>
        </p:spPr>
        <p:txBody>
          <a:bodyPr wrap="square" lIns="0" tIns="0" rIns="0" bIns="0" rtlCol="0" anchor="ctr"/>
          <a:lstStyle/>
          <a:p>
            <a:pPr indent="0" marL="0">
              <a:buNone/>
            </a:pPr>
            <a:r>
              <a:rPr lang="en-US" sz="1050" i="1" dirty="0">
                <a:solidFill>
                  <a:srgbClr val="5A6B72"/>
                </a:solidFill>
                <a:latin typeface="Calibri" pitchFamily="34" charset="0"/>
                <a:ea typeface="Calibri" pitchFamily="34" charset="-122"/>
                <a:cs typeface="Calibri" pitchFamily="34" charset="-120"/>
              </a:rPr>
              <a:t>30,830 predictions, Choquet fusion, subject-aware split.</a:t>
            </a:r>
            <a:endParaRPr lang="en-US" sz="10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84048"/>
            <a:ext cx="11094415" cy="868680"/>
          </a:xfrm>
          <a:prstGeom prst="rect">
            <a:avLst/>
          </a:prstGeom>
          <a:noFill/>
          <a:ln/>
        </p:spPr>
        <p:txBody>
          <a:bodyPr wrap="square" rtlCol="0" anchor="t"/>
          <a:lstStyle/>
          <a:p>
            <a:pPr indent="0" marL="0">
              <a:buNone/>
            </a:pPr>
            <a:r>
              <a:rPr lang="en-US" sz="2700" b="1" dirty="0">
                <a:solidFill>
                  <a:srgbClr val="0B2F3A"/>
                </a:solidFill>
                <a:latin typeface="Cambria" pitchFamily="34" charset="0"/>
                <a:ea typeface="Cambria" pitchFamily="34" charset="-122"/>
                <a:cs typeface="Cambria" pitchFamily="34" charset="-120"/>
              </a:rPr>
              <a:t>Finding 2: the clinical metric everyone reports cannot tell the difference</a:t>
            </a:r>
            <a:endParaRPr lang="en-US" sz="2700" dirty="0"/>
          </a:p>
        </p:txBody>
      </p:sp>
      <p:sp>
        <p:nvSpPr>
          <p:cNvPr id="3" name="Text 1"/>
          <p:cNvSpPr txBox="1"/>
          <p:nvPr/>
        </p:nvSpPr>
        <p:spPr>
          <a:xfrm>
            <a:off x="548640" y="1298448"/>
            <a:ext cx="11094415" cy="548640"/>
          </a:xfrm>
          <a:prstGeom prst="rect">
            <a:avLst/>
          </a:prstGeom>
          <a:noFill/>
          <a:ln/>
        </p:spPr>
        <p:txBody>
          <a:bodyPr wrap="square" rtlCol="0" anchor="ctr"/>
          <a:lstStyle/>
          <a:p>
            <a:pPr indent="0" marL="0">
              <a:buNone/>
            </a:pPr>
            <a:r>
              <a:rPr lang="en-US" sz="1500" dirty="0">
                <a:solidFill>
                  <a:srgbClr val="0B2F3A"/>
                </a:solidFill>
                <a:latin typeface="Calibri" pitchFamily="34" charset="0"/>
                <a:ea typeface="Calibri" pitchFamily="34" charset="-122"/>
                <a:cs typeface="Calibri" pitchFamily="34" charset="-120"/>
              </a:rPr>
              <a:t>The Parkes error grid scores predictions by whether acting on them would harm the patient. Zone A+B is the headline clinical number in this field. Under the subject-aware split:</a:t>
            </a:r>
            <a:endParaRPr lang="en-US" sz="1500" dirty="0"/>
          </a:p>
        </p:txBody>
      </p:sp>
      <p:graphicFrame>
        <p:nvGraphicFramePr>
          <p:cNvPr id="11" name="Table 0"/>
          <p:cNvGraphicFramePr>
            <a:graphicFrameLocks noGrp="1"/>
          </p:cNvGraphicFramePr>
          <p:nvPr>
            <p:extLst>
              <p:ext uri="{D42A27DB-BD31-4B8C-83A1-F6EECF244321}">
                <p14:modId xmlns:p14="http://schemas.microsoft.com/office/powerpoint/2010/main" val="1579011935"/>
              </p:ext>
            </p:extLst>
          </p:nvPr>
        </p:nvGraphicFramePr>
        <p:xfrm>
          <a:off x="548640" y="1965960"/>
          <a:ext cx="6766560" cy="914400"/>
        </p:xfrm>
        <a:graphic>
          <a:graphicData uri="http://schemas.openxmlformats.org/drawingml/2006/table">
            <a:tbl>
              <a:tblPr/>
              <a:tblGrid>
                <a:gridCol w="2377440"/>
                <a:gridCol w="1463040"/>
                <a:gridCol w="1463040"/>
                <a:gridCol w="1463040"/>
              </a:tblGrid>
              <a:tr h="329184">
                <a:tc>
                  <a:txBody>
                    <a:bodyPr/>
                    <a:lstStyle/>
                    <a:p>
                      <a:pPr algn="l" indent="0" marL="0">
                        <a:buNone/>
                      </a:pPr>
                      <a:r>
                        <a:rPr lang="en-US" sz="1300" b="1" dirty="0">
                          <a:solidFill>
                            <a:srgbClr val="FFFFFF"/>
                          </a:solidFill>
                          <a:latin typeface="Calibri" pitchFamily="34" charset="0"/>
                          <a:ea typeface="Calibri" pitchFamily="34" charset="-122"/>
                          <a:cs typeface="Calibri" pitchFamily="34" charset="-120"/>
                        </a:rPr>
                        <a:t>Method</a:t>
                      </a:r>
                      <a:endParaRPr lang="en-US" sz="1300" dirty="0">
                        <a:latin typeface="Calibri" charset="0"/>
                        <a:ea typeface="Calibri" charset="0"/>
                        <a:cs typeface="Calibri" charset="0"/>
                      </a:endParaRPr>
                    </a:p>
                  </a:txBody>
                  <a:tcPr marL="91440" marR="91440" marT="45720" marB="45720" anchor="ctr">
                    <a:lnL w="6350" cap="flat" cmpd="sng" algn="ctr">
                      <a:solidFill>
                        <a:srgbClr val="D5E2E6"/>
                      </a:solidFill>
                      <a:prstDash val="solid"/>
                      <a:round/>
                      <a:headEnd type="none" w="med" len="med"/>
                      <a:tailEnd type="none" w="med" len="med"/>
                    </a:lnL>
                    <a:lnR w="6350" cap="flat" cmpd="sng" algn="ctr">
                      <a:solidFill>
                        <a:srgbClr val="D5E2E6"/>
                      </a:solidFill>
                      <a:prstDash val="solid"/>
                      <a:round/>
                      <a:headEnd type="none" w="med" len="med"/>
                      <a:tailEnd type="none" w="med" len="med"/>
                    </a:lnR>
                    <a:lnT w="6350" cap="flat" cmpd="sng" algn="ctr">
                      <a:solidFill>
                        <a:srgbClr val="D5E2E6"/>
                      </a:solidFill>
                      <a:prstDash val="solid"/>
                      <a:round/>
                      <a:headEnd type="none" w="med" len="med"/>
                      <a:tailEnd type="none" w="med" len="med"/>
                    </a:lnT>
                    <a:lnB w="6350" cap="flat" cmpd="sng" algn="ctr">
                      <a:solidFill>
                        <a:srgbClr val="D5E2E6"/>
                      </a:solidFill>
                      <a:prstDash val="solid"/>
                      <a:round/>
                      <a:headEnd type="none" w="med" len="med"/>
                      <a:tailEnd type="none" w="med" len="med"/>
                    </a:lnB>
                    <a:solidFill>
                      <a:srgbClr val="0B2F3A"/>
                    </a:solidFill>
                  </a:tcPr>
                </a:tc>
                <a:tc>
                  <a:txBody>
                    <a:bodyPr/>
                    <a:lstStyle/>
                    <a:p>
                      <a:pPr algn="l" indent="0" marL="0">
                        <a:buNone/>
                      </a:pPr>
                      <a:r>
                        <a:rPr lang="en-US" sz="1300" b="1" dirty="0">
                          <a:solidFill>
                            <a:srgbClr val="FFFFFF"/>
                          </a:solidFill>
                          <a:latin typeface="Calibri" pitchFamily="34" charset="0"/>
                          <a:ea typeface="Calibri" pitchFamily="34" charset="-122"/>
                          <a:cs typeface="Calibri" pitchFamily="34" charset="-120"/>
                        </a:rPr>
                        <a:t>R2</a:t>
                      </a:r>
                      <a:endParaRPr lang="en-US" sz="1300" dirty="0">
                        <a:latin typeface="Calibri" charset="0"/>
                        <a:ea typeface="Calibri" charset="0"/>
                        <a:cs typeface="Calibri" charset="0"/>
                      </a:endParaRPr>
                    </a:p>
                  </a:txBody>
                  <a:tcPr marL="91440" marR="91440" marT="45720" marB="45720" anchor="ctr">
                    <a:lnL w="6350" cap="flat" cmpd="sng" algn="ctr">
                      <a:solidFill>
                        <a:srgbClr val="D5E2E6"/>
                      </a:solidFill>
                      <a:prstDash val="solid"/>
                      <a:round/>
                      <a:headEnd type="none" w="med" len="med"/>
                      <a:tailEnd type="none" w="med" len="med"/>
                    </a:lnL>
                    <a:lnR w="6350" cap="flat" cmpd="sng" algn="ctr">
                      <a:solidFill>
                        <a:srgbClr val="D5E2E6"/>
                      </a:solidFill>
                      <a:prstDash val="solid"/>
                      <a:round/>
                      <a:headEnd type="none" w="med" len="med"/>
                      <a:tailEnd type="none" w="med" len="med"/>
                    </a:lnR>
                    <a:lnT w="6350" cap="flat" cmpd="sng" algn="ctr">
                      <a:solidFill>
                        <a:srgbClr val="D5E2E6"/>
                      </a:solidFill>
                      <a:prstDash val="solid"/>
                      <a:round/>
                      <a:headEnd type="none" w="med" len="med"/>
                      <a:tailEnd type="none" w="med" len="med"/>
                    </a:lnT>
                    <a:lnB w="6350" cap="flat" cmpd="sng" algn="ctr">
                      <a:solidFill>
                        <a:srgbClr val="D5E2E6"/>
                      </a:solidFill>
                      <a:prstDash val="solid"/>
                      <a:round/>
                      <a:headEnd type="none" w="med" len="med"/>
                      <a:tailEnd type="none" w="med" len="med"/>
                    </a:lnB>
                    <a:solidFill>
                      <a:srgbClr val="0B2F3A"/>
                    </a:solidFill>
                  </a:tcPr>
                </a:tc>
                <a:tc>
                  <a:txBody>
                    <a:bodyPr/>
                    <a:lstStyle/>
                    <a:p>
                      <a:pPr algn="l" indent="0" marL="0">
                        <a:buNone/>
                      </a:pPr>
                      <a:r>
                        <a:rPr lang="en-US" sz="1300" b="1" dirty="0">
                          <a:solidFill>
                            <a:srgbClr val="FFFFFF"/>
                          </a:solidFill>
                          <a:latin typeface="Calibri" pitchFamily="34" charset="0"/>
                          <a:ea typeface="Calibri" pitchFamily="34" charset="-122"/>
                          <a:cs typeface="Calibri" pitchFamily="34" charset="-120"/>
                        </a:rPr>
                        <a:t>Zone A</a:t>
                      </a:r>
                      <a:endParaRPr lang="en-US" sz="1300" dirty="0">
                        <a:latin typeface="Calibri" charset="0"/>
                        <a:ea typeface="Calibri" charset="0"/>
                        <a:cs typeface="Calibri" charset="0"/>
                      </a:endParaRPr>
                    </a:p>
                  </a:txBody>
                  <a:tcPr marL="91440" marR="91440" marT="45720" marB="45720" anchor="ctr">
                    <a:lnL w="6350" cap="flat" cmpd="sng" algn="ctr">
                      <a:solidFill>
                        <a:srgbClr val="D5E2E6"/>
                      </a:solidFill>
                      <a:prstDash val="solid"/>
                      <a:round/>
                      <a:headEnd type="none" w="med" len="med"/>
                      <a:tailEnd type="none" w="med" len="med"/>
                    </a:lnL>
                    <a:lnR w="6350" cap="flat" cmpd="sng" algn="ctr">
                      <a:solidFill>
                        <a:srgbClr val="D5E2E6"/>
                      </a:solidFill>
                      <a:prstDash val="solid"/>
                      <a:round/>
                      <a:headEnd type="none" w="med" len="med"/>
                      <a:tailEnd type="none" w="med" len="med"/>
                    </a:lnR>
                    <a:lnT w="6350" cap="flat" cmpd="sng" algn="ctr">
                      <a:solidFill>
                        <a:srgbClr val="D5E2E6"/>
                      </a:solidFill>
                      <a:prstDash val="solid"/>
                      <a:round/>
                      <a:headEnd type="none" w="med" len="med"/>
                      <a:tailEnd type="none" w="med" len="med"/>
                    </a:lnT>
                    <a:lnB w="6350" cap="flat" cmpd="sng" algn="ctr">
                      <a:solidFill>
                        <a:srgbClr val="D5E2E6"/>
                      </a:solidFill>
                      <a:prstDash val="solid"/>
                      <a:round/>
                      <a:headEnd type="none" w="med" len="med"/>
                      <a:tailEnd type="none" w="med" len="med"/>
                    </a:lnB>
                    <a:solidFill>
                      <a:srgbClr val="0B2F3A"/>
                    </a:solidFill>
                  </a:tcPr>
                </a:tc>
                <a:tc>
                  <a:txBody>
                    <a:bodyPr/>
                    <a:lstStyle/>
                    <a:p>
                      <a:pPr algn="l" indent="0" marL="0">
                        <a:buNone/>
                      </a:pPr>
                      <a:r>
                        <a:rPr lang="en-US" sz="1300" b="1" dirty="0">
                          <a:solidFill>
                            <a:srgbClr val="FFFFFF"/>
                          </a:solidFill>
                          <a:latin typeface="Calibri" pitchFamily="34" charset="0"/>
                          <a:ea typeface="Calibri" pitchFamily="34" charset="-122"/>
                          <a:cs typeface="Calibri" pitchFamily="34" charset="-120"/>
                        </a:rPr>
                        <a:t>Zone A+B</a:t>
                      </a:r>
                      <a:endParaRPr lang="en-US" sz="1300" dirty="0">
                        <a:latin typeface="Calibri" charset="0"/>
                        <a:ea typeface="Calibri" charset="0"/>
                        <a:cs typeface="Calibri" charset="0"/>
                      </a:endParaRPr>
                    </a:p>
                  </a:txBody>
                  <a:tcPr marL="91440" marR="91440" marT="45720" marB="45720" anchor="ctr">
                    <a:lnL w="6350" cap="flat" cmpd="sng" algn="ctr">
                      <a:solidFill>
                        <a:srgbClr val="D5E2E6"/>
                      </a:solidFill>
                      <a:prstDash val="solid"/>
                      <a:round/>
                      <a:headEnd type="none" w="med" len="med"/>
                      <a:tailEnd type="none" w="med" len="med"/>
                    </a:lnL>
                    <a:lnR w="6350" cap="flat" cmpd="sng" algn="ctr">
                      <a:solidFill>
                        <a:srgbClr val="D5E2E6"/>
                      </a:solidFill>
                      <a:prstDash val="solid"/>
                      <a:round/>
                      <a:headEnd type="none" w="med" len="med"/>
                      <a:tailEnd type="none" w="med" len="med"/>
                    </a:lnR>
                    <a:lnT w="6350" cap="flat" cmpd="sng" algn="ctr">
                      <a:solidFill>
                        <a:srgbClr val="D5E2E6"/>
                      </a:solidFill>
                      <a:prstDash val="solid"/>
                      <a:round/>
                      <a:headEnd type="none" w="med" len="med"/>
                      <a:tailEnd type="none" w="med" len="med"/>
                    </a:lnT>
                    <a:lnB w="6350" cap="flat" cmpd="sng" algn="ctr">
                      <a:solidFill>
                        <a:srgbClr val="D5E2E6"/>
                      </a:solidFill>
                      <a:prstDash val="solid"/>
                      <a:round/>
                      <a:headEnd type="none" w="med" len="med"/>
                      <a:tailEnd type="none" w="med" len="med"/>
                    </a:lnB>
                    <a:solidFill>
                      <a:srgbClr val="0B2F3A"/>
                    </a:solidFill>
                  </a:tcPr>
                </a:tc>
              </a:tr>
              <a:tr h="329184">
                <a:tc>
                  <a:txBody>
                    <a:bodyPr/>
                    <a:lstStyle/>
                    <a:p>
                      <a:pPr algn="l" indent="0" marL="0">
                        <a:buNone/>
                      </a:pPr>
                      <a:r>
                        <a:rPr lang="en-US" sz="1300" dirty="0">
                          <a:solidFill>
                            <a:srgbClr val="0B2F3A"/>
                          </a:solidFill>
                          <a:latin typeface="Calibri" pitchFamily="34" charset="0"/>
                          <a:ea typeface="Calibri" pitchFamily="34" charset="-122"/>
                          <a:cs typeface="Calibri" pitchFamily="34" charset="-120"/>
                        </a:rPr>
                        <a:t>Choquet fusion</a:t>
                      </a:r>
                      <a:endParaRPr lang="en-US" sz="1300" dirty="0">
                        <a:latin typeface="Calibri" charset="0"/>
                        <a:ea typeface="Calibri" charset="0"/>
                        <a:cs typeface="Calibri" charset="0"/>
                      </a:endParaRPr>
                    </a:p>
                  </a:txBody>
                  <a:tcPr marL="91440" marR="91440" marT="45720" marB="45720" anchor="ctr">
                    <a:lnL w="6350" cap="flat" cmpd="sng" algn="ctr">
                      <a:solidFill>
                        <a:srgbClr val="D5E2E6"/>
                      </a:solidFill>
                      <a:prstDash val="solid"/>
                      <a:round/>
                      <a:headEnd type="none" w="med" len="med"/>
                      <a:tailEnd type="none" w="med" len="med"/>
                    </a:lnL>
                    <a:lnR w="6350" cap="flat" cmpd="sng" algn="ctr">
                      <a:solidFill>
                        <a:srgbClr val="D5E2E6"/>
                      </a:solidFill>
                      <a:prstDash val="solid"/>
                      <a:round/>
                      <a:headEnd type="none" w="med" len="med"/>
                      <a:tailEnd type="none" w="med" len="med"/>
                    </a:lnR>
                    <a:lnT w="6350" cap="flat" cmpd="sng" algn="ctr">
                      <a:solidFill>
                        <a:srgbClr val="D5E2E6"/>
                      </a:solidFill>
                      <a:prstDash val="solid"/>
                      <a:round/>
                      <a:headEnd type="none" w="med" len="med"/>
                      <a:tailEnd type="none" w="med" len="med"/>
                    </a:lnT>
                    <a:lnB w="6350" cap="flat" cmpd="sng" algn="ctr">
                      <a:solidFill>
                        <a:srgbClr val="D5E2E6"/>
                      </a:solidFill>
                      <a:prstDash val="solid"/>
                      <a:round/>
                      <a:headEnd type="none" w="med" len="med"/>
                      <a:tailEnd type="none" w="med" len="med"/>
                    </a:lnB>
                    <a:solidFill>
                      <a:srgbClr val="FFFFFF"/>
                    </a:solidFill>
                  </a:tcPr>
                </a:tc>
                <a:tc>
                  <a:txBody>
                    <a:bodyPr/>
                    <a:lstStyle/>
                    <a:p>
                      <a:pPr algn="l" indent="0" marL="0">
                        <a:buNone/>
                      </a:pPr>
                      <a:r>
                        <a:rPr lang="en-US" sz="1300" dirty="0">
                          <a:solidFill>
                            <a:srgbClr val="0B2F3A"/>
                          </a:solidFill>
                          <a:latin typeface="Calibri" pitchFamily="34" charset="0"/>
                          <a:ea typeface="Calibri" pitchFamily="34" charset="-122"/>
                          <a:cs typeface="Calibri" pitchFamily="34" charset="-120"/>
                        </a:rPr>
                        <a:t>-0.223</a:t>
                      </a:r>
                      <a:endParaRPr lang="en-US" sz="1300" dirty="0">
                        <a:latin typeface="Calibri" charset="0"/>
                        <a:ea typeface="Calibri" charset="0"/>
                        <a:cs typeface="Calibri" charset="0"/>
                      </a:endParaRPr>
                    </a:p>
                  </a:txBody>
                  <a:tcPr marL="91440" marR="91440" marT="45720" marB="45720" anchor="ctr">
                    <a:lnL w="6350" cap="flat" cmpd="sng" algn="ctr">
                      <a:solidFill>
                        <a:srgbClr val="D5E2E6"/>
                      </a:solidFill>
                      <a:prstDash val="solid"/>
                      <a:round/>
                      <a:headEnd type="none" w="med" len="med"/>
                      <a:tailEnd type="none" w="med" len="med"/>
                    </a:lnL>
                    <a:lnR w="6350" cap="flat" cmpd="sng" algn="ctr">
                      <a:solidFill>
                        <a:srgbClr val="D5E2E6"/>
                      </a:solidFill>
                      <a:prstDash val="solid"/>
                      <a:round/>
                      <a:headEnd type="none" w="med" len="med"/>
                      <a:tailEnd type="none" w="med" len="med"/>
                    </a:lnR>
                    <a:lnT w="6350" cap="flat" cmpd="sng" algn="ctr">
                      <a:solidFill>
                        <a:srgbClr val="D5E2E6"/>
                      </a:solidFill>
                      <a:prstDash val="solid"/>
                      <a:round/>
                      <a:headEnd type="none" w="med" len="med"/>
                      <a:tailEnd type="none" w="med" len="med"/>
                    </a:lnT>
                    <a:lnB w="6350" cap="flat" cmpd="sng" algn="ctr">
                      <a:solidFill>
                        <a:srgbClr val="D5E2E6"/>
                      </a:solidFill>
                      <a:prstDash val="solid"/>
                      <a:round/>
                      <a:headEnd type="none" w="med" len="med"/>
                      <a:tailEnd type="none" w="med" len="med"/>
                    </a:lnB>
                    <a:solidFill>
                      <a:srgbClr val="FFFFFF"/>
                    </a:solidFill>
                  </a:tcPr>
                </a:tc>
                <a:tc>
                  <a:txBody>
                    <a:bodyPr/>
                    <a:lstStyle/>
                    <a:p>
                      <a:pPr algn="l" indent="0" marL="0">
                        <a:buNone/>
                      </a:pPr>
                      <a:r>
                        <a:rPr lang="en-US" sz="1300" dirty="0">
                          <a:solidFill>
                            <a:srgbClr val="0B2F3A"/>
                          </a:solidFill>
                          <a:latin typeface="Calibri" pitchFamily="34" charset="0"/>
                          <a:ea typeface="Calibri" pitchFamily="34" charset="-122"/>
                          <a:cs typeface="Calibri" pitchFamily="34" charset="-120"/>
                        </a:rPr>
                        <a:t>41.9%</a:t>
                      </a:r>
                      <a:endParaRPr lang="en-US" sz="1300" dirty="0">
                        <a:latin typeface="Calibri" charset="0"/>
                        <a:ea typeface="Calibri" charset="0"/>
                        <a:cs typeface="Calibri" charset="0"/>
                      </a:endParaRPr>
                    </a:p>
                  </a:txBody>
                  <a:tcPr marL="91440" marR="91440" marT="45720" marB="45720" anchor="ctr">
                    <a:lnL w="6350" cap="flat" cmpd="sng" algn="ctr">
                      <a:solidFill>
                        <a:srgbClr val="D5E2E6"/>
                      </a:solidFill>
                      <a:prstDash val="solid"/>
                      <a:round/>
                      <a:headEnd type="none" w="med" len="med"/>
                      <a:tailEnd type="none" w="med" len="med"/>
                    </a:lnL>
                    <a:lnR w="6350" cap="flat" cmpd="sng" algn="ctr">
                      <a:solidFill>
                        <a:srgbClr val="D5E2E6"/>
                      </a:solidFill>
                      <a:prstDash val="solid"/>
                      <a:round/>
                      <a:headEnd type="none" w="med" len="med"/>
                      <a:tailEnd type="none" w="med" len="med"/>
                    </a:lnR>
                    <a:lnT w="6350" cap="flat" cmpd="sng" algn="ctr">
                      <a:solidFill>
                        <a:srgbClr val="D5E2E6"/>
                      </a:solidFill>
                      <a:prstDash val="solid"/>
                      <a:round/>
                      <a:headEnd type="none" w="med" len="med"/>
                      <a:tailEnd type="none" w="med" len="med"/>
                    </a:lnT>
                    <a:lnB w="6350" cap="flat" cmpd="sng" algn="ctr">
                      <a:solidFill>
                        <a:srgbClr val="D5E2E6"/>
                      </a:solidFill>
                      <a:prstDash val="solid"/>
                      <a:round/>
                      <a:headEnd type="none" w="med" len="med"/>
                      <a:tailEnd type="none" w="med" len="med"/>
                    </a:lnB>
                    <a:solidFill>
                      <a:srgbClr val="FFFFFF"/>
                    </a:solidFill>
                  </a:tcPr>
                </a:tc>
                <a:tc>
                  <a:txBody>
                    <a:bodyPr/>
                    <a:lstStyle/>
                    <a:p>
                      <a:pPr algn="l" indent="0" marL="0">
                        <a:buNone/>
                      </a:pPr>
                      <a:r>
                        <a:rPr lang="en-US" sz="1300" dirty="0">
                          <a:solidFill>
                            <a:srgbClr val="0B2F3A"/>
                          </a:solidFill>
                          <a:latin typeface="Calibri" pitchFamily="34" charset="0"/>
                          <a:ea typeface="Calibri" pitchFamily="34" charset="-122"/>
                          <a:cs typeface="Calibri" pitchFamily="34" charset="-120"/>
                        </a:rPr>
                        <a:t>89.4%</a:t>
                      </a:r>
                      <a:endParaRPr lang="en-US" sz="1300" dirty="0">
                        <a:latin typeface="Calibri" charset="0"/>
                        <a:ea typeface="Calibri" charset="0"/>
                        <a:cs typeface="Calibri" charset="0"/>
                      </a:endParaRPr>
                    </a:p>
                  </a:txBody>
                  <a:tcPr marL="91440" marR="91440" marT="45720" marB="45720" anchor="ctr">
                    <a:lnL w="6350" cap="flat" cmpd="sng" algn="ctr">
                      <a:solidFill>
                        <a:srgbClr val="D5E2E6"/>
                      </a:solidFill>
                      <a:prstDash val="solid"/>
                      <a:round/>
                      <a:headEnd type="none" w="med" len="med"/>
                      <a:tailEnd type="none" w="med" len="med"/>
                    </a:lnL>
                    <a:lnR w="6350" cap="flat" cmpd="sng" algn="ctr">
                      <a:solidFill>
                        <a:srgbClr val="D5E2E6"/>
                      </a:solidFill>
                      <a:prstDash val="solid"/>
                      <a:round/>
                      <a:headEnd type="none" w="med" len="med"/>
                      <a:tailEnd type="none" w="med" len="med"/>
                    </a:lnR>
                    <a:lnT w="6350" cap="flat" cmpd="sng" algn="ctr">
                      <a:solidFill>
                        <a:srgbClr val="D5E2E6"/>
                      </a:solidFill>
                      <a:prstDash val="solid"/>
                      <a:round/>
                      <a:headEnd type="none" w="med" len="med"/>
                      <a:tailEnd type="none" w="med" len="med"/>
                    </a:lnT>
                    <a:lnB w="6350" cap="flat" cmpd="sng" algn="ctr">
                      <a:solidFill>
                        <a:srgbClr val="D5E2E6"/>
                      </a:solidFill>
                      <a:prstDash val="solid"/>
                      <a:round/>
                      <a:headEnd type="none" w="med" len="med"/>
                      <a:tailEnd type="none" w="med" len="med"/>
                    </a:lnB>
                    <a:solidFill>
                      <a:srgbClr val="FFFFFF"/>
                    </a:solidFill>
                  </a:tcPr>
                </a:tc>
              </a:tr>
              <a:tr h="329184">
                <a:tc>
                  <a:txBody>
                    <a:bodyPr/>
                    <a:lstStyle/>
                    <a:p>
                      <a:pPr algn="l" indent="0" marL="0">
                        <a:buNone/>
                      </a:pPr>
                      <a:r>
                        <a:rPr lang="en-US" sz="1300" dirty="0">
                          <a:solidFill>
                            <a:srgbClr val="0B2F3A"/>
                          </a:solidFill>
                          <a:latin typeface="Calibri" pitchFamily="34" charset="0"/>
                          <a:ea typeface="Calibri" pitchFamily="34" charset="-122"/>
                          <a:cs typeface="Calibri" pitchFamily="34" charset="-120"/>
                        </a:rPr>
                        <a:t>Random Forest</a:t>
                      </a:r>
                      <a:endParaRPr lang="en-US" sz="1300" dirty="0">
                        <a:latin typeface="Calibri" charset="0"/>
                        <a:ea typeface="Calibri" charset="0"/>
                        <a:cs typeface="Calibri" charset="0"/>
                      </a:endParaRPr>
                    </a:p>
                  </a:txBody>
                  <a:tcPr marL="91440" marR="91440" marT="45720" marB="45720" anchor="ctr">
                    <a:lnL w="6350" cap="flat" cmpd="sng" algn="ctr">
                      <a:solidFill>
                        <a:srgbClr val="D5E2E6"/>
                      </a:solidFill>
                      <a:prstDash val="solid"/>
                      <a:round/>
                      <a:headEnd type="none" w="med" len="med"/>
                      <a:tailEnd type="none" w="med" len="med"/>
                    </a:lnL>
                    <a:lnR w="6350" cap="flat" cmpd="sng" algn="ctr">
                      <a:solidFill>
                        <a:srgbClr val="D5E2E6"/>
                      </a:solidFill>
                      <a:prstDash val="solid"/>
                      <a:round/>
                      <a:headEnd type="none" w="med" len="med"/>
                      <a:tailEnd type="none" w="med" len="med"/>
                    </a:lnR>
                    <a:lnT w="6350" cap="flat" cmpd="sng" algn="ctr">
                      <a:solidFill>
                        <a:srgbClr val="D5E2E6"/>
                      </a:solidFill>
                      <a:prstDash val="solid"/>
                      <a:round/>
                      <a:headEnd type="none" w="med" len="med"/>
                      <a:tailEnd type="none" w="med" len="med"/>
                    </a:lnT>
                    <a:lnB w="6350" cap="flat" cmpd="sng" algn="ctr">
                      <a:solidFill>
                        <a:srgbClr val="D5E2E6"/>
                      </a:solidFill>
                      <a:prstDash val="solid"/>
                      <a:round/>
                      <a:headEnd type="none" w="med" len="med"/>
                      <a:tailEnd type="none" w="med" len="med"/>
                    </a:lnB>
                    <a:solidFill>
                      <a:srgbClr val="EAF2F4"/>
                    </a:solidFill>
                  </a:tcPr>
                </a:tc>
                <a:tc>
                  <a:txBody>
                    <a:bodyPr/>
                    <a:lstStyle/>
                    <a:p>
                      <a:pPr algn="l" indent="0" marL="0">
                        <a:buNone/>
                      </a:pPr>
                      <a:r>
                        <a:rPr lang="en-US" sz="1300" dirty="0">
                          <a:solidFill>
                            <a:srgbClr val="0B2F3A"/>
                          </a:solidFill>
                          <a:latin typeface="Calibri" pitchFamily="34" charset="0"/>
                          <a:ea typeface="Calibri" pitchFamily="34" charset="-122"/>
                          <a:cs typeface="Calibri" pitchFamily="34" charset="-120"/>
                        </a:rPr>
                        <a:t>-0.249</a:t>
                      </a:r>
                      <a:endParaRPr lang="en-US" sz="1300" dirty="0">
                        <a:latin typeface="Calibri" charset="0"/>
                        <a:ea typeface="Calibri" charset="0"/>
                        <a:cs typeface="Calibri" charset="0"/>
                      </a:endParaRPr>
                    </a:p>
                  </a:txBody>
                  <a:tcPr marL="91440" marR="91440" marT="45720" marB="45720" anchor="ctr">
                    <a:lnL w="6350" cap="flat" cmpd="sng" algn="ctr">
                      <a:solidFill>
                        <a:srgbClr val="D5E2E6"/>
                      </a:solidFill>
                      <a:prstDash val="solid"/>
                      <a:round/>
                      <a:headEnd type="none" w="med" len="med"/>
                      <a:tailEnd type="none" w="med" len="med"/>
                    </a:lnL>
                    <a:lnR w="6350" cap="flat" cmpd="sng" algn="ctr">
                      <a:solidFill>
                        <a:srgbClr val="D5E2E6"/>
                      </a:solidFill>
                      <a:prstDash val="solid"/>
                      <a:round/>
                      <a:headEnd type="none" w="med" len="med"/>
                      <a:tailEnd type="none" w="med" len="med"/>
                    </a:lnR>
                    <a:lnT w="6350" cap="flat" cmpd="sng" algn="ctr">
                      <a:solidFill>
                        <a:srgbClr val="D5E2E6"/>
                      </a:solidFill>
                      <a:prstDash val="solid"/>
                      <a:round/>
                      <a:headEnd type="none" w="med" len="med"/>
                      <a:tailEnd type="none" w="med" len="med"/>
                    </a:lnT>
                    <a:lnB w="6350" cap="flat" cmpd="sng" algn="ctr">
                      <a:solidFill>
                        <a:srgbClr val="D5E2E6"/>
                      </a:solidFill>
                      <a:prstDash val="solid"/>
                      <a:round/>
                      <a:headEnd type="none" w="med" len="med"/>
                      <a:tailEnd type="none" w="med" len="med"/>
                    </a:lnB>
                    <a:solidFill>
                      <a:srgbClr val="EAF2F4"/>
                    </a:solidFill>
                  </a:tcPr>
                </a:tc>
                <a:tc>
                  <a:txBody>
                    <a:bodyPr/>
                    <a:lstStyle/>
                    <a:p>
                      <a:pPr algn="l" indent="0" marL="0">
                        <a:buNone/>
                      </a:pPr>
                      <a:r>
                        <a:rPr lang="en-US" sz="1300" dirty="0">
                          <a:solidFill>
                            <a:srgbClr val="0B2F3A"/>
                          </a:solidFill>
                          <a:latin typeface="Calibri" pitchFamily="34" charset="0"/>
                          <a:ea typeface="Calibri" pitchFamily="34" charset="-122"/>
                          <a:cs typeface="Calibri" pitchFamily="34" charset="-120"/>
                        </a:rPr>
                        <a:t>40.4%</a:t>
                      </a:r>
                      <a:endParaRPr lang="en-US" sz="1300" dirty="0">
                        <a:latin typeface="Calibri" charset="0"/>
                        <a:ea typeface="Calibri" charset="0"/>
                        <a:cs typeface="Calibri" charset="0"/>
                      </a:endParaRPr>
                    </a:p>
                  </a:txBody>
                  <a:tcPr marL="91440" marR="91440" marT="45720" marB="45720" anchor="ctr">
                    <a:lnL w="6350" cap="flat" cmpd="sng" algn="ctr">
                      <a:solidFill>
                        <a:srgbClr val="D5E2E6"/>
                      </a:solidFill>
                      <a:prstDash val="solid"/>
                      <a:round/>
                      <a:headEnd type="none" w="med" len="med"/>
                      <a:tailEnd type="none" w="med" len="med"/>
                    </a:lnL>
                    <a:lnR w="6350" cap="flat" cmpd="sng" algn="ctr">
                      <a:solidFill>
                        <a:srgbClr val="D5E2E6"/>
                      </a:solidFill>
                      <a:prstDash val="solid"/>
                      <a:round/>
                      <a:headEnd type="none" w="med" len="med"/>
                      <a:tailEnd type="none" w="med" len="med"/>
                    </a:lnR>
                    <a:lnT w="6350" cap="flat" cmpd="sng" algn="ctr">
                      <a:solidFill>
                        <a:srgbClr val="D5E2E6"/>
                      </a:solidFill>
                      <a:prstDash val="solid"/>
                      <a:round/>
                      <a:headEnd type="none" w="med" len="med"/>
                      <a:tailEnd type="none" w="med" len="med"/>
                    </a:lnT>
                    <a:lnB w="6350" cap="flat" cmpd="sng" algn="ctr">
                      <a:solidFill>
                        <a:srgbClr val="D5E2E6"/>
                      </a:solidFill>
                      <a:prstDash val="solid"/>
                      <a:round/>
                      <a:headEnd type="none" w="med" len="med"/>
                      <a:tailEnd type="none" w="med" len="med"/>
                    </a:lnB>
                    <a:solidFill>
                      <a:srgbClr val="EAF2F4"/>
                    </a:solidFill>
                  </a:tcPr>
                </a:tc>
                <a:tc>
                  <a:txBody>
                    <a:bodyPr/>
                    <a:lstStyle/>
                    <a:p>
                      <a:pPr algn="l" indent="0" marL="0">
                        <a:buNone/>
                      </a:pPr>
                      <a:r>
                        <a:rPr lang="en-US" sz="1300" dirty="0">
                          <a:solidFill>
                            <a:srgbClr val="0B2F3A"/>
                          </a:solidFill>
                          <a:latin typeface="Calibri" pitchFamily="34" charset="0"/>
                          <a:ea typeface="Calibri" pitchFamily="34" charset="-122"/>
                          <a:cs typeface="Calibri" pitchFamily="34" charset="-120"/>
                        </a:rPr>
                        <a:t>88.2%</a:t>
                      </a:r>
                      <a:endParaRPr lang="en-US" sz="1300" dirty="0">
                        <a:latin typeface="Calibri" charset="0"/>
                        <a:ea typeface="Calibri" charset="0"/>
                        <a:cs typeface="Calibri" charset="0"/>
                      </a:endParaRPr>
                    </a:p>
                  </a:txBody>
                  <a:tcPr marL="91440" marR="91440" marT="45720" marB="45720" anchor="ctr">
                    <a:lnL w="6350" cap="flat" cmpd="sng" algn="ctr">
                      <a:solidFill>
                        <a:srgbClr val="D5E2E6"/>
                      </a:solidFill>
                      <a:prstDash val="solid"/>
                      <a:round/>
                      <a:headEnd type="none" w="med" len="med"/>
                      <a:tailEnd type="none" w="med" len="med"/>
                    </a:lnL>
                    <a:lnR w="6350" cap="flat" cmpd="sng" algn="ctr">
                      <a:solidFill>
                        <a:srgbClr val="D5E2E6"/>
                      </a:solidFill>
                      <a:prstDash val="solid"/>
                      <a:round/>
                      <a:headEnd type="none" w="med" len="med"/>
                      <a:tailEnd type="none" w="med" len="med"/>
                    </a:lnR>
                    <a:lnT w="6350" cap="flat" cmpd="sng" algn="ctr">
                      <a:solidFill>
                        <a:srgbClr val="D5E2E6"/>
                      </a:solidFill>
                      <a:prstDash val="solid"/>
                      <a:round/>
                      <a:headEnd type="none" w="med" len="med"/>
                      <a:tailEnd type="none" w="med" len="med"/>
                    </a:lnT>
                    <a:lnB w="6350" cap="flat" cmpd="sng" algn="ctr">
                      <a:solidFill>
                        <a:srgbClr val="D5E2E6"/>
                      </a:solidFill>
                      <a:prstDash val="solid"/>
                      <a:round/>
                      <a:headEnd type="none" w="med" len="med"/>
                      <a:tailEnd type="none" w="med" len="med"/>
                    </a:lnB>
                    <a:solidFill>
                      <a:srgbClr val="EAF2F4"/>
                    </a:solidFill>
                  </a:tcPr>
                </a:tc>
              </a:tr>
              <a:tr h="329184">
                <a:tc>
                  <a:txBody>
                    <a:bodyPr/>
                    <a:lstStyle/>
                    <a:p>
                      <a:pPr algn="l" indent="0" marL="0">
                        <a:buNone/>
                      </a:pPr>
                      <a:r>
                        <a:rPr lang="en-US" sz="1300" dirty="0">
                          <a:solidFill>
                            <a:srgbClr val="0B2F3A"/>
                          </a:solidFill>
                          <a:latin typeface="Calibri" pitchFamily="34" charset="0"/>
                          <a:ea typeface="Calibri" pitchFamily="34" charset="-122"/>
                          <a:cs typeface="Calibri" pitchFamily="34" charset="-120"/>
                        </a:rPr>
                        <a:t>Gradient Boosting</a:t>
                      </a:r>
                      <a:endParaRPr lang="en-US" sz="1300" dirty="0">
                        <a:latin typeface="Calibri" charset="0"/>
                        <a:ea typeface="Calibri" charset="0"/>
                        <a:cs typeface="Calibri" charset="0"/>
                      </a:endParaRPr>
                    </a:p>
                  </a:txBody>
                  <a:tcPr marL="91440" marR="91440" marT="45720" marB="45720" anchor="ctr">
                    <a:lnL w="6350" cap="flat" cmpd="sng" algn="ctr">
                      <a:solidFill>
                        <a:srgbClr val="D5E2E6"/>
                      </a:solidFill>
                      <a:prstDash val="solid"/>
                      <a:round/>
                      <a:headEnd type="none" w="med" len="med"/>
                      <a:tailEnd type="none" w="med" len="med"/>
                    </a:lnL>
                    <a:lnR w="6350" cap="flat" cmpd="sng" algn="ctr">
                      <a:solidFill>
                        <a:srgbClr val="D5E2E6"/>
                      </a:solidFill>
                      <a:prstDash val="solid"/>
                      <a:round/>
                      <a:headEnd type="none" w="med" len="med"/>
                      <a:tailEnd type="none" w="med" len="med"/>
                    </a:lnR>
                    <a:lnT w="6350" cap="flat" cmpd="sng" algn="ctr">
                      <a:solidFill>
                        <a:srgbClr val="D5E2E6"/>
                      </a:solidFill>
                      <a:prstDash val="solid"/>
                      <a:round/>
                      <a:headEnd type="none" w="med" len="med"/>
                      <a:tailEnd type="none" w="med" len="med"/>
                    </a:lnT>
                    <a:lnB w="6350" cap="flat" cmpd="sng" algn="ctr">
                      <a:solidFill>
                        <a:srgbClr val="D5E2E6"/>
                      </a:solidFill>
                      <a:prstDash val="solid"/>
                      <a:round/>
                      <a:headEnd type="none" w="med" len="med"/>
                      <a:tailEnd type="none" w="med" len="med"/>
                    </a:lnB>
                    <a:solidFill>
                      <a:srgbClr val="FFFFFF"/>
                    </a:solidFill>
                  </a:tcPr>
                </a:tc>
                <a:tc>
                  <a:txBody>
                    <a:bodyPr/>
                    <a:lstStyle/>
                    <a:p>
                      <a:pPr algn="l" indent="0" marL="0">
                        <a:buNone/>
                      </a:pPr>
                      <a:r>
                        <a:rPr lang="en-US" sz="1300" dirty="0">
                          <a:solidFill>
                            <a:srgbClr val="0B2F3A"/>
                          </a:solidFill>
                          <a:latin typeface="Calibri" pitchFamily="34" charset="0"/>
                          <a:ea typeface="Calibri" pitchFamily="34" charset="-122"/>
                          <a:cs typeface="Calibri" pitchFamily="34" charset="-120"/>
                        </a:rPr>
                        <a:t>-0.243</a:t>
                      </a:r>
                      <a:endParaRPr lang="en-US" sz="1300" dirty="0">
                        <a:latin typeface="Calibri" charset="0"/>
                        <a:ea typeface="Calibri" charset="0"/>
                        <a:cs typeface="Calibri" charset="0"/>
                      </a:endParaRPr>
                    </a:p>
                  </a:txBody>
                  <a:tcPr marL="91440" marR="91440" marT="45720" marB="45720" anchor="ctr">
                    <a:lnL w="6350" cap="flat" cmpd="sng" algn="ctr">
                      <a:solidFill>
                        <a:srgbClr val="D5E2E6"/>
                      </a:solidFill>
                      <a:prstDash val="solid"/>
                      <a:round/>
                      <a:headEnd type="none" w="med" len="med"/>
                      <a:tailEnd type="none" w="med" len="med"/>
                    </a:lnL>
                    <a:lnR w="6350" cap="flat" cmpd="sng" algn="ctr">
                      <a:solidFill>
                        <a:srgbClr val="D5E2E6"/>
                      </a:solidFill>
                      <a:prstDash val="solid"/>
                      <a:round/>
                      <a:headEnd type="none" w="med" len="med"/>
                      <a:tailEnd type="none" w="med" len="med"/>
                    </a:lnR>
                    <a:lnT w="6350" cap="flat" cmpd="sng" algn="ctr">
                      <a:solidFill>
                        <a:srgbClr val="D5E2E6"/>
                      </a:solidFill>
                      <a:prstDash val="solid"/>
                      <a:round/>
                      <a:headEnd type="none" w="med" len="med"/>
                      <a:tailEnd type="none" w="med" len="med"/>
                    </a:lnT>
                    <a:lnB w="6350" cap="flat" cmpd="sng" algn="ctr">
                      <a:solidFill>
                        <a:srgbClr val="D5E2E6"/>
                      </a:solidFill>
                      <a:prstDash val="solid"/>
                      <a:round/>
                      <a:headEnd type="none" w="med" len="med"/>
                      <a:tailEnd type="none" w="med" len="med"/>
                    </a:lnB>
                    <a:solidFill>
                      <a:srgbClr val="FFFFFF"/>
                    </a:solidFill>
                  </a:tcPr>
                </a:tc>
                <a:tc>
                  <a:txBody>
                    <a:bodyPr/>
                    <a:lstStyle/>
                    <a:p>
                      <a:pPr algn="l" indent="0" marL="0">
                        <a:buNone/>
                      </a:pPr>
                      <a:r>
                        <a:rPr lang="en-US" sz="1300" dirty="0">
                          <a:solidFill>
                            <a:srgbClr val="0B2F3A"/>
                          </a:solidFill>
                          <a:latin typeface="Calibri" pitchFamily="34" charset="0"/>
                          <a:ea typeface="Calibri" pitchFamily="34" charset="-122"/>
                          <a:cs typeface="Calibri" pitchFamily="34" charset="-120"/>
                        </a:rPr>
                        <a:t>40.4%</a:t>
                      </a:r>
                      <a:endParaRPr lang="en-US" sz="1300" dirty="0">
                        <a:latin typeface="Calibri" charset="0"/>
                        <a:ea typeface="Calibri" charset="0"/>
                        <a:cs typeface="Calibri" charset="0"/>
                      </a:endParaRPr>
                    </a:p>
                  </a:txBody>
                  <a:tcPr marL="91440" marR="91440" marT="45720" marB="45720" anchor="ctr">
                    <a:lnL w="6350" cap="flat" cmpd="sng" algn="ctr">
                      <a:solidFill>
                        <a:srgbClr val="D5E2E6"/>
                      </a:solidFill>
                      <a:prstDash val="solid"/>
                      <a:round/>
                      <a:headEnd type="none" w="med" len="med"/>
                      <a:tailEnd type="none" w="med" len="med"/>
                    </a:lnL>
                    <a:lnR w="6350" cap="flat" cmpd="sng" algn="ctr">
                      <a:solidFill>
                        <a:srgbClr val="D5E2E6"/>
                      </a:solidFill>
                      <a:prstDash val="solid"/>
                      <a:round/>
                      <a:headEnd type="none" w="med" len="med"/>
                      <a:tailEnd type="none" w="med" len="med"/>
                    </a:lnR>
                    <a:lnT w="6350" cap="flat" cmpd="sng" algn="ctr">
                      <a:solidFill>
                        <a:srgbClr val="D5E2E6"/>
                      </a:solidFill>
                      <a:prstDash val="solid"/>
                      <a:round/>
                      <a:headEnd type="none" w="med" len="med"/>
                      <a:tailEnd type="none" w="med" len="med"/>
                    </a:lnT>
                    <a:lnB w="6350" cap="flat" cmpd="sng" algn="ctr">
                      <a:solidFill>
                        <a:srgbClr val="D5E2E6"/>
                      </a:solidFill>
                      <a:prstDash val="solid"/>
                      <a:round/>
                      <a:headEnd type="none" w="med" len="med"/>
                      <a:tailEnd type="none" w="med" len="med"/>
                    </a:lnB>
                    <a:solidFill>
                      <a:srgbClr val="FFFFFF"/>
                    </a:solidFill>
                  </a:tcPr>
                </a:tc>
                <a:tc>
                  <a:txBody>
                    <a:bodyPr/>
                    <a:lstStyle/>
                    <a:p>
                      <a:pPr algn="l" indent="0" marL="0">
                        <a:buNone/>
                      </a:pPr>
                      <a:r>
                        <a:rPr lang="en-US" sz="1300" dirty="0">
                          <a:solidFill>
                            <a:srgbClr val="0B2F3A"/>
                          </a:solidFill>
                          <a:latin typeface="Calibri" pitchFamily="34" charset="0"/>
                          <a:ea typeface="Calibri" pitchFamily="34" charset="-122"/>
                          <a:cs typeface="Calibri" pitchFamily="34" charset="-120"/>
                        </a:rPr>
                        <a:t>88.5%</a:t>
                      </a:r>
                      <a:endParaRPr lang="en-US" sz="1300" dirty="0">
                        <a:latin typeface="Calibri" charset="0"/>
                        <a:ea typeface="Calibri" charset="0"/>
                        <a:cs typeface="Calibri" charset="0"/>
                      </a:endParaRPr>
                    </a:p>
                  </a:txBody>
                  <a:tcPr marL="91440" marR="91440" marT="45720" marB="45720" anchor="ctr">
                    <a:lnL w="6350" cap="flat" cmpd="sng" algn="ctr">
                      <a:solidFill>
                        <a:srgbClr val="D5E2E6"/>
                      </a:solidFill>
                      <a:prstDash val="solid"/>
                      <a:round/>
                      <a:headEnd type="none" w="med" len="med"/>
                      <a:tailEnd type="none" w="med" len="med"/>
                    </a:lnL>
                    <a:lnR w="6350" cap="flat" cmpd="sng" algn="ctr">
                      <a:solidFill>
                        <a:srgbClr val="D5E2E6"/>
                      </a:solidFill>
                      <a:prstDash val="solid"/>
                      <a:round/>
                      <a:headEnd type="none" w="med" len="med"/>
                      <a:tailEnd type="none" w="med" len="med"/>
                    </a:lnR>
                    <a:lnT w="6350" cap="flat" cmpd="sng" algn="ctr">
                      <a:solidFill>
                        <a:srgbClr val="D5E2E6"/>
                      </a:solidFill>
                      <a:prstDash val="solid"/>
                      <a:round/>
                      <a:headEnd type="none" w="med" len="med"/>
                      <a:tailEnd type="none" w="med" len="med"/>
                    </a:lnT>
                    <a:lnB w="6350" cap="flat" cmpd="sng" algn="ctr">
                      <a:solidFill>
                        <a:srgbClr val="D5E2E6"/>
                      </a:solidFill>
                      <a:prstDash val="solid"/>
                      <a:round/>
                      <a:headEnd type="none" w="med" len="med"/>
                      <a:tailEnd type="none" w="med" len="med"/>
                    </a:lnB>
                    <a:solidFill>
                      <a:srgbClr val="FFFFFF"/>
                    </a:solidFill>
                  </a:tcPr>
                </a:tc>
              </a:tr>
              <a:tr h="329184">
                <a:tc>
                  <a:txBody>
                    <a:bodyPr/>
                    <a:lstStyle/>
                    <a:p>
                      <a:pPr algn="l" indent="0" marL="0">
                        <a:buNone/>
                      </a:pPr>
                      <a:r>
                        <a:rPr lang="en-US" sz="1300" dirty="0">
                          <a:solidFill>
                            <a:srgbClr val="0B2F3A"/>
                          </a:solidFill>
                          <a:latin typeface="Calibri" pitchFamily="34" charset="0"/>
                          <a:ea typeface="Calibri" pitchFamily="34" charset="-122"/>
                          <a:cs typeface="Calibri" pitchFamily="34" charset="-120"/>
                        </a:rPr>
                        <a:t>No-skill baseline</a:t>
                      </a:r>
                      <a:endParaRPr lang="en-US" sz="1300" dirty="0">
                        <a:latin typeface="Calibri" charset="0"/>
                        <a:ea typeface="Calibri" charset="0"/>
                        <a:cs typeface="Calibri" charset="0"/>
                      </a:endParaRPr>
                    </a:p>
                  </a:txBody>
                  <a:tcPr marL="91440" marR="91440" marT="45720" marB="45720" anchor="ctr">
                    <a:lnL w="6350" cap="flat" cmpd="sng" algn="ctr">
                      <a:solidFill>
                        <a:srgbClr val="D5E2E6"/>
                      </a:solidFill>
                      <a:prstDash val="solid"/>
                      <a:round/>
                      <a:headEnd type="none" w="med" len="med"/>
                      <a:tailEnd type="none" w="med" len="med"/>
                    </a:lnL>
                    <a:lnR w="6350" cap="flat" cmpd="sng" algn="ctr">
                      <a:solidFill>
                        <a:srgbClr val="D5E2E6"/>
                      </a:solidFill>
                      <a:prstDash val="solid"/>
                      <a:round/>
                      <a:headEnd type="none" w="med" len="med"/>
                      <a:tailEnd type="none" w="med" len="med"/>
                    </a:lnR>
                    <a:lnT w="6350" cap="flat" cmpd="sng" algn="ctr">
                      <a:solidFill>
                        <a:srgbClr val="D5E2E6"/>
                      </a:solidFill>
                      <a:prstDash val="solid"/>
                      <a:round/>
                      <a:headEnd type="none" w="med" len="med"/>
                      <a:tailEnd type="none" w="med" len="med"/>
                    </a:lnT>
                    <a:lnB w="6350" cap="flat" cmpd="sng" algn="ctr">
                      <a:solidFill>
                        <a:srgbClr val="D5E2E6"/>
                      </a:solidFill>
                      <a:prstDash val="solid"/>
                      <a:round/>
                      <a:headEnd type="none" w="med" len="med"/>
                      <a:tailEnd type="none" w="med" len="med"/>
                    </a:lnB>
                    <a:solidFill>
                      <a:srgbClr val="EAF2F4"/>
                    </a:solidFill>
                  </a:tcPr>
                </a:tc>
                <a:tc>
                  <a:txBody>
                    <a:bodyPr/>
                    <a:lstStyle/>
                    <a:p>
                      <a:pPr algn="l" indent="0" marL="0">
                        <a:buNone/>
                      </a:pPr>
                      <a:r>
                        <a:rPr lang="en-US" sz="1300" dirty="0">
                          <a:solidFill>
                            <a:srgbClr val="0B2F3A"/>
                          </a:solidFill>
                          <a:latin typeface="Calibri" pitchFamily="34" charset="0"/>
                          <a:ea typeface="Calibri" pitchFamily="34" charset="-122"/>
                          <a:cs typeface="Calibri" pitchFamily="34" charset="-120"/>
                        </a:rPr>
                        <a:t>-0.074</a:t>
                      </a:r>
                      <a:endParaRPr lang="en-US" sz="1300" dirty="0">
                        <a:latin typeface="Calibri" charset="0"/>
                        <a:ea typeface="Calibri" charset="0"/>
                        <a:cs typeface="Calibri" charset="0"/>
                      </a:endParaRPr>
                    </a:p>
                  </a:txBody>
                  <a:tcPr marL="91440" marR="91440" marT="45720" marB="45720" anchor="ctr">
                    <a:lnL w="6350" cap="flat" cmpd="sng" algn="ctr">
                      <a:solidFill>
                        <a:srgbClr val="D5E2E6"/>
                      </a:solidFill>
                      <a:prstDash val="solid"/>
                      <a:round/>
                      <a:headEnd type="none" w="med" len="med"/>
                      <a:tailEnd type="none" w="med" len="med"/>
                    </a:lnL>
                    <a:lnR w="6350" cap="flat" cmpd="sng" algn="ctr">
                      <a:solidFill>
                        <a:srgbClr val="D5E2E6"/>
                      </a:solidFill>
                      <a:prstDash val="solid"/>
                      <a:round/>
                      <a:headEnd type="none" w="med" len="med"/>
                      <a:tailEnd type="none" w="med" len="med"/>
                    </a:lnR>
                    <a:lnT w="6350" cap="flat" cmpd="sng" algn="ctr">
                      <a:solidFill>
                        <a:srgbClr val="D5E2E6"/>
                      </a:solidFill>
                      <a:prstDash val="solid"/>
                      <a:round/>
                      <a:headEnd type="none" w="med" len="med"/>
                      <a:tailEnd type="none" w="med" len="med"/>
                    </a:lnT>
                    <a:lnB w="6350" cap="flat" cmpd="sng" algn="ctr">
                      <a:solidFill>
                        <a:srgbClr val="D5E2E6"/>
                      </a:solidFill>
                      <a:prstDash val="solid"/>
                      <a:round/>
                      <a:headEnd type="none" w="med" len="med"/>
                      <a:tailEnd type="none" w="med" len="med"/>
                    </a:lnB>
                    <a:solidFill>
                      <a:srgbClr val="EAF2F4"/>
                    </a:solidFill>
                  </a:tcPr>
                </a:tc>
                <a:tc>
                  <a:txBody>
                    <a:bodyPr/>
                    <a:lstStyle/>
                    <a:p>
                      <a:pPr algn="l" indent="0" marL="0">
                        <a:buNone/>
                      </a:pPr>
                      <a:r>
                        <a:rPr lang="en-US" sz="1300" dirty="0">
                          <a:solidFill>
                            <a:srgbClr val="0B2F3A"/>
                          </a:solidFill>
                          <a:latin typeface="Calibri" pitchFamily="34" charset="0"/>
                          <a:ea typeface="Calibri" pitchFamily="34" charset="-122"/>
                          <a:cs typeface="Calibri" pitchFamily="34" charset="-120"/>
                        </a:rPr>
                        <a:t>43.7%</a:t>
                      </a:r>
                      <a:endParaRPr lang="en-US" sz="1300" dirty="0">
                        <a:latin typeface="Calibri" charset="0"/>
                        <a:ea typeface="Calibri" charset="0"/>
                        <a:cs typeface="Calibri" charset="0"/>
                      </a:endParaRPr>
                    </a:p>
                  </a:txBody>
                  <a:tcPr marL="91440" marR="91440" marT="45720" marB="45720" anchor="ctr">
                    <a:lnL w="6350" cap="flat" cmpd="sng" algn="ctr">
                      <a:solidFill>
                        <a:srgbClr val="D5E2E6"/>
                      </a:solidFill>
                      <a:prstDash val="solid"/>
                      <a:round/>
                      <a:headEnd type="none" w="med" len="med"/>
                      <a:tailEnd type="none" w="med" len="med"/>
                    </a:lnL>
                    <a:lnR w="6350" cap="flat" cmpd="sng" algn="ctr">
                      <a:solidFill>
                        <a:srgbClr val="D5E2E6"/>
                      </a:solidFill>
                      <a:prstDash val="solid"/>
                      <a:round/>
                      <a:headEnd type="none" w="med" len="med"/>
                      <a:tailEnd type="none" w="med" len="med"/>
                    </a:lnR>
                    <a:lnT w="6350" cap="flat" cmpd="sng" algn="ctr">
                      <a:solidFill>
                        <a:srgbClr val="D5E2E6"/>
                      </a:solidFill>
                      <a:prstDash val="solid"/>
                      <a:round/>
                      <a:headEnd type="none" w="med" len="med"/>
                      <a:tailEnd type="none" w="med" len="med"/>
                    </a:lnT>
                    <a:lnB w="6350" cap="flat" cmpd="sng" algn="ctr">
                      <a:solidFill>
                        <a:srgbClr val="D5E2E6"/>
                      </a:solidFill>
                      <a:prstDash val="solid"/>
                      <a:round/>
                      <a:headEnd type="none" w="med" len="med"/>
                      <a:tailEnd type="none" w="med" len="med"/>
                    </a:lnB>
                    <a:solidFill>
                      <a:srgbClr val="EAF2F4"/>
                    </a:solidFill>
                  </a:tcPr>
                </a:tc>
                <a:tc>
                  <a:txBody>
                    <a:bodyPr/>
                    <a:lstStyle/>
                    <a:p>
                      <a:pPr algn="l" indent="0" marL="0">
                        <a:buNone/>
                      </a:pPr>
                      <a:r>
                        <a:rPr lang="en-US" sz="1300" dirty="0">
                          <a:solidFill>
                            <a:srgbClr val="0B2F3A"/>
                          </a:solidFill>
                          <a:latin typeface="Calibri" pitchFamily="34" charset="0"/>
                          <a:ea typeface="Calibri" pitchFamily="34" charset="-122"/>
                          <a:cs typeface="Calibri" pitchFamily="34" charset="-120"/>
                        </a:rPr>
                        <a:t>90.0%</a:t>
                      </a:r>
                      <a:endParaRPr lang="en-US" sz="1300" dirty="0">
                        <a:latin typeface="Calibri" charset="0"/>
                        <a:ea typeface="Calibri" charset="0"/>
                        <a:cs typeface="Calibri" charset="0"/>
                      </a:endParaRPr>
                    </a:p>
                  </a:txBody>
                  <a:tcPr marL="91440" marR="91440" marT="45720" marB="45720" anchor="ctr">
                    <a:lnL w="6350" cap="flat" cmpd="sng" algn="ctr">
                      <a:solidFill>
                        <a:srgbClr val="D5E2E6"/>
                      </a:solidFill>
                      <a:prstDash val="solid"/>
                      <a:round/>
                      <a:headEnd type="none" w="med" len="med"/>
                      <a:tailEnd type="none" w="med" len="med"/>
                    </a:lnL>
                    <a:lnR w="6350" cap="flat" cmpd="sng" algn="ctr">
                      <a:solidFill>
                        <a:srgbClr val="D5E2E6"/>
                      </a:solidFill>
                      <a:prstDash val="solid"/>
                      <a:round/>
                      <a:headEnd type="none" w="med" len="med"/>
                      <a:tailEnd type="none" w="med" len="med"/>
                    </a:lnR>
                    <a:lnT w="6350" cap="flat" cmpd="sng" algn="ctr">
                      <a:solidFill>
                        <a:srgbClr val="D5E2E6"/>
                      </a:solidFill>
                      <a:prstDash val="solid"/>
                      <a:round/>
                      <a:headEnd type="none" w="med" len="med"/>
                      <a:tailEnd type="none" w="med" len="med"/>
                    </a:lnT>
                    <a:lnB w="6350" cap="flat" cmpd="sng" algn="ctr">
                      <a:solidFill>
                        <a:srgbClr val="D5E2E6"/>
                      </a:solidFill>
                      <a:prstDash val="solid"/>
                      <a:round/>
                      <a:headEnd type="none" w="med" len="med"/>
                      <a:tailEnd type="none" w="med" len="med"/>
                    </a:lnB>
                    <a:solidFill>
                      <a:srgbClr val="EAF2F4"/>
                    </a:solidFill>
                  </a:tcPr>
                </a:tc>
              </a:tr>
            </a:tbl>
          </a:graphicData>
        </a:graphic>
      </p:graphicFrame>
      <p:sp>
        <p:nvSpPr>
          <p:cNvPr id="5" name="Shape 2"/>
          <p:cNvSpPr/>
          <p:nvPr/>
        </p:nvSpPr>
        <p:spPr>
          <a:xfrm>
            <a:off x="7452360" y="1965960"/>
            <a:ext cx="4251960" cy="1920240"/>
          </a:xfrm>
          <a:prstGeom prst="roundRect">
            <a:avLst>
              <a:gd name="adj" fmla="val 2857"/>
            </a:avLst>
          </a:prstGeom>
          <a:solidFill>
            <a:srgbClr val="FBEFEF"/>
          </a:solidFill>
          <a:ln w="12700">
            <a:solidFill>
              <a:srgbClr val="FBEFEF"/>
            </a:solidFill>
            <a:prstDash val="solid"/>
          </a:ln>
        </p:spPr>
      </p:sp>
      <p:sp>
        <p:nvSpPr>
          <p:cNvPr id="6" name="Text 3"/>
          <p:cNvSpPr txBox="1"/>
          <p:nvPr/>
        </p:nvSpPr>
        <p:spPr>
          <a:xfrm>
            <a:off x="7680960" y="2130552"/>
            <a:ext cx="3794760" cy="274320"/>
          </a:xfrm>
          <a:prstGeom prst="rect">
            <a:avLst/>
          </a:prstGeom>
          <a:noFill/>
          <a:ln/>
        </p:spPr>
        <p:txBody>
          <a:bodyPr wrap="square" lIns="0" tIns="0" rIns="0" bIns="0" rtlCol="0" anchor="ctr"/>
          <a:lstStyle/>
          <a:p>
            <a:pPr indent="0" marL="0">
              <a:buNone/>
            </a:pPr>
            <a:r>
              <a:rPr lang="en-US" sz="1300" b="1" dirty="0">
                <a:solidFill>
                  <a:srgbClr val="C62828"/>
                </a:solidFill>
                <a:latin typeface="Calibri" pitchFamily="34" charset="0"/>
                <a:ea typeface="Calibri" pitchFamily="34" charset="-122"/>
                <a:cs typeface="Calibri" pitchFamily="34" charset="-120"/>
              </a:rPr>
              <a:t>The baseline wins on BOTH</a:t>
            </a:r>
            <a:endParaRPr lang="en-US" sz="1300" dirty="0"/>
          </a:p>
        </p:txBody>
      </p:sp>
      <p:sp>
        <p:nvSpPr>
          <p:cNvPr id="7" name="Text 4"/>
          <p:cNvSpPr txBox="1"/>
          <p:nvPr/>
        </p:nvSpPr>
        <p:spPr>
          <a:xfrm>
            <a:off x="7680960" y="2441448"/>
            <a:ext cx="3794760" cy="1325880"/>
          </a:xfrm>
          <a:prstGeom prst="rect">
            <a:avLst/>
          </a:prstGeom>
          <a:noFill/>
          <a:ln/>
        </p:spPr>
        <p:txBody>
          <a:bodyPr wrap="square" lIns="0" tIns="0" rIns="0" bIns="0" rtlCol="0" anchor="ctr"/>
          <a:lstStyle/>
          <a:p>
            <a:pPr indent="0" marL="0">
              <a:buNone/>
            </a:pPr>
            <a:r>
              <a:rPr lang="en-US" sz="1200" dirty="0">
                <a:solidFill>
                  <a:srgbClr val="0B2F3A"/>
                </a:solidFill>
                <a:latin typeface="Calibri" pitchFamily="34" charset="0"/>
                <a:ea typeface="Calibri" pitchFamily="34" charset="-122"/>
                <a:cs typeface="Calibri" pitchFamily="34" charset="-120"/>
              </a:rPr>
              <a:t>A constant predictor - which explains zero variance by construction - has the best R-squared AND the best clinical score.</a:t>
            </a:r>
            <a:endParaRPr lang="en-US" sz="1200" dirty="0"/>
          </a:p>
          <a:p>
            <a:pPr indent="0" marL="0">
              <a:buNone/>
            </a:pPr>
            <a:endParaRPr lang="en-US" sz="1200" dirty="0"/>
          </a:p>
          <a:p>
            <a:pPr indent="0" marL="0">
              <a:buNone/>
            </a:pPr>
            <a:r>
              <a:rPr lang="en-US" sz="1200" dirty="0">
                <a:solidFill>
                  <a:srgbClr val="0B2F3A"/>
                </a:solidFill>
                <a:latin typeface="Calibri" pitchFamily="34" charset="0"/>
                <a:ea typeface="Calibri" pitchFamily="34" charset="-122"/>
                <a:cs typeface="Calibri" pitchFamily="34" charset="-120"/>
              </a:rPr>
              <a:t>Shown only the Parkes column, a reader sees 88-90% across the board and concludes the method works.</a:t>
            </a:r>
            <a:endParaRPr lang="en-US" sz="1200" dirty="0"/>
          </a:p>
        </p:txBody>
      </p:sp>
      <p:sp>
        <p:nvSpPr>
          <p:cNvPr id="8" name="Shape 5"/>
          <p:cNvSpPr/>
          <p:nvPr/>
        </p:nvSpPr>
        <p:spPr>
          <a:xfrm>
            <a:off x="548640" y="4160520"/>
            <a:ext cx="11094415" cy="1325880"/>
          </a:xfrm>
          <a:prstGeom prst="roundRect">
            <a:avLst>
              <a:gd name="adj" fmla="val 4138"/>
            </a:avLst>
          </a:prstGeom>
          <a:solidFill>
            <a:srgbClr val="0B2F3A"/>
          </a:solidFill>
          <a:ln w="12700">
            <a:solidFill>
              <a:srgbClr val="0B2F3A"/>
            </a:solidFill>
            <a:prstDash val="solid"/>
          </a:ln>
        </p:spPr>
      </p:sp>
      <p:sp>
        <p:nvSpPr>
          <p:cNvPr id="9" name="Text 6"/>
          <p:cNvSpPr txBox="1"/>
          <p:nvPr/>
        </p:nvSpPr>
        <p:spPr>
          <a:xfrm>
            <a:off x="822960" y="4334256"/>
            <a:ext cx="7315200" cy="274320"/>
          </a:xfrm>
          <a:prstGeom prst="rect">
            <a:avLst/>
          </a:prstGeom>
          <a:noFill/>
          <a:ln/>
        </p:spPr>
        <p:txBody>
          <a:bodyPr wrap="square" lIns="0" tIns="0" rIns="0" bIns="0" rtlCol="0" anchor="ctr"/>
          <a:lstStyle/>
          <a:p>
            <a:pPr indent="0" marL="0">
              <a:buNone/>
            </a:pPr>
            <a:r>
              <a:rPr lang="en-US" sz="1300" b="1" dirty="0">
                <a:solidFill>
                  <a:srgbClr val="00C2A8"/>
                </a:solidFill>
                <a:latin typeface="Calibri" pitchFamily="34" charset="0"/>
                <a:ea typeface="Calibri" pitchFamily="34" charset="-122"/>
                <a:cs typeface="Calibri" pitchFamily="34" charset="-120"/>
              </a:rPr>
              <a:t>Why this happens, and what to do about it</a:t>
            </a:r>
            <a:endParaRPr lang="en-US" sz="1300" dirty="0"/>
          </a:p>
        </p:txBody>
      </p:sp>
      <p:sp>
        <p:nvSpPr>
          <p:cNvPr id="10" name="Text 7"/>
          <p:cNvSpPr txBox="1"/>
          <p:nvPr/>
        </p:nvSpPr>
        <p:spPr>
          <a:xfrm>
            <a:off x="822960" y="4645152"/>
            <a:ext cx="10545775" cy="73152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Most glucose readings sit in a narrow band around normal, so predicting a constant already lands the large majority of points in the acceptable zones. Zone metrics cannot certify a model on their own - they must be reported next to a baseline computed on the same folds.</a:t>
            </a:r>
            <a:endParaRPr lang="en-US" sz="13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84048"/>
            <a:ext cx="11094415" cy="868680"/>
          </a:xfrm>
          <a:prstGeom prst="rect">
            <a:avLst/>
          </a:prstGeom>
          <a:noFill/>
          <a:ln/>
        </p:spPr>
        <p:txBody>
          <a:bodyPr wrap="square" rtlCol="0" anchor="t"/>
          <a:lstStyle/>
          <a:p>
            <a:pPr indent="0" marL="0">
              <a:buNone/>
            </a:pPr>
            <a:r>
              <a:rPr lang="en-US" sz="2700" b="1" dirty="0">
                <a:solidFill>
                  <a:srgbClr val="0B2F3A"/>
                </a:solidFill>
                <a:latin typeface="Cambria" pitchFamily="34" charset="0"/>
                <a:ea typeface="Cambria" pitchFamily="34" charset="-122"/>
                <a:cs typeface="Cambria" pitchFamily="34" charset="-120"/>
              </a:rPr>
              <a:t>The same seven models, two metrics, opposite verdicts</a:t>
            </a:r>
            <a:endParaRPr lang="en-US" sz="2700" dirty="0"/>
          </a:p>
        </p:txBody>
      </p:sp>
      <p:pic>
        <p:nvPicPr>
          <p:cNvPr id="3" name="Image 0" descr="figures/results/fig_zone_vs_r2.png">    </p:cNvPr>
          <p:cNvPicPr>
            <a:picLocks noChangeAspect="1"/>
          </p:cNvPicPr>
          <p:nvPr/>
        </p:nvPicPr>
        <p:blipFill>
          <a:blip r:embed="rId1"/>
          <a:stretch>
            <a:fillRect/>
          </a:stretch>
        </p:blipFill>
        <p:spPr>
          <a:xfrm>
            <a:off x="548640" y="1325880"/>
            <a:ext cx="11064240" cy="3566160"/>
          </a:xfrm>
          <a:prstGeom prst="rect">
            <a:avLst/>
          </a:prstGeom>
        </p:spPr>
      </p:pic>
      <p:sp>
        <p:nvSpPr>
          <p:cNvPr id="4" name="Shape 1"/>
          <p:cNvSpPr/>
          <p:nvPr/>
        </p:nvSpPr>
        <p:spPr>
          <a:xfrm>
            <a:off x="548640" y="5074920"/>
            <a:ext cx="11094415" cy="1051560"/>
          </a:xfrm>
          <a:prstGeom prst="roundRect">
            <a:avLst>
              <a:gd name="adj" fmla="val 4348"/>
            </a:avLst>
          </a:prstGeom>
          <a:solidFill>
            <a:srgbClr val="0B2F3A"/>
          </a:solidFill>
          <a:ln w="12700">
            <a:solidFill>
              <a:srgbClr val="0B2F3A"/>
            </a:solidFill>
            <a:prstDash val="solid"/>
          </a:ln>
        </p:spPr>
      </p:sp>
      <p:sp>
        <p:nvSpPr>
          <p:cNvPr id="5" name="Text 2"/>
          <p:cNvSpPr txBox="1"/>
          <p:nvPr/>
        </p:nvSpPr>
        <p:spPr>
          <a:xfrm>
            <a:off x="822960" y="5257800"/>
            <a:ext cx="10545775" cy="731520"/>
          </a:xfrm>
          <a:prstGeom prst="rect">
            <a:avLst/>
          </a:prstGeom>
          <a:noFill/>
          <a:ln/>
        </p:spPr>
        <p:txBody>
          <a:bodyPr wrap="square" lIns="0" tIns="0" rIns="0" bIns="0" rtlCol="0" anchor="ctr"/>
          <a:lstStyle/>
          <a:p>
            <a:pPr indent="0" marL="0">
              <a:buNone/>
            </a:pPr>
            <a:r>
              <a:rPr lang="en-US" sz="1350" dirty="0">
                <a:solidFill>
                  <a:srgbClr val="FFFFFF"/>
                </a:solidFill>
                <a:latin typeface="Calibri" pitchFamily="34" charset="0"/>
                <a:ea typeface="Calibri" pitchFamily="34" charset="-122"/>
                <a:cs typeface="Calibri" pitchFamily="34" charset="-120"/>
              </a:rPr>
              <a:t>The red bar is a model that predicts a CONSTANT. On the left it has the LONGEST bar - the best clinical score of anything tested. On the right it has the SHORTEST - because it is the least-bad R-squared. One metric says it is the winner; the other says nothing here works.</a:t>
            </a:r>
            <a:endParaRPr lang="en-US" sz="13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84048"/>
            <a:ext cx="11094415" cy="868680"/>
          </a:xfrm>
          <a:prstGeom prst="rect">
            <a:avLst/>
          </a:prstGeom>
          <a:noFill/>
          <a:ln/>
        </p:spPr>
        <p:txBody>
          <a:bodyPr wrap="square" rtlCol="0" anchor="t"/>
          <a:lstStyle/>
          <a:p>
            <a:pPr indent="0" marL="0">
              <a:buNone/>
            </a:pPr>
            <a:r>
              <a:rPr lang="en-US" sz="2700" b="1" dirty="0">
                <a:solidFill>
                  <a:srgbClr val="0B2F3A"/>
                </a:solidFill>
                <a:latin typeface="Cambria" pitchFamily="34" charset="0"/>
                <a:ea typeface="Cambria" pitchFamily="34" charset="-122"/>
                <a:cs typeface="Cambria" pitchFamily="34" charset="-120"/>
              </a:rPr>
              <a:t>Finding 3: the fusion had degenerated into a minimum operator</a:t>
            </a:r>
            <a:endParaRPr lang="en-US" sz="2700" dirty="0"/>
          </a:p>
        </p:txBody>
      </p:sp>
      <p:sp>
        <p:nvSpPr>
          <p:cNvPr id="3" name="Text 1"/>
          <p:cNvSpPr txBox="1"/>
          <p:nvPr/>
        </p:nvSpPr>
        <p:spPr>
          <a:xfrm>
            <a:off x="548640" y="1280160"/>
            <a:ext cx="11094415" cy="548640"/>
          </a:xfrm>
          <a:prstGeom prst="rect">
            <a:avLst/>
          </a:prstGeom>
          <a:noFill/>
          <a:ln/>
        </p:spPr>
        <p:txBody>
          <a:bodyPr wrap="square" rtlCol="0" anchor="ctr"/>
          <a:lstStyle/>
          <a:p>
            <a:pPr indent="0" marL="0">
              <a:buNone/>
            </a:pPr>
            <a:r>
              <a:rPr lang="en-US" sz="1400" dirty="0">
                <a:solidFill>
                  <a:srgbClr val="0B2F3A"/>
                </a:solidFill>
                <a:latin typeface="Calibri" pitchFamily="34" charset="0"/>
                <a:ea typeface="Calibri" pitchFamily="34" charset="-122"/>
                <a:cs typeface="Calibri" pitchFamily="34" charset="-120"/>
              </a:rPr>
              <a:t>If every model gets the SAME density, the fuzzy measure becomes symmetric - it depends only on how many models are in a group, never which ones. The Choquet integral then reduces to a fixed function of the sorted predictions:</a:t>
            </a:r>
            <a:endParaRPr lang="en-US" sz="1400" dirty="0"/>
          </a:p>
        </p:txBody>
      </p:sp>
      <p:sp>
        <p:nvSpPr>
          <p:cNvPr id="4" name="Shape 2"/>
          <p:cNvSpPr/>
          <p:nvPr/>
        </p:nvSpPr>
        <p:spPr>
          <a:xfrm>
            <a:off x="548640" y="1874520"/>
            <a:ext cx="5852160" cy="1737360"/>
          </a:xfrm>
          <a:prstGeom prst="roundRect">
            <a:avLst>
              <a:gd name="adj" fmla="val 2632"/>
            </a:avLst>
          </a:prstGeom>
          <a:solidFill>
            <a:srgbClr val="0B2F3A"/>
          </a:solidFill>
          <a:ln w="12700">
            <a:solidFill>
              <a:srgbClr val="0B2F3A"/>
            </a:solidFill>
            <a:prstDash val="solid"/>
          </a:ln>
        </p:spPr>
      </p:sp>
      <p:sp>
        <p:nvSpPr>
          <p:cNvPr id="5" name="Text 3"/>
          <p:cNvSpPr txBox="1"/>
          <p:nvPr/>
        </p:nvSpPr>
        <p:spPr>
          <a:xfrm>
            <a:off x="777240" y="2020824"/>
            <a:ext cx="5394960" cy="1444752"/>
          </a:xfrm>
          <a:prstGeom prst="rect">
            <a:avLst/>
          </a:prstGeom>
          <a:noFill/>
          <a:ln/>
        </p:spPr>
        <p:txBody>
          <a:bodyPr wrap="square" lIns="0" tIns="0" rIns="0" bIns="0" rtlCol="0" anchor="t"/>
          <a:lstStyle/>
          <a:p>
            <a:pPr indent="0" marL="0">
              <a:lnSpc>
                <a:spcPct val="130000"/>
              </a:lnSpc>
              <a:buNone/>
            </a:pPr>
            <a:r>
              <a:rPr lang="en-US" sz="1200" dirty="0">
                <a:solidFill>
                  <a:srgbClr val="00C2A8"/>
                </a:solidFill>
                <a:latin typeface="Courier New" pitchFamily="34" charset="0"/>
                <a:ea typeface="Courier New" pitchFamily="34" charset="-122"/>
                <a:cs typeface="Courier New" pitchFamily="34" charset="-120"/>
              </a:rPr>
              <a:t>w_j = g * beta^(j-1),   beta = 1 + lambda*g</a:t>
            </a:r>
            <a:endParaRPr lang="en-US" sz="1200" dirty="0"/>
          </a:p>
          <a:p>
            <a:pPr indent="0" marL="0">
              <a:lnSpc>
                <a:spcPct val="130000"/>
              </a:lnSpc>
              <a:buNone/>
            </a:pPr>
            <a:endParaRPr lang="en-US" sz="1200" dirty="0"/>
          </a:p>
          <a:p>
            <a:pPr indent="0" marL="0">
              <a:lnSpc>
                <a:spcPct val="130000"/>
              </a:lnSpc>
              <a:buNone/>
            </a:pPr>
            <a:r>
              <a:rPr lang="en-US" sz="1200" dirty="0">
                <a:solidFill>
                  <a:srgbClr val="00C2A8"/>
                </a:solidFill>
                <a:latin typeface="Courier New" pitchFamily="34" charset="0"/>
                <a:ea typeface="Courier New" pitchFamily="34" charset="-122"/>
                <a:cs typeface="Courier New" pitchFamily="34" charset="-120"/>
              </a:rPr>
              <a:t>j = 1 is the LARGEST prediction</a:t>
            </a:r>
            <a:endParaRPr lang="en-US" sz="1200" dirty="0"/>
          </a:p>
          <a:p>
            <a:pPr indent="0" marL="0">
              <a:lnSpc>
                <a:spcPct val="130000"/>
              </a:lnSpc>
              <a:buNone/>
            </a:pPr>
            <a:endParaRPr lang="en-US" sz="1200" dirty="0"/>
          </a:p>
          <a:p>
            <a:pPr indent="0" marL="0">
              <a:lnSpc>
                <a:spcPct val="130000"/>
              </a:lnSpc>
              <a:buNone/>
            </a:pPr>
            <a:r>
              <a:rPr lang="en-US" sz="1200" dirty="0">
                <a:solidFill>
                  <a:srgbClr val="00C2A8"/>
                </a:solidFill>
                <a:latin typeface="Courier New" pitchFamily="34" charset="0"/>
                <a:ea typeface="Courier New" pitchFamily="34" charset="-122"/>
                <a:cs typeface="Courier New" pitchFamily="34" charset="-120"/>
              </a:rPr>
              <a:t>sum(g) &lt; 1  =&gt;  lambda &gt; 0  =&gt;  beta &gt; 1</a:t>
            </a:r>
            <a:endParaRPr lang="en-US" sz="1200" dirty="0"/>
          </a:p>
          <a:p>
            <a:pPr indent="0" marL="0">
              <a:lnSpc>
                <a:spcPct val="130000"/>
              </a:lnSpc>
              <a:buNone/>
            </a:pPr>
            <a:r>
              <a:rPr lang="en-US" sz="1200" dirty="0">
                <a:solidFill>
                  <a:srgbClr val="00C2A8"/>
                </a:solidFill>
                <a:latin typeface="Courier New" pitchFamily="34" charset="0"/>
                <a:ea typeface="Courier New" pitchFamily="34" charset="-122"/>
                <a:cs typeface="Courier New" pitchFamily="34" charset="-120"/>
              </a:rPr>
              <a:t>so weight GROWS toward the smallest.</a:t>
            </a:r>
            <a:endParaRPr lang="en-US" sz="1200" dirty="0"/>
          </a:p>
        </p:txBody>
      </p:sp>
      <p:graphicFrame>
        <p:nvGraphicFramePr>
          <p:cNvPr id="13" name="Table 0"/>
          <p:cNvGraphicFramePr>
            <a:graphicFrameLocks noGrp="1"/>
          </p:cNvGraphicFramePr>
          <p:nvPr>
            <p:extLst>
              <p:ext uri="{D42A27DB-BD31-4B8C-83A1-F6EECF244321}">
                <p14:modId xmlns:p14="http://schemas.microsoft.com/office/powerpoint/2010/main" val="1579011935"/>
              </p:ext>
            </p:extLst>
          </p:nvPr>
        </p:nvGraphicFramePr>
        <p:xfrm>
          <a:off x="6537960" y="1874520"/>
          <a:ext cx="5074920" cy="914400"/>
        </p:xfrm>
        <a:graphic>
          <a:graphicData uri="http://schemas.openxmlformats.org/drawingml/2006/table">
            <a:tbl>
              <a:tblPr/>
              <a:tblGrid>
                <a:gridCol w="685800"/>
                <a:gridCol w="1005840"/>
                <a:gridCol w="1005840"/>
                <a:gridCol w="1097280"/>
                <a:gridCol w="1280160"/>
              </a:tblGrid>
              <a:tr h="292608">
                <a:tc>
                  <a:txBody>
                    <a:bodyPr/>
                    <a:lstStyle/>
                    <a:p>
                      <a:pPr algn="l" indent="0" marL="0">
                        <a:buNone/>
                      </a:pPr>
                      <a:r>
                        <a:rPr lang="en-US" sz="1100" b="1" dirty="0">
                          <a:solidFill>
                            <a:srgbClr val="FFFFFF"/>
                          </a:solidFill>
                          <a:latin typeface="Calibri" pitchFamily="34" charset="0"/>
                          <a:ea typeface="Calibri" pitchFamily="34" charset="-122"/>
                          <a:cs typeface="Calibri" pitchFamily="34" charset="-120"/>
                        </a:rPr>
                        <a:t>g</a:t>
                      </a:r>
                      <a:endParaRPr lang="en-US" sz="1100" dirty="0">
                        <a:latin typeface="Calibri" charset="0"/>
                        <a:ea typeface="Calibri" charset="0"/>
                        <a:cs typeface="Calibri" charset="0"/>
                      </a:endParaRPr>
                    </a:p>
                  </a:txBody>
                  <a:tcPr marL="91440" marR="91440" marT="45720" marB="45720" anchor="ctr">
                    <a:lnL w="6350" cap="flat" cmpd="sng" algn="ctr">
                      <a:solidFill>
                        <a:srgbClr val="D5E2E6"/>
                      </a:solidFill>
                      <a:prstDash val="solid"/>
                      <a:round/>
                      <a:headEnd type="none" w="med" len="med"/>
                      <a:tailEnd type="none" w="med" len="med"/>
                    </a:lnL>
                    <a:lnR w="6350" cap="flat" cmpd="sng" algn="ctr">
                      <a:solidFill>
                        <a:srgbClr val="D5E2E6"/>
                      </a:solidFill>
                      <a:prstDash val="solid"/>
                      <a:round/>
                      <a:headEnd type="none" w="med" len="med"/>
                      <a:tailEnd type="none" w="med" len="med"/>
                    </a:lnR>
                    <a:lnT w="6350" cap="flat" cmpd="sng" algn="ctr">
                      <a:solidFill>
                        <a:srgbClr val="D5E2E6"/>
                      </a:solidFill>
                      <a:prstDash val="solid"/>
                      <a:round/>
                      <a:headEnd type="none" w="med" len="med"/>
                      <a:tailEnd type="none" w="med" len="med"/>
                    </a:lnT>
                    <a:lnB w="6350" cap="flat" cmpd="sng" algn="ctr">
                      <a:solidFill>
                        <a:srgbClr val="D5E2E6"/>
                      </a:solidFill>
                      <a:prstDash val="solid"/>
                      <a:round/>
                      <a:headEnd type="none" w="med" len="med"/>
                      <a:tailEnd type="none" w="med" len="med"/>
                    </a:lnB>
                    <a:solidFill>
                      <a:srgbClr val="0B2F3A"/>
                    </a:solidFill>
                  </a:tcPr>
                </a:tc>
                <a:tc>
                  <a:txBody>
                    <a:bodyPr/>
                    <a:lstStyle/>
                    <a:p>
                      <a:pPr algn="l" indent="0" marL="0">
                        <a:buNone/>
                      </a:pPr>
                      <a:r>
                        <a:rPr lang="en-US" sz="1100" b="1" dirty="0">
                          <a:solidFill>
                            <a:srgbClr val="FFFFFF"/>
                          </a:solidFill>
                          <a:latin typeface="Calibri" pitchFamily="34" charset="0"/>
                          <a:ea typeface="Calibri" pitchFamily="34" charset="-122"/>
                          <a:cs typeface="Calibri" pitchFamily="34" charset="-120"/>
                        </a:rPr>
                        <a:t>w(largest)</a:t>
                      </a:r>
                      <a:endParaRPr lang="en-US" sz="1100" dirty="0">
                        <a:latin typeface="Calibri" charset="0"/>
                        <a:ea typeface="Calibri" charset="0"/>
                        <a:cs typeface="Calibri" charset="0"/>
                      </a:endParaRPr>
                    </a:p>
                  </a:txBody>
                  <a:tcPr marL="91440" marR="91440" marT="45720" marB="45720" anchor="ctr">
                    <a:lnL w="6350" cap="flat" cmpd="sng" algn="ctr">
                      <a:solidFill>
                        <a:srgbClr val="D5E2E6"/>
                      </a:solidFill>
                      <a:prstDash val="solid"/>
                      <a:round/>
                      <a:headEnd type="none" w="med" len="med"/>
                      <a:tailEnd type="none" w="med" len="med"/>
                    </a:lnL>
                    <a:lnR w="6350" cap="flat" cmpd="sng" algn="ctr">
                      <a:solidFill>
                        <a:srgbClr val="D5E2E6"/>
                      </a:solidFill>
                      <a:prstDash val="solid"/>
                      <a:round/>
                      <a:headEnd type="none" w="med" len="med"/>
                      <a:tailEnd type="none" w="med" len="med"/>
                    </a:lnR>
                    <a:lnT w="6350" cap="flat" cmpd="sng" algn="ctr">
                      <a:solidFill>
                        <a:srgbClr val="D5E2E6"/>
                      </a:solidFill>
                      <a:prstDash val="solid"/>
                      <a:round/>
                      <a:headEnd type="none" w="med" len="med"/>
                      <a:tailEnd type="none" w="med" len="med"/>
                    </a:lnT>
                    <a:lnB w="6350" cap="flat" cmpd="sng" algn="ctr">
                      <a:solidFill>
                        <a:srgbClr val="D5E2E6"/>
                      </a:solidFill>
                      <a:prstDash val="solid"/>
                      <a:round/>
                      <a:headEnd type="none" w="med" len="med"/>
                      <a:tailEnd type="none" w="med" len="med"/>
                    </a:lnB>
                    <a:solidFill>
                      <a:srgbClr val="0B2F3A"/>
                    </a:solidFill>
                  </a:tcPr>
                </a:tc>
                <a:tc>
                  <a:txBody>
                    <a:bodyPr/>
                    <a:lstStyle/>
                    <a:p>
                      <a:pPr algn="l" indent="0" marL="0">
                        <a:buNone/>
                      </a:pPr>
                      <a:r>
                        <a:rPr lang="en-US" sz="1100" b="1" dirty="0">
                          <a:solidFill>
                            <a:srgbClr val="FFFFFF"/>
                          </a:solidFill>
                          <a:latin typeface="Calibri" pitchFamily="34" charset="0"/>
                          <a:ea typeface="Calibri" pitchFamily="34" charset="-122"/>
                          <a:cs typeface="Calibri" pitchFamily="34" charset="-120"/>
                        </a:rPr>
                        <a:t>w(middle)</a:t>
                      </a:r>
                      <a:endParaRPr lang="en-US" sz="1100" dirty="0">
                        <a:latin typeface="Calibri" charset="0"/>
                        <a:ea typeface="Calibri" charset="0"/>
                        <a:cs typeface="Calibri" charset="0"/>
                      </a:endParaRPr>
                    </a:p>
                  </a:txBody>
                  <a:tcPr marL="91440" marR="91440" marT="45720" marB="45720" anchor="ctr">
                    <a:lnL w="6350" cap="flat" cmpd="sng" algn="ctr">
                      <a:solidFill>
                        <a:srgbClr val="D5E2E6"/>
                      </a:solidFill>
                      <a:prstDash val="solid"/>
                      <a:round/>
                      <a:headEnd type="none" w="med" len="med"/>
                      <a:tailEnd type="none" w="med" len="med"/>
                    </a:lnL>
                    <a:lnR w="6350" cap="flat" cmpd="sng" algn="ctr">
                      <a:solidFill>
                        <a:srgbClr val="D5E2E6"/>
                      </a:solidFill>
                      <a:prstDash val="solid"/>
                      <a:round/>
                      <a:headEnd type="none" w="med" len="med"/>
                      <a:tailEnd type="none" w="med" len="med"/>
                    </a:lnR>
                    <a:lnT w="6350" cap="flat" cmpd="sng" algn="ctr">
                      <a:solidFill>
                        <a:srgbClr val="D5E2E6"/>
                      </a:solidFill>
                      <a:prstDash val="solid"/>
                      <a:round/>
                      <a:headEnd type="none" w="med" len="med"/>
                      <a:tailEnd type="none" w="med" len="med"/>
                    </a:lnT>
                    <a:lnB w="6350" cap="flat" cmpd="sng" algn="ctr">
                      <a:solidFill>
                        <a:srgbClr val="D5E2E6"/>
                      </a:solidFill>
                      <a:prstDash val="solid"/>
                      <a:round/>
                      <a:headEnd type="none" w="med" len="med"/>
                      <a:tailEnd type="none" w="med" len="med"/>
                    </a:lnB>
                    <a:solidFill>
                      <a:srgbClr val="0B2F3A"/>
                    </a:solidFill>
                  </a:tcPr>
                </a:tc>
                <a:tc>
                  <a:txBody>
                    <a:bodyPr/>
                    <a:lstStyle/>
                    <a:p>
                      <a:pPr algn="l" indent="0" marL="0">
                        <a:buNone/>
                      </a:pPr>
                      <a:r>
                        <a:rPr lang="en-US" sz="1100" b="1" dirty="0">
                          <a:solidFill>
                            <a:srgbClr val="FFFFFF"/>
                          </a:solidFill>
                          <a:latin typeface="Calibri" pitchFamily="34" charset="0"/>
                          <a:ea typeface="Calibri" pitchFamily="34" charset="-122"/>
                          <a:cs typeface="Calibri" pitchFamily="34" charset="-120"/>
                        </a:rPr>
                        <a:t>w(smallest)</a:t>
                      </a:r>
                      <a:endParaRPr lang="en-US" sz="1100" dirty="0">
                        <a:latin typeface="Calibri" charset="0"/>
                        <a:ea typeface="Calibri" charset="0"/>
                        <a:cs typeface="Calibri" charset="0"/>
                      </a:endParaRPr>
                    </a:p>
                  </a:txBody>
                  <a:tcPr marL="91440" marR="91440" marT="45720" marB="45720" anchor="ctr">
                    <a:lnL w="6350" cap="flat" cmpd="sng" algn="ctr">
                      <a:solidFill>
                        <a:srgbClr val="D5E2E6"/>
                      </a:solidFill>
                      <a:prstDash val="solid"/>
                      <a:round/>
                      <a:headEnd type="none" w="med" len="med"/>
                      <a:tailEnd type="none" w="med" len="med"/>
                    </a:lnL>
                    <a:lnR w="6350" cap="flat" cmpd="sng" algn="ctr">
                      <a:solidFill>
                        <a:srgbClr val="D5E2E6"/>
                      </a:solidFill>
                      <a:prstDash val="solid"/>
                      <a:round/>
                      <a:headEnd type="none" w="med" len="med"/>
                      <a:tailEnd type="none" w="med" len="med"/>
                    </a:lnR>
                    <a:lnT w="6350" cap="flat" cmpd="sng" algn="ctr">
                      <a:solidFill>
                        <a:srgbClr val="D5E2E6"/>
                      </a:solidFill>
                      <a:prstDash val="solid"/>
                      <a:round/>
                      <a:headEnd type="none" w="med" len="med"/>
                      <a:tailEnd type="none" w="med" len="med"/>
                    </a:lnT>
                    <a:lnB w="6350" cap="flat" cmpd="sng" algn="ctr">
                      <a:solidFill>
                        <a:srgbClr val="D5E2E6"/>
                      </a:solidFill>
                      <a:prstDash val="solid"/>
                      <a:round/>
                      <a:headEnd type="none" w="med" len="med"/>
                      <a:tailEnd type="none" w="med" len="med"/>
                    </a:lnB>
                    <a:solidFill>
                      <a:srgbClr val="0B2F3A"/>
                    </a:solidFill>
                  </a:tcPr>
                </a:tc>
                <a:tc>
                  <a:txBody>
                    <a:bodyPr/>
                    <a:lstStyle/>
                    <a:p>
                      <a:pPr algn="l" indent="0" marL="0">
                        <a:buNone/>
                      </a:pPr>
                      <a:r>
                        <a:rPr lang="en-US" sz="1100" b="1" dirty="0">
                          <a:solidFill>
                            <a:srgbClr val="FFFFFF"/>
                          </a:solidFill>
                          <a:latin typeface="Calibri" pitchFamily="34" charset="0"/>
                          <a:ea typeface="Calibri" pitchFamily="34" charset="-122"/>
                          <a:cs typeface="Calibri" pitchFamily="34" charset="-120"/>
                        </a:rPr>
                        <a:t>becomes</a:t>
                      </a:r>
                      <a:endParaRPr lang="en-US" sz="1100" dirty="0">
                        <a:latin typeface="Calibri" charset="0"/>
                        <a:ea typeface="Calibri" charset="0"/>
                        <a:cs typeface="Calibri" charset="0"/>
                      </a:endParaRPr>
                    </a:p>
                  </a:txBody>
                  <a:tcPr marL="91440" marR="91440" marT="45720" marB="45720" anchor="ctr">
                    <a:lnL w="6350" cap="flat" cmpd="sng" algn="ctr">
                      <a:solidFill>
                        <a:srgbClr val="D5E2E6"/>
                      </a:solidFill>
                      <a:prstDash val="solid"/>
                      <a:round/>
                      <a:headEnd type="none" w="med" len="med"/>
                      <a:tailEnd type="none" w="med" len="med"/>
                    </a:lnL>
                    <a:lnR w="6350" cap="flat" cmpd="sng" algn="ctr">
                      <a:solidFill>
                        <a:srgbClr val="D5E2E6"/>
                      </a:solidFill>
                      <a:prstDash val="solid"/>
                      <a:round/>
                      <a:headEnd type="none" w="med" len="med"/>
                      <a:tailEnd type="none" w="med" len="med"/>
                    </a:lnR>
                    <a:lnT w="6350" cap="flat" cmpd="sng" algn="ctr">
                      <a:solidFill>
                        <a:srgbClr val="D5E2E6"/>
                      </a:solidFill>
                      <a:prstDash val="solid"/>
                      <a:round/>
                      <a:headEnd type="none" w="med" len="med"/>
                      <a:tailEnd type="none" w="med" len="med"/>
                    </a:lnT>
                    <a:lnB w="6350" cap="flat" cmpd="sng" algn="ctr">
                      <a:solidFill>
                        <a:srgbClr val="D5E2E6"/>
                      </a:solidFill>
                      <a:prstDash val="solid"/>
                      <a:round/>
                      <a:headEnd type="none" w="med" len="med"/>
                      <a:tailEnd type="none" w="med" len="med"/>
                    </a:lnB>
                    <a:solidFill>
                      <a:srgbClr val="0B2F3A"/>
                    </a:solidFill>
                  </a:tcPr>
                </a:tc>
              </a:tr>
              <a:tr h="292608">
                <a:tc>
                  <a:txBody>
                    <a:bodyPr/>
                    <a:lstStyle/>
                    <a:p>
                      <a:pPr algn="l" indent="0" marL="0">
                        <a:buNone/>
                      </a:pPr>
                      <a:r>
                        <a:rPr lang="en-US" sz="1100" dirty="0">
                          <a:solidFill>
                            <a:srgbClr val="0B2F3A"/>
                          </a:solidFill>
                          <a:latin typeface="Calibri" pitchFamily="34" charset="0"/>
                          <a:ea typeface="Calibri" pitchFamily="34" charset="-122"/>
                          <a:cs typeface="Calibri" pitchFamily="34" charset="-120"/>
                        </a:rPr>
                        <a:t>0.010</a:t>
                      </a:r>
                      <a:endParaRPr lang="en-US" sz="1100" dirty="0">
                        <a:latin typeface="Calibri" charset="0"/>
                        <a:ea typeface="Calibri" charset="0"/>
                        <a:cs typeface="Calibri" charset="0"/>
                      </a:endParaRPr>
                    </a:p>
                  </a:txBody>
                  <a:tcPr marL="91440" marR="91440" marT="45720" marB="45720" anchor="ctr">
                    <a:lnL w="6350" cap="flat" cmpd="sng" algn="ctr">
                      <a:solidFill>
                        <a:srgbClr val="D5E2E6"/>
                      </a:solidFill>
                      <a:prstDash val="solid"/>
                      <a:round/>
                      <a:headEnd type="none" w="med" len="med"/>
                      <a:tailEnd type="none" w="med" len="med"/>
                    </a:lnL>
                    <a:lnR w="6350" cap="flat" cmpd="sng" algn="ctr">
                      <a:solidFill>
                        <a:srgbClr val="D5E2E6"/>
                      </a:solidFill>
                      <a:prstDash val="solid"/>
                      <a:round/>
                      <a:headEnd type="none" w="med" len="med"/>
                      <a:tailEnd type="none" w="med" len="med"/>
                    </a:lnR>
                    <a:lnT w="6350" cap="flat" cmpd="sng" algn="ctr">
                      <a:solidFill>
                        <a:srgbClr val="D5E2E6"/>
                      </a:solidFill>
                      <a:prstDash val="solid"/>
                      <a:round/>
                      <a:headEnd type="none" w="med" len="med"/>
                      <a:tailEnd type="none" w="med" len="med"/>
                    </a:lnT>
                    <a:lnB w="6350" cap="flat" cmpd="sng" algn="ctr">
                      <a:solidFill>
                        <a:srgbClr val="D5E2E6"/>
                      </a:solidFill>
                      <a:prstDash val="solid"/>
                      <a:round/>
                      <a:headEnd type="none" w="med" len="med"/>
                      <a:tailEnd type="none" w="med" len="med"/>
                    </a:lnB>
                    <a:solidFill>
                      <a:srgbClr val="FFFFFF"/>
                    </a:solidFill>
                  </a:tcPr>
                </a:tc>
                <a:tc>
                  <a:txBody>
                    <a:bodyPr/>
                    <a:lstStyle/>
                    <a:p>
                      <a:pPr algn="l" indent="0" marL="0">
                        <a:buNone/>
                      </a:pPr>
                      <a:r>
                        <a:rPr lang="en-US" sz="1100" dirty="0">
                          <a:solidFill>
                            <a:srgbClr val="0B2F3A"/>
                          </a:solidFill>
                          <a:latin typeface="Calibri" pitchFamily="34" charset="0"/>
                          <a:ea typeface="Calibri" pitchFamily="34" charset="-122"/>
                          <a:cs typeface="Calibri" pitchFamily="34" charset="-120"/>
                        </a:rPr>
                        <a:t>0.010</a:t>
                      </a:r>
                      <a:endParaRPr lang="en-US" sz="1100" dirty="0">
                        <a:latin typeface="Calibri" charset="0"/>
                        <a:ea typeface="Calibri" charset="0"/>
                        <a:cs typeface="Calibri" charset="0"/>
                      </a:endParaRPr>
                    </a:p>
                  </a:txBody>
                  <a:tcPr marL="91440" marR="91440" marT="45720" marB="45720" anchor="ctr">
                    <a:lnL w="6350" cap="flat" cmpd="sng" algn="ctr">
                      <a:solidFill>
                        <a:srgbClr val="D5E2E6"/>
                      </a:solidFill>
                      <a:prstDash val="solid"/>
                      <a:round/>
                      <a:headEnd type="none" w="med" len="med"/>
                      <a:tailEnd type="none" w="med" len="med"/>
                    </a:lnL>
                    <a:lnR w="6350" cap="flat" cmpd="sng" algn="ctr">
                      <a:solidFill>
                        <a:srgbClr val="D5E2E6"/>
                      </a:solidFill>
                      <a:prstDash val="solid"/>
                      <a:round/>
                      <a:headEnd type="none" w="med" len="med"/>
                      <a:tailEnd type="none" w="med" len="med"/>
                    </a:lnR>
                    <a:lnT w="6350" cap="flat" cmpd="sng" algn="ctr">
                      <a:solidFill>
                        <a:srgbClr val="D5E2E6"/>
                      </a:solidFill>
                      <a:prstDash val="solid"/>
                      <a:round/>
                      <a:headEnd type="none" w="med" len="med"/>
                      <a:tailEnd type="none" w="med" len="med"/>
                    </a:lnT>
                    <a:lnB w="6350" cap="flat" cmpd="sng" algn="ctr">
                      <a:solidFill>
                        <a:srgbClr val="D5E2E6"/>
                      </a:solidFill>
                      <a:prstDash val="solid"/>
                      <a:round/>
                      <a:headEnd type="none" w="med" len="med"/>
                      <a:tailEnd type="none" w="med" len="med"/>
                    </a:lnB>
                    <a:solidFill>
                      <a:srgbClr val="FFFFFF"/>
                    </a:solidFill>
                  </a:tcPr>
                </a:tc>
                <a:tc>
                  <a:txBody>
                    <a:bodyPr/>
                    <a:lstStyle/>
                    <a:p>
                      <a:pPr algn="l" indent="0" marL="0">
                        <a:buNone/>
                      </a:pPr>
                      <a:r>
                        <a:rPr lang="en-US" sz="1100" dirty="0">
                          <a:solidFill>
                            <a:srgbClr val="0B2F3A"/>
                          </a:solidFill>
                          <a:latin typeface="Calibri" pitchFamily="34" charset="0"/>
                          <a:ea typeface="Calibri" pitchFamily="34" charset="-122"/>
                          <a:cs typeface="Calibri" pitchFamily="34" charset="-120"/>
                        </a:rPr>
                        <a:t>0.095</a:t>
                      </a:r>
                      <a:endParaRPr lang="en-US" sz="1100" dirty="0">
                        <a:latin typeface="Calibri" charset="0"/>
                        <a:ea typeface="Calibri" charset="0"/>
                        <a:cs typeface="Calibri" charset="0"/>
                      </a:endParaRPr>
                    </a:p>
                  </a:txBody>
                  <a:tcPr marL="91440" marR="91440" marT="45720" marB="45720" anchor="ctr">
                    <a:lnL w="6350" cap="flat" cmpd="sng" algn="ctr">
                      <a:solidFill>
                        <a:srgbClr val="D5E2E6"/>
                      </a:solidFill>
                      <a:prstDash val="solid"/>
                      <a:round/>
                      <a:headEnd type="none" w="med" len="med"/>
                      <a:tailEnd type="none" w="med" len="med"/>
                    </a:lnL>
                    <a:lnR w="6350" cap="flat" cmpd="sng" algn="ctr">
                      <a:solidFill>
                        <a:srgbClr val="D5E2E6"/>
                      </a:solidFill>
                      <a:prstDash val="solid"/>
                      <a:round/>
                      <a:headEnd type="none" w="med" len="med"/>
                      <a:tailEnd type="none" w="med" len="med"/>
                    </a:lnR>
                    <a:lnT w="6350" cap="flat" cmpd="sng" algn="ctr">
                      <a:solidFill>
                        <a:srgbClr val="D5E2E6"/>
                      </a:solidFill>
                      <a:prstDash val="solid"/>
                      <a:round/>
                      <a:headEnd type="none" w="med" len="med"/>
                      <a:tailEnd type="none" w="med" len="med"/>
                    </a:lnT>
                    <a:lnB w="6350" cap="flat" cmpd="sng" algn="ctr">
                      <a:solidFill>
                        <a:srgbClr val="D5E2E6"/>
                      </a:solidFill>
                      <a:prstDash val="solid"/>
                      <a:round/>
                      <a:headEnd type="none" w="med" len="med"/>
                      <a:tailEnd type="none" w="med" len="med"/>
                    </a:lnB>
                    <a:solidFill>
                      <a:srgbClr val="FFFFFF"/>
                    </a:solidFill>
                  </a:tcPr>
                </a:tc>
                <a:tc>
                  <a:txBody>
                    <a:bodyPr/>
                    <a:lstStyle/>
                    <a:p>
                      <a:pPr algn="l" indent="0" marL="0">
                        <a:buNone/>
                      </a:pPr>
                      <a:r>
                        <a:rPr lang="en-US" sz="1100" dirty="0">
                          <a:solidFill>
                            <a:srgbClr val="0B2F3A"/>
                          </a:solidFill>
                          <a:latin typeface="Calibri" pitchFamily="34" charset="0"/>
                          <a:ea typeface="Calibri" pitchFamily="34" charset="-122"/>
                          <a:cs typeface="Calibri" pitchFamily="34" charset="-120"/>
                        </a:rPr>
                        <a:t>0.895</a:t>
                      </a:r>
                      <a:endParaRPr lang="en-US" sz="1100" dirty="0">
                        <a:latin typeface="Calibri" charset="0"/>
                        <a:ea typeface="Calibri" charset="0"/>
                        <a:cs typeface="Calibri" charset="0"/>
                      </a:endParaRPr>
                    </a:p>
                  </a:txBody>
                  <a:tcPr marL="91440" marR="91440" marT="45720" marB="45720" anchor="ctr">
                    <a:lnL w="6350" cap="flat" cmpd="sng" algn="ctr">
                      <a:solidFill>
                        <a:srgbClr val="D5E2E6"/>
                      </a:solidFill>
                      <a:prstDash val="solid"/>
                      <a:round/>
                      <a:headEnd type="none" w="med" len="med"/>
                      <a:tailEnd type="none" w="med" len="med"/>
                    </a:lnL>
                    <a:lnR w="6350" cap="flat" cmpd="sng" algn="ctr">
                      <a:solidFill>
                        <a:srgbClr val="D5E2E6"/>
                      </a:solidFill>
                      <a:prstDash val="solid"/>
                      <a:round/>
                      <a:headEnd type="none" w="med" len="med"/>
                      <a:tailEnd type="none" w="med" len="med"/>
                    </a:lnR>
                    <a:lnT w="6350" cap="flat" cmpd="sng" algn="ctr">
                      <a:solidFill>
                        <a:srgbClr val="D5E2E6"/>
                      </a:solidFill>
                      <a:prstDash val="solid"/>
                      <a:round/>
                      <a:headEnd type="none" w="med" len="med"/>
                      <a:tailEnd type="none" w="med" len="med"/>
                    </a:lnT>
                    <a:lnB w="6350" cap="flat" cmpd="sng" algn="ctr">
                      <a:solidFill>
                        <a:srgbClr val="D5E2E6"/>
                      </a:solidFill>
                      <a:prstDash val="solid"/>
                      <a:round/>
                      <a:headEnd type="none" w="med" len="med"/>
                      <a:tailEnd type="none" w="med" len="med"/>
                    </a:lnB>
                    <a:solidFill>
                      <a:srgbClr val="FFFFFF"/>
                    </a:solidFill>
                  </a:tcPr>
                </a:tc>
                <a:tc>
                  <a:txBody>
                    <a:bodyPr/>
                    <a:lstStyle/>
                    <a:p>
                      <a:pPr algn="l" indent="0" marL="0">
                        <a:buNone/>
                      </a:pPr>
                      <a:r>
                        <a:rPr lang="en-US" sz="1100" dirty="0">
                          <a:solidFill>
                            <a:srgbClr val="0B2F3A"/>
                          </a:solidFill>
                          <a:latin typeface="Calibri" pitchFamily="34" charset="0"/>
                          <a:ea typeface="Calibri" pitchFamily="34" charset="-122"/>
                          <a:cs typeface="Calibri" pitchFamily="34" charset="-120"/>
                        </a:rPr>
                        <a:t>minimum</a:t>
                      </a:r>
                      <a:endParaRPr lang="en-US" sz="1100" dirty="0">
                        <a:latin typeface="Calibri" charset="0"/>
                        <a:ea typeface="Calibri" charset="0"/>
                        <a:cs typeface="Calibri" charset="0"/>
                      </a:endParaRPr>
                    </a:p>
                  </a:txBody>
                  <a:tcPr marL="91440" marR="91440" marT="45720" marB="45720" anchor="ctr">
                    <a:lnL w="6350" cap="flat" cmpd="sng" algn="ctr">
                      <a:solidFill>
                        <a:srgbClr val="D5E2E6"/>
                      </a:solidFill>
                      <a:prstDash val="solid"/>
                      <a:round/>
                      <a:headEnd type="none" w="med" len="med"/>
                      <a:tailEnd type="none" w="med" len="med"/>
                    </a:lnL>
                    <a:lnR w="6350" cap="flat" cmpd="sng" algn="ctr">
                      <a:solidFill>
                        <a:srgbClr val="D5E2E6"/>
                      </a:solidFill>
                      <a:prstDash val="solid"/>
                      <a:round/>
                      <a:headEnd type="none" w="med" len="med"/>
                      <a:tailEnd type="none" w="med" len="med"/>
                    </a:lnR>
                    <a:lnT w="6350" cap="flat" cmpd="sng" algn="ctr">
                      <a:solidFill>
                        <a:srgbClr val="D5E2E6"/>
                      </a:solidFill>
                      <a:prstDash val="solid"/>
                      <a:round/>
                      <a:headEnd type="none" w="med" len="med"/>
                      <a:tailEnd type="none" w="med" len="med"/>
                    </a:lnT>
                    <a:lnB w="6350" cap="flat" cmpd="sng" algn="ctr">
                      <a:solidFill>
                        <a:srgbClr val="D5E2E6"/>
                      </a:solidFill>
                      <a:prstDash val="solid"/>
                      <a:round/>
                      <a:headEnd type="none" w="med" len="med"/>
                      <a:tailEnd type="none" w="med" len="med"/>
                    </a:lnB>
                    <a:solidFill>
                      <a:srgbClr val="FFFFFF"/>
                    </a:solidFill>
                  </a:tcPr>
                </a:tc>
              </a:tr>
              <a:tr h="292608">
                <a:tc>
                  <a:txBody>
                    <a:bodyPr/>
                    <a:lstStyle/>
                    <a:p>
                      <a:pPr algn="l" indent="0" marL="0">
                        <a:buNone/>
                      </a:pPr>
                      <a:r>
                        <a:rPr lang="en-US" sz="1100" dirty="0">
                          <a:solidFill>
                            <a:srgbClr val="0B2F3A"/>
                          </a:solidFill>
                          <a:latin typeface="Calibri" pitchFamily="34" charset="0"/>
                          <a:ea typeface="Calibri" pitchFamily="34" charset="-122"/>
                          <a:cs typeface="Calibri" pitchFamily="34" charset="-120"/>
                        </a:rPr>
                        <a:t>0.100</a:t>
                      </a:r>
                      <a:endParaRPr lang="en-US" sz="1100" dirty="0">
                        <a:latin typeface="Calibri" charset="0"/>
                        <a:ea typeface="Calibri" charset="0"/>
                        <a:cs typeface="Calibri" charset="0"/>
                      </a:endParaRPr>
                    </a:p>
                  </a:txBody>
                  <a:tcPr marL="91440" marR="91440" marT="45720" marB="45720" anchor="ctr">
                    <a:lnL w="6350" cap="flat" cmpd="sng" algn="ctr">
                      <a:solidFill>
                        <a:srgbClr val="D5E2E6"/>
                      </a:solidFill>
                      <a:prstDash val="solid"/>
                      <a:round/>
                      <a:headEnd type="none" w="med" len="med"/>
                      <a:tailEnd type="none" w="med" len="med"/>
                    </a:lnL>
                    <a:lnR w="6350" cap="flat" cmpd="sng" algn="ctr">
                      <a:solidFill>
                        <a:srgbClr val="D5E2E6"/>
                      </a:solidFill>
                      <a:prstDash val="solid"/>
                      <a:round/>
                      <a:headEnd type="none" w="med" len="med"/>
                      <a:tailEnd type="none" w="med" len="med"/>
                    </a:lnR>
                    <a:lnT w="6350" cap="flat" cmpd="sng" algn="ctr">
                      <a:solidFill>
                        <a:srgbClr val="D5E2E6"/>
                      </a:solidFill>
                      <a:prstDash val="solid"/>
                      <a:round/>
                      <a:headEnd type="none" w="med" len="med"/>
                      <a:tailEnd type="none" w="med" len="med"/>
                    </a:lnT>
                    <a:lnB w="6350" cap="flat" cmpd="sng" algn="ctr">
                      <a:solidFill>
                        <a:srgbClr val="D5E2E6"/>
                      </a:solidFill>
                      <a:prstDash val="solid"/>
                      <a:round/>
                      <a:headEnd type="none" w="med" len="med"/>
                      <a:tailEnd type="none" w="med" len="med"/>
                    </a:lnB>
                    <a:solidFill>
                      <a:srgbClr val="EAF2F4"/>
                    </a:solidFill>
                  </a:tcPr>
                </a:tc>
                <a:tc>
                  <a:txBody>
                    <a:bodyPr/>
                    <a:lstStyle/>
                    <a:p>
                      <a:pPr algn="l" indent="0" marL="0">
                        <a:buNone/>
                      </a:pPr>
                      <a:r>
                        <a:rPr lang="en-US" sz="1100" dirty="0">
                          <a:solidFill>
                            <a:srgbClr val="0B2F3A"/>
                          </a:solidFill>
                          <a:latin typeface="Calibri" pitchFamily="34" charset="0"/>
                          <a:ea typeface="Calibri" pitchFamily="34" charset="-122"/>
                          <a:cs typeface="Calibri" pitchFamily="34" charset="-120"/>
                        </a:rPr>
                        <a:t>0.100</a:t>
                      </a:r>
                      <a:endParaRPr lang="en-US" sz="1100" dirty="0">
                        <a:latin typeface="Calibri" charset="0"/>
                        <a:ea typeface="Calibri" charset="0"/>
                        <a:cs typeface="Calibri" charset="0"/>
                      </a:endParaRPr>
                    </a:p>
                  </a:txBody>
                  <a:tcPr marL="91440" marR="91440" marT="45720" marB="45720" anchor="ctr">
                    <a:lnL w="6350" cap="flat" cmpd="sng" algn="ctr">
                      <a:solidFill>
                        <a:srgbClr val="D5E2E6"/>
                      </a:solidFill>
                      <a:prstDash val="solid"/>
                      <a:round/>
                      <a:headEnd type="none" w="med" len="med"/>
                      <a:tailEnd type="none" w="med" len="med"/>
                    </a:lnL>
                    <a:lnR w="6350" cap="flat" cmpd="sng" algn="ctr">
                      <a:solidFill>
                        <a:srgbClr val="D5E2E6"/>
                      </a:solidFill>
                      <a:prstDash val="solid"/>
                      <a:round/>
                      <a:headEnd type="none" w="med" len="med"/>
                      <a:tailEnd type="none" w="med" len="med"/>
                    </a:lnR>
                    <a:lnT w="6350" cap="flat" cmpd="sng" algn="ctr">
                      <a:solidFill>
                        <a:srgbClr val="D5E2E6"/>
                      </a:solidFill>
                      <a:prstDash val="solid"/>
                      <a:round/>
                      <a:headEnd type="none" w="med" len="med"/>
                      <a:tailEnd type="none" w="med" len="med"/>
                    </a:lnT>
                    <a:lnB w="6350" cap="flat" cmpd="sng" algn="ctr">
                      <a:solidFill>
                        <a:srgbClr val="D5E2E6"/>
                      </a:solidFill>
                      <a:prstDash val="solid"/>
                      <a:round/>
                      <a:headEnd type="none" w="med" len="med"/>
                      <a:tailEnd type="none" w="med" len="med"/>
                    </a:lnB>
                    <a:solidFill>
                      <a:srgbClr val="EAF2F4"/>
                    </a:solidFill>
                  </a:tcPr>
                </a:tc>
                <a:tc>
                  <a:txBody>
                    <a:bodyPr/>
                    <a:lstStyle/>
                    <a:p>
                      <a:pPr algn="l" indent="0" marL="0">
                        <a:buNone/>
                      </a:pPr>
                      <a:r>
                        <a:rPr lang="en-US" sz="1100" dirty="0">
                          <a:solidFill>
                            <a:srgbClr val="0B2F3A"/>
                          </a:solidFill>
                          <a:latin typeface="Calibri" pitchFamily="34" charset="0"/>
                          <a:ea typeface="Calibri" pitchFamily="34" charset="-122"/>
                          <a:cs typeface="Calibri" pitchFamily="34" charset="-120"/>
                        </a:rPr>
                        <a:t>0.254</a:t>
                      </a:r>
                      <a:endParaRPr lang="en-US" sz="1100" dirty="0">
                        <a:latin typeface="Calibri" charset="0"/>
                        <a:ea typeface="Calibri" charset="0"/>
                        <a:cs typeface="Calibri" charset="0"/>
                      </a:endParaRPr>
                    </a:p>
                  </a:txBody>
                  <a:tcPr marL="91440" marR="91440" marT="45720" marB="45720" anchor="ctr">
                    <a:lnL w="6350" cap="flat" cmpd="sng" algn="ctr">
                      <a:solidFill>
                        <a:srgbClr val="D5E2E6"/>
                      </a:solidFill>
                      <a:prstDash val="solid"/>
                      <a:round/>
                      <a:headEnd type="none" w="med" len="med"/>
                      <a:tailEnd type="none" w="med" len="med"/>
                    </a:lnL>
                    <a:lnR w="6350" cap="flat" cmpd="sng" algn="ctr">
                      <a:solidFill>
                        <a:srgbClr val="D5E2E6"/>
                      </a:solidFill>
                      <a:prstDash val="solid"/>
                      <a:round/>
                      <a:headEnd type="none" w="med" len="med"/>
                      <a:tailEnd type="none" w="med" len="med"/>
                    </a:lnR>
                    <a:lnT w="6350" cap="flat" cmpd="sng" algn="ctr">
                      <a:solidFill>
                        <a:srgbClr val="D5E2E6"/>
                      </a:solidFill>
                      <a:prstDash val="solid"/>
                      <a:round/>
                      <a:headEnd type="none" w="med" len="med"/>
                      <a:tailEnd type="none" w="med" len="med"/>
                    </a:lnT>
                    <a:lnB w="6350" cap="flat" cmpd="sng" algn="ctr">
                      <a:solidFill>
                        <a:srgbClr val="D5E2E6"/>
                      </a:solidFill>
                      <a:prstDash val="solid"/>
                      <a:round/>
                      <a:headEnd type="none" w="med" len="med"/>
                      <a:tailEnd type="none" w="med" len="med"/>
                    </a:lnB>
                    <a:solidFill>
                      <a:srgbClr val="EAF2F4"/>
                    </a:solidFill>
                  </a:tcPr>
                </a:tc>
                <a:tc>
                  <a:txBody>
                    <a:bodyPr/>
                    <a:lstStyle/>
                    <a:p>
                      <a:pPr algn="l" indent="0" marL="0">
                        <a:buNone/>
                      </a:pPr>
                      <a:r>
                        <a:rPr lang="en-US" sz="1100" dirty="0">
                          <a:solidFill>
                            <a:srgbClr val="0B2F3A"/>
                          </a:solidFill>
                          <a:latin typeface="Calibri" pitchFamily="34" charset="0"/>
                          <a:ea typeface="Calibri" pitchFamily="34" charset="-122"/>
                          <a:cs typeface="Calibri" pitchFamily="34" charset="-120"/>
                        </a:rPr>
                        <a:t>0.646</a:t>
                      </a:r>
                      <a:endParaRPr lang="en-US" sz="1100" dirty="0">
                        <a:latin typeface="Calibri" charset="0"/>
                        <a:ea typeface="Calibri" charset="0"/>
                        <a:cs typeface="Calibri" charset="0"/>
                      </a:endParaRPr>
                    </a:p>
                  </a:txBody>
                  <a:tcPr marL="91440" marR="91440" marT="45720" marB="45720" anchor="ctr">
                    <a:lnL w="6350" cap="flat" cmpd="sng" algn="ctr">
                      <a:solidFill>
                        <a:srgbClr val="D5E2E6"/>
                      </a:solidFill>
                      <a:prstDash val="solid"/>
                      <a:round/>
                      <a:headEnd type="none" w="med" len="med"/>
                      <a:tailEnd type="none" w="med" len="med"/>
                    </a:lnL>
                    <a:lnR w="6350" cap="flat" cmpd="sng" algn="ctr">
                      <a:solidFill>
                        <a:srgbClr val="D5E2E6"/>
                      </a:solidFill>
                      <a:prstDash val="solid"/>
                      <a:round/>
                      <a:headEnd type="none" w="med" len="med"/>
                      <a:tailEnd type="none" w="med" len="med"/>
                    </a:lnR>
                    <a:lnT w="6350" cap="flat" cmpd="sng" algn="ctr">
                      <a:solidFill>
                        <a:srgbClr val="D5E2E6"/>
                      </a:solidFill>
                      <a:prstDash val="solid"/>
                      <a:round/>
                      <a:headEnd type="none" w="med" len="med"/>
                      <a:tailEnd type="none" w="med" len="med"/>
                    </a:lnT>
                    <a:lnB w="6350" cap="flat" cmpd="sng" algn="ctr">
                      <a:solidFill>
                        <a:srgbClr val="D5E2E6"/>
                      </a:solidFill>
                      <a:prstDash val="solid"/>
                      <a:round/>
                      <a:headEnd type="none" w="med" len="med"/>
                      <a:tailEnd type="none" w="med" len="med"/>
                    </a:lnB>
                    <a:solidFill>
                      <a:srgbClr val="EAF2F4"/>
                    </a:solidFill>
                  </a:tcPr>
                </a:tc>
                <a:tc>
                  <a:txBody>
                    <a:bodyPr/>
                    <a:lstStyle/>
                    <a:p>
                      <a:pPr algn="l" indent="0" marL="0">
                        <a:buNone/>
                      </a:pPr>
                      <a:r>
                        <a:rPr lang="en-US" sz="1100" dirty="0">
                          <a:solidFill>
                            <a:srgbClr val="0B2F3A"/>
                          </a:solidFill>
                          <a:latin typeface="Calibri" pitchFamily="34" charset="0"/>
                          <a:ea typeface="Calibri" pitchFamily="34" charset="-122"/>
                          <a:cs typeface="Calibri" pitchFamily="34" charset="-120"/>
                        </a:rPr>
                        <a:t>rank-weighted</a:t>
                      </a:r>
                      <a:endParaRPr lang="en-US" sz="1100" dirty="0">
                        <a:latin typeface="Calibri" charset="0"/>
                        <a:ea typeface="Calibri" charset="0"/>
                        <a:cs typeface="Calibri" charset="0"/>
                      </a:endParaRPr>
                    </a:p>
                  </a:txBody>
                  <a:tcPr marL="91440" marR="91440" marT="45720" marB="45720" anchor="ctr">
                    <a:lnL w="6350" cap="flat" cmpd="sng" algn="ctr">
                      <a:solidFill>
                        <a:srgbClr val="D5E2E6"/>
                      </a:solidFill>
                      <a:prstDash val="solid"/>
                      <a:round/>
                      <a:headEnd type="none" w="med" len="med"/>
                      <a:tailEnd type="none" w="med" len="med"/>
                    </a:lnL>
                    <a:lnR w="6350" cap="flat" cmpd="sng" algn="ctr">
                      <a:solidFill>
                        <a:srgbClr val="D5E2E6"/>
                      </a:solidFill>
                      <a:prstDash val="solid"/>
                      <a:round/>
                      <a:headEnd type="none" w="med" len="med"/>
                      <a:tailEnd type="none" w="med" len="med"/>
                    </a:lnR>
                    <a:lnT w="6350" cap="flat" cmpd="sng" algn="ctr">
                      <a:solidFill>
                        <a:srgbClr val="D5E2E6"/>
                      </a:solidFill>
                      <a:prstDash val="solid"/>
                      <a:round/>
                      <a:headEnd type="none" w="med" len="med"/>
                      <a:tailEnd type="none" w="med" len="med"/>
                    </a:lnT>
                    <a:lnB w="6350" cap="flat" cmpd="sng" algn="ctr">
                      <a:solidFill>
                        <a:srgbClr val="D5E2E6"/>
                      </a:solidFill>
                      <a:prstDash val="solid"/>
                      <a:round/>
                      <a:headEnd type="none" w="med" len="med"/>
                      <a:tailEnd type="none" w="med" len="med"/>
                    </a:lnB>
                    <a:solidFill>
                      <a:srgbClr val="EAF2F4"/>
                    </a:solidFill>
                  </a:tcPr>
                </a:tc>
              </a:tr>
              <a:tr h="292608">
                <a:tc>
                  <a:txBody>
                    <a:bodyPr/>
                    <a:lstStyle/>
                    <a:p>
                      <a:pPr algn="l" indent="0" marL="0">
                        <a:buNone/>
                      </a:pPr>
                      <a:r>
                        <a:rPr lang="en-US" sz="1100" dirty="0">
                          <a:solidFill>
                            <a:srgbClr val="0B2F3A"/>
                          </a:solidFill>
                          <a:latin typeface="Calibri" pitchFamily="34" charset="0"/>
                          <a:ea typeface="Calibri" pitchFamily="34" charset="-122"/>
                          <a:cs typeface="Calibri" pitchFamily="34" charset="-120"/>
                        </a:rPr>
                        <a:t>0.333</a:t>
                      </a:r>
                      <a:endParaRPr lang="en-US" sz="1100" dirty="0">
                        <a:latin typeface="Calibri" charset="0"/>
                        <a:ea typeface="Calibri" charset="0"/>
                        <a:cs typeface="Calibri" charset="0"/>
                      </a:endParaRPr>
                    </a:p>
                  </a:txBody>
                  <a:tcPr marL="91440" marR="91440" marT="45720" marB="45720" anchor="ctr">
                    <a:lnL w="6350" cap="flat" cmpd="sng" algn="ctr">
                      <a:solidFill>
                        <a:srgbClr val="D5E2E6"/>
                      </a:solidFill>
                      <a:prstDash val="solid"/>
                      <a:round/>
                      <a:headEnd type="none" w="med" len="med"/>
                      <a:tailEnd type="none" w="med" len="med"/>
                    </a:lnL>
                    <a:lnR w="6350" cap="flat" cmpd="sng" algn="ctr">
                      <a:solidFill>
                        <a:srgbClr val="D5E2E6"/>
                      </a:solidFill>
                      <a:prstDash val="solid"/>
                      <a:round/>
                      <a:headEnd type="none" w="med" len="med"/>
                      <a:tailEnd type="none" w="med" len="med"/>
                    </a:lnR>
                    <a:lnT w="6350" cap="flat" cmpd="sng" algn="ctr">
                      <a:solidFill>
                        <a:srgbClr val="D5E2E6"/>
                      </a:solidFill>
                      <a:prstDash val="solid"/>
                      <a:round/>
                      <a:headEnd type="none" w="med" len="med"/>
                      <a:tailEnd type="none" w="med" len="med"/>
                    </a:lnT>
                    <a:lnB w="6350" cap="flat" cmpd="sng" algn="ctr">
                      <a:solidFill>
                        <a:srgbClr val="D5E2E6"/>
                      </a:solidFill>
                      <a:prstDash val="solid"/>
                      <a:round/>
                      <a:headEnd type="none" w="med" len="med"/>
                      <a:tailEnd type="none" w="med" len="med"/>
                    </a:lnB>
                    <a:solidFill>
                      <a:srgbClr val="FFFFFF"/>
                    </a:solidFill>
                  </a:tcPr>
                </a:tc>
                <a:tc>
                  <a:txBody>
                    <a:bodyPr/>
                    <a:lstStyle/>
                    <a:p>
                      <a:pPr algn="l" indent="0" marL="0">
                        <a:buNone/>
                      </a:pPr>
                      <a:r>
                        <a:rPr lang="en-US" sz="1100" dirty="0">
                          <a:solidFill>
                            <a:srgbClr val="0B2F3A"/>
                          </a:solidFill>
                          <a:latin typeface="Calibri" pitchFamily="34" charset="0"/>
                          <a:ea typeface="Calibri" pitchFamily="34" charset="-122"/>
                          <a:cs typeface="Calibri" pitchFamily="34" charset="-120"/>
                        </a:rPr>
                        <a:t>0.333</a:t>
                      </a:r>
                      <a:endParaRPr lang="en-US" sz="1100" dirty="0">
                        <a:latin typeface="Calibri" charset="0"/>
                        <a:ea typeface="Calibri" charset="0"/>
                        <a:cs typeface="Calibri" charset="0"/>
                      </a:endParaRPr>
                    </a:p>
                  </a:txBody>
                  <a:tcPr marL="91440" marR="91440" marT="45720" marB="45720" anchor="ctr">
                    <a:lnL w="6350" cap="flat" cmpd="sng" algn="ctr">
                      <a:solidFill>
                        <a:srgbClr val="D5E2E6"/>
                      </a:solidFill>
                      <a:prstDash val="solid"/>
                      <a:round/>
                      <a:headEnd type="none" w="med" len="med"/>
                      <a:tailEnd type="none" w="med" len="med"/>
                    </a:lnL>
                    <a:lnR w="6350" cap="flat" cmpd="sng" algn="ctr">
                      <a:solidFill>
                        <a:srgbClr val="D5E2E6"/>
                      </a:solidFill>
                      <a:prstDash val="solid"/>
                      <a:round/>
                      <a:headEnd type="none" w="med" len="med"/>
                      <a:tailEnd type="none" w="med" len="med"/>
                    </a:lnR>
                    <a:lnT w="6350" cap="flat" cmpd="sng" algn="ctr">
                      <a:solidFill>
                        <a:srgbClr val="D5E2E6"/>
                      </a:solidFill>
                      <a:prstDash val="solid"/>
                      <a:round/>
                      <a:headEnd type="none" w="med" len="med"/>
                      <a:tailEnd type="none" w="med" len="med"/>
                    </a:lnT>
                    <a:lnB w="6350" cap="flat" cmpd="sng" algn="ctr">
                      <a:solidFill>
                        <a:srgbClr val="D5E2E6"/>
                      </a:solidFill>
                      <a:prstDash val="solid"/>
                      <a:round/>
                      <a:headEnd type="none" w="med" len="med"/>
                      <a:tailEnd type="none" w="med" len="med"/>
                    </a:lnB>
                    <a:solidFill>
                      <a:srgbClr val="FFFFFF"/>
                    </a:solidFill>
                  </a:tcPr>
                </a:tc>
                <a:tc>
                  <a:txBody>
                    <a:bodyPr/>
                    <a:lstStyle/>
                    <a:p>
                      <a:pPr algn="l" indent="0" marL="0">
                        <a:buNone/>
                      </a:pPr>
                      <a:r>
                        <a:rPr lang="en-US" sz="1100" dirty="0">
                          <a:solidFill>
                            <a:srgbClr val="0B2F3A"/>
                          </a:solidFill>
                          <a:latin typeface="Calibri" pitchFamily="34" charset="0"/>
                          <a:ea typeface="Calibri" pitchFamily="34" charset="-122"/>
                          <a:cs typeface="Calibri" pitchFamily="34" charset="-120"/>
                        </a:rPr>
                        <a:t>0.333</a:t>
                      </a:r>
                      <a:endParaRPr lang="en-US" sz="1100" dirty="0">
                        <a:latin typeface="Calibri" charset="0"/>
                        <a:ea typeface="Calibri" charset="0"/>
                        <a:cs typeface="Calibri" charset="0"/>
                      </a:endParaRPr>
                    </a:p>
                  </a:txBody>
                  <a:tcPr marL="91440" marR="91440" marT="45720" marB="45720" anchor="ctr">
                    <a:lnL w="6350" cap="flat" cmpd="sng" algn="ctr">
                      <a:solidFill>
                        <a:srgbClr val="D5E2E6"/>
                      </a:solidFill>
                      <a:prstDash val="solid"/>
                      <a:round/>
                      <a:headEnd type="none" w="med" len="med"/>
                      <a:tailEnd type="none" w="med" len="med"/>
                    </a:lnL>
                    <a:lnR w="6350" cap="flat" cmpd="sng" algn="ctr">
                      <a:solidFill>
                        <a:srgbClr val="D5E2E6"/>
                      </a:solidFill>
                      <a:prstDash val="solid"/>
                      <a:round/>
                      <a:headEnd type="none" w="med" len="med"/>
                      <a:tailEnd type="none" w="med" len="med"/>
                    </a:lnR>
                    <a:lnT w="6350" cap="flat" cmpd="sng" algn="ctr">
                      <a:solidFill>
                        <a:srgbClr val="D5E2E6"/>
                      </a:solidFill>
                      <a:prstDash val="solid"/>
                      <a:round/>
                      <a:headEnd type="none" w="med" len="med"/>
                      <a:tailEnd type="none" w="med" len="med"/>
                    </a:lnT>
                    <a:lnB w="6350" cap="flat" cmpd="sng" algn="ctr">
                      <a:solidFill>
                        <a:srgbClr val="D5E2E6"/>
                      </a:solidFill>
                      <a:prstDash val="solid"/>
                      <a:round/>
                      <a:headEnd type="none" w="med" len="med"/>
                      <a:tailEnd type="none" w="med" len="med"/>
                    </a:lnB>
                    <a:solidFill>
                      <a:srgbClr val="FFFFFF"/>
                    </a:solidFill>
                  </a:tcPr>
                </a:tc>
                <a:tc>
                  <a:txBody>
                    <a:bodyPr/>
                    <a:lstStyle/>
                    <a:p>
                      <a:pPr algn="l" indent="0" marL="0">
                        <a:buNone/>
                      </a:pPr>
                      <a:r>
                        <a:rPr lang="en-US" sz="1100" dirty="0">
                          <a:solidFill>
                            <a:srgbClr val="0B2F3A"/>
                          </a:solidFill>
                          <a:latin typeface="Calibri" pitchFamily="34" charset="0"/>
                          <a:ea typeface="Calibri" pitchFamily="34" charset="-122"/>
                          <a:cs typeface="Calibri" pitchFamily="34" charset="-120"/>
                        </a:rPr>
                        <a:t>0.333</a:t>
                      </a:r>
                      <a:endParaRPr lang="en-US" sz="1100" dirty="0">
                        <a:latin typeface="Calibri" charset="0"/>
                        <a:ea typeface="Calibri" charset="0"/>
                        <a:cs typeface="Calibri" charset="0"/>
                      </a:endParaRPr>
                    </a:p>
                  </a:txBody>
                  <a:tcPr marL="91440" marR="91440" marT="45720" marB="45720" anchor="ctr">
                    <a:lnL w="6350" cap="flat" cmpd="sng" algn="ctr">
                      <a:solidFill>
                        <a:srgbClr val="D5E2E6"/>
                      </a:solidFill>
                      <a:prstDash val="solid"/>
                      <a:round/>
                      <a:headEnd type="none" w="med" len="med"/>
                      <a:tailEnd type="none" w="med" len="med"/>
                    </a:lnL>
                    <a:lnR w="6350" cap="flat" cmpd="sng" algn="ctr">
                      <a:solidFill>
                        <a:srgbClr val="D5E2E6"/>
                      </a:solidFill>
                      <a:prstDash val="solid"/>
                      <a:round/>
                      <a:headEnd type="none" w="med" len="med"/>
                      <a:tailEnd type="none" w="med" len="med"/>
                    </a:lnR>
                    <a:lnT w="6350" cap="flat" cmpd="sng" algn="ctr">
                      <a:solidFill>
                        <a:srgbClr val="D5E2E6"/>
                      </a:solidFill>
                      <a:prstDash val="solid"/>
                      <a:round/>
                      <a:headEnd type="none" w="med" len="med"/>
                      <a:tailEnd type="none" w="med" len="med"/>
                    </a:lnT>
                    <a:lnB w="6350" cap="flat" cmpd="sng" algn="ctr">
                      <a:solidFill>
                        <a:srgbClr val="D5E2E6"/>
                      </a:solidFill>
                      <a:prstDash val="solid"/>
                      <a:round/>
                      <a:headEnd type="none" w="med" len="med"/>
                      <a:tailEnd type="none" w="med" len="med"/>
                    </a:lnB>
                    <a:solidFill>
                      <a:srgbClr val="FFFFFF"/>
                    </a:solidFill>
                  </a:tcPr>
                </a:tc>
                <a:tc>
                  <a:txBody>
                    <a:bodyPr/>
                    <a:lstStyle/>
                    <a:p>
                      <a:pPr algn="l" indent="0" marL="0">
                        <a:buNone/>
                      </a:pPr>
                      <a:r>
                        <a:rPr lang="en-US" sz="1100" dirty="0">
                          <a:solidFill>
                            <a:srgbClr val="0B2F3A"/>
                          </a:solidFill>
                          <a:latin typeface="Calibri" pitchFamily="34" charset="0"/>
                          <a:ea typeface="Calibri" pitchFamily="34" charset="-122"/>
                          <a:cs typeface="Calibri" pitchFamily="34" charset="-120"/>
                        </a:rPr>
                        <a:t>arithmetic mean</a:t>
                      </a:r>
                      <a:endParaRPr lang="en-US" sz="1100" dirty="0">
                        <a:latin typeface="Calibri" charset="0"/>
                        <a:ea typeface="Calibri" charset="0"/>
                        <a:cs typeface="Calibri" charset="0"/>
                      </a:endParaRPr>
                    </a:p>
                  </a:txBody>
                  <a:tcPr marL="91440" marR="91440" marT="45720" marB="45720" anchor="ctr">
                    <a:lnL w="6350" cap="flat" cmpd="sng" algn="ctr">
                      <a:solidFill>
                        <a:srgbClr val="D5E2E6"/>
                      </a:solidFill>
                      <a:prstDash val="solid"/>
                      <a:round/>
                      <a:headEnd type="none" w="med" len="med"/>
                      <a:tailEnd type="none" w="med" len="med"/>
                    </a:lnL>
                    <a:lnR w="6350" cap="flat" cmpd="sng" algn="ctr">
                      <a:solidFill>
                        <a:srgbClr val="D5E2E6"/>
                      </a:solidFill>
                      <a:prstDash val="solid"/>
                      <a:round/>
                      <a:headEnd type="none" w="med" len="med"/>
                      <a:tailEnd type="none" w="med" len="med"/>
                    </a:lnR>
                    <a:lnT w="6350" cap="flat" cmpd="sng" algn="ctr">
                      <a:solidFill>
                        <a:srgbClr val="D5E2E6"/>
                      </a:solidFill>
                      <a:prstDash val="solid"/>
                      <a:round/>
                      <a:headEnd type="none" w="med" len="med"/>
                      <a:tailEnd type="none" w="med" len="med"/>
                    </a:lnT>
                    <a:lnB w="6350" cap="flat" cmpd="sng" algn="ctr">
                      <a:solidFill>
                        <a:srgbClr val="D5E2E6"/>
                      </a:solidFill>
                      <a:prstDash val="solid"/>
                      <a:round/>
                      <a:headEnd type="none" w="med" len="med"/>
                      <a:tailEnd type="none" w="med" len="med"/>
                    </a:lnB>
                    <a:solidFill>
                      <a:srgbClr val="FFFFFF"/>
                    </a:solidFill>
                  </a:tcPr>
                </a:tc>
              </a:tr>
            </a:tbl>
          </a:graphicData>
        </a:graphic>
      </p:graphicFrame>
      <p:sp>
        <p:nvSpPr>
          <p:cNvPr id="7" name="Text 4"/>
          <p:cNvSpPr txBox="1"/>
          <p:nvPr/>
        </p:nvSpPr>
        <p:spPr>
          <a:xfrm>
            <a:off x="6537960" y="3154680"/>
            <a:ext cx="5166360" cy="502920"/>
          </a:xfrm>
          <a:prstGeom prst="rect">
            <a:avLst/>
          </a:prstGeom>
          <a:noFill/>
          <a:ln/>
        </p:spPr>
        <p:txBody>
          <a:bodyPr wrap="square" rtlCol="0" anchor="ctr"/>
          <a:lstStyle/>
          <a:p>
            <a:pPr indent="0" marL="0">
              <a:buNone/>
            </a:pPr>
            <a:r>
              <a:rPr lang="en-US" sz="1250" dirty="0">
                <a:solidFill>
                  <a:srgbClr val="0B2F3A"/>
                </a:solidFill>
                <a:latin typeface="Calibri" pitchFamily="34" charset="0"/>
                <a:ea typeface="Calibri" pitchFamily="34" charset="-122"/>
                <a:cs typeface="Calibri" pitchFamily="34" charset="-120"/>
              </a:rPr>
              <a:t>In our runs the densities sat at the 0.01 floor. So we checked the output against min():</a:t>
            </a:r>
            <a:endParaRPr lang="en-US" sz="1250" dirty="0"/>
          </a:p>
        </p:txBody>
      </p:sp>
      <p:sp>
        <p:nvSpPr>
          <p:cNvPr id="8" name="Text 5"/>
          <p:cNvSpPr txBox="1"/>
          <p:nvPr/>
        </p:nvSpPr>
        <p:spPr>
          <a:xfrm>
            <a:off x="6537960" y="3657600"/>
            <a:ext cx="2468880" cy="868680"/>
          </a:xfrm>
          <a:prstGeom prst="rect">
            <a:avLst/>
          </a:prstGeom>
          <a:noFill/>
          <a:ln/>
        </p:spPr>
        <p:txBody>
          <a:bodyPr wrap="square" lIns="0" tIns="0" rIns="0" bIns="0" rtlCol="0" anchor="ctr"/>
          <a:lstStyle/>
          <a:p>
            <a:pPr algn="ctr" indent="0" marL="0">
              <a:buNone/>
            </a:pPr>
            <a:r>
              <a:rPr lang="en-US" sz="4200" b="1" dirty="0">
                <a:solidFill>
                  <a:srgbClr val="C62828"/>
                </a:solidFill>
                <a:latin typeface="Cambria" pitchFamily="34" charset="0"/>
                <a:ea typeface="Cambria" pitchFamily="34" charset="-122"/>
                <a:cs typeface="Cambria" pitchFamily="34" charset="-120"/>
              </a:rPr>
              <a:t>0.998</a:t>
            </a:r>
            <a:endParaRPr lang="en-US" sz="4200" dirty="0"/>
          </a:p>
        </p:txBody>
      </p:sp>
      <p:sp>
        <p:nvSpPr>
          <p:cNvPr id="9" name="Text 6"/>
          <p:cNvSpPr txBox="1"/>
          <p:nvPr/>
        </p:nvSpPr>
        <p:spPr>
          <a:xfrm>
            <a:off x="6537960" y="4498848"/>
            <a:ext cx="2468880" cy="548640"/>
          </a:xfrm>
          <a:prstGeom prst="rect">
            <a:avLst/>
          </a:prstGeom>
          <a:noFill/>
          <a:ln/>
        </p:spPr>
        <p:txBody>
          <a:bodyPr wrap="square" lIns="0" tIns="0" rIns="0" bIns="0" rtlCol="0" anchor="ctr"/>
          <a:lstStyle/>
          <a:p>
            <a:pPr algn="ctr" indent="0" marL="0">
              <a:buNone/>
            </a:pPr>
            <a:r>
              <a:rPr lang="en-US" sz="1150" dirty="0">
                <a:solidFill>
                  <a:srgbClr val="5A6B72"/>
                </a:solidFill>
                <a:latin typeface="Calibri" pitchFamily="34" charset="0"/>
                <a:ea typeface="Calibri" pitchFamily="34" charset="-122"/>
                <a:cs typeface="Calibri" pitchFamily="34" charset="-120"/>
              </a:rPr>
              <a:t>correlation with min()</a:t>
            </a:r>
            <a:endParaRPr lang="en-US" sz="1150" dirty="0"/>
          </a:p>
        </p:txBody>
      </p:sp>
      <p:sp>
        <p:nvSpPr>
          <p:cNvPr id="10" name="Text 7"/>
          <p:cNvSpPr txBox="1"/>
          <p:nvPr/>
        </p:nvSpPr>
        <p:spPr>
          <a:xfrm>
            <a:off x="9189720" y="3657600"/>
            <a:ext cx="2468880" cy="868680"/>
          </a:xfrm>
          <a:prstGeom prst="rect">
            <a:avLst/>
          </a:prstGeom>
          <a:noFill/>
          <a:ln/>
        </p:spPr>
        <p:txBody>
          <a:bodyPr wrap="square" lIns="0" tIns="0" rIns="0" bIns="0" rtlCol="0" anchor="ctr"/>
          <a:lstStyle/>
          <a:p>
            <a:pPr algn="ctr" indent="0" marL="0">
              <a:buNone/>
            </a:pPr>
            <a:r>
              <a:rPr lang="en-US" sz="4200" b="1" dirty="0">
                <a:solidFill>
                  <a:srgbClr val="C62828"/>
                </a:solidFill>
                <a:latin typeface="Cambria" pitchFamily="34" charset="0"/>
                <a:ea typeface="Cambria" pitchFamily="34" charset="-122"/>
                <a:cs typeface="Cambria" pitchFamily="34" charset="-120"/>
              </a:rPr>
              <a:t>0.04</a:t>
            </a:r>
            <a:endParaRPr lang="en-US" sz="4200" dirty="0"/>
          </a:p>
        </p:txBody>
      </p:sp>
      <p:sp>
        <p:nvSpPr>
          <p:cNvPr id="11" name="Text 8"/>
          <p:cNvSpPr txBox="1"/>
          <p:nvPr/>
        </p:nvSpPr>
        <p:spPr>
          <a:xfrm>
            <a:off x="9189720" y="4498848"/>
            <a:ext cx="2468880" cy="548640"/>
          </a:xfrm>
          <a:prstGeom prst="rect">
            <a:avLst/>
          </a:prstGeom>
          <a:noFill/>
          <a:ln/>
        </p:spPr>
        <p:txBody>
          <a:bodyPr wrap="square" lIns="0" tIns="0" rIns="0" bIns="0" rtlCol="0" anchor="ctr"/>
          <a:lstStyle/>
          <a:p>
            <a:pPr algn="ctr" indent="0" marL="0">
              <a:buNone/>
            </a:pPr>
            <a:r>
              <a:rPr lang="en-US" sz="1150" dirty="0">
                <a:solidFill>
                  <a:srgbClr val="5A6B72"/>
                </a:solidFill>
                <a:latin typeface="Calibri" pitchFamily="34" charset="0"/>
                <a:ea typeface="Calibri" pitchFamily="34" charset="-122"/>
                <a:cs typeface="Calibri" pitchFamily="34" charset="-120"/>
              </a:rPr>
              <a:t>mean gap to min()</a:t>
            </a:r>
            <a:endParaRPr lang="en-US" sz="1150" dirty="0"/>
          </a:p>
          <a:p>
            <a:pPr algn="ctr" indent="0" marL="0">
              <a:buNone/>
            </a:pPr>
            <a:r>
              <a:rPr lang="en-US" sz="1150" dirty="0">
                <a:solidFill>
                  <a:srgbClr val="5A6B72"/>
                </a:solidFill>
                <a:latin typeface="Calibri" pitchFamily="34" charset="0"/>
                <a:ea typeface="Calibri" pitchFamily="34" charset="-122"/>
                <a:cs typeface="Calibri" pitchFamily="34" charset="-120"/>
              </a:rPr>
              <a:t>(mmol/L)</a:t>
            </a:r>
            <a:endParaRPr lang="en-US" sz="1150" dirty="0"/>
          </a:p>
        </p:txBody>
      </p:sp>
      <p:sp>
        <p:nvSpPr>
          <p:cNvPr id="12" name="Shape 9"/>
          <p:cNvSpPr/>
          <p:nvPr/>
        </p:nvSpPr>
        <p:spPr>
          <a:xfrm>
            <a:off x="548640" y="4160520"/>
            <a:ext cx="5852160" cy="1417320"/>
          </a:xfrm>
          <a:prstGeom prst="roundRect">
            <a:avLst>
              <a:gd name="adj" fmla="val 3871"/>
            </a:avLst>
          </a:prstGeom>
          <a:solidFill>
            <a:srgbClr val="0B2F3A"/>
          </a:solidFill>
          <a:ln w="12700">
            <a:solidFill>
              <a:srgbClr val="0B2F3A"/>
            </a:solidFill>
            <a:prstDash val="solid"/>
          </a:ln>
        </p:spPr>
      </p:sp>
      <p:sp>
        <p:nvSpPr>
          <p:cNvPr id="13" name="Text 10"/>
          <p:cNvSpPr txBox="1"/>
          <p:nvPr/>
        </p:nvSpPr>
        <p:spPr>
          <a:xfrm>
            <a:off x="804672" y="4343400"/>
            <a:ext cx="5349240" cy="548640"/>
          </a:xfrm>
          <a:prstGeom prst="rect">
            <a:avLst/>
          </a:prstGeom>
          <a:noFill/>
          <a:ln/>
        </p:spPr>
        <p:txBody>
          <a:bodyPr wrap="square" lIns="0" tIns="0" rIns="0" bIns="0" rtlCol="0" anchor="ctr"/>
          <a:lstStyle/>
          <a:p>
            <a:pPr indent="0" marL="0">
              <a:buNone/>
            </a:pPr>
            <a:r>
              <a:rPr lang="en-US" sz="1600" b="1" dirty="0">
                <a:solidFill>
                  <a:srgbClr val="FFFFFF"/>
                </a:solidFill>
                <a:latin typeface="Cambria" pitchFamily="34" charset="0"/>
                <a:ea typeface="Cambria" pitchFamily="34" charset="-122"/>
                <a:cs typeface="Cambria" pitchFamily="34" charset="-120"/>
              </a:rPr>
              <a:t>The published method's distinguishing component was returning min(m1, m2, m3).</a:t>
            </a:r>
            <a:endParaRPr lang="en-US" sz="1600" dirty="0"/>
          </a:p>
        </p:txBody>
      </p:sp>
      <p:sp>
        <p:nvSpPr>
          <p:cNvPr id="14" name="Text 11"/>
          <p:cNvSpPr txBox="1"/>
          <p:nvPr/>
        </p:nvSpPr>
        <p:spPr>
          <a:xfrm>
            <a:off x="804672" y="4892040"/>
            <a:ext cx="5349240" cy="594360"/>
          </a:xfrm>
          <a:prstGeom prst="rect">
            <a:avLst/>
          </a:prstGeom>
          <a:noFill/>
          <a:ln/>
        </p:spPr>
        <p:txBody>
          <a:bodyPr wrap="square" lIns="0" tIns="0" rIns="0" bIns="0" rtlCol="0" anchor="ctr"/>
          <a:lstStyle/>
          <a:p>
            <a:pPr indent="0" marL="0">
              <a:buNone/>
            </a:pPr>
            <a:r>
              <a:rPr lang="en-US" sz="1150" dirty="0">
                <a:solidFill>
                  <a:srgbClr val="D6E6EA"/>
                </a:solidFill>
                <a:latin typeface="Calibri" pitchFamily="34" charset="0"/>
                <a:ea typeface="Calibri" pitchFamily="34" charset="-122"/>
                <a:cs typeface="Calibri" pitchFamily="34" charset="-120"/>
              </a:rPr>
              <a:t>And it is not only a bug: under honest evaluation the models genuinely cannot generalise, so the densities floor legitimately - the fusion silently turns into min() exactly when you most need it to help.</a:t>
            </a:r>
            <a:endParaRPr lang="en-US" sz="1150" dirty="0"/>
          </a:p>
        </p:txBody>
      </p:sp>
      <p:sp>
        <p:nvSpPr>
          <p:cNvPr id="15" name="Text 12"/>
          <p:cNvSpPr txBox="1"/>
          <p:nvPr/>
        </p:nvSpPr>
        <p:spPr>
          <a:xfrm>
            <a:off x="548640" y="6291072"/>
            <a:ext cx="11094415" cy="320040"/>
          </a:xfrm>
          <a:prstGeom prst="rect">
            <a:avLst/>
          </a:prstGeom>
          <a:noFill/>
          <a:ln/>
        </p:spPr>
        <p:txBody>
          <a:bodyPr wrap="square" lIns="0" tIns="0" rIns="0" bIns="0" rtlCol="0" anchor="ctr"/>
          <a:lstStyle/>
          <a:p>
            <a:pPr indent="0" marL="0">
              <a:buNone/>
            </a:pPr>
            <a:r>
              <a:rPr lang="en-US" sz="1050" i="1" dirty="0">
                <a:solidFill>
                  <a:srgbClr val="5A6B72"/>
                </a:solidFill>
                <a:latin typeface="Calibri" pitchFamily="34" charset="0"/>
                <a:ea typeface="Calibri" pitchFamily="34" charset="-122"/>
                <a:cs typeface="Calibri" pitchFamily="34" charset="-120"/>
              </a:rPr>
              <a:t>The symmetric-measure/OWA equivalence is standard theory (Grabisch; Marichal). New here: a saturating density estimator induces it by accident.</a:t>
            </a:r>
            <a:endParaRPr lang="en-US" sz="10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84048"/>
            <a:ext cx="11094415" cy="868680"/>
          </a:xfrm>
          <a:prstGeom prst="rect">
            <a:avLst/>
          </a:prstGeom>
          <a:noFill/>
          <a:ln/>
        </p:spPr>
        <p:txBody>
          <a:bodyPr wrap="square" rtlCol="0" anchor="t"/>
          <a:lstStyle/>
          <a:p>
            <a:pPr indent="0" marL="0">
              <a:buNone/>
            </a:pPr>
            <a:r>
              <a:rPr lang="en-US" sz="2700" b="1" dirty="0">
                <a:solidFill>
                  <a:srgbClr val="0B2F3A"/>
                </a:solidFill>
                <a:latin typeface="Cambria" pitchFamily="34" charset="0"/>
                <a:ea typeface="Cambria" pitchFamily="34" charset="-122"/>
                <a:cs typeface="Cambria" pitchFamily="34" charset="-120"/>
              </a:rPr>
              <a:t>The derivation, so you can reproduce it on a board</a:t>
            </a:r>
            <a:endParaRPr lang="en-US" sz="2700" dirty="0"/>
          </a:p>
        </p:txBody>
      </p:sp>
      <p:sp>
        <p:nvSpPr>
          <p:cNvPr id="3" name="Text 1"/>
          <p:cNvSpPr txBox="1"/>
          <p:nvPr/>
        </p:nvSpPr>
        <p:spPr>
          <a:xfrm>
            <a:off x="548640" y="1280160"/>
            <a:ext cx="11094415" cy="320040"/>
          </a:xfrm>
          <a:prstGeom prst="rect">
            <a:avLst/>
          </a:prstGeom>
          <a:noFill/>
          <a:ln/>
        </p:spPr>
        <p:txBody>
          <a:bodyPr wrap="square" rtlCol="0" anchor="ctr"/>
          <a:lstStyle/>
          <a:p>
            <a:pPr indent="0" marL="0">
              <a:buNone/>
            </a:pPr>
            <a:r>
              <a:rPr lang="en-US" sz="1400" dirty="0">
                <a:solidFill>
                  <a:srgbClr val="0B2F3A"/>
                </a:solidFill>
                <a:latin typeface="Calibri" pitchFamily="34" charset="0"/>
                <a:ea typeface="Calibri" pitchFamily="34" charset="-122"/>
                <a:cs typeface="Calibri" pitchFamily="34" charset="-120"/>
              </a:rPr>
              <a:t>With all densities equal to g, the Sugeno measure of a group depends only on its SIZE:</a:t>
            </a:r>
            <a:endParaRPr lang="en-US" sz="1400" dirty="0"/>
          </a:p>
        </p:txBody>
      </p:sp>
      <p:sp>
        <p:nvSpPr>
          <p:cNvPr id="4" name="Shape 2"/>
          <p:cNvSpPr/>
          <p:nvPr/>
        </p:nvSpPr>
        <p:spPr>
          <a:xfrm>
            <a:off x="548640" y="1691640"/>
            <a:ext cx="7223760" cy="3376295"/>
          </a:xfrm>
          <a:prstGeom prst="roundRect">
            <a:avLst>
              <a:gd name="adj" fmla="val 1354"/>
            </a:avLst>
          </a:prstGeom>
          <a:solidFill>
            <a:srgbClr val="0B2F3A"/>
          </a:solidFill>
          <a:ln w="12700">
            <a:solidFill>
              <a:srgbClr val="0B2F3A"/>
            </a:solidFill>
            <a:prstDash val="solid"/>
          </a:ln>
        </p:spPr>
      </p:sp>
      <p:sp>
        <p:nvSpPr>
          <p:cNvPr id="5" name="Text 3"/>
          <p:cNvSpPr txBox="1"/>
          <p:nvPr/>
        </p:nvSpPr>
        <p:spPr>
          <a:xfrm>
            <a:off x="777240" y="1837944"/>
            <a:ext cx="6766560" cy="3083687"/>
          </a:xfrm>
          <a:prstGeom prst="rect">
            <a:avLst/>
          </a:prstGeom>
          <a:noFill/>
          <a:ln/>
        </p:spPr>
        <p:txBody>
          <a:bodyPr wrap="square" lIns="0" tIns="0" rIns="0" bIns="0" rtlCol="0" anchor="t"/>
          <a:lstStyle/>
          <a:p>
            <a:pPr indent="0" marL="0">
              <a:lnSpc>
                <a:spcPct val="130000"/>
              </a:lnSpc>
              <a:buNone/>
            </a:pPr>
            <a:r>
              <a:rPr lang="en-US" sz="1150" dirty="0">
                <a:solidFill>
                  <a:srgbClr val="00C2A8"/>
                </a:solidFill>
                <a:latin typeface="Courier New" pitchFamily="34" charset="0"/>
                <a:ea typeface="Courier New" pitchFamily="34" charset="-122"/>
                <a:cs typeface="Courier New" pitchFamily="34" charset="-120"/>
              </a:rPr>
              <a:t>Sugeno recursion, applied j times:</a:t>
            </a:r>
            <a:endParaRPr lang="en-US" sz="1150" dirty="0"/>
          </a:p>
          <a:p>
            <a:pPr indent="0" marL="0">
              <a:lnSpc>
                <a:spcPct val="130000"/>
              </a:lnSpc>
              <a:buNone/>
            </a:pPr>
            <a:endParaRPr lang="en-US" sz="1150" dirty="0"/>
          </a:p>
          <a:p>
            <a:pPr indent="0" marL="0">
              <a:lnSpc>
                <a:spcPct val="130000"/>
              </a:lnSpc>
              <a:buNone/>
            </a:pPr>
            <a:r>
              <a:rPr lang="en-US" sz="1150" dirty="0">
                <a:solidFill>
                  <a:srgbClr val="00C2A8"/>
                </a:solidFill>
                <a:latin typeface="Courier New" pitchFamily="34" charset="0"/>
                <a:ea typeface="Courier New" pitchFamily="34" charset="-122"/>
                <a:cs typeface="Courier New" pitchFamily="34" charset="-120"/>
              </a:rPr>
              <a:t>    g(A_j) = [ (1 + lambda*g)^j  -  1 ] / lambda</a:t>
            </a:r>
            <a:endParaRPr lang="en-US" sz="1150" dirty="0"/>
          </a:p>
          <a:p>
            <a:pPr indent="0" marL="0">
              <a:lnSpc>
                <a:spcPct val="130000"/>
              </a:lnSpc>
              <a:buNone/>
            </a:pPr>
            <a:endParaRPr lang="en-US" sz="1150" dirty="0"/>
          </a:p>
          <a:p>
            <a:pPr indent="0" marL="0">
              <a:lnSpc>
                <a:spcPct val="130000"/>
              </a:lnSpc>
              <a:buNone/>
            </a:pPr>
            <a:r>
              <a:rPr lang="en-US" sz="1150" dirty="0">
                <a:solidFill>
                  <a:srgbClr val="00C2A8"/>
                </a:solidFill>
                <a:latin typeface="Courier New" pitchFamily="34" charset="0"/>
                <a:ea typeface="Courier New" pitchFamily="34" charset="-122"/>
                <a:cs typeface="Courier New" pitchFamily="34" charset="-120"/>
              </a:rPr>
              <a:t>The weight on the j-th largest prediction is the growth:</a:t>
            </a:r>
            <a:endParaRPr lang="en-US" sz="1150" dirty="0"/>
          </a:p>
          <a:p>
            <a:pPr indent="0" marL="0">
              <a:lnSpc>
                <a:spcPct val="130000"/>
              </a:lnSpc>
              <a:buNone/>
            </a:pPr>
            <a:endParaRPr lang="en-US" sz="1150" dirty="0"/>
          </a:p>
          <a:p>
            <a:pPr indent="0" marL="0">
              <a:lnSpc>
                <a:spcPct val="130000"/>
              </a:lnSpc>
              <a:buNone/>
            </a:pPr>
            <a:r>
              <a:rPr lang="en-US" sz="1150" dirty="0">
                <a:solidFill>
                  <a:srgbClr val="00C2A8"/>
                </a:solidFill>
                <a:latin typeface="Courier New" pitchFamily="34" charset="0"/>
                <a:ea typeface="Courier New" pitchFamily="34" charset="-122"/>
                <a:cs typeface="Courier New" pitchFamily="34" charset="-120"/>
              </a:rPr>
              <a:t>    w_j = g(A_j) - g(A_j-1)</a:t>
            </a:r>
            <a:endParaRPr lang="en-US" sz="1150" dirty="0"/>
          </a:p>
          <a:p>
            <a:pPr indent="0" marL="0">
              <a:lnSpc>
                <a:spcPct val="130000"/>
              </a:lnSpc>
              <a:buNone/>
            </a:pPr>
            <a:r>
              <a:rPr lang="en-US" sz="1150" dirty="0">
                <a:solidFill>
                  <a:srgbClr val="00C2A8"/>
                </a:solidFill>
                <a:latin typeface="Courier New" pitchFamily="34" charset="0"/>
                <a:ea typeface="Courier New" pitchFamily="34" charset="-122"/>
                <a:cs typeface="Courier New" pitchFamily="34" charset="-120"/>
              </a:rPr>
              <a:t>        = [ beta^j - beta^(j-1) ] / lambda      (beta = 1+lambda*g)</a:t>
            </a:r>
            <a:endParaRPr lang="en-US" sz="1150" dirty="0"/>
          </a:p>
          <a:p>
            <a:pPr indent="0" marL="0">
              <a:lnSpc>
                <a:spcPct val="130000"/>
              </a:lnSpc>
              <a:buNone/>
            </a:pPr>
            <a:r>
              <a:rPr lang="en-US" sz="1150" dirty="0">
                <a:solidFill>
                  <a:srgbClr val="00C2A8"/>
                </a:solidFill>
                <a:latin typeface="Courier New" pitchFamily="34" charset="0"/>
                <a:ea typeface="Courier New" pitchFamily="34" charset="-122"/>
                <a:cs typeface="Courier New" pitchFamily="34" charset="-120"/>
              </a:rPr>
              <a:t>        = g * beta^(j-1)</a:t>
            </a:r>
            <a:endParaRPr lang="en-US" sz="1150" dirty="0"/>
          </a:p>
          <a:p>
            <a:pPr indent="0" marL="0">
              <a:lnSpc>
                <a:spcPct val="130000"/>
              </a:lnSpc>
              <a:buNone/>
            </a:pPr>
            <a:endParaRPr lang="en-US" sz="1150" dirty="0"/>
          </a:p>
          <a:p>
            <a:pPr indent="0" marL="0">
              <a:lnSpc>
                <a:spcPct val="130000"/>
              </a:lnSpc>
              <a:buNone/>
            </a:pPr>
            <a:r>
              <a:rPr lang="en-US" sz="1150" dirty="0">
                <a:solidFill>
                  <a:srgbClr val="00C2A8"/>
                </a:solidFill>
                <a:latin typeface="Courier New" pitchFamily="34" charset="0"/>
                <a:ea typeface="Courier New" pitchFamily="34" charset="-122"/>
                <a:cs typeface="Courier New" pitchFamily="34" charset="-120"/>
              </a:rPr>
              <a:t>Check it sums to 1:</a:t>
            </a:r>
            <a:endParaRPr lang="en-US" sz="1150" dirty="0"/>
          </a:p>
          <a:p>
            <a:pPr indent="0" marL="0">
              <a:lnSpc>
                <a:spcPct val="130000"/>
              </a:lnSpc>
              <a:buNone/>
            </a:pPr>
            <a:endParaRPr lang="en-US" sz="1150" dirty="0"/>
          </a:p>
          <a:p>
            <a:pPr indent="0" marL="0">
              <a:lnSpc>
                <a:spcPct val="130000"/>
              </a:lnSpc>
              <a:buNone/>
            </a:pPr>
            <a:r>
              <a:rPr lang="en-US" sz="1150" dirty="0">
                <a:solidFill>
                  <a:srgbClr val="00C2A8"/>
                </a:solidFill>
                <a:latin typeface="Courier New" pitchFamily="34" charset="0"/>
                <a:ea typeface="Courier New" pitchFamily="34" charset="-122"/>
                <a:cs typeface="Courier New" pitchFamily="34" charset="-120"/>
              </a:rPr>
              <a:t>    SUM_j w_j = g*(beta^N - 1)/(beta - 1)</a:t>
            </a:r>
            <a:endParaRPr lang="en-US" sz="1150" dirty="0"/>
          </a:p>
          <a:p>
            <a:pPr indent="0" marL="0">
              <a:lnSpc>
                <a:spcPct val="130000"/>
              </a:lnSpc>
              <a:buNone/>
            </a:pPr>
            <a:r>
              <a:rPr lang="en-US" sz="1150" dirty="0">
                <a:solidFill>
                  <a:srgbClr val="00C2A8"/>
                </a:solidFill>
                <a:latin typeface="Courier New" pitchFamily="34" charset="0"/>
                <a:ea typeface="Courier New" pitchFamily="34" charset="-122"/>
                <a:cs typeface="Courier New" pitchFamily="34" charset="-120"/>
              </a:rPr>
              <a:t>              = (beta^N - 1)/lambda  =  g(X)  =  1</a:t>
            </a:r>
            <a:endParaRPr lang="en-US" sz="1150" dirty="0"/>
          </a:p>
        </p:txBody>
      </p:sp>
      <p:sp>
        <p:nvSpPr>
          <p:cNvPr id="6" name="Text 4"/>
          <p:cNvSpPr txBox="1"/>
          <p:nvPr/>
        </p:nvSpPr>
        <p:spPr>
          <a:xfrm>
            <a:off x="8001000" y="1691640"/>
            <a:ext cx="3703320" cy="2834640"/>
          </a:xfrm>
          <a:prstGeom prst="rect">
            <a:avLst/>
          </a:prstGeom>
          <a:noFill/>
          <a:ln/>
        </p:spPr>
        <p:txBody>
          <a:bodyPr wrap="square" rtlCol="0" anchor="t"/>
          <a:lstStyle/>
          <a:p>
            <a:pPr marL="342900" indent="-342900">
              <a:spcAft>
                <a:spcPts val="900"/>
              </a:spcAft>
              <a:buSzPct val="100000"/>
              <a:buChar char="•"/>
            </a:pPr>
            <a:r>
              <a:rPr lang="en-US" sz="1200" dirty="0">
                <a:solidFill>
                  <a:srgbClr val="0B2F3A"/>
                </a:solidFill>
                <a:latin typeface="Calibri" pitchFamily="34" charset="0"/>
                <a:ea typeface="Calibri" pitchFamily="34" charset="-122"/>
                <a:cs typeface="Calibri" pitchFamily="34" charset="-120"/>
              </a:rPr>
              <a:t>Step 1 is just the Sugeno rule g(A u B) = g(A)+g(B)+lambda*g(A)*g(B) applied repeatedly to identical densities.</a:t>
            </a:r>
            <a:endParaRPr lang="en-US" sz="1200" dirty="0"/>
          </a:p>
          <a:p>
            <a:pPr marL="342900" indent="-342900">
              <a:spcAft>
                <a:spcPts val="900"/>
              </a:spcAft>
              <a:buSzPct val="100000"/>
              <a:buChar char="•"/>
            </a:pPr>
            <a:r>
              <a:rPr lang="en-US" sz="1200" dirty="0">
                <a:solidFill>
                  <a:srgbClr val="0B2F3A"/>
                </a:solidFill>
                <a:latin typeface="Calibri" pitchFamily="34" charset="0"/>
                <a:ea typeface="Calibri" pitchFamily="34" charset="-122"/>
                <a:cs typeface="Calibri" pitchFamily="34" charset="-120"/>
              </a:rPr>
              <a:t>Step 2 is the definition of the Choquet weights.</a:t>
            </a:r>
            <a:endParaRPr lang="en-US" sz="1200" dirty="0"/>
          </a:p>
          <a:p>
            <a:pPr marL="342900" indent="-342900">
              <a:spcAft>
                <a:spcPts val="900"/>
              </a:spcAft>
              <a:buSzPct val="100000"/>
              <a:buChar char="•"/>
            </a:pPr>
            <a:r>
              <a:rPr lang="en-US" sz="1200" dirty="0">
                <a:solidFill>
                  <a:srgbClr val="0B2F3A"/>
                </a:solidFill>
                <a:latin typeface="Calibri" pitchFamily="34" charset="0"/>
                <a:ea typeface="Calibri" pitchFamily="34" charset="-122"/>
                <a:cs typeface="Calibri" pitchFamily="34" charset="-120"/>
              </a:rPr>
              <a:t>Step 3 uses the geometric series, and the last equality is the boundary condition g(X)=1.</a:t>
            </a:r>
            <a:endParaRPr lang="en-US" sz="1200" dirty="0"/>
          </a:p>
          <a:p>
            <a:pPr marL="342900" indent="-342900">
              <a:spcAft>
                <a:spcPts val="900"/>
              </a:spcAft>
              <a:buSzPct val="100000"/>
              <a:buChar char="•"/>
            </a:pPr>
            <a:r>
              <a:rPr lang="en-US" sz="1200" dirty="0">
                <a:solidFill>
                  <a:srgbClr val="0B2F3A"/>
                </a:solidFill>
                <a:latin typeface="Calibri" pitchFamily="34" charset="0"/>
                <a:ea typeface="Calibri" pitchFamily="34" charset="-122"/>
                <a:cs typeface="Calibri" pitchFamily="34" charset="-120"/>
              </a:rPr>
              <a:t>The conclusion: the weights depend only on RANK and on g - never on which model is which.</a:t>
            </a:r>
            <a:endParaRPr lang="en-US" sz="1200" dirty="0"/>
          </a:p>
        </p:txBody>
      </p:sp>
      <p:sp>
        <p:nvSpPr>
          <p:cNvPr id="7" name="Shape 5"/>
          <p:cNvSpPr/>
          <p:nvPr/>
        </p:nvSpPr>
        <p:spPr>
          <a:xfrm>
            <a:off x="8001000" y="4617720"/>
            <a:ext cx="3703320" cy="1234440"/>
          </a:xfrm>
          <a:prstGeom prst="roundRect">
            <a:avLst>
              <a:gd name="adj" fmla="val 4444"/>
            </a:avLst>
          </a:prstGeom>
          <a:solidFill>
            <a:srgbClr val="FBEFEF"/>
          </a:solidFill>
          <a:ln w="12700">
            <a:solidFill>
              <a:srgbClr val="FBEFEF"/>
            </a:solidFill>
            <a:prstDash val="solid"/>
          </a:ln>
        </p:spPr>
      </p:sp>
      <p:sp>
        <p:nvSpPr>
          <p:cNvPr id="8" name="Text 6"/>
          <p:cNvSpPr txBox="1"/>
          <p:nvPr/>
        </p:nvSpPr>
        <p:spPr>
          <a:xfrm>
            <a:off x="8229600" y="4773168"/>
            <a:ext cx="3246120" cy="274320"/>
          </a:xfrm>
          <a:prstGeom prst="rect">
            <a:avLst/>
          </a:prstGeom>
          <a:noFill/>
          <a:ln/>
        </p:spPr>
        <p:txBody>
          <a:bodyPr wrap="square" lIns="0" tIns="0" rIns="0" bIns="0" rtlCol="0" anchor="ctr"/>
          <a:lstStyle/>
          <a:p>
            <a:pPr indent="0" marL="0">
              <a:buNone/>
            </a:pPr>
            <a:r>
              <a:rPr lang="en-US" sz="1250" b="1" dirty="0">
                <a:solidFill>
                  <a:srgbClr val="C62828"/>
                </a:solidFill>
                <a:latin typeface="Calibri" pitchFamily="34" charset="0"/>
                <a:ea typeface="Calibri" pitchFamily="34" charset="-122"/>
                <a:cs typeface="Calibri" pitchFamily="34" charset="-120"/>
              </a:rPr>
              <a:t>Why beta &gt; 1 matters</a:t>
            </a:r>
            <a:endParaRPr lang="en-US" sz="1250" dirty="0"/>
          </a:p>
        </p:txBody>
      </p:sp>
      <p:sp>
        <p:nvSpPr>
          <p:cNvPr id="9" name="Text 7"/>
          <p:cNvSpPr txBox="1"/>
          <p:nvPr/>
        </p:nvSpPr>
        <p:spPr>
          <a:xfrm>
            <a:off x="8229600" y="5065776"/>
            <a:ext cx="3246120" cy="685800"/>
          </a:xfrm>
          <a:prstGeom prst="rect">
            <a:avLst/>
          </a:prstGeom>
          <a:noFill/>
          <a:ln/>
        </p:spPr>
        <p:txBody>
          <a:bodyPr wrap="square" lIns="0" tIns="0" rIns="0" bIns="0" rtlCol="0" anchor="ctr"/>
          <a:lstStyle/>
          <a:p>
            <a:pPr indent="0" marL="0">
              <a:buNone/>
            </a:pPr>
            <a:r>
              <a:rPr lang="en-US" sz="1150" dirty="0">
                <a:solidFill>
                  <a:srgbClr val="0B2F3A"/>
                </a:solidFill>
                <a:latin typeface="Calibri" pitchFamily="34" charset="0"/>
                <a:ea typeface="Calibri" pitchFamily="34" charset="-122"/>
                <a:cs typeface="Calibri" pitchFamily="34" charset="-120"/>
              </a:rPr>
              <a:t>Weak models give sum(g) &lt; 1, hence lambda &gt; 0, hence beta &gt; 1 - so w_j GROWS with j, piling weight on the smallest prediction.</a:t>
            </a:r>
            <a:endParaRPr lang="en-US" sz="11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84048"/>
            <a:ext cx="11094415" cy="868680"/>
          </a:xfrm>
          <a:prstGeom prst="rect">
            <a:avLst/>
          </a:prstGeom>
          <a:noFill/>
          <a:ln/>
        </p:spPr>
        <p:txBody>
          <a:bodyPr wrap="square" rtlCol="0" anchor="t"/>
          <a:lstStyle/>
          <a:p>
            <a:pPr indent="0" marL="0">
              <a:buNone/>
            </a:pPr>
            <a:r>
              <a:rPr lang="en-US" sz="2700" b="1" dirty="0">
                <a:solidFill>
                  <a:srgbClr val="0B2F3A"/>
                </a:solidFill>
                <a:latin typeface="Cambria" pitchFamily="34" charset="0"/>
                <a:ea typeface="Cambria" pitchFamily="34" charset="-122"/>
                <a:cs typeface="Cambria" pitchFamily="34" charset="-120"/>
              </a:rPr>
              <a:t>Finding 4: a standard feature library returns different answers for identical input</a:t>
            </a:r>
            <a:endParaRPr lang="en-US" sz="2700" dirty="0"/>
          </a:p>
        </p:txBody>
      </p:sp>
      <p:sp>
        <p:nvSpPr>
          <p:cNvPr id="3" name="Text 1"/>
          <p:cNvSpPr txBox="1"/>
          <p:nvPr/>
        </p:nvSpPr>
        <p:spPr>
          <a:xfrm>
            <a:off x="548640" y="1298448"/>
            <a:ext cx="11094415" cy="548640"/>
          </a:xfrm>
          <a:prstGeom prst="rect">
            <a:avLst/>
          </a:prstGeom>
          <a:noFill/>
          <a:ln/>
        </p:spPr>
        <p:txBody>
          <a:bodyPr wrap="square" rtlCol="0" anchor="ctr"/>
          <a:lstStyle/>
          <a:p>
            <a:pPr indent="0" marL="0">
              <a:buNone/>
            </a:pPr>
            <a:r>
              <a:rPr lang="en-US" sz="1500" dirty="0">
                <a:solidFill>
                  <a:srgbClr val="0B2F3A"/>
                </a:solidFill>
                <a:latin typeface="Calibri" pitchFamily="34" charset="0"/>
                <a:ea typeface="Calibri" pitchFamily="34" charset="-122"/>
                <a:cs typeface="Calibri" pitchFamily="34" charset="-120"/>
              </a:rPr>
              <a:t>One of the ten features is the correlation dimension, estimated as the slope of a log-log plot. The library fits that slope with RANSAC - a method that tries RANDOM subsets - and does not seed it.</a:t>
            </a:r>
            <a:endParaRPr lang="en-US" sz="1500" dirty="0"/>
          </a:p>
        </p:txBody>
      </p:sp>
      <p:graphicFrame>
        <p:nvGraphicFramePr>
          <p:cNvPr id="15" name="Table 0"/>
          <p:cNvGraphicFramePr>
            <a:graphicFrameLocks noGrp="1"/>
          </p:cNvGraphicFramePr>
          <p:nvPr>
            <p:extLst>
              <p:ext uri="{D42A27DB-BD31-4B8C-83A1-F6EECF244321}">
                <p14:modId xmlns:p14="http://schemas.microsoft.com/office/powerpoint/2010/main" val="1579011935"/>
              </p:ext>
            </p:extLst>
          </p:nvPr>
        </p:nvGraphicFramePr>
        <p:xfrm>
          <a:off x="548640" y="1965960"/>
          <a:ext cx="6400800" cy="914400"/>
        </p:xfrm>
        <a:graphic>
          <a:graphicData uri="http://schemas.openxmlformats.org/drawingml/2006/table">
            <a:tbl>
              <a:tblPr/>
              <a:tblGrid>
                <a:gridCol w="3108960"/>
                <a:gridCol w="3291840"/>
              </a:tblGrid>
              <a:tr h="347472">
                <a:tc>
                  <a:txBody>
                    <a:bodyPr/>
                    <a:lstStyle/>
                    <a:p>
                      <a:pPr algn="l" indent="0" marL="0">
                        <a:buNone/>
                      </a:pPr>
                      <a:r>
                        <a:rPr lang="en-US" sz="1300" b="1" dirty="0">
                          <a:solidFill>
                            <a:srgbClr val="FFFFFF"/>
                          </a:solidFill>
                          <a:latin typeface="Calibri" pitchFamily="34" charset="0"/>
                          <a:ea typeface="Calibri" pitchFamily="34" charset="-122"/>
                          <a:cs typeface="Calibri" pitchFamily="34" charset="-120"/>
                        </a:rPr>
                        <a:t>Slope fitting method</a:t>
                      </a:r>
                      <a:endParaRPr lang="en-US" sz="1300" dirty="0">
                        <a:latin typeface="Calibri" charset="0"/>
                        <a:ea typeface="Calibri" charset="0"/>
                        <a:cs typeface="Calibri" charset="0"/>
                      </a:endParaRPr>
                    </a:p>
                  </a:txBody>
                  <a:tcPr marL="91440" marR="91440" marT="45720" marB="45720" anchor="ctr">
                    <a:lnL w="6350" cap="flat" cmpd="sng" algn="ctr">
                      <a:solidFill>
                        <a:srgbClr val="D5E2E6"/>
                      </a:solidFill>
                      <a:prstDash val="solid"/>
                      <a:round/>
                      <a:headEnd type="none" w="med" len="med"/>
                      <a:tailEnd type="none" w="med" len="med"/>
                    </a:lnL>
                    <a:lnR w="6350" cap="flat" cmpd="sng" algn="ctr">
                      <a:solidFill>
                        <a:srgbClr val="D5E2E6"/>
                      </a:solidFill>
                      <a:prstDash val="solid"/>
                      <a:round/>
                      <a:headEnd type="none" w="med" len="med"/>
                      <a:tailEnd type="none" w="med" len="med"/>
                    </a:lnR>
                    <a:lnT w="6350" cap="flat" cmpd="sng" algn="ctr">
                      <a:solidFill>
                        <a:srgbClr val="D5E2E6"/>
                      </a:solidFill>
                      <a:prstDash val="solid"/>
                      <a:round/>
                      <a:headEnd type="none" w="med" len="med"/>
                      <a:tailEnd type="none" w="med" len="med"/>
                    </a:lnT>
                    <a:lnB w="6350" cap="flat" cmpd="sng" algn="ctr">
                      <a:solidFill>
                        <a:srgbClr val="D5E2E6"/>
                      </a:solidFill>
                      <a:prstDash val="solid"/>
                      <a:round/>
                      <a:headEnd type="none" w="med" len="med"/>
                      <a:tailEnd type="none" w="med" len="med"/>
                    </a:lnB>
                    <a:solidFill>
                      <a:srgbClr val="0B2F3A"/>
                    </a:solidFill>
                  </a:tcPr>
                </a:tc>
                <a:tc>
                  <a:txBody>
                    <a:bodyPr/>
                    <a:lstStyle/>
                    <a:p>
                      <a:pPr algn="l" indent="0" marL="0">
                        <a:buNone/>
                      </a:pPr>
                      <a:r>
                        <a:rPr lang="en-US" sz="1300" b="1" dirty="0">
                          <a:solidFill>
                            <a:srgbClr val="FFFFFF"/>
                          </a:solidFill>
                          <a:latin typeface="Calibri" pitchFamily="34" charset="0"/>
                          <a:ea typeface="Calibri" pitchFamily="34" charset="-122"/>
                          <a:cs typeface="Calibri" pitchFamily="34" charset="-120"/>
                        </a:rPr>
                        <a:t>Distinct values from 30 identical calls</a:t>
                      </a:r>
                      <a:endParaRPr lang="en-US" sz="1300" dirty="0">
                        <a:latin typeface="Calibri" charset="0"/>
                        <a:ea typeface="Calibri" charset="0"/>
                        <a:cs typeface="Calibri" charset="0"/>
                      </a:endParaRPr>
                    </a:p>
                  </a:txBody>
                  <a:tcPr marL="91440" marR="91440" marT="45720" marB="45720" anchor="ctr">
                    <a:lnL w="6350" cap="flat" cmpd="sng" algn="ctr">
                      <a:solidFill>
                        <a:srgbClr val="D5E2E6"/>
                      </a:solidFill>
                      <a:prstDash val="solid"/>
                      <a:round/>
                      <a:headEnd type="none" w="med" len="med"/>
                      <a:tailEnd type="none" w="med" len="med"/>
                    </a:lnL>
                    <a:lnR w="6350" cap="flat" cmpd="sng" algn="ctr">
                      <a:solidFill>
                        <a:srgbClr val="D5E2E6"/>
                      </a:solidFill>
                      <a:prstDash val="solid"/>
                      <a:round/>
                      <a:headEnd type="none" w="med" len="med"/>
                      <a:tailEnd type="none" w="med" len="med"/>
                    </a:lnR>
                    <a:lnT w="6350" cap="flat" cmpd="sng" algn="ctr">
                      <a:solidFill>
                        <a:srgbClr val="D5E2E6"/>
                      </a:solidFill>
                      <a:prstDash val="solid"/>
                      <a:round/>
                      <a:headEnd type="none" w="med" len="med"/>
                      <a:tailEnd type="none" w="med" len="med"/>
                    </a:lnT>
                    <a:lnB w="6350" cap="flat" cmpd="sng" algn="ctr">
                      <a:solidFill>
                        <a:srgbClr val="D5E2E6"/>
                      </a:solidFill>
                      <a:prstDash val="solid"/>
                      <a:round/>
                      <a:headEnd type="none" w="med" len="med"/>
                      <a:tailEnd type="none" w="med" len="med"/>
                    </a:lnB>
                    <a:solidFill>
                      <a:srgbClr val="0B2F3A"/>
                    </a:solidFill>
                  </a:tcPr>
                </a:tc>
              </a:tr>
              <a:tr h="347472">
                <a:tc>
                  <a:txBody>
                    <a:bodyPr/>
                    <a:lstStyle/>
                    <a:p>
                      <a:pPr algn="l" indent="0" marL="0">
                        <a:buNone/>
                      </a:pPr>
                      <a:r>
                        <a:rPr lang="en-US" sz="1300" dirty="0">
                          <a:solidFill>
                            <a:srgbClr val="0B2F3A"/>
                          </a:solidFill>
                          <a:latin typeface="Calibri" pitchFamily="34" charset="0"/>
                          <a:ea typeface="Calibri" pitchFamily="34" charset="-122"/>
                          <a:cs typeface="Calibri" pitchFamily="34" charset="-120"/>
                        </a:rPr>
                        <a:t>RANSAC (the library default)</a:t>
                      </a:r>
                      <a:endParaRPr lang="en-US" sz="1300" dirty="0">
                        <a:latin typeface="Calibri" charset="0"/>
                        <a:ea typeface="Calibri" charset="0"/>
                        <a:cs typeface="Calibri" charset="0"/>
                      </a:endParaRPr>
                    </a:p>
                  </a:txBody>
                  <a:tcPr marL="91440" marR="91440" marT="45720" marB="45720" anchor="ctr">
                    <a:lnL w="6350" cap="flat" cmpd="sng" algn="ctr">
                      <a:solidFill>
                        <a:srgbClr val="D5E2E6"/>
                      </a:solidFill>
                      <a:prstDash val="solid"/>
                      <a:round/>
                      <a:headEnd type="none" w="med" len="med"/>
                      <a:tailEnd type="none" w="med" len="med"/>
                    </a:lnL>
                    <a:lnR w="6350" cap="flat" cmpd="sng" algn="ctr">
                      <a:solidFill>
                        <a:srgbClr val="D5E2E6"/>
                      </a:solidFill>
                      <a:prstDash val="solid"/>
                      <a:round/>
                      <a:headEnd type="none" w="med" len="med"/>
                      <a:tailEnd type="none" w="med" len="med"/>
                    </a:lnR>
                    <a:lnT w="6350" cap="flat" cmpd="sng" algn="ctr">
                      <a:solidFill>
                        <a:srgbClr val="D5E2E6"/>
                      </a:solidFill>
                      <a:prstDash val="solid"/>
                      <a:round/>
                      <a:headEnd type="none" w="med" len="med"/>
                      <a:tailEnd type="none" w="med" len="med"/>
                    </a:lnT>
                    <a:lnB w="6350" cap="flat" cmpd="sng" algn="ctr">
                      <a:solidFill>
                        <a:srgbClr val="D5E2E6"/>
                      </a:solidFill>
                      <a:prstDash val="solid"/>
                      <a:round/>
                      <a:headEnd type="none" w="med" len="med"/>
                      <a:tailEnd type="none" w="med" len="med"/>
                    </a:lnB>
                    <a:solidFill>
                      <a:srgbClr val="FFFFFF"/>
                    </a:solidFill>
                  </a:tcPr>
                </a:tc>
                <a:tc>
                  <a:txBody>
                    <a:bodyPr/>
                    <a:lstStyle/>
                    <a:p>
                      <a:pPr algn="l" indent="0" marL="0">
                        <a:buNone/>
                      </a:pPr>
                      <a:r>
                        <a:rPr lang="en-US" sz="1300" dirty="0">
                          <a:solidFill>
                            <a:srgbClr val="0B2F3A"/>
                          </a:solidFill>
                          <a:latin typeface="Calibri" pitchFamily="34" charset="0"/>
                          <a:ea typeface="Calibri" pitchFamily="34" charset="-122"/>
                          <a:cs typeface="Calibri" pitchFamily="34" charset="-120"/>
                        </a:rPr>
                        <a:t>5</a:t>
                      </a:r>
                      <a:endParaRPr lang="en-US" sz="1300" dirty="0">
                        <a:latin typeface="Calibri" charset="0"/>
                        <a:ea typeface="Calibri" charset="0"/>
                        <a:cs typeface="Calibri" charset="0"/>
                      </a:endParaRPr>
                    </a:p>
                  </a:txBody>
                  <a:tcPr marL="91440" marR="91440" marT="45720" marB="45720" anchor="ctr">
                    <a:lnL w="6350" cap="flat" cmpd="sng" algn="ctr">
                      <a:solidFill>
                        <a:srgbClr val="D5E2E6"/>
                      </a:solidFill>
                      <a:prstDash val="solid"/>
                      <a:round/>
                      <a:headEnd type="none" w="med" len="med"/>
                      <a:tailEnd type="none" w="med" len="med"/>
                    </a:lnL>
                    <a:lnR w="6350" cap="flat" cmpd="sng" algn="ctr">
                      <a:solidFill>
                        <a:srgbClr val="D5E2E6"/>
                      </a:solidFill>
                      <a:prstDash val="solid"/>
                      <a:round/>
                      <a:headEnd type="none" w="med" len="med"/>
                      <a:tailEnd type="none" w="med" len="med"/>
                    </a:lnR>
                    <a:lnT w="6350" cap="flat" cmpd="sng" algn="ctr">
                      <a:solidFill>
                        <a:srgbClr val="D5E2E6"/>
                      </a:solidFill>
                      <a:prstDash val="solid"/>
                      <a:round/>
                      <a:headEnd type="none" w="med" len="med"/>
                      <a:tailEnd type="none" w="med" len="med"/>
                    </a:lnT>
                    <a:lnB w="6350" cap="flat" cmpd="sng" algn="ctr">
                      <a:solidFill>
                        <a:srgbClr val="D5E2E6"/>
                      </a:solidFill>
                      <a:prstDash val="solid"/>
                      <a:round/>
                      <a:headEnd type="none" w="med" len="med"/>
                      <a:tailEnd type="none" w="med" len="med"/>
                    </a:lnB>
                    <a:solidFill>
                      <a:srgbClr val="FFFFFF"/>
                    </a:solidFill>
                  </a:tcPr>
                </a:tc>
              </a:tr>
              <a:tr h="347472">
                <a:tc>
                  <a:txBody>
                    <a:bodyPr/>
                    <a:lstStyle/>
                    <a:p>
                      <a:pPr algn="l" indent="0" marL="0">
                        <a:buNone/>
                      </a:pPr>
                      <a:r>
                        <a:rPr lang="en-US" sz="1300" dirty="0">
                          <a:solidFill>
                            <a:srgbClr val="0B2F3A"/>
                          </a:solidFill>
                          <a:latin typeface="Calibri" pitchFamily="34" charset="0"/>
                          <a:ea typeface="Calibri" pitchFamily="34" charset="-122"/>
                          <a:cs typeface="Calibri" pitchFamily="34" charset="-120"/>
                        </a:rPr>
                        <a:t>Ordinary least squares</a:t>
                      </a:r>
                      <a:endParaRPr lang="en-US" sz="1300" dirty="0">
                        <a:latin typeface="Calibri" charset="0"/>
                        <a:ea typeface="Calibri" charset="0"/>
                        <a:cs typeface="Calibri" charset="0"/>
                      </a:endParaRPr>
                    </a:p>
                  </a:txBody>
                  <a:tcPr marL="91440" marR="91440" marT="45720" marB="45720" anchor="ctr">
                    <a:lnL w="6350" cap="flat" cmpd="sng" algn="ctr">
                      <a:solidFill>
                        <a:srgbClr val="D5E2E6"/>
                      </a:solidFill>
                      <a:prstDash val="solid"/>
                      <a:round/>
                      <a:headEnd type="none" w="med" len="med"/>
                      <a:tailEnd type="none" w="med" len="med"/>
                    </a:lnL>
                    <a:lnR w="6350" cap="flat" cmpd="sng" algn="ctr">
                      <a:solidFill>
                        <a:srgbClr val="D5E2E6"/>
                      </a:solidFill>
                      <a:prstDash val="solid"/>
                      <a:round/>
                      <a:headEnd type="none" w="med" len="med"/>
                      <a:tailEnd type="none" w="med" len="med"/>
                    </a:lnR>
                    <a:lnT w="6350" cap="flat" cmpd="sng" algn="ctr">
                      <a:solidFill>
                        <a:srgbClr val="D5E2E6"/>
                      </a:solidFill>
                      <a:prstDash val="solid"/>
                      <a:round/>
                      <a:headEnd type="none" w="med" len="med"/>
                      <a:tailEnd type="none" w="med" len="med"/>
                    </a:lnT>
                    <a:lnB w="6350" cap="flat" cmpd="sng" algn="ctr">
                      <a:solidFill>
                        <a:srgbClr val="D5E2E6"/>
                      </a:solidFill>
                      <a:prstDash val="solid"/>
                      <a:round/>
                      <a:headEnd type="none" w="med" len="med"/>
                      <a:tailEnd type="none" w="med" len="med"/>
                    </a:lnB>
                    <a:solidFill>
                      <a:srgbClr val="EAF2F4"/>
                    </a:solidFill>
                  </a:tcPr>
                </a:tc>
                <a:tc>
                  <a:txBody>
                    <a:bodyPr/>
                    <a:lstStyle/>
                    <a:p>
                      <a:pPr algn="l" indent="0" marL="0">
                        <a:buNone/>
                      </a:pPr>
                      <a:r>
                        <a:rPr lang="en-US" sz="1300" dirty="0">
                          <a:solidFill>
                            <a:srgbClr val="0B2F3A"/>
                          </a:solidFill>
                          <a:latin typeface="Calibri" pitchFamily="34" charset="0"/>
                          <a:ea typeface="Calibri" pitchFamily="34" charset="-122"/>
                          <a:cs typeface="Calibri" pitchFamily="34" charset="-120"/>
                        </a:rPr>
                        <a:t>1</a:t>
                      </a:r>
                      <a:endParaRPr lang="en-US" sz="1300" dirty="0">
                        <a:latin typeface="Calibri" charset="0"/>
                        <a:ea typeface="Calibri" charset="0"/>
                        <a:cs typeface="Calibri" charset="0"/>
                      </a:endParaRPr>
                    </a:p>
                  </a:txBody>
                  <a:tcPr marL="91440" marR="91440" marT="45720" marB="45720" anchor="ctr">
                    <a:lnL w="6350" cap="flat" cmpd="sng" algn="ctr">
                      <a:solidFill>
                        <a:srgbClr val="D5E2E6"/>
                      </a:solidFill>
                      <a:prstDash val="solid"/>
                      <a:round/>
                      <a:headEnd type="none" w="med" len="med"/>
                      <a:tailEnd type="none" w="med" len="med"/>
                    </a:lnL>
                    <a:lnR w="6350" cap="flat" cmpd="sng" algn="ctr">
                      <a:solidFill>
                        <a:srgbClr val="D5E2E6"/>
                      </a:solidFill>
                      <a:prstDash val="solid"/>
                      <a:round/>
                      <a:headEnd type="none" w="med" len="med"/>
                      <a:tailEnd type="none" w="med" len="med"/>
                    </a:lnR>
                    <a:lnT w="6350" cap="flat" cmpd="sng" algn="ctr">
                      <a:solidFill>
                        <a:srgbClr val="D5E2E6"/>
                      </a:solidFill>
                      <a:prstDash val="solid"/>
                      <a:round/>
                      <a:headEnd type="none" w="med" len="med"/>
                      <a:tailEnd type="none" w="med" len="med"/>
                    </a:lnT>
                    <a:lnB w="6350" cap="flat" cmpd="sng" algn="ctr">
                      <a:solidFill>
                        <a:srgbClr val="D5E2E6"/>
                      </a:solidFill>
                      <a:prstDash val="solid"/>
                      <a:round/>
                      <a:headEnd type="none" w="med" len="med"/>
                      <a:tailEnd type="none" w="med" len="med"/>
                    </a:lnB>
                    <a:solidFill>
                      <a:srgbClr val="EAF2F4"/>
                    </a:solidFill>
                  </a:tcPr>
                </a:tc>
              </a:tr>
            </a:tbl>
          </a:graphicData>
        </a:graphic>
      </p:graphicFrame>
      <p:sp>
        <p:nvSpPr>
          <p:cNvPr id="5" name="Text 2"/>
          <p:cNvSpPr txBox="1"/>
          <p:nvPr/>
        </p:nvSpPr>
        <p:spPr>
          <a:xfrm>
            <a:off x="548640" y="3108960"/>
            <a:ext cx="3108960" cy="868680"/>
          </a:xfrm>
          <a:prstGeom prst="rect">
            <a:avLst/>
          </a:prstGeom>
          <a:noFill/>
          <a:ln/>
        </p:spPr>
        <p:txBody>
          <a:bodyPr wrap="square" lIns="0" tIns="0" rIns="0" bIns="0" rtlCol="0" anchor="ctr"/>
          <a:lstStyle/>
          <a:p>
            <a:pPr algn="ctr" indent="0" marL="0">
              <a:buNone/>
            </a:pPr>
            <a:r>
              <a:rPr lang="en-US" sz="4200" b="1" dirty="0">
                <a:solidFill>
                  <a:srgbClr val="C62828"/>
                </a:solidFill>
                <a:latin typeface="Cambria" pitchFamily="34" charset="0"/>
                <a:ea typeface="Cambria" pitchFamily="34" charset="-122"/>
                <a:cs typeface="Cambria" pitchFamily="34" charset="-120"/>
              </a:rPr>
              <a:t>72%</a:t>
            </a:r>
            <a:endParaRPr lang="en-US" sz="4200" dirty="0"/>
          </a:p>
        </p:txBody>
      </p:sp>
      <p:sp>
        <p:nvSpPr>
          <p:cNvPr id="6" name="Text 3"/>
          <p:cNvSpPr txBox="1"/>
          <p:nvPr/>
        </p:nvSpPr>
        <p:spPr>
          <a:xfrm>
            <a:off x="548640" y="3950208"/>
            <a:ext cx="3108960" cy="548640"/>
          </a:xfrm>
          <a:prstGeom prst="rect">
            <a:avLst/>
          </a:prstGeom>
          <a:noFill/>
          <a:ln/>
        </p:spPr>
        <p:txBody>
          <a:bodyPr wrap="square" lIns="0" tIns="0" rIns="0" bIns="0" rtlCol="0" anchor="ctr"/>
          <a:lstStyle/>
          <a:p>
            <a:pPr algn="ctr" indent="0" marL="0">
              <a:buNone/>
            </a:pPr>
            <a:r>
              <a:rPr lang="en-US" sz="1150" dirty="0">
                <a:solidFill>
                  <a:srgbClr val="5A6B72"/>
                </a:solidFill>
                <a:latin typeface="Calibri" pitchFamily="34" charset="0"/>
                <a:ea typeface="Calibri" pitchFamily="34" charset="-122"/>
                <a:cs typeface="Calibri" pitchFamily="34" charset="-120"/>
              </a:rPr>
              <a:t>of correlation-dimension</a:t>
            </a:r>
            <a:endParaRPr lang="en-US" sz="1150" dirty="0"/>
          </a:p>
          <a:p>
            <a:pPr algn="ctr" indent="0" marL="0">
              <a:buNone/>
            </a:pPr>
            <a:r>
              <a:rPr lang="en-US" sz="1150" dirty="0">
                <a:solidFill>
                  <a:srgbClr val="5A6B72"/>
                </a:solidFill>
                <a:latin typeface="Calibri" pitchFamily="34" charset="0"/>
                <a:ea typeface="Calibri" pitchFamily="34" charset="-122"/>
                <a:cs typeface="Calibri" pitchFamily="34" charset="-120"/>
              </a:rPr>
              <a:t>values changed</a:t>
            </a:r>
            <a:endParaRPr lang="en-US" sz="1150" dirty="0"/>
          </a:p>
        </p:txBody>
      </p:sp>
      <p:sp>
        <p:nvSpPr>
          <p:cNvPr id="7" name="Text 4"/>
          <p:cNvSpPr txBox="1"/>
          <p:nvPr/>
        </p:nvSpPr>
        <p:spPr>
          <a:xfrm>
            <a:off x="3840480" y="3108960"/>
            <a:ext cx="3108960" cy="868680"/>
          </a:xfrm>
          <a:prstGeom prst="rect">
            <a:avLst/>
          </a:prstGeom>
          <a:noFill/>
          <a:ln/>
        </p:spPr>
        <p:txBody>
          <a:bodyPr wrap="square" lIns="0" tIns="0" rIns="0" bIns="0" rtlCol="0" anchor="ctr"/>
          <a:lstStyle/>
          <a:p>
            <a:pPr algn="ctr" indent="0" marL="0">
              <a:buNone/>
            </a:pPr>
            <a:r>
              <a:rPr lang="en-US" sz="4200" b="1" dirty="0">
                <a:solidFill>
                  <a:srgbClr val="1C7293"/>
                </a:solidFill>
                <a:latin typeface="Cambria" pitchFamily="34" charset="0"/>
                <a:ea typeface="Cambria" pitchFamily="34" charset="-122"/>
                <a:cs typeface="Cambria" pitchFamily="34" charset="-120"/>
              </a:rPr>
              <a:t>177</a:t>
            </a:r>
            <a:endParaRPr lang="en-US" sz="4200" dirty="0"/>
          </a:p>
        </p:txBody>
      </p:sp>
      <p:sp>
        <p:nvSpPr>
          <p:cNvPr id="8" name="Text 5"/>
          <p:cNvSpPr txBox="1"/>
          <p:nvPr/>
        </p:nvSpPr>
        <p:spPr>
          <a:xfrm>
            <a:off x="3840480" y="3950208"/>
            <a:ext cx="3108960" cy="548640"/>
          </a:xfrm>
          <a:prstGeom prst="rect">
            <a:avLst/>
          </a:prstGeom>
          <a:noFill/>
          <a:ln/>
        </p:spPr>
        <p:txBody>
          <a:bodyPr wrap="square" lIns="0" tIns="0" rIns="0" bIns="0" rtlCol="0" anchor="ctr"/>
          <a:lstStyle/>
          <a:p>
            <a:pPr algn="ctr" indent="0" marL="0">
              <a:buNone/>
            </a:pPr>
            <a:r>
              <a:rPr lang="en-US" sz="1150" dirty="0">
                <a:solidFill>
                  <a:srgbClr val="5A6B72"/>
                </a:solidFill>
                <a:latin typeface="Calibri" pitchFamily="34" charset="0"/>
                <a:ea typeface="Calibri" pitchFamily="34" charset="-122"/>
                <a:cs typeface="Calibri" pitchFamily="34" charset="-120"/>
              </a:rPr>
              <a:t>other features:</a:t>
            </a:r>
            <a:endParaRPr lang="en-US" sz="1150" dirty="0"/>
          </a:p>
          <a:p>
            <a:pPr algn="ctr" indent="0" marL="0">
              <a:buNone/>
            </a:pPr>
            <a:r>
              <a:rPr lang="en-US" sz="1150" dirty="0">
                <a:solidFill>
                  <a:srgbClr val="5A6B72"/>
                </a:solidFill>
                <a:latin typeface="Calibri" pitchFamily="34" charset="0"/>
                <a:ea typeface="Calibri" pitchFamily="34" charset="-122"/>
                <a:cs typeface="Calibri" pitchFamily="34" charset="-120"/>
              </a:rPr>
              <a:t>bit-identical</a:t>
            </a:r>
            <a:endParaRPr lang="en-US" sz="1150" dirty="0"/>
          </a:p>
        </p:txBody>
      </p:sp>
      <p:sp>
        <p:nvSpPr>
          <p:cNvPr id="9" name="Shape 6"/>
          <p:cNvSpPr/>
          <p:nvPr/>
        </p:nvSpPr>
        <p:spPr>
          <a:xfrm>
            <a:off x="6903720" y="1965960"/>
            <a:ext cx="4800600" cy="1737360"/>
          </a:xfrm>
          <a:prstGeom prst="roundRect">
            <a:avLst>
              <a:gd name="adj" fmla="val 3158"/>
            </a:avLst>
          </a:prstGeom>
          <a:solidFill>
            <a:srgbClr val="EAF2F4"/>
          </a:solidFill>
          <a:ln w="12700">
            <a:solidFill>
              <a:srgbClr val="EAF2F4"/>
            </a:solidFill>
            <a:prstDash val="solid"/>
          </a:ln>
        </p:spPr>
      </p:sp>
      <p:sp>
        <p:nvSpPr>
          <p:cNvPr id="10" name="Text 7"/>
          <p:cNvSpPr txBox="1"/>
          <p:nvPr/>
        </p:nvSpPr>
        <p:spPr>
          <a:xfrm>
            <a:off x="7104888" y="2112264"/>
            <a:ext cx="4398264" cy="347472"/>
          </a:xfrm>
          <a:prstGeom prst="rect">
            <a:avLst/>
          </a:prstGeom>
          <a:noFill/>
          <a:ln/>
        </p:spPr>
        <p:txBody>
          <a:bodyPr wrap="square" lIns="0" tIns="0" rIns="0" bIns="0" rtlCol="0" anchor="ctr"/>
          <a:lstStyle/>
          <a:p>
            <a:pPr indent="0" marL="0">
              <a:buNone/>
            </a:pPr>
            <a:r>
              <a:rPr lang="en-US" sz="1300" b="1" dirty="0">
                <a:solidFill>
                  <a:srgbClr val="0B2F3A"/>
                </a:solidFill>
                <a:latin typeface="Calibri" pitchFamily="34" charset="0"/>
                <a:ea typeface="Calibri" pitchFamily="34" charset="-122"/>
                <a:cs typeface="Calibri" pitchFamily="34" charset="-120"/>
              </a:rPr>
              <a:t>Why the second number matters</a:t>
            </a:r>
            <a:endParaRPr lang="en-US" sz="1300" dirty="0"/>
          </a:p>
        </p:txBody>
      </p:sp>
      <p:sp>
        <p:nvSpPr>
          <p:cNvPr id="11" name="Text 8"/>
          <p:cNvSpPr txBox="1"/>
          <p:nvPr/>
        </p:nvSpPr>
        <p:spPr>
          <a:xfrm>
            <a:off x="7104888" y="2496312"/>
            <a:ext cx="4398264" cy="1051560"/>
          </a:xfrm>
          <a:prstGeom prst="rect">
            <a:avLst/>
          </a:prstGeom>
          <a:noFill/>
          <a:ln/>
        </p:spPr>
        <p:txBody>
          <a:bodyPr wrap="square" lIns="0" tIns="0" rIns="0" bIns="0" rtlCol="0" anchor="t"/>
          <a:lstStyle/>
          <a:p>
            <a:pPr indent="0" marL="0">
              <a:buNone/>
            </a:pPr>
            <a:r>
              <a:rPr lang="en-US" sz="1200" dirty="0">
                <a:solidFill>
                  <a:srgbClr val="0B2F3A"/>
                </a:solidFill>
                <a:latin typeface="Calibri" pitchFamily="34" charset="0"/>
                <a:ea typeface="Calibri" pitchFamily="34" charset="-122"/>
                <a:cs typeface="Calibri" pitchFamily="34" charset="-120"/>
              </a:rPr>
              <a:t>The 177 unchanged features are the control. They prove the differences came from the random fit, not from anything else we changed.</a:t>
            </a:r>
            <a:endParaRPr lang="en-US" sz="1200" dirty="0"/>
          </a:p>
        </p:txBody>
      </p:sp>
      <p:sp>
        <p:nvSpPr>
          <p:cNvPr id="12" name="Shape 9"/>
          <p:cNvSpPr/>
          <p:nvPr/>
        </p:nvSpPr>
        <p:spPr>
          <a:xfrm>
            <a:off x="6903720" y="3840480"/>
            <a:ext cx="4800600" cy="1280160"/>
          </a:xfrm>
          <a:prstGeom prst="roundRect">
            <a:avLst>
              <a:gd name="adj" fmla="val 4286"/>
            </a:avLst>
          </a:prstGeom>
          <a:solidFill>
            <a:srgbClr val="EAF2F4"/>
          </a:solidFill>
          <a:ln w="12700">
            <a:solidFill>
              <a:srgbClr val="EAF2F4"/>
            </a:solidFill>
            <a:prstDash val="solid"/>
          </a:ln>
        </p:spPr>
      </p:sp>
      <p:sp>
        <p:nvSpPr>
          <p:cNvPr id="13" name="Text 10"/>
          <p:cNvSpPr txBox="1"/>
          <p:nvPr/>
        </p:nvSpPr>
        <p:spPr>
          <a:xfrm>
            <a:off x="7104888" y="3986784"/>
            <a:ext cx="4398264" cy="347472"/>
          </a:xfrm>
          <a:prstGeom prst="rect">
            <a:avLst/>
          </a:prstGeom>
          <a:noFill/>
          <a:ln/>
        </p:spPr>
        <p:txBody>
          <a:bodyPr wrap="square" lIns="0" tIns="0" rIns="0" bIns="0" rtlCol="0" anchor="ctr"/>
          <a:lstStyle/>
          <a:p>
            <a:pPr indent="0" marL="0">
              <a:buNone/>
            </a:pPr>
            <a:r>
              <a:rPr lang="en-US" sz="1300" b="1" dirty="0">
                <a:solidFill>
                  <a:srgbClr val="0B2F3A"/>
                </a:solidFill>
                <a:latin typeface="Calibri" pitchFamily="34" charset="0"/>
                <a:ea typeface="Calibri" pitchFamily="34" charset="-122"/>
                <a:cs typeface="Calibri" pitchFamily="34" charset="-120"/>
              </a:rPr>
              <a:t>The fix</a:t>
            </a:r>
            <a:endParaRPr lang="en-US" sz="1300" dirty="0"/>
          </a:p>
        </p:txBody>
      </p:sp>
      <p:sp>
        <p:nvSpPr>
          <p:cNvPr id="14" name="Text 11"/>
          <p:cNvSpPr txBox="1"/>
          <p:nvPr/>
        </p:nvSpPr>
        <p:spPr>
          <a:xfrm>
            <a:off x="7104888" y="4370832"/>
            <a:ext cx="4398264" cy="594360"/>
          </a:xfrm>
          <a:prstGeom prst="rect">
            <a:avLst/>
          </a:prstGeom>
          <a:noFill/>
          <a:ln/>
        </p:spPr>
        <p:txBody>
          <a:bodyPr wrap="square" lIns="0" tIns="0" rIns="0" bIns="0" rtlCol="0" anchor="t"/>
          <a:lstStyle/>
          <a:p>
            <a:pPr indent="0" marL="0">
              <a:buNone/>
            </a:pPr>
            <a:r>
              <a:rPr lang="en-US" sz="1200" dirty="0">
                <a:solidFill>
                  <a:srgbClr val="0B2F3A"/>
                </a:solidFill>
                <a:latin typeface="Calibri" pitchFamily="34" charset="0"/>
                <a:ea typeface="Calibri" pitchFamily="34" charset="-122"/>
                <a:cs typeface="Calibri" pitchFamily="34" charset="-120"/>
              </a:rPr>
              <a:t>One argument - fit the slope with least squares. Both methods agree on the typical value; only one always returns it.</a:t>
            </a:r>
            <a:endParaRPr lang="en-US" sz="1200" dirty="0"/>
          </a:p>
        </p:txBody>
      </p:sp>
      <p:sp>
        <p:nvSpPr>
          <p:cNvPr id="15" name="Shape 12"/>
          <p:cNvSpPr/>
          <p:nvPr/>
        </p:nvSpPr>
        <p:spPr>
          <a:xfrm>
            <a:off x="548640" y="4526280"/>
            <a:ext cx="6400800" cy="1051560"/>
          </a:xfrm>
          <a:prstGeom prst="roundRect">
            <a:avLst>
              <a:gd name="adj" fmla="val 4348"/>
            </a:avLst>
          </a:prstGeom>
          <a:solidFill>
            <a:srgbClr val="FBEFEF"/>
          </a:solidFill>
          <a:ln w="12700">
            <a:solidFill>
              <a:srgbClr val="FBEFEF"/>
            </a:solidFill>
            <a:prstDash val="solid"/>
          </a:ln>
        </p:spPr>
      </p:sp>
      <p:sp>
        <p:nvSpPr>
          <p:cNvPr id="16" name="Text 13"/>
          <p:cNvSpPr txBox="1"/>
          <p:nvPr/>
        </p:nvSpPr>
        <p:spPr>
          <a:xfrm>
            <a:off x="804672" y="4700016"/>
            <a:ext cx="5897880" cy="777240"/>
          </a:xfrm>
          <a:prstGeom prst="rect">
            <a:avLst/>
          </a:prstGeom>
          <a:noFill/>
          <a:ln/>
        </p:spPr>
        <p:txBody>
          <a:bodyPr wrap="square" lIns="0" tIns="0" rIns="0" bIns="0" rtlCol="0" anchor="ctr"/>
          <a:lstStyle/>
          <a:p>
            <a:pPr indent="0" marL="0">
              <a:buNone/>
            </a:pPr>
            <a:r>
              <a:rPr lang="en-US" sz="1250" dirty="0">
                <a:solidFill>
                  <a:srgbClr val="0B2F3A"/>
                </a:solidFill>
                <a:latin typeface="Calibri" pitchFamily="34" charset="0"/>
                <a:ea typeface="Calibri" pitchFamily="34" charset="-122"/>
                <a:cs typeface="Calibri" pitchFamily="34" charset="-120"/>
              </a:rPr>
              <a:t>Any result computed from these features was irreproducible - nobody re-running the pipeline, including us, would get the same numbers. Found only because we tested whether identical input gives identical output.</a:t>
            </a:r>
            <a:endParaRPr lang="en-US" sz="12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84048"/>
            <a:ext cx="11094415" cy="868680"/>
          </a:xfrm>
          <a:prstGeom prst="rect">
            <a:avLst/>
          </a:prstGeom>
          <a:noFill/>
          <a:ln/>
        </p:spPr>
        <p:txBody>
          <a:bodyPr wrap="square" rtlCol="0" anchor="t"/>
          <a:lstStyle/>
          <a:p>
            <a:pPr indent="0" marL="0">
              <a:buNone/>
            </a:pPr>
            <a:r>
              <a:rPr lang="en-US" sz="2700" b="1" dirty="0">
                <a:solidFill>
                  <a:srgbClr val="0B2F3A"/>
                </a:solidFill>
                <a:latin typeface="Cambria" pitchFamily="34" charset="0"/>
                <a:ea typeface="Cambria" pitchFamily="34" charset="-122"/>
                <a:cs typeface="Cambria" pitchFamily="34" charset="-120"/>
              </a:rPr>
              <a:t>What this contributes, and what we cannot claim</a:t>
            </a:r>
            <a:endParaRPr lang="en-US" sz="2700" dirty="0"/>
          </a:p>
        </p:txBody>
      </p:sp>
      <p:sp>
        <p:nvSpPr>
          <p:cNvPr id="3" name="Shape 1"/>
          <p:cNvSpPr/>
          <p:nvPr/>
        </p:nvSpPr>
        <p:spPr>
          <a:xfrm>
            <a:off x="548640" y="1353312"/>
            <a:ext cx="384048" cy="384048"/>
          </a:xfrm>
          <a:prstGeom prst="ellipse">
            <a:avLst/>
          </a:prstGeom>
          <a:solidFill>
            <a:srgbClr val="0B2F3A"/>
          </a:solidFill>
          <a:ln w="12700">
            <a:solidFill>
              <a:srgbClr val="0B2F3A"/>
            </a:solidFill>
            <a:prstDash val="solid"/>
          </a:ln>
        </p:spPr>
      </p:sp>
      <p:sp>
        <p:nvSpPr>
          <p:cNvPr id="4" name="Text 2"/>
          <p:cNvSpPr txBox="1"/>
          <p:nvPr/>
        </p:nvSpPr>
        <p:spPr>
          <a:xfrm>
            <a:off x="548640" y="1408176"/>
            <a:ext cx="384048" cy="274320"/>
          </a:xfrm>
          <a:prstGeom prst="rect">
            <a:avLst/>
          </a:prstGeom>
          <a:noFill/>
          <a:ln/>
        </p:spPr>
        <p:txBody>
          <a:bodyPr wrap="square" lIns="0" tIns="0" rIns="0" bIns="0" rtlCol="0" anchor="ctr"/>
          <a:lstStyle/>
          <a:p>
            <a:pPr algn="ctr" indent="0" marL="0">
              <a:buNone/>
            </a:pPr>
            <a:r>
              <a:rPr lang="en-US" sz="1300" b="1" dirty="0">
                <a:solidFill>
                  <a:srgbClr val="00C2A8"/>
                </a:solidFill>
                <a:latin typeface="Calibri" pitchFamily="34" charset="0"/>
                <a:ea typeface="Calibri" pitchFamily="34" charset="-122"/>
                <a:cs typeface="Calibri" pitchFamily="34" charset="-120"/>
              </a:rPr>
              <a:t>1</a:t>
            </a:r>
            <a:endParaRPr lang="en-US" sz="1300" dirty="0"/>
          </a:p>
        </p:txBody>
      </p:sp>
      <p:sp>
        <p:nvSpPr>
          <p:cNvPr id="5" name="Text 3"/>
          <p:cNvSpPr txBox="1"/>
          <p:nvPr/>
        </p:nvSpPr>
        <p:spPr>
          <a:xfrm>
            <a:off x="1115568" y="1325880"/>
            <a:ext cx="10515600" cy="274320"/>
          </a:xfrm>
          <a:prstGeom prst="rect">
            <a:avLst/>
          </a:prstGeom>
          <a:noFill/>
          <a:ln/>
        </p:spPr>
        <p:txBody>
          <a:bodyPr wrap="square" lIns="0" tIns="0" rIns="0" bIns="0" rtlCol="0" anchor="ctr"/>
          <a:lstStyle/>
          <a:p>
            <a:pPr indent="0" marL="0">
              <a:buNone/>
            </a:pPr>
            <a:r>
              <a:rPr lang="en-US" sz="1450" b="1" dirty="0">
                <a:solidFill>
                  <a:srgbClr val="0B2F3A"/>
                </a:solidFill>
                <a:latin typeface="Calibri" pitchFamily="34" charset="0"/>
                <a:ea typeface="Calibri" pitchFamily="34" charset="-122"/>
                <a:cs typeface="Calibri" pitchFamily="34" charset="-120"/>
              </a:rPr>
              <a:t>An open reproduction on open data</a:t>
            </a:r>
            <a:endParaRPr lang="en-US" sz="1450" dirty="0"/>
          </a:p>
        </p:txBody>
      </p:sp>
      <p:sp>
        <p:nvSpPr>
          <p:cNvPr id="6" name="Text 4"/>
          <p:cNvSpPr txBox="1"/>
          <p:nvPr/>
        </p:nvSpPr>
        <p:spPr>
          <a:xfrm>
            <a:off x="1115568" y="1618488"/>
            <a:ext cx="10515600" cy="502920"/>
          </a:xfrm>
          <a:prstGeom prst="rect">
            <a:avLst/>
          </a:prstGeom>
          <a:noFill/>
          <a:ln/>
        </p:spPr>
        <p:txBody>
          <a:bodyPr wrap="square" lIns="0" tIns="0" rIns="0" bIns="0" rtlCol="0" anchor="ctr"/>
          <a:lstStyle/>
          <a:p>
            <a:pPr indent="0" marL="0">
              <a:buNone/>
            </a:pPr>
            <a:r>
              <a:rPr lang="en-US" sz="1200" dirty="0">
                <a:solidFill>
                  <a:srgbClr val="5A6B72"/>
                </a:solidFill>
                <a:latin typeface="Calibri" pitchFamily="34" charset="0"/>
                <a:ea typeface="Calibri" pitchFamily="34" charset="-122"/>
                <a:cs typeface="Calibri" pitchFamily="34" charset="-120"/>
              </a:rPr>
              <a:t>All three stages rebuilt from the paper, run on PhysioCGM: 30,830 windows, 193 features, 10 patients.</a:t>
            </a:r>
            <a:endParaRPr lang="en-US" sz="1200" dirty="0"/>
          </a:p>
        </p:txBody>
      </p:sp>
      <p:sp>
        <p:nvSpPr>
          <p:cNvPr id="7" name="Shape 5"/>
          <p:cNvSpPr/>
          <p:nvPr/>
        </p:nvSpPr>
        <p:spPr>
          <a:xfrm>
            <a:off x="548640" y="2221992"/>
            <a:ext cx="384048" cy="384048"/>
          </a:xfrm>
          <a:prstGeom prst="ellipse">
            <a:avLst/>
          </a:prstGeom>
          <a:solidFill>
            <a:srgbClr val="0B2F3A"/>
          </a:solidFill>
          <a:ln w="12700">
            <a:solidFill>
              <a:srgbClr val="0B2F3A"/>
            </a:solidFill>
            <a:prstDash val="solid"/>
          </a:ln>
        </p:spPr>
      </p:sp>
      <p:sp>
        <p:nvSpPr>
          <p:cNvPr id="8" name="Text 6"/>
          <p:cNvSpPr txBox="1"/>
          <p:nvPr/>
        </p:nvSpPr>
        <p:spPr>
          <a:xfrm>
            <a:off x="548640" y="2276856"/>
            <a:ext cx="384048" cy="274320"/>
          </a:xfrm>
          <a:prstGeom prst="rect">
            <a:avLst/>
          </a:prstGeom>
          <a:noFill/>
          <a:ln/>
        </p:spPr>
        <p:txBody>
          <a:bodyPr wrap="square" lIns="0" tIns="0" rIns="0" bIns="0" rtlCol="0" anchor="ctr"/>
          <a:lstStyle/>
          <a:p>
            <a:pPr algn="ctr" indent="0" marL="0">
              <a:buNone/>
            </a:pPr>
            <a:r>
              <a:rPr lang="en-US" sz="1300" b="1" dirty="0">
                <a:solidFill>
                  <a:srgbClr val="00C2A8"/>
                </a:solidFill>
                <a:latin typeface="Calibri" pitchFamily="34" charset="0"/>
                <a:ea typeface="Calibri" pitchFamily="34" charset="-122"/>
                <a:cs typeface="Calibri" pitchFamily="34" charset="-120"/>
              </a:rPr>
              <a:t>2</a:t>
            </a:r>
            <a:endParaRPr lang="en-US" sz="1300" dirty="0"/>
          </a:p>
        </p:txBody>
      </p:sp>
      <p:sp>
        <p:nvSpPr>
          <p:cNvPr id="9" name="Text 7"/>
          <p:cNvSpPr txBox="1"/>
          <p:nvPr/>
        </p:nvSpPr>
        <p:spPr>
          <a:xfrm>
            <a:off x="1115568" y="2194560"/>
            <a:ext cx="10515600" cy="274320"/>
          </a:xfrm>
          <a:prstGeom prst="rect">
            <a:avLst/>
          </a:prstGeom>
          <a:noFill/>
          <a:ln/>
        </p:spPr>
        <p:txBody>
          <a:bodyPr wrap="square" lIns="0" tIns="0" rIns="0" bIns="0" rtlCol="0" anchor="ctr"/>
          <a:lstStyle/>
          <a:p>
            <a:pPr indent="0" marL="0">
              <a:buNone/>
            </a:pPr>
            <a:r>
              <a:rPr lang="en-US" sz="1450" b="1" dirty="0">
                <a:solidFill>
                  <a:srgbClr val="0B2F3A"/>
                </a:solidFill>
                <a:latin typeface="Calibri" pitchFamily="34" charset="0"/>
                <a:ea typeface="Calibri" pitchFamily="34" charset="-122"/>
                <a:cs typeface="Calibri" pitchFamily="34" charset="-120"/>
              </a:rPr>
              <a:t>A degeneracy theorem with a runnable diagnostic</a:t>
            </a:r>
            <a:endParaRPr lang="en-US" sz="1450" dirty="0"/>
          </a:p>
        </p:txBody>
      </p:sp>
      <p:sp>
        <p:nvSpPr>
          <p:cNvPr id="10" name="Text 8"/>
          <p:cNvSpPr txBox="1"/>
          <p:nvPr/>
        </p:nvSpPr>
        <p:spPr>
          <a:xfrm>
            <a:off x="1115568" y="2487168"/>
            <a:ext cx="10515600" cy="502920"/>
          </a:xfrm>
          <a:prstGeom prst="rect">
            <a:avLst/>
          </a:prstGeom>
          <a:noFill/>
          <a:ln/>
        </p:spPr>
        <p:txBody>
          <a:bodyPr wrap="square" lIns="0" tIns="0" rIns="0" bIns="0" rtlCol="0" anchor="ctr"/>
          <a:lstStyle/>
          <a:p>
            <a:pPr indent="0" marL="0">
              <a:buNone/>
            </a:pPr>
            <a:r>
              <a:rPr lang="en-US" sz="1200" dirty="0">
                <a:solidFill>
                  <a:srgbClr val="5A6B72"/>
                </a:solidFill>
                <a:latin typeface="Calibri" pitchFamily="34" charset="0"/>
                <a:ea typeface="Calibri" pitchFamily="34" charset="-122"/>
                <a:cs typeface="Calibri" pitchFamily="34" charset="-120"/>
              </a:rPr>
              <a:t>When densities saturate, the Sugeno-lambda Choquet integral provably becomes a fixed order statistic. Verified at correlation 0.998.</a:t>
            </a:r>
            <a:endParaRPr lang="en-US" sz="1200" dirty="0"/>
          </a:p>
        </p:txBody>
      </p:sp>
      <p:sp>
        <p:nvSpPr>
          <p:cNvPr id="11" name="Shape 9"/>
          <p:cNvSpPr/>
          <p:nvPr/>
        </p:nvSpPr>
        <p:spPr>
          <a:xfrm>
            <a:off x="548640" y="3090672"/>
            <a:ext cx="384048" cy="384048"/>
          </a:xfrm>
          <a:prstGeom prst="ellipse">
            <a:avLst/>
          </a:prstGeom>
          <a:solidFill>
            <a:srgbClr val="0B2F3A"/>
          </a:solidFill>
          <a:ln w="12700">
            <a:solidFill>
              <a:srgbClr val="0B2F3A"/>
            </a:solidFill>
            <a:prstDash val="solid"/>
          </a:ln>
        </p:spPr>
      </p:sp>
      <p:sp>
        <p:nvSpPr>
          <p:cNvPr id="12" name="Text 10"/>
          <p:cNvSpPr txBox="1"/>
          <p:nvPr/>
        </p:nvSpPr>
        <p:spPr>
          <a:xfrm>
            <a:off x="548640" y="3145536"/>
            <a:ext cx="384048" cy="274320"/>
          </a:xfrm>
          <a:prstGeom prst="rect">
            <a:avLst/>
          </a:prstGeom>
          <a:noFill/>
          <a:ln/>
        </p:spPr>
        <p:txBody>
          <a:bodyPr wrap="square" lIns="0" tIns="0" rIns="0" bIns="0" rtlCol="0" anchor="ctr"/>
          <a:lstStyle/>
          <a:p>
            <a:pPr algn="ctr" indent="0" marL="0">
              <a:buNone/>
            </a:pPr>
            <a:r>
              <a:rPr lang="en-US" sz="1300" b="1" dirty="0">
                <a:solidFill>
                  <a:srgbClr val="00C2A8"/>
                </a:solidFill>
                <a:latin typeface="Calibri" pitchFamily="34" charset="0"/>
                <a:ea typeface="Calibri" pitchFamily="34" charset="-122"/>
                <a:cs typeface="Calibri" pitchFamily="34" charset="-120"/>
              </a:rPr>
              <a:t>3</a:t>
            </a:r>
            <a:endParaRPr lang="en-US" sz="1300" dirty="0"/>
          </a:p>
        </p:txBody>
      </p:sp>
      <p:sp>
        <p:nvSpPr>
          <p:cNvPr id="13" name="Text 11"/>
          <p:cNvSpPr txBox="1"/>
          <p:nvPr/>
        </p:nvSpPr>
        <p:spPr>
          <a:xfrm>
            <a:off x="1115568" y="3063240"/>
            <a:ext cx="10515600" cy="274320"/>
          </a:xfrm>
          <a:prstGeom prst="rect">
            <a:avLst/>
          </a:prstGeom>
          <a:noFill/>
          <a:ln/>
        </p:spPr>
        <p:txBody>
          <a:bodyPr wrap="square" lIns="0" tIns="0" rIns="0" bIns="0" rtlCol="0" anchor="ctr"/>
          <a:lstStyle/>
          <a:p>
            <a:pPr indent="0" marL="0">
              <a:buNone/>
            </a:pPr>
            <a:r>
              <a:rPr lang="en-US" sz="1450" b="1" dirty="0">
                <a:solidFill>
                  <a:srgbClr val="0B2F3A"/>
                </a:solidFill>
                <a:latin typeface="Calibri" pitchFamily="34" charset="0"/>
                <a:ea typeface="Calibri" pitchFamily="34" charset="-122"/>
                <a:cs typeface="Calibri" pitchFamily="34" charset="-120"/>
              </a:rPr>
              <a:t>Evidence that the evaluation protocol dominates</a:t>
            </a:r>
            <a:endParaRPr lang="en-US" sz="1450" dirty="0"/>
          </a:p>
        </p:txBody>
      </p:sp>
      <p:sp>
        <p:nvSpPr>
          <p:cNvPr id="14" name="Text 12"/>
          <p:cNvSpPr txBox="1"/>
          <p:nvPr/>
        </p:nvSpPr>
        <p:spPr>
          <a:xfrm>
            <a:off x="1115568" y="3355848"/>
            <a:ext cx="10515600" cy="502920"/>
          </a:xfrm>
          <a:prstGeom prst="rect">
            <a:avLst/>
          </a:prstGeom>
          <a:noFill/>
          <a:ln/>
        </p:spPr>
        <p:txBody>
          <a:bodyPr wrap="square" lIns="0" tIns="0" rIns="0" bIns="0" rtlCol="0" anchor="ctr"/>
          <a:lstStyle/>
          <a:p>
            <a:pPr indent="0" marL="0">
              <a:buNone/>
            </a:pPr>
            <a:r>
              <a:rPr lang="en-US" sz="1200" dirty="0">
                <a:solidFill>
                  <a:srgbClr val="5A6B72"/>
                </a:solidFill>
                <a:latin typeface="Calibri" pitchFamily="34" charset="0"/>
                <a:ea typeface="Calibri" pitchFamily="34" charset="-122"/>
                <a:cs typeface="Calibri" pitchFamily="34" charset="-120"/>
              </a:rPr>
              <a:t>R-squared +0.149 to -0.223 on identical data, and a constant predictor beating every model on the clinical metric.</a:t>
            </a:r>
            <a:endParaRPr lang="en-US" sz="1200" dirty="0"/>
          </a:p>
        </p:txBody>
      </p:sp>
      <p:sp>
        <p:nvSpPr>
          <p:cNvPr id="15" name="Shape 13"/>
          <p:cNvSpPr/>
          <p:nvPr/>
        </p:nvSpPr>
        <p:spPr>
          <a:xfrm>
            <a:off x="548640" y="3959352"/>
            <a:ext cx="384048" cy="384048"/>
          </a:xfrm>
          <a:prstGeom prst="ellipse">
            <a:avLst/>
          </a:prstGeom>
          <a:solidFill>
            <a:srgbClr val="0B2F3A"/>
          </a:solidFill>
          <a:ln w="12700">
            <a:solidFill>
              <a:srgbClr val="0B2F3A"/>
            </a:solidFill>
            <a:prstDash val="solid"/>
          </a:ln>
        </p:spPr>
      </p:sp>
      <p:sp>
        <p:nvSpPr>
          <p:cNvPr id="16" name="Text 14"/>
          <p:cNvSpPr txBox="1"/>
          <p:nvPr/>
        </p:nvSpPr>
        <p:spPr>
          <a:xfrm>
            <a:off x="548640" y="4014216"/>
            <a:ext cx="384048" cy="274320"/>
          </a:xfrm>
          <a:prstGeom prst="rect">
            <a:avLst/>
          </a:prstGeom>
          <a:noFill/>
          <a:ln/>
        </p:spPr>
        <p:txBody>
          <a:bodyPr wrap="square" lIns="0" tIns="0" rIns="0" bIns="0" rtlCol="0" anchor="ctr"/>
          <a:lstStyle/>
          <a:p>
            <a:pPr algn="ctr" indent="0" marL="0">
              <a:buNone/>
            </a:pPr>
            <a:r>
              <a:rPr lang="en-US" sz="1300" b="1" dirty="0">
                <a:solidFill>
                  <a:srgbClr val="00C2A8"/>
                </a:solidFill>
                <a:latin typeface="Calibri" pitchFamily="34" charset="0"/>
                <a:ea typeface="Calibri" pitchFamily="34" charset="-122"/>
                <a:cs typeface="Calibri" pitchFamily="34" charset="-120"/>
              </a:rPr>
              <a:t>4</a:t>
            </a:r>
            <a:endParaRPr lang="en-US" sz="1300" dirty="0"/>
          </a:p>
        </p:txBody>
      </p:sp>
      <p:sp>
        <p:nvSpPr>
          <p:cNvPr id="17" name="Text 15"/>
          <p:cNvSpPr txBox="1"/>
          <p:nvPr/>
        </p:nvSpPr>
        <p:spPr>
          <a:xfrm>
            <a:off x="1115568" y="3931920"/>
            <a:ext cx="10515600" cy="274320"/>
          </a:xfrm>
          <a:prstGeom prst="rect">
            <a:avLst/>
          </a:prstGeom>
          <a:noFill/>
          <a:ln/>
        </p:spPr>
        <p:txBody>
          <a:bodyPr wrap="square" lIns="0" tIns="0" rIns="0" bIns="0" rtlCol="0" anchor="ctr"/>
          <a:lstStyle/>
          <a:p>
            <a:pPr indent="0" marL="0">
              <a:buNone/>
            </a:pPr>
            <a:r>
              <a:rPr lang="en-US" sz="1450" b="1" dirty="0">
                <a:solidFill>
                  <a:srgbClr val="0B2F3A"/>
                </a:solidFill>
                <a:latin typeface="Calibri" pitchFamily="34" charset="0"/>
                <a:ea typeface="Calibri" pitchFamily="34" charset="-122"/>
                <a:cs typeface="Calibri" pitchFamily="34" charset="-120"/>
              </a:rPr>
              <a:t>A reproducibility failure in a standard library</a:t>
            </a:r>
            <a:endParaRPr lang="en-US" sz="1450" dirty="0"/>
          </a:p>
        </p:txBody>
      </p:sp>
      <p:sp>
        <p:nvSpPr>
          <p:cNvPr id="18" name="Text 16"/>
          <p:cNvSpPr txBox="1"/>
          <p:nvPr/>
        </p:nvSpPr>
        <p:spPr>
          <a:xfrm>
            <a:off x="1115568" y="4224528"/>
            <a:ext cx="10515600" cy="502920"/>
          </a:xfrm>
          <a:prstGeom prst="rect">
            <a:avLst/>
          </a:prstGeom>
          <a:noFill/>
          <a:ln/>
        </p:spPr>
        <p:txBody>
          <a:bodyPr wrap="square" lIns="0" tIns="0" rIns="0" bIns="0" rtlCol="0" anchor="ctr"/>
          <a:lstStyle/>
          <a:p>
            <a:pPr indent="0" marL="0">
              <a:buNone/>
            </a:pPr>
            <a:r>
              <a:rPr lang="en-US" sz="1200" dirty="0">
                <a:solidFill>
                  <a:srgbClr val="5A6B72"/>
                </a:solidFill>
                <a:latin typeface="Calibri" pitchFamily="34" charset="0"/>
                <a:ea typeface="Calibri" pitchFamily="34" charset="-122"/>
                <a:cs typeface="Calibri" pitchFamily="34" charset="-120"/>
              </a:rPr>
              <a:t>An unseeded random fit changing up to 72% of values between identical runs.</a:t>
            </a:r>
            <a:endParaRPr lang="en-US" sz="1200" dirty="0"/>
          </a:p>
        </p:txBody>
      </p:sp>
      <p:sp>
        <p:nvSpPr>
          <p:cNvPr id="19" name="Shape 17"/>
          <p:cNvSpPr/>
          <p:nvPr/>
        </p:nvSpPr>
        <p:spPr>
          <a:xfrm>
            <a:off x="548640" y="4892040"/>
            <a:ext cx="11094415" cy="1234440"/>
          </a:xfrm>
          <a:prstGeom prst="roundRect">
            <a:avLst>
              <a:gd name="adj" fmla="val 4444"/>
            </a:avLst>
          </a:prstGeom>
          <a:solidFill>
            <a:srgbClr val="FFF6E5"/>
          </a:solidFill>
          <a:ln w="12700">
            <a:solidFill>
              <a:srgbClr val="FFF6E5"/>
            </a:solidFill>
            <a:prstDash val="solid"/>
          </a:ln>
        </p:spPr>
      </p:sp>
      <p:sp>
        <p:nvSpPr>
          <p:cNvPr id="20" name="Text 18"/>
          <p:cNvSpPr txBox="1"/>
          <p:nvPr/>
        </p:nvSpPr>
        <p:spPr>
          <a:xfrm>
            <a:off x="822960" y="5047488"/>
            <a:ext cx="5486400" cy="274320"/>
          </a:xfrm>
          <a:prstGeom prst="rect">
            <a:avLst/>
          </a:prstGeom>
          <a:noFill/>
          <a:ln/>
        </p:spPr>
        <p:txBody>
          <a:bodyPr wrap="square" lIns="0" tIns="0" rIns="0" bIns="0" rtlCol="0" anchor="ctr"/>
          <a:lstStyle/>
          <a:p>
            <a:pPr indent="0" marL="0">
              <a:buNone/>
            </a:pPr>
            <a:r>
              <a:rPr lang="en-US" sz="1300" b="1" dirty="0">
                <a:solidFill>
                  <a:srgbClr val="8A5A00"/>
                </a:solidFill>
                <a:latin typeface="Calibri" pitchFamily="34" charset="0"/>
                <a:ea typeface="Calibri" pitchFamily="34" charset="-122"/>
                <a:cs typeface="Calibri" pitchFamily="34" charset="-120"/>
              </a:rPr>
              <a:t>What we cannot claim</a:t>
            </a:r>
            <a:endParaRPr lang="en-US" sz="1300" dirty="0"/>
          </a:p>
        </p:txBody>
      </p:sp>
      <p:sp>
        <p:nvSpPr>
          <p:cNvPr id="21" name="Text 19"/>
          <p:cNvSpPr txBox="1"/>
          <p:nvPr/>
        </p:nvSpPr>
        <p:spPr>
          <a:xfrm>
            <a:off x="822960" y="5349240"/>
            <a:ext cx="10545775" cy="685800"/>
          </a:xfrm>
          <a:prstGeom prst="rect">
            <a:avLst/>
          </a:prstGeom>
          <a:noFill/>
          <a:ln/>
        </p:spPr>
        <p:txBody>
          <a:bodyPr wrap="square" lIns="0" tIns="0" rIns="0" bIns="0" rtlCol="0" anchor="ctr"/>
          <a:lstStyle/>
          <a:p>
            <a:pPr indent="0" marL="0">
              <a:buNone/>
            </a:pPr>
            <a:r>
              <a:rPr lang="en-US" sz="1250" dirty="0">
                <a:solidFill>
                  <a:srgbClr val="0B2F3A"/>
                </a:solidFill>
                <a:latin typeface="Calibri" pitchFamily="34" charset="0"/>
                <a:ea typeface="Calibri" pitchFamily="34" charset="-122"/>
                <a:cs typeface="Calibri" pitchFamily="34" charset="-120"/>
              </a:rPr>
              <a:t>That the method never works. We show it does not work ON THIS DATASET UNDER HONEST EVALUATION, and that its fusion component was inactive. Our morphological branch differs from theirs, ten patients is small, and leave-one-subject-out was not completed - so we do not report it.</a:t>
            </a:r>
            <a:endParaRPr lang="en-US" sz="12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84048"/>
            <a:ext cx="11094415" cy="868680"/>
          </a:xfrm>
          <a:prstGeom prst="rect">
            <a:avLst/>
          </a:prstGeom>
          <a:noFill/>
          <a:ln/>
        </p:spPr>
        <p:txBody>
          <a:bodyPr wrap="square" rtlCol="0" anchor="t"/>
          <a:lstStyle/>
          <a:p>
            <a:pPr indent="0" marL="0">
              <a:buNone/>
            </a:pPr>
            <a:r>
              <a:rPr lang="en-US" sz="2700" b="1" dirty="0">
                <a:solidFill>
                  <a:srgbClr val="0B2F3A"/>
                </a:solidFill>
                <a:latin typeface="Cambria" pitchFamily="34" charset="0"/>
                <a:ea typeface="Cambria" pitchFamily="34" charset="-122"/>
                <a:cs typeface="Cambria" pitchFamily="34" charset="-120"/>
              </a:rPr>
              <a:t>References</a:t>
            </a:r>
            <a:endParaRPr lang="en-US" sz="2700" dirty="0"/>
          </a:p>
        </p:txBody>
      </p:sp>
      <p:sp>
        <p:nvSpPr>
          <p:cNvPr id="3" name="Text 1"/>
          <p:cNvSpPr txBox="1"/>
          <p:nvPr/>
        </p:nvSpPr>
        <p:spPr>
          <a:xfrm>
            <a:off x="548640" y="1325880"/>
            <a:ext cx="11094415" cy="4206240"/>
          </a:xfrm>
          <a:prstGeom prst="rect">
            <a:avLst/>
          </a:prstGeom>
          <a:noFill/>
          <a:ln/>
        </p:spPr>
        <p:txBody>
          <a:bodyPr wrap="square" rtlCol="0" anchor="ctr"/>
          <a:lstStyle/>
          <a:p>
            <a:pPr indent="0" marL="0">
              <a:spcAft>
                <a:spcPts val="700"/>
              </a:spcAft>
              <a:buNone/>
            </a:pPr>
            <a:r>
              <a:rPr lang="en-US" sz="1150" dirty="0">
                <a:solidFill>
                  <a:srgbClr val="0B2F3A"/>
                </a:solidFill>
                <a:latin typeface="Calibri" pitchFamily="34" charset="0"/>
                <a:ea typeface="Calibri" pitchFamily="34" charset="-122"/>
                <a:cs typeface="Calibri" pitchFamily="34" charset="-120"/>
              </a:rPr>
              <a:t>Li, J. et al. "Noninvasive Blood Glucose Monitoring Using Spatiotemporal ECG and PPG Feature Fusion and Weight-Based Choquet Integral Multimodel Approach." IEEE Trans. Neural Networks and Learning Systems, 35(10), 2024.</a:t>
            </a:r>
            <a:endParaRPr lang="en-US" sz="1150" dirty="0"/>
          </a:p>
          <a:p>
            <a:pPr indent="0" marL="0">
              <a:spcAft>
                <a:spcPts val="700"/>
              </a:spcAft>
              <a:buNone/>
            </a:pPr>
            <a:r>
              <a:rPr lang="en-US" sz="1150" dirty="0">
                <a:solidFill>
                  <a:srgbClr val="0B2F3A"/>
                </a:solidFill>
                <a:latin typeface="Calibri" pitchFamily="34" charset="0"/>
                <a:ea typeface="Calibri" pitchFamily="34" charset="-122"/>
                <a:cs typeface="Calibri" pitchFamily="34" charset="-120"/>
              </a:rPr>
              <a:t>PhysioCGM: a multimodal physiological dataset for non-invasive blood glucose estimation. Scientific Data, 2025. figshare 28136294 (CC0).</a:t>
            </a:r>
            <a:endParaRPr lang="en-US" sz="1150" dirty="0"/>
          </a:p>
          <a:p>
            <a:pPr indent="0" marL="0">
              <a:spcAft>
                <a:spcPts val="700"/>
              </a:spcAft>
              <a:buNone/>
            </a:pPr>
            <a:r>
              <a:rPr lang="en-US" sz="1150" dirty="0">
                <a:solidFill>
                  <a:srgbClr val="0B2F3A"/>
                </a:solidFill>
                <a:latin typeface="Calibri" pitchFamily="34" charset="0"/>
                <a:ea typeface="Calibri" pitchFamily="34" charset="-122"/>
                <a:cs typeface="Calibri" pitchFamily="34" charset="-120"/>
              </a:rPr>
              <a:t>Reassessing the Feasibility of PPG-Based Non-Invasive Blood Glucose Level Estimation. arXiv:2608.01820, 2026.</a:t>
            </a:r>
            <a:endParaRPr lang="en-US" sz="1150" dirty="0"/>
          </a:p>
          <a:p>
            <a:pPr indent="0" marL="0">
              <a:spcAft>
                <a:spcPts val="700"/>
              </a:spcAft>
              <a:buNone/>
            </a:pPr>
            <a:r>
              <a:rPr lang="en-US" sz="1150" dirty="0">
                <a:solidFill>
                  <a:srgbClr val="0B2F3A"/>
                </a:solidFill>
                <a:latin typeface="Calibri" pitchFamily="34" charset="0"/>
                <a:ea typeface="Calibri" pitchFamily="34" charset="-122"/>
                <a:cs typeface="Calibri" pitchFamily="34" charset="-120"/>
              </a:rPr>
              <a:t>Parkes, J. L. et al. "A New Consensus Error Grid to Evaluate the Clinical Significance of Inaccuracies in the Estimation of Blood Glucose." Diabetes Care, 23(8), 2000.</a:t>
            </a:r>
            <a:endParaRPr lang="en-US" sz="1150" dirty="0"/>
          </a:p>
          <a:p>
            <a:pPr indent="0" marL="0">
              <a:spcAft>
                <a:spcPts val="700"/>
              </a:spcAft>
              <a:buNone/>
            </a:pPr>
            <a:r>
              <a:rPr lang="en-US" sz="1150" dirty="0">
                <a:solidFill>
                  <a:srgbClr val="0B2F3A"/>
                </a:solidFill>
                <a:latin typeface="Calibri" pitchFamily="34" charset="0"/>
                <a:ea typeface="Calibri" pitchFamily="34" charset="-122"/>
                <a:cs typeface="Calibri" pitchFamily="34" charset="-120"/>
              </a:rPr>
              <a:t>Pfutzner, A. et al. "Technical Aspects of the Parkes Error Grid." J. Diabetes Science and Technology, 7(5), 2013.</a:t>
            </a:r>
            <a:endParaRPr lang="en-US" sz="1150" dirty="0"/>
          </a:p>
          <a:p>
            <a:pPr indent="0" marL="0">
              <a:spcAft>
                <a:spcPts val="700"/>
              </a:spcAft>
              <a:buNone/>
            </a:pPr>
            <a:r>
              <a:rPr lang="en-US" sz="1150" dirty="0">
                <a:solidFill>
                  <a:srgbClr val="0B2F3A"/>
                </a:solidFill>
                <a:latin typeface="Calibri" pitchFamily="34" charset="0"/>
                <a:ea typeface="Calibri" pitchFamily="34" charset="-122"/>
                <a:cs typeface="Calibri" pitchFamily="34" charset="-120"/>
              </a:rPr>
              <a:t>Eckert, B. &amp; Agardh, C.-D. "Hypoglycaemia leads to an increased QT interval in normal men." Clinical Physiology, 18(6), 1998.</a:t>
            </a:r>
            <a:endParaRPr lang="en-US" sz="1150" dirty="0"/>
          </a:p>
          <a:p>
            <a:pPr indent="0" marL="0">
              <a:spcAft>
                <a:spcPts val="700"/>
              </a:spcAft>
              <a:buNone/>
            </a:pPr>
            <a:r>
              <a:rPr lang="en-US" sz="1150" dirty="0">
                <a:solidFill>
                  <a:srgbClr val="0B2F3A"/>
                </a:solidFill>
                <a:latin typeface="Calibri" pitchFamily="34" charset="0"/>
                <a:ea typeface="Calibri" pitchFamily="34" charset="-122"/>
                <a:cs typeface="Calibri" pitchFamily="34" charset="-120"/>
              </a:rPr>
              <a:t>Grabisch, M. "Fuzzy integral in multicriteria decision making." Fuzzy Sets and Systems, 69(3), 1995.</a:t>
            </a:r>
            <a:endParaRPr lang="en-US" sz="1150" dirty="0"/>
          </a:p>
          <a:p>
            <a:pPr indent="0" marL="0">
              <a:spcAft>
                <a:spcPts val="700"/>
              </a:spcAft>
              <a:buNone/>
            </a:pPr>
            <a:r>
              <a:rPr lang="en-US" sz="1150" dirty="0">
                <a:solidFill>
                  <a:srgbClr val="0B2F3A"/>
                </a:solidFill>
                <a:latin typeface="Calibri" pitchFamily="34" charset="0"/>
                <a:ea typeface="Calibri" pitchFamily="34" charset="-122"/>
                <a:cs typeface="Calibri" pitchFamily="34" charset="-120"/>
              </a:rPr>
              <a:t>Marichal, J.-L. "On Choquet and Sugeno integrals as aggregation functions." Fuzzy Measures and Integrals, 2000.</a:t>
            </a:r>
            <a:endParaRPr lang="en-US" sz="1150" dirty="0"/>
          </a:p>
          <a:p>
            <a:pPr indent="0" marL="0">
              <a:spcAft>
                <a:spcPts val="700"/>
              </a:spcAft>
              <a:buNone/>
            </a:pPr>
            <a:r>
              <a:rPr lang="en-US" sz="1150" dirty="0">
                <a:solidFill>
                  <a:srgbClr val="0B2F3A"/>
                </a:solidFill>
                <a:latin typeface="Calibri" pitchFamily="34" charset="0"/>
                <a:ea typeface="Calibri" pitchFamily="34" charset="-122"/>
                <a:cs typeface="Calibri" pitchFamily="34" charset="-120"/>
              </a:rPr>
              <a:t>Sugeno, M. Theory of fuzzy integrals and its applications. PhD thesis, Tokyo Institute of Technology, 1974.</a:t>
            </a:r>
            <a:endParaRPr lang="en-US" sz="1150" dirty="0"/>
          </a:p>
          <a:p>
            <a:pPr indent="0" marL="0">
              <a:spcAft>
                <a:spcPts val="700"/>
              </a:spcAft>
              <a:buNone/>
            </a:pPr>
            <a:r>
              <a:rPr lang="en-US" sz="1150" dirty="0">
                <a:solidFill>
                  <a:srgbClr val="0B2F3A"/>
                </a:solidFill>
                <a:latin typeface="Calibri" pitchFamily="34" charset="0"/>
                <a:ea typeface="Calibri" pitchFamily="34" charset="-122"/>
                <a:cs typeface="Calibri" pitchFamily="34" charset="-120"/>
              </a:rPr>
              <a:t>Hjorth, B. "EEG analysis based on time domain properties." Electroencephalography and Clinical Neurophysiology, 29(3), 1970.</a:t>
            </a:r>
            <a:endParaRPr lang="en-US" sz="1150" dirty="0"/>
          </a:p>
        </p:txBody>
      </p:sp>
      <p:sp>
        <p:nvSpPr>
          <p:cNvPr id="4" name="Text 2"/>
          <p:cNvSpPr txBox="1"/>
          <p:nvPr/>
        </p:nvSpPr>
        <p:spPr>
          <a:xfrm>
            <a:off x="548640" y="5669280"/>
            <a:ext cx="11094415" cy="365760"/>
          </a:xfrm>
          <a:prstGeom prst="rect">
            <a:avLst/>
          </a:prstGeom>
          <a:noFill/>
          <a:ln/>
        </p:spPr>
        <p:txBody>
          <a:bodyPr wrap="square" rtlCol="0" anchor="ctr"/>
          <a:lstStyle/>
          <a:p>
            <a:pPr indent="0" marL="0">
              <a:buNone/>
            </a:pPr>
            <a:r>
              <a:rPr lang="en-US" sz="1250" b="1" dirty="0">
                <a:solidFill>
                  <a:srgbClr val="1C7293"/>
                </a:solidFill>
                <a:latin typeface="Calibri" pitchFamily="34" charset="0"/>
                <a:ea typeface="Calibri" pitchFamily="34" charset="-122"/>
                <a:cs typeface="Calibri" pitchFamily="34" charset="-120"/>
              </a:rPr>
              <a:t>Full technical write-up, including every derivation: WRITEUP.md in the project repository.</a:t>
            </a:r>
            <a:endParaRPr lang="en-US" sz="12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16</Slides>
  <Notes>16</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16</vt:i4>
      </vt:variant>
    </vt:vector>
  </HeadingPairs>
  <TitlesOfParts>
    <vt:vector size="19"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Noninvasive Blood Glucose Estimation</dc:title>
  <dc:subject>PptxGenJS Presentation</dc:subject>
  <dc:creator>Navtesh Maken</dc:creator>
  <cp:lastModifiedBy>Navtesh Maken</cp:lastModifiedBy>
  <cp:revision>1</cp:revision>
  <dcterms:created xsi:type="dcterms:W3CDTF">2026-09-26T19:04:18Z</dcterms:created>
  <dcterms:modified xsi:type="dcterms:W3CDTF">2026-09-26T19:04:18Z</dcterms:modified>
</cp:coreProperties>
</file>