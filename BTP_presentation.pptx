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reproduce a 2024 IEEE method on open data. The headline is not the accuracy - it is four ways this kind of pipeline produces confident wrong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audience needs to know what glucose is, why it matters, and that there IS a real reason to look at the heart - before any maths.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 features = 80 ECG wavelet + 80 PPG wavelet + 33 morphological (QT, QTc, ST level, T-wave shape, HRV, PPG pulse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The key intuition: a weighted average cannot express that two models overlap. The Choquet integral can, because it scores every subset.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a wavelet: measuring 'irregularity' means something different for the fast QRS than for the slow T wave. Separating them lets each be described on its own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convincing slide. Point at the horizontal band. A model that had learned anything would slope upward along the diagonal.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have time for one point about evaluation, make it this one: never report a clinical zone score without the baseline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3A"/>
        </a:solidFill>
      </p:bgPr>
    </p:bg>
    <p:spTree>
      <p:nvGrpSpPr>
        <p:cNvPr id="1" name=""/>
        <p:cNvGrpSpPr/>
        <p:nvPr/>
      </p:nvGrpSpPr>
      <p:grpSpPr>
        <a:xfrm>
          <a:off x="0" y="0"/>
          <a:ext cx="0" cy="0"/>
          <a:chOff x="0" y="0"/>
          <a:chExt cx="0" cy="0"/>
        </a:xfrm>
      </p:grpSpPr>
      <p:sp>
        <p:nvSpPr>
          <p:cNvPr id="2" name="Text 0"/>
          <p:cNvSpPr txBox="1"/>
          <p:nvPr/>
        </p:nvSpPr>
        <p:spPr>
          <a:xfrm>
            <a:off x="548640" y="1600200"/>
            <a:ext cx="9997135" cy="1371600"/>
          </a:xfrm>
          <a:prstGeom prst="rect">
            <a:avLst/>
          </a:prstGeom>
          <a:noFill/>
          <a:ln/>
        </p:spPr>
        <p:txBody>
          <a:bodyPr wrap="square"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Can your heartbeat tell us your blood sugar?</a:t>
            </a:r>
            <a:endParaRPr lang="en-US" sz="4200" dirty="0"/>
          </a:p>
        </p:txBody>
      </p:sp>
      <p:sp>
        <p:nvSpPr>
          <p:cNvPr id="3" name="Text 1"/>
          <p:cNvSpPr txBox="1"/>
          <p:nvPr/>
        </p:nvSpPr>
        <p:spPr>
          <a:xfrm>
            <a:off x="548640" y="3017520"/>
            <a:ext cx="9082735" cy="822960"/>
          </a:xfrm>
          <a:prstGeom prst="rect">
            <a:avLst/>
          </a:prstGeom>
          <a:noFill/>
          <a:ln/>
        </p:spPr>
        <p:txBody>
          <a:bodyPr wrap="square" rtlCol="0" anchor="ctr"/>
          <a:lstStyle/>
          <a:p>
            <a:pPr indent="0" marL="0">
              <a:buNone/>
            </a:pPr>
            <a:r>
              <a:rPr lang="en-US" sz="1700" dirty="0">
                <a:solidFill>
                  <a:srgbClr val="AEC6CC"/>
                </a:solidFill>
                <a:latin typeface="Calibri" pitchFamily="34" charset="0"/>
                <a:ea typeface="Calibri" pitchFamily="34" charset="-122"/>
                <a:cs typeface="Calibri" pitchFamily="34" charset="-120"/>
              </a:rPr>
              <a:t>Reproducing a Choquet-integral multimodel approach to noninvasive blood glucose estimation from ECG and PPG</a:t>
            </a:r>
            <a:endParaRPr lang="en-US" sz="1700" dirty="0"/>
          </a:p>
        </p:txBody>
      </p:sp>
      <p:sp>
        <p:nvSpPr>
          <p:cNvPr id="4" name="Text 2"/>
          <p:cNvSpPr txBox="1"/>
          <p:nvPr/>
        </p:nvSpPr>
        <p:spPr>
          <a:xfrm>
            <a:off x="548640" y="4114800"/>
            <a:ext cx="5486400" cy="365760"/>
          </a:xfrm>
          <a:prstGeom prst="rect">
            <a:avLst/>
          </a:prstGeom>
          <a:noFill/>
          <a:ln/>
        </p:spPr>
        <p:txBody>
          <a:bodyPr wrap="square" rtlCol="0" anchor="ctr"/>
          <a:lstStyle/>
          <a:p>
            <a:pPr indent="0" marL="0">
              <a:buNone/>
            </a:pPr>
            <a:r>
              <a:rPr lang="en-US" sz="1300" b="1" spc="200" kern="0" dirty="0">
                <a:solidFill>
                  <a:srgbClr val="00C2A8"/>
                </a:solidFill>
                <a:latin typeface="Calibri" pitchFamily="34" charset="0"/>
                <a:ea typeface="Calibri" pitchFamily="34" charset="-122"/>
                <a:cs typeface="Calibri" pitchFamily="34" charset="-120"/>
              </a:rPr>
              <a:t>B.Tech Final Year Project</a:t>
            </a:r>
            <a:endParaRPr lang="en-US" sz="1300" dirty="0"/>
          </a:p>
        </p:txBody>
      </p:sp>
      <p:sp>
        <p:nvSpPr>
          <p:cNvPr id="5" name="Text 3"/>
          <p:cNvSpPr txBox="1"/>
          <p:nvPr/>
        </p:nvSpPr>
        <p:spPr>
          <a:xfrm>
            <a:off x="548640" y="4526280"/>
            <a:ext cx="54864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Navtesh Maken</a:t>
            </a:r>
            <a:endParaRPr lang="en-US" sz="1500" dirty="0"/>
          </a:p>
        </p:txBody>
      </p:sp>
      <p:sp>
        <p:nvSpPr>
          <p:cNvPr id="6" name="Shape 4"/>
          <p:cNvSpPr/>
          <p:nvPr/>
        </p:nvSpPr>
        <p:spPr>
          <a:xfrm>
            <a:off x="548640" y="5943600"/>
            <a:ext cx="443777" cy="3658"/>
          </a:xfrm>
          <a:prstGeom prst="line">
            <a:avLst/>
          </a:prstGeom>
          <a:noFill/>
          <a:ln w="31750">
            <a:solidFill>
              <a:srgbClr val="00C2A8"/>
            </a:solidFill>
            <a:prstDash val="solid"/>
          </a:ln>
        </p:spPr>
      </p:sp>
      <p:sp>
        <p:nvSpPr>
          <p:cNvPr id="7" name="Shape 5"/>
          <p:cNvSpPr/>
          <p:nvPr/>
        </p:nvSpPr>
        <p:spPr>
          <a:xfrm flipV="1">
            <a:off x="992417" y="5852160"/>
            <a:ext cx="221888" cy="91440"/>
          </a:xfrm>
          <a:prstGeom prst="line">
            <a:avLst/>
          </a:prstGeom>
          <a:noFill/>
          <a:ln w="31750">
            <a:solidFill>
              <a:srgbClr val="00C2A8"/>
            </a:solidFill>
            <a:prstDash val="solid"/>
          </a:ln>
        </p:spPr>
      </p:sp>
      <p:sp>
        <p:nvSpPr>
          <p:cNvPr id="8" name="Shape 6"/>
          <p:cNvSpPr/>
          <p:nvPr/>
        </p:nvSpPr>
        <p:spPr>
          <a:xfrm>
            <a:off x="1214305" y="5852160"/>
            <a:ext cx="221888" cy="91440"/>
          </a:xfrm>
          <a:prstGeom prst="line">
            <a:avLst/>
          </a:prstGeom>
          <a:noFill/>
          <a:ln w="31750">
            <a:solidFill>
              <a:srgbClr val="00C2A8"/>
            </a:solidFill>
            <a:prstDash val="solid"/>
          </a:ln>
        </p:spPr>
      </p:sp>
      <p:sp>
        <p:nvSpPr>
          <p:cNvPr id="9" name="Shape 7"/>
          <p:cNvSpPr/>
          <p:nvPr/>
        </p:nvSpPr>
        <p:spPr>
          <a:xfrm>
            <a:off x="1436193" y="5943600"/>
            <a:ext cx="332832" cy="3658"/>
          </a:xfrm>
          <a:prstGeom prst="line">
            <a:avLst/>
          </a:prstGeom>
          <a:noFill/>
          <a:ln w="31750">
            <a:solidFill>
              <a:srgbClr val="00C2A8"/>
            </a:solidFill>
            <a:prstDash val="solid"/>
          </a:ln>
        </p:spPr>
      </p:sp>
      <p:sp>
        <p:nvSpPr>
          <p:cNvPr id="10" name="Shape 8"/>
          <p:cNvSpPr/>
          <p:nvPr/>
        </p:nvSpPr>
        <p:spPr>
          <a:xfrm>
            <a:off x="1769026" y="5943600"/>
            <a:ext cx="221888" cy="54864"/>
          </a:xfrm>
          <a:prstGeom prst="line">
            <a:avLst/>
          </a:prstGeom>
          <a:noFill/>
          <a:ln w="31750">
            <a:solidFill>
              <a:srgbClr val="00C2A8"/>
            </a:solidFill>
            <a:prstDash val="solid"/>
          </a:ln>
        </p:spPr>
      </p:sp>
      <p:sp>
        <p:nvSpPr>
          <p:cNvPr id="11" name="Shape 9"/>
          <p:cNvSpPr/>
          <p:nvPr/>
        </p:nvSpPr>
        <p:spPr>
          <a:xfrm flipV="1">
            <a:off x="1990914" y="5577840"/>
            <a:ext cx="221888" cy="420624"/>
          </a:xfrm>
          <a:prstGeom prst="line">
            <a:avLst/>
          </a:prstGeom>
          <a:noFill/>
          <a:ln w="31750">
            <a:solidFill>
              <a:srgbClr val="00C2A8"/>
            </a:solidFill>
            <a:prstDash val="solid"/>
          </a:ln>
        </p:spPr>
      </p:sp>
      <p:sp>
        <p:nvSpPr>
          <p:cNvPr id="12" name="Shape 10"/>
          <p:cNvSpPr/>
          <p:nvPr/>
        </p:nvSpPr>
        <p:spPr>
          <a:xfrm>
            <a:off x="2212802" y="5577840"/>
            <a:ext cx="221888" cy="548640"/>
          </a:xfrm>
          <a:prstGeom prst="line">
            <a:avLst/>
          </a:prstGeom>
          <a:noFill/>
          <a:ln w="31750">
            <a:solidFill>
              <a:srgbClr val="00C2A8"/>
            </a:solidFill>
            <a:prstDash val="solid"/>
          </a:ln>
        </p:spPr>
      </p:sp>
      <p:sp>
        <p:nvSpPr>
          <p:cNvPr id="13" name="Shape 11"/>
          <p:cNvSpPr/>
          <p:nvPr/>
        </p:nvSpPr>
        <p:spPr>
          <a:xfrm flipV="1">
            <a:off x="2434691" y="5943600"/>
            <a:ext cx="221888" cy="182880"/>
          </a:xfrm>
          <a:prstGeom prst="line">
            <a:avLst/>
          </a:prstGeom>
          <a:noFill/>
          <a:ln w="31750">
            <a:solidFill>
              <a:srgbClr val="00C2A8"/>
            </a:solidFill>
            <a:prstDash val="solid"/>
          </a:ln>
        </p:spPr>
      </p:sp>
      <p:sp>
        <p:nvSpPr>
          <p:cNvPr id="14" name="Shape 12"/>
          <p:cNvSpPr/>
          <p:nvPr/>
        </p:nvSpPr>
        <p:spPr>
          <a:xfrm>
            <a:off x="2656579" y="5943600"/>
            <a:ext cx="443777" cy="3658"/>
          </a:xfrm>
          <a:prstGeom prst="line">
            <a:avLst/>
          </a:prstGeom>
          <a:noFill/>
          <a:ln w="31750">
            <a:solidFill>
              <a:srgbClr val="00C2A8"/>
            </a:solidFill>
            <a:prstDash val="solid"/>
          </a:ln>
        </p:spPr>
      </p:sp>
      <p:sp>
        <p:nvSpPr>
          <p:cNvPr id="15" name="Shape 13"/>
          <p:cNvSpPr/>
          <p:nvPr/>
        </p:nvSpPr>
        <p:spPr>
          <a:xfrm flipV="1">
            <a:off x="3100355" y="5779008"/>
            <a:ext cx="443777" cy="164592"/>
          </a:xfrm>
          <a:prstGeom prst="line">
            <a:avLst/>
          </a:prstGeom>
          <a:noFill/>
          <a:ln w="31750">
            <a:solidFill>
              <a:srgbClr val="00C2A8"/>
            </a:solidFill>
            <a:prstDash val="solid"/>
          </a:ln>
        </p:spPr>
      </p:sp>
      <p:sp>
        <p:nvSpPr>
          <p:cNvPr id="16" name="Shape 14"/>
          <p:cNvSpPr/>
          <p:nvPr/>
        </p:nvSpPr>
        <p:spPr>
          <a:xfrm>
            <a:off x="3544132" y="5779008"/>
            <a:ext cx="443777" cy="164592"/>
          </a:xfrm>
          <a:prstGeom prst="line">
            <a:avLst/>
          </a:prstGeom>
          <a:noFill/>
          <a:ln w="31750">
            <a:solidFill>
              <a:srgbClr val="00C2A8"/>
            </a:solidFill>
            <a:prstDash val="solid"/>
          </a:ln>
        </p:spPr>
      </p:sp>
      <p:sp>
        <p:nvSpPr>
          <p:cNvPr id="17" name="Shape 15"/>
          <p:cNvSpPr/>
          <p:nvPr/>
        </p:nvSpPr>
        <p:spPr>
          <a:xfrm>
            <a:off x="3987909" y="5943600"/>
            <a:ext cx="721137" cy="3658"/>
          </a:xfrm>
          <a:prstGeom prst="line">
            <a:avLst/>
          </a:prstGeom>
          <a:noFill/>
          <a:ln w="31750">
            <a:solidFill>
              <a:srgbClr val="00C2A8"/>
            </a:solidFill>
            <a:prstDash val="solid"/>
          </a:ln>
        </p:spPr>
      </p:sp>
      <p:sp>
        <p:nvSpPr>
          <p:cNvPr id="18" name="Shape 16"/>
          <p:cNvSpPr/>
          <p:nvPr/>
        </p:nvSpPr>
        <p:spPr>
          <a:xfrm>
            <a:off x="4709046" y="5943600"/>
            <a:ext cx="1386802" cy="3658"/>
          </a:xfrm>
          <a:prstGeom prst="line">
            <a:avLst/>
          </a:prstGeom>
          <a:noFill/>
          <a:ln w="31750">
            <a:solidFill>
              <a:srgbClr val="00C2A8"/>
            </a:solidFill>
            <a:prstDash val="solid"/>
          </a:ln>
        </p:spPr>
      </p:sp>
      <p:sp>
        <p:nvSpPr>
          <p:cNvPr id="19" name="Shape 17"/>
          <p:cNvSpPr/>
          <p:nvPr/>
        </p:nvSpPr>
        <p:spPr>
          <a:xfrm>
            <a:off x="6095848" y="5943600"/>
            <a:ext cx="0" cy="3658"/>
          </a:xfrm>
          <a:prstGeom prst="line">
            <a:avLst/>
          </a:prstGeom>
          <a:noFill/>
          <a:ln w="31750">
            <a:solidFill>
              <a:srgbClr val="00C2A8"/>
            </a:solidFill>
            <a:prstDash val="solid"/>
          </a:ln>
        </p:spPr>
      </p:sp>
      <p:sp>
        <p:nvSpPr>
          <p:cNvPr id="20" name="Shape 18"/>
          <p:cNvSpPr/>
          <p:nvPr/>
        </p:nvSpPr>
        <p:spPr>
          <a:xfrm>
            <a:off x="6095848" y="5943600"/>
            <a:ext cx="443777" cy="3658"/>
          </a:xfrm>
          <a:prstGeom prst="line">
            <a:avLst/>
          </a:prstGeom>
          <a:noFill/>
          <a:ln w="31750">
            <a:solidFill>
              <a:srgbClr val="00C2A8"/>
            </a:solidFill>
            <a:prstDash val="solid"/>
          </a:ln>
        </p:spPr>
      </p:sp>
      <p:sp>
        <p:nvSpPr>
          <p:cNvPr id="21" name="Shape 19"/>
          <p:cNvSpPr/>
          <p:nvPr/>
        </p:nvSpPr>
        <p:spPr>
          <a:xfrm flipV="1">
            <a:off x="6539624" y="5852160"/>
            <a:ext cx="221888" cy="91440"/>
          </a:xfrm>
          <a:prstGeom prst="line">
            <a:avLst/>
          </a:prstGeom>
          <a:noFill/>
          <a:ln w="31750">
            <a:solidFill>
              <a:srgbClr val="00C2A8"/>
            </a:solidFill>
            <a:prstDash val="solid"/>
          </a:ln>
        </p:spPr>
      </p:sp>
      <p:sp>
        <p:nvSpPr>
          <p:cNvPr id="22" name="Shape 20"/>
          <p:cNvSpPr/>
          <p:nvPr/>
        </p:nvSpPr>
        <p:spPr>
          <a:xfrm>
            <a:off x="6761513" y="5852160"/>
            <a:ext cx="221888" cy="91440"/>
          </a:xfrm>
          <a:prstGeom prst="line">
            <a:avLst/>
          </a:prstGeom>
          <a:noFill/>
          <a:ln w="31750">
            <a:solidFill>
              <a:srgbClr val="00C2A8"/>
            </a:solidFill>
            <a:prstDash val="solid"/>
          </a:ln>
        </p:spPr>
      </p:sp>
      <p:sp>
        <p:nvSpPr>
          <p:cNvPr id="23" name="Shape 21"/>
          <p:cNvSpPr/>
          <p:nvPr/>
        </p:nvSpPr>
        <p:spPr>
          <a:xfrm>
            <a:off x="6983401" y="5943600"/>
            <a:ext cx="332832" cy="3658"/>
          </a:xfrm>
          <a:prstGeom prst="line">
            <a:avLst/>
          </a:prstGeom>
          <a:noFill/>
          <a:ln w="31750">
            <a:solidFill>
              <a:srgbClr val="00C2A8"/>
            </a:solidFill>
            <a:prstDash val="solid"/>
          </a:ln>
        </p:spPr>
      </p:sp>
      <p:sp>
        <p:nvSpPr>
          <p:cNvPr id="24" name="Shape 22"/>
          <p:cNvSpPr/>
          <p:nvPr/>
        </p:nvSpPr>
        <p:spPr>
          <a:xfrm>
            <a:off x="7316233" y="5943600"/>
            <a:ext cx="221888" cy="54864"/>
          </a:xfrm>
          <a:prstGeom prst="line">
            <a:avLst/>
          </a:prstGeom>
          <a:noFill/>
          <a:ln w="31750">
            <a:solidFill>
              <a:srgbClr val="00C2A8"/>
            </a:solidFill>
            <a:prstDash val="solid"/>
          </a:ln>
        </p:spPr>
      </p:sp>
      <p:sp>
        <p:nvSpPr>
          <p:cNvPr id="25" name="Shape 23"/>
          <p:cNvSpPr/>
          <p:nvPr/>
        </p:nvSpPr>
        <p:spPr>
          <a:xfrm flipV="1">
            <a:off x="7538122" y="5577840"/>
            <a:ext cx="221888" cy="420624"/>
          </a:xfrm>
          <a:prstGeom prst="line">
            <a:avLst/>
          </a:prstGeom>
          <a:noFill/>
          <a:ln w="31750">
            <a:solidFill>
              <a:srgbClr val="00C2A8"/>
            </a:solidFill>
            <a:prstDash val="solid"/>
          </a:ln>
        </p:spPr>
      </p:sp>
      <p:sp>
        <p:nvSpPr>
          <p:cNvPr id="26" name="Shape 24"/>
          <p:cNvSpPr/>
          <p:nvPr/>
        </p:nvSpPr>
        <p:spPr>
          <a:xfrm>
            <a:off x="7760010" y="5577840"/>
            <a:ext cx="221888" cy="548640"/>
          </a:xfrm>
          <a:prstGeom prst="line">
            <a:avLst/>
          </a:prstGeom>
          <a:noFill/>
          <a:ln w="31750">
            <a:solidFill>
              <a:srgbClr val="00C2A8"/>
            </a:solidFill>
            <a:prstDash val="solid"/>
          </a:ln>
        </p:spPr>
      </p:sp>
      <p:sp>
        <p:nvSpPr>
          <p:cNvPr id="27" name="Shape 25"/>
          <p:cNvSpPr/>
          <p:nvPr/>
        </p:nvSpPr>
        <p:spPr>
          <a:xfrm flipV="1">
            <a:off x="7981898" y="5943600"/>
            <a:ext cx="221888" cy="182880"/>
          </a:xfrm>
          <a:prstGeom prst="line">
            <a:avLst/>
          </a:prstGeom>
          <a:noFill/>
          <a:ln w="31750">
            <a:solidFill>
              <a:srgbClr val="00C2A8"/>
            </a:solidFill>
            <a:prstDash val="solid"/>
          </a:ln>
        </p:spPr>
      </p:sp>
      <p:sp>
        <p:nvSpPr>
          <p:cNvPr id="28" name="Shape 26"/>
          <p:cNvSpPr/>
          <p:nvPr/>
        </p:nvSpPr>
        <p:spPr>
          <a:xfrm>
            <a:off x="8203786" y="5943600"/>
            <a:ext cx="443777" cy="3658"/>
          </a:xfrm>
          <a:prstGeom prst="line">
            <a:avLst/>
          </a:prstGeom>
          <a:noFill/>
          <a:ln w="31750">
            <a:solidFill>
              <a:srgbClr val="00C2A8"/>
            </a:solidFill>
            <a:prstDash val="solid"/>
          </a:ln>
        </p:spPr>
      </p:sp>
      <p:sp>
        <p:nvSpPr>
          <p:cNvPr id="29" name="Shape 27"/>
          <p:cNvSpPr/>
          <p:nvPr/>
        </p:nvSpPr>
        <p:spPr>
          <a:xfrm flipV="1">
            <a:off x="8647563" y="5779008"/>
            <a:ext cx="443777" cy="164592"/>
          </a:xfrm>
          <a:prstGeom prst="line">
            <a:avLst/>
          </a:prstGeom>
          <a:noFill/>
          <a:ln w="31750">
            <a:solidFill>
              <a:srgbClr val="00C2A8"/>
            </a:solidFill>
            <a:prstDash val="solid"/>
          </a:ln>
        </p:spPr>
      </p:sp>
      <p:sp>
        <p:nvSpPr>
          <p:cNvPr id="30" name="Shape 28"/>
          <p:cNvSpPr/>
          <p:nvPr/>
        </p:nvSpPr>
        <p:spPr>
          <a:xfrm>
            <a:off x="9091340" y="5779008"/>
            <a:ext cx="443777" cy="164592"/>
          </a:xfrm>
          <a:prstGeom prst="line">
            <a:avLst/>
          </a:prstGeom>
          <a:noFill/>
          <a:ln w="31750">
            <a:solidFill>
              <a:srgbClr val="00C2A8"/>
            </a:solidFill>
            <a:prstDash val="solid"/>
          </a:ln>
        </p:spPr>
      </p:sp>
      <p:sp>
        <p:nvSpPr>
          <p:cNvPr id="31" name="Shape 29"/>
          <p:cNvSpPr/>
          <p:nvPr/>
        </p:nvSpPr>
        <p:spPr>
          <a:xfrm>
            <a:off x="9535116" y="5943600"/>
            <a:ext cx="721137" cy="3658"/>
          </a:xfrm>
          <a:prstGeom prst="line">
            <a:avLst/>
          </a:prstGeom>
          <a:noFill/>
          <a:ln w="31750">
            <a:solidFill>
              <a:srgbClr val="00C2A8"/>
            </a:solidFill>
            <a:prstDash val="solid"/>
          </a:ln>
        </p:spPr>
      </p:sp>
      <p:sp>
        <p:nvSpPr>
          <p:cNvPr id="32" name="Shape 30"/>
          <p:cNvSpPr/>
          <p:nvPr/>
        </p:nvSpPr>
        <p:spPr>
          <a:xfrm>
            <a:off x="10256253" y="5943600"/>
            <a:ext cx="1386802" cy="3658"/>
          </a:xfrm>
          <a:prstGeom prst="line">
            <a:avLst/>
          </a:prstGeom>
          <a:noFill/>
          <a:ln w="31750">
            <a:solidFill>
              <a:srgbClr val="00C2A8"/>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Measuring blood glucose means breaking the skin, several times a day, for life</a:t>
            </a:r>
            <a:endParaRPr lang="en-US" sz="2700" dirty="0"/>
          </a:p>
        </p:txBody>
      </p:sp>
      <p:sp>
        <p:nvSpPr>
          <p:cNvPr id="3" name="Text 1"/>
          <p:cNvSpPr txBox="1"/>
          <p:nvPr/>
        </p:nvSpPr>
        <p:spPr>
          <a:xfrm>
            <a:off x="548640" y="1371600"/>
            <a:ext cx="6583680" cy="2651760"/>
          </a:xfrm>
          <a:prstGeom prst="rect">
            <a:avLst/>
          </a:prstGeom>
          <a:noFill/>
          <a:ln/>
        </p:spPr>
        <p:txBody>
          <a:bodyPr wrap="square" rtlCol="0" anchor="t"/>
          <a:lstStyle/>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Glucose is the fuel every cell runs on. In Type 1 diabetes the body makes almost no insulin, so it builds up in the blood.</a:t>
            </a:r>
            <a:endParaRPr lang="en-US" sz="1500" dirty="0"/>
          </a:p>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Below 3.9 mmol/L: confusion, seizure, coma - within minutes. Above 10.0: nerve, eye and kidney damage over years.</a:t>
            </a:r>
            <a:endParaRPr lang="en-US" sz="1500" dirty="0"/>
          </a:p>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Today that is managed with finger-pricks 4-10 times daily, or a sensor worn under the skin and replaced fortnightly.</a:t>
            </a:r>
            <a:endParaRPr lang="en-US" sz="1500" dirty="0"/>
          </a:p>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About 590 million adults live with diabetes. All of them manage it by repeatedly breaking their own skin.</a:t>
            </a:r>
            <a:endParaRPr lang="en-US" sz="1500" dirty="0"/>
          </a:p>
        </p:txBody>
      </p:sp>
      <p:sp>
        <p:nvSpPr>
          <p:cNvPr id="4" name="Shape 2"/>
          <p:cNvSpPr/>
          <p:nvPr/>
        </p:nvSpPr>
        <p:spPr>
          <a:xfrm>
            <a:off x="7360920" y="1325880"/>
            <a:ext cx="4343400" cy="2148840"/>
          </a:xfrm>
          <a:prstGeom prst="roundRect">
            <a:avLst>
              <a:gd name="adj" fmla="val 2553"/>
            </a:avLst>
          </a:prstGeom>
          <a:solidFill>
            <a:srgbClr val="EAF2F4"/>
          </a:solidFill>
          <a:ln w="12700">
            <a:solidFill>
              <a:srgbClr val="EAF2F4"/>
            </a:solidFill>
            <a:prstDash val="solid"/>
          </a:ln>
        </p:spPr>
      </p:sp>
      <p:sp>
        <p:nvSpPr>
          <p:cNvPr id="5" name="Text 3"/>
          <p:cNvSpPr txBox="1"/>
          <p:nvPr/>
        </p:nvSpPr>
        <p:spPr>
          <a:xfrm>
            <a:off x="7562088" y="1472184"/>
            <a:ext cx="3941064" cy="34747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Why a heartbeat might know</a:t>
            </a:r>
            <a:endParaRPr lang="en-US" sz="1400" dirty="0"/>
          </a:p>
        </p:txBody>
      </p:sp>
      <p:sp>
        <p:nvSpPr>
          <p:cNvPr id="6" name="Text 4"/>
          <p:cNvSpPr txBox="1"/>
          <p:nvPr/>
        </p:nvSpPr>
        <p:spPr>
          <a:xfrm>
            <a:off x="7562088" y="1856232"/>
            <a:ext cx="3941064" cy="1463040"/>
          </a:xfrm>
          <a:prstGeom prst="rect">
            <a:avLst/>
          </a:prstGeom>
          <a:noFill/>
          <a:ln/>
        </p:spPr>
        <p:txBody>
          <a:bodyPr wrap="square" lIns="0" tIns="0" rIns="0" bIns="0" rtlCol="0" anchor="t"/>
          <a:lstStyle/>
          <a:p>
            <a:pPr indent="0" marL="0">
              <a:buNone/>
            </a:pPr>
            <a:r>
              <a:rPr lang="en-US" sz="1250" dirty="0">
                <a:solidFill>
                  <a:srgbClr val="0B2F3A"/>
                </a:solidFill>
                <a:latin typeface="Calibri" pitchFamily="34" charset="0"/>
                <a:ea typeface="Calibri" pitchFamily="34" charset="-122"/>
                <a:cs typeface="Calibri" pitchFamily="34" charset="-120"/>
              </a:rPr>
              <a:t>Low glucose triggers adrenaline, which drives potassium into cells. Potassium controls how heart cells reset after each beat - so the ECG's QT interval lengthens. High glucose suppresses vagal tone and alters ST and T waves.</a:t>
            </a:r>
            <a:endParaRPr lang="en-US" sz="1250" dirty="0"/>
          </a:p>
          <a:p>
            <a:pPr indent="0" marL="0">
              <a:buNone/>
            </a:pPr>
            <a:endParaRPr lang="en-US" sz="1250" dirty="0"/>
          </a:p>
          <a:p>
            <a:pPr indent="0" marL="0">
              <a:buNone/>
            </a:pPr>
            <a:r>
              <a:rPr lang="en-US" sz="1250" dirty="0">
                <a:solidFill>
                  <a:srgbClr val="0B2F3A"/>
                </a:solidFill>
                <a:latin typeface="Calibri" pitchFamily="34" charset="0"/>
                <a:ea typeface="Calibri" pitchFamily="34" charset="-122"/>
                <a:cs typeface="Calibri" pitchFamily="34" charset="-120"/>
              </a:rPr>
              <a:t>The mechanism is real and well documented.</a:t>
            </a:r>
            <a:endParaRPr lang="en-US" sz="1250" dirty="0"/>
          </a:p>
        </p:txBody>
      </p:sp>
      <p:sp>
        <p:nvSpPr>
          <p:cNvPr id="7" name="Shape 5"/>
          <p:cNvSpPr/>
          <p:nvPr/>
        </p:nvSpPr>
        <p:spPr>
          <a:xfrm>
            <a:off x="548640" y="4160520"/>
            <a:ext cx="11094415" cy="1325880"/>
          </a:xfrm>
          <a:prstGeom prst="roundRect">
            <a:avLst>
              <a:gd name="adj" fmla="val 4138"/>
            </a:avLst>
          </a:prstGeom>
          <a:solidFill>
            <a:srgbClr val="FFF6E5"/>
          </a:solidFill>
          <a:ln w="12700">
            <a:solidFill>
              <a:srgbClr val="FFF6E5"/>
            </a:solidFill>
            <a:prstDash val="solid"/>
          </a:ln>
        </p:spPr>
      </p:sp>
      <p:sp>
        <p:nvSpPr>
          <p:cNvPr id="8" name="Text 6"/>
          <p:cNvSpPr txBox="1"/>
          <p:nvPr/>
        </p:nvSpPr>
        <p:spPr>
          <a:xfrm>
            <a:off x="822960" y="4334256"/>
            <a:ext cx="7315200" cy="292608"/>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But note what the mechanism actually supports</a:t>
            </a:r>
            <a:endParaRPr lang="en-US" sz="1300" dirty="0"/>
          </a:p>
        </p:txBody>
      </p:sp>
      <p:sp>
        <p:nvSpPr>
          <p:cNvPr id="9" name="Text 7"/>
          <p:cNvSpPr txBox="1"/>
          <p:nvPr/>
        </p:nvSpPr>
        <p:spPr>
          <a:xfrm>
            <a:off x="822960" y="4645152"/>
            <a:ext cx="10545775" cy="731520"/>
          </a:xfrm>
          <a:prstGeom prst="rect">
            <a:avLst/>
          </a:prstGeom>
          <a:noFill/>
          <a:ln/>
        </p:spPr>
        <p:txBody>
          <a:bodyPr wrap="square" lIns="0" tIns="0" rIns="0" bIns="0" rtlCol="0" anchor="ctr"/>
          <a:lstStyle/>
          <a:p>
            <a:pPr indent="0" marL="0">
              <a:buNone/>
            </a:pPr>
            <a:r>
              <a:rPr lang="en-US" sz="1300" dirty="0">
                <a:solidFill>
                  <a:srgbClr val="0B2F3A"/>
                </a:solidFill>
                <a:latin typeface="Calibri" pitchFamily="34" charset="0"/>
                <a:ea typeface="Calibri" pitchFamily="34" charset="-122"/>
                <a:cs typeface="Calibri" pitchFamily="34" charset="-120"/>
              </a:rPr>
              <a:t>It explains DETECTING a dangerous low or high - a classification problem. It does not promise that the exact number can be read off the waveform, which is regression, and far harder. Published ECG classification reaches 84-94% accuracy; regression consistently does not hold up.</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A 2024 IEEE paper reports near-clinical accuracy by fusing two signals and three models</a:t>
            </a:r>
            <a:endParaRPr lang="en-US" sz="2700" dirty="0"/>
          </a:p>
        </p:txBody>
      </p:sp>
      <p:sp>
        <p:nvSpPr>
          <p:cNvPr id="3" name="Text 1"/>
          <p:cNvSpPr txBox="1"/>
          <p:nvPr/>
        </p:nvSpPr>
        <p:spPr>
          <a:xfrm>
            <a:off x="548640" y="1298448"/>
            <a:ext cx="11094415" cy="502920"/>
          </a:xfrm>
          <a:prstGeom prst="rect">
            <a:avLst/>
          </a:prstGeom>
          <a:noFill/>
          <a:ln/>
        </p:spPr>
        <p:txBody>
          <a:bodyPr wrap="square" rtlCol="0" anchor="ctr"/>
          <a:lstStyle/>
          <a:p>
            <a:pPr indent="0" marL="0">
              <a:buNone/>
            </a:pPr>
            <a:r>
              <a:rPr lang="en-US" sz="1350" i="1" dirty="0">
                <a:solidFill>
                  <a:srgbClr val="0B2F3A"/>
                </a:solidFill>
                <a:latin typeface="Calibri" pitchFamily="34" charset="0"/>
                <a:ea typeface="Calibri" pitchFamily="34" charset="-122"/>
                <a:cs typeface="Calibri" pitchFamily="34" charset="-120"/>
              </a:rPr>
              <a:t>Li et al., "Noninvasive Blood Glucose Monitoring Using Spatiotemporal ECG and PPG Feature Fusion and Weight-Based Choquet Integral Multimodel Approach", IEEE TNNLS 35(10), 2024.</a:t>
            </a:r>
            <a:endParaRPr lang="en-US" sz="1350" dirty="0"/>
          </a:p>
        </p:txBody>
      </p:sp>
      <p:sp>
        <p:nvSpPr>
          <p:cNvPr id="4" name="Text 2"/>
          <p:cNvSpPr txBox="1"/>
          <p:nvPr/>
        </p:nvSpPr>
        <p:spPr>
          <a:xfrm>
            <a:off x="54864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1.49</a:t>
            </a:r>
            <a:endParaRPr lang="en-US" sz="4200" dirty="0"/>
          </a:p>
        </p:txBody>
      </p:sp>
      <p:sp>
        <p:nvSpPr>
          <p:cNvPr id="5" name="Text 3"/>
          <p:cNvSpPr txBox="1"/>
          <p:nvPr/>
        </p:nvSpPr>
        <p:spPr>
          <a:xfrm>
            <a:off x="54864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RMSE (mmol/L)</a:t>
            </a:r>
            <a:endParaRPr lang="en-US" sz="1150" dirty="0"/>
          </a:p>
        </p:txBody>
      </p:sp>
      <p:sp>
        <p:nvSpPr>
          <p:cNvPr id="6" name="Text 4"/>
          <p:cNvSpPr txBox="1"/>
          <p:nvPr/>
        </p:nvSpPr>
        <p:spPr>
          <a:xfrm>
            <a:off x="342900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13.42%</a:t>
            </a:r>
            <a:endParaRPr lang="en-US" sz="4200" dirty="0"/>
          </a:p>
        </p:txBody>
      </p:sp>
      <p:sp>
        <p:nvSpPr>
          <p:cNvPr id="7" name="Text 5"/>
          <p:cNvSpPr txBox="1"/>
          <p:nvPr/>
        </p:nvSpPr>
        <p:spPr>
          <a:xfrm>
            <a:off x="342900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MARD</a:t>
            </a:r>
            <a:endParaRPr lang="en-US" sz="1150" dirty="0"/>
          </a:p>
        </p:txBody>
      </p:sp>
      <p:sp>
        <p:nvSpPr>
          <p:cNvPr id="8" name="Text 6"/>
          <p:cNvSpPr txBox="1"/>
          <p:nvPr/>
        </p:nvSpPr>
        <p:spPr>
          <a:xfrm>
            <a:off x="630936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80.1%</a:t>
            </a:r>
            <a:endParaRPr lang="en-US" sz="4200" dirty="0"/>
          </a:p>
        </p:txBody>
      </p:sp>
      <p:sp>
        <p:nvSpPr>
          <p:cNvPr id="9" name="Text 7"/>
          <p:cNvSpPr txBox="1"/>
          <p:nvPr/>
        </p:nvSpPr>
        <p:spPr>
          <a:xfrm>
            <a:off x="630936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Parkes Zone A</a:t>
            </a:r>
            <a:endParaRPr lang="en-US" sz="1150" dirty="0"/>
          </a:p>
        </p:txBody>
      </p:sp>
      <p:sp>
        <p:nvSpPr>
          <p:cNvPr id="10" name="Text 8"/>
          <p:cNvSpPr txBox="1"/>
          <p:nvPr/>
        </p:nvSpPr>
        <p:spPr>
          <a:xfrm>
            <a:off x="918972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99.5%</a:t>
            </a:r>
            <a:endParaRPr lang="en-US" sz="4200" dirty="0"/>
          </a:p>
        </p:txBody>
      </p:sp>
      <p:sp>
        <p:nvSpPr>
          <p:cNvPr id="11" name="Text 9"/>
          <p:cNvSpPr txBox="1"/>
          <p:nvPr/>
        </p:nvSpPr>
        <p:spPr>
          <a:xfrm>
            <a:off x="918972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Zone A+B</a:t>
            </a:r>
            <a:endParaRPr lang="en-US" sz="1150" dirty="0"/>
          </a:p>
        </p:txBody>
      </p:sp>
      <p:sp>
        <p:nvSpPr>
          <p:cNvPr id="12" name="Shape 10"/>
          <p:cNvSpPr/>
          <p:nvPr/>
        </p:nvSpPr>
        <p:spPr>
          <a:xfrm>
            <a:off x="548640" y="3566160"/>
            <a:ext cx="3520440" cy="1920240"/>
          </a:xfrm>
          <a:prstGeom prst="roundRect">
            <a:avLst>
              <a:gd name="adj" fmla="val 2857"/>
            </a:avLst>
          </a:prstGeom>
          <a:solidFill>
            <a:srgbClr val="EAF2F4"/>
          </a:solidFill>
          <a:ln w="12700">
            <a:solidFill>
              <a:srgbClr val="EAF2F4"/>
            </a:solidFill>
            <a:prstDash val="solid"/>
          </a:ln>
        </p:spPr>
      </p:sp>
      <p:sp>
        <p:nvSpPr>
          <p:cNvPr id="13" name="Text 11"/>
          <p:cNvSpPr txBox="1"/>
          <p:nvPr/>
        </p:nvSpPr>
        <p:spPr>
          <a:xfrm>
            <a:off x="768096" y="3712464"/>
            <a:ext cx="310896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STAGE 1</a:t>
            </a:r>
            <a:endParaRPr lang="en-US" sz="1100" dirty="0"/>
          </a:p>
        </p:txBody>
      </p:sp>
      <p:sp>
        <p:nvSpPr>
          <p:cNvPr id="14" name="Text 12"/>
          <p:cNvSpPr txBox="1"/>
          <p:nvPr/>
        </p:nvSpPr>
        <p:spPr>
          <a:xfrm>
            <a:off x="768096" y="3986784"/>
            <a:ext cx="3108960" cy="347472"/>
          </a:xfrm>
          <a:prstGeom prst="rect">
            <a:avLst/>
          </a:prstGeom>
          <a:noFill/>
          <a:ln/>
        </p:spPr>
        <p:txBody>
          <a:bodyPr wrap="square" lIns="0" tIns="0" rIns="0" bIns="0" rtlCol="0" anchor="ctr"/>
          <a:lstStyle/>
          <a:p>
            <a:pPr indent="0" marL="0">
              <a:buNone/>
            </a:pPr>
            <a:r>
              <a:rPr lang="en-US" sz="1700" b="1" dirty="0">
                <a:solidFill>
                  <a:srgbClr val="0B2F3A"/>
                </a:solidFill>
                <a:latin typeface="Cambria" pitchFamily="34" charset="0"/>
                <a:ea typeface="Cambria" pitchFamily="34" charset="-122"/>
                <a:cs typeface="Cambria" pitchFamily="34" charset="-120"/>
              </a:rPr>
              <a:t>Collect and clean</a:t>
            </a:r>
            <a:endParaRPr lang="en-US" sz="1700" dirty="0"/>
          </a:p>
        </p:txBody>
      </p:sp>
      <p:sp>
        <p:nvSpPr>
          <p:cNvPr id="15" name="Text 13"/>
          <p:cNvSpPr txBox="1"/>
          <p:nvPr/>
        </p:nvSpPr>
        <p:spPr>
          <a:xfrm>
            <a:off x="768096" y="4407408"/>
            <a:ext cx="3108960" cy="91440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Record ECG + PPG, filter, cut into 16-second windows paired with a glucose reading</a:t>
            </a:r>
            <a:endParaRPr lang="en-US" sz="1150" dirty="0"/>
          </a:p>
        </p:txBody>
      </p:sp>
      <p:sp>
        <p:nvSpPr>
          <p:cNvPr id="16" name="Shape 14"/>
          <p:cNvSpPr/>
          <p:nvPr/>
        </p:nvSpPr>
        <p:spPr>
          <a:xfrm>
            <a:off x="4315968" y="3566160"/>
            <a:ext cx="3520440" cy="1920240"/>
          </a:xfrm>
          <a:prstGeom prst="roundRect">
            <a:avLst>
              <a:gd name="adj" fmla="val 2857"/>
            </a:avLst>
          </a:prstGeom>
          <a:solidFill>
            <a:srgbClr val="EAF2F4"/>
          </a:solidFill>
          <a:ln w="12700">
            <a:solidFill>
              <a:srgbClr val="EAF2F4"/>
            </a:solidFill>
            <a:prstDash val="solid"/>
          </a:ln>
        </p:spPr>
      </p:sp>
      <p:sp>
        <p:nvSpPr>
          <p:cNvPr id="17" name="Text 15"/>
          <p:cNvSpPr txBox="1"/>
          <p:nvPr/>
        </p:nvSpPr>
        <p:spPr>
          <a:xfrm>
            <a:off x="4535424" y="3712464"/>
            <a:ext cx="310896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STAGE 2</a:t>
            </a:r>
            <a:endParaRPr lang="en-US" sz="1100" dirty="0"/>
          </a:p>
        </p:txBody>
      </p:sp>
      <p:sp>
        <p:nvSpPr>
          <p:cNvPr id="18" name="Text 16"/>
          <p:cNvSpPr txBox="1"/>
          <p:nvPr/>
        </p:nvSpPr>
        <p:spPr>
          <a:xfrm>
            <a:off x="4535424" y="3986784"/>
            <a:ext cx="3108960" cy="347472"/>
          </a:xfrm>
          <a:prstGeom prst="rect">
            <a:avLst/>
          </a:prstGeom>
          <a:noFill/>
          <a:ln/>
        </p:spPr>
        <p:txBody>
          <a:bodyPr wrap="square" lIns="0" tIns="0" rIns="0" bIns="0" rtlCol="0" anchor="ctr"/>
          <a:lstStyle/>
          <a:p>
            <a:pPr indent="0" marL="0">
              <a:buNone/>
            </a:pPr>
            <a:r>
              <a:rPr lang="en-US" sz="1700" b="1" dirty="0">
                <a:solidFill>
                  <a:srgbClr val="0B2F3A"/>
                </a:solidFill>
                <a:latin typeface="Cambria" pitchFamily="34" charset="0"/>
                <a:ea typeface="Cambria" pitchFamily="34" charset="-122"/>
                <a:cs typeface="Cambria" pitchFamily="34" charset="-120"/>
              </a:rPr>
              <a:t>Describe the signal</a:t>
            </a:r>
            <a:endParaRPr lang="en-US" sz="1700" dirty="0"/>
          </a:p>
        </p:txBody>
      </p:sp>
      <p:sp>
        <p:nvSpPr>
          <p:cNvPr id="19" name="Text 17"/>
          <p:cNvSpPr txBox="1"/>
          <p:nvPr/>
        </p:nvSpPr>
        <p:spPr>
          <a:xfrm>
            <a:off x="4535424" y="4407408"/>
            <a:ext cx="3108960" cy="91440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Wavelet statistics plus waveform-shape measurements: 193 numbers per window</a:t>
            </a:r>
            <a:endParaRPr lang="en-US" sz="1150" dirty="0"/>
          </a:p>
        </p:txBody>
      </p:sp>
      <p:sp>
        <p:nvSpPr>
          <p:cNvPr id="20" name="Shape 18"/>
          <p:cNvSpPr/>
          <p:nvPr/>
        </p:nvSpPr>
        <p:spPr>
          <a:xfrm>
            <a:off x="8083296" y="3566160"/>
            <a:ext cx="3520440" cy="1920240"/>
          </a:xfrm>
          <a:prstGeom prst="roundRect">
            <a:avLst>
              <a:gd name="adj" fmla="val 2857"/>
            </a:avLst>
          </a:prstGeom>
          <a:solidFill>
            <a:srgbClr val="0B2F3A"/>
          </a:solidFill>
          <a:ln w="12700">
            <a:solidFill>
              <a:srgbClr val="0B2F3A"/>
            </a:solidFill>
            <a:prstDash val="solid"/>
          </a:ln>
        </p:spPr>
      </p:sp>
      <p:sp>
        <p:nvSpPr>
          <p:cNvPr id="21" name="Text 19"/>
          <p:cNvSpPr txBox="1"/>
          <p:nvPr/>
        </p:nvSpPr>
        <p:spPr>
          <a:xfrm>
            <a:off x="8302752" y="3712464"/>
            <a:ext cx="3108960" cy="256032"/>
          </a:xfrm>
          <a:prstGeom prst="rect">
            <a:avLst/>
          </a:prstGeom>
          <a:noFill/>
          <a:ln/>
        </p:spPr>
        <p:txBody>
          <a:bodyPr wrap="square" lIns="0" tIns="0" rIns="0" bIns="0" rtlCol="0" anchor="ctr"/>
          <a:lstStyle/>
          <a:p>
            <a:pPr indent="0" marL="0">
              <a:buNone/>
            </a:pPr>
            <a:r>
              <a:rPr lang="en-US" sz="1100" b="1" spc="200" kern="0" dirty="0">
                <a:solidFill>
                  <a:srgbClr val="00C2A8"/>
                </a:solidFill>
                <a:latin typeface="Calibri" pitchFamily="34" charset="0"/>
                <a:ea typeface="Calibri" pitchFamily="34" charset="-122"/>
                <a:cs typeface="Calibri" pitchFamily="34" charset="-120"/>
              </a:rPr>
              <a:t>STAGE 3</a:t>
            </a:r>
            <a:endParaRPr lang="en-US" sz="1100" dirty="0"/>
          </a:p>
        </p:txBody>
      </p:sp>
      <p:sp>
        <p:nvSpPr>
          <p:cNvPr id="22" name="Text 20"/>
          <p:cNvSpPr txBox="1"/>
          <p:nvPr/>
        </p:nvSpPr>
        <p:spPr>
          <a:xfrm>
            <a:off x="8302752" y="3986784"/>
            <a:ext cx="310896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Predict and fuse</a:t>
            </a:r>
            <a:endParaRPr lang="en-US" sz="1700" dirty="0"/>
          </a:p>
        </p:txBody>
      </p:sp>
      <p:sp>
        <p:nvSpPr>
          <p:cNvPr id="23" name="Text 21"/>
          <p:cNvSpPr txBox="1"/>
          <p:nvPr/>
        </p:nvSpPr>
        <p:spPr>
          <a:xfrm>
            <a:off x="8302752" y="4407408"/>
            <a:ext cx="3108960" cy="914400"/>
          </a:xfrm>
          <a:prstGeom prst="rect">
            <a:avLst/>
          </a:prstGeom>
          <a:noFill/>
          <a:ln/>
        </p:spPr>
        <p:txBody>
          <a:bodyPr wrap="square" lIns="0" tIns="0" rIns="0" bIns="0" rtlCol="0" anchor="ctr"/>
          <a:lstStyle/>
          <a:p>
            <a:pPr indent="0" marL="0">
              <a:buNone/>
            </a:pPr>
            <a:r>
              <a:rPr lang="en-US" sz="1150" dirty="0">
                <a:solidFill>
                  <a:srgbClr val="D6E6EA"/>
                </a:solidFill>
                <a:latin typeface="Calibri" pitchFamily="34" charset="0"/>
                <a:ea typeface="Calibri" pitchFamily="34" charset="-122"/>
                <a:cs typeface="Calibri" pitchFamily="34" charset="-120"/>
              </a:rPr>
              <a:t>Three models each predict; a Choquet integral combines their answers</a:t>
            </a:r>
            <a:endParaRPr lang="en-US" sz="1150" dirty="0"/>
          </a:p>
        </p:txBody>
      </p:sp>
      <p:sp>
        <p:nvSpPr>
          <p:cNvPr id="24" name="Text 22"/>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1.49 mmol/L approaches approved CGM accuracy. The authors published code but not data, so the claim had never been independently checked.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We rebuilt all three stages and ran them on the largest open ECG+PPG+CGM dataset</a:t>
            </a:r>
            <a:endParaRPr lang="en-US" sz="2700" dirty="0"/>
          </a:p>
        </p:txBody>
      </p:sp>
      <p:sp>
        <p:nvSpPr>
          <p:cNvPr id="3" name="Text 1"/>
          <p:cNvSpPr txBox="1"/>
          <p:nvPr/>
        </p:nvSpPr>
        <p:spPr>
          <a:xfrm>
            <a:off x="548640" y="137160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30,830</a:t>
            </a:r>
            <a:endParaRPr lang="en-US" sz="4200" dirty="0"/>
          </a:p>
        </p:txBody>
      </p:sp>
      <p:sp>
        <p:nvSpPr>
          <p:cNvPr id="4" name="Text 2"/>
          <p:cNvSpPr txBox="1"/>
          <p:nvPr/>
        </p:nvSpPr>
        <p:spPr>
          <a:xfrm>
            <a:off x="54864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paired ECG+PPG windows</a:t>
            </a:r>
            <a:endParaRPr lang="en-US" sz="1150" dirty="0"/>
          </a:p>
        </p:txBody>
      </p:sp>
      <p:sp>
        <p:nvSpPr>
          <p:cNvPr id="5" name="Text 3"/>
          <p:cNvSpPr txBox="1"/>
          <p:nvPr/>
        </p:nvSpPr>
        <p:spPr>
          <a:xfrm>
            <a:off x="3429000" y="137160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193</a:t>
            </a:r>
            <a:endParaRPr lang="en-US" sz="4200" dirty="0"/>
          </a:p>
        </p:txBody>
      </p:sp>
      <p:sp>
        <p:nvSpPr>
          <p:cNvPr id="6" name="Text 4"/>
          <p:cNvSpPr txBox="1"/>
          <p:nvPr/>
        </p:nvSpPr>
        <p:spPr>
          <a:xfrm>
            <a:off x="342900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features per window</a:t>
            </a:r>
            <a:endParaRPr lang="en-US" sz="1150" dirty="0"/>
          </a:p>
        </p:txBody>
      </p:sp>
      <p:sp>
        <p:nvSpPr>
          <p:cNvPr id="7" name="Text 5"/>
          <p:cNvSpPr txBox="1"/>
          <p:nvPr/>
        </p:nvSpPr>
        <p:spPr>
          <a:xfrm>
            <a:off x="6309360" y="137160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10</a:t>
            </a:r>
            <a:endParaRPr lang="en-US" sz="4200" dirty="0"/>
          </a:p>
        </p:txBody>
      </p:sp>
      <p:sp>
        <p:nvSpPr>
          <p:cNvPr id="8" name="Text 6"/>
          <p:cNvSpPr txBox="1"/>
          <p:nvPr/>
        </p:nvSpPr>
        <p:spPr>
          <a:xfrm>
            <a:off x="630936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Type-1 patients</a:t>
            </a:r>
            <a:endParaRPr lang="en-US" sz="1150" dirty="0"/>
          </a:p>
        </p:txBody>
      </p:sp>
      <p:sp>
        <p:nvSpPr>
          <p:cNvPr id="9" name="Text 7"/>
          <p:cNvSpPr txBox="1"/>
          <p:nvPr/>
        </p:nvSpPr>
        <p:spPr>
          <a:xfrm>
            <a:off x="9189720" y="1371600"/>
            <a:ext cx="274320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2.519</a:t>
            </a:r>
            <a:endParaRPr lang="en-US" sz="4200" dirty="0"/>
          </a:p>
        </p:txBody>
      </p:sp>
      <p:sp>
        <p:nvSpPr>
          <p:cNvPr id="10" name="Text 8"/>
          <p:cNvSpPr txBox="1"/>
          <p:nvPr/>
        </p:nvSpPr>
        <p:spPr>
          <a:xfrm>
            <a:off x="918972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baseline RMSE to beat</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5760720" cy="914400"/>
        </p:xfrm>
        <a:graphic>
          <a:graphicData uri="http://schemas.openxmlformats.org/drawingml/2006/table">
            <a:tbl>
              <a:tblPr/>
              <a:tblGrid>
                <a:gridCol w="1280160"/>
                <a:gridCol w="1371600"/>
                <a:gridCol w="3108960"/>
              </a:tblGrid>
              <a:tr h="30175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Signal</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Rate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Device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01752">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ECG</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250 Hz</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Zephyr BioHarness chest strap</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PPG</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64 Hz</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Empatica E4 wristband</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01752">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Glucose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every 5 min</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Dexcom CGM - the reference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12" name="Shape 9"/>
          <p:cNvSpPr/>
          <p:nvPr/>
        </p:nvSpPr>
        <p:spPr>
          <a:xfrm>
            <a:off x="6629400" y="3017520"/>
            <a:ext cx="5074920" cy="1325880"/>
          </a:xfrm>
          <a:prstGeom prst="roundRect">
            <a:avLst>
              <a:gd name="adj" fmla="val 4138"/>
            </a:avLst>
          </a:prstGeom>
          <a:solidFill>
            <a:srgbClr val="EAF2F4"/>
          </a:solidFill>
          <a:ln w="12700">
            <a:solidFill>
              <a:srgbClr val="EAF2F4"/>
            </a:solidFill>
            <a:prstDash val="solid"/>
          </a:ln>
        </p:spPr>
      </p:sp>
      <p:sp>
        <p:nvSpPr>
          <p:cNvPr id="13" name="Text 10"/>
          <p:cNvSpPr txBox="1"/>
          <p:nvPr/>
        </p:nvSpPr>
        <p:spPr>
          <a:xfrm>
            <a:off x="6830568" y="3163824"/>
            <a:ext cx="467258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PhysioCGM (Scientific Data, 2025)</a:t>
            </a:r>
            <a:endParaRPr lang="en-US" sz="1300" dirty="0"/>
          </a:p>
        </p:txBody>
      </p:sp>
      <p:sp>
        <p:nvSpPr>
          <p:cNvPr id="14" name="Text 11"/>
          <p:cNvSpPr txBox="1"/>
          <p:nvPr/>
        </p:nvSpPr>
        <p:spPr>
          <a:xfrm>
            <a:off x="6830568" y="3547872"/>
            <a:ext cx="4672584" cy="64008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Public domain, CC0. The only open dataset carrying ECG AND PPG against a CGM reference - exactly the pair this paper needs.</a:t>
            </a:r>
            <a:endParaRPr lang="en-US" sz="1200" dirty="0"/>
          </a:p>
        </p:txBody>
      </p:sp>
      <p:sp>
        <p:nvSpPr>
          <p:cNvPr id="15" name="Shape 12"/>
          <p:cNvSpPr/>
          <p:nvPr/>
        </p:nvSpPr>
        <p:spPr>
          <a:xfrm>
            <a:off x="548640" y="4526280"/>
            <a:ext cx="11094415" cy="1097280"/>
          </a:xfrm>
          <a:prstGeom prst="roundRect">
            <a:avLst>
              <a:gd name="adj" fmla="val 4167"/>
            </a:avLst>
          </a:prstGeom>
          <a:solidFill>
            <a:srgbClr val="0B2F3A"/>
          </a:solidFill>
          <a:ln w="12700">
            <a:solidFill>
              <a:srgbClr val="0B2F3A"/>
            </a:solidFill>
            <a:prstDash val="solid"/>
          </a:ln>
        </p:spPr>
      </p:sp>
      <p:sp>
        <p:nvSpPr>
          <p:cNvPr id="16" name="Text 13"/>
          <p:cNvSpPr txBox="1"/>
          <p:nvPr/>
        </p:nvSpPr>
        <p:spPr>
          <a:xfrm>
            <a:off x="822960" y="4718304"/>
            <a:ext cx="10545775" cy="7772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number that matters most is 2.519 mmol/L - the standard deviation of glucose, and therefore the error of a model that simply guesses the average every time. Nothing counts as learning unless it beats that.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The Choquet integral assigns importance to GROUPS of models, not just to each one</a:t>
            </a:r>
            <a:endParaRPr lang="en-US" sz="2700" dirty="0"/>
          </a:p>
        </p:txBody>
      </p:sp>
      <p:sp>
        <p:nvSpPr>
          <p:cNvPr id="3" name="Text 1"/>
          <p:cNvSpPr txBox="1"/>
          <p:nvPr/>
        </p:nvSpPr>
        <p:spPr>
          <a:xfrm>
            <a:off x="548640" y="1280160"/>
            <a:ext cx="11094415" cy="566928"/>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A weighted average gives each model a number. A fuzzy measure gives every SUBSET a number - so it can say two models overlap, or that two work well together. The Sugeno lambda-measure builds all of them from one density per model:</a:t>
            </a:r>
            <a:endParaRPr lang="en-US" sz="1400" dirty="0"/>
          </a:p>
        </p:txBody>
      </p:sp>
      <p:sp>
        <p:nvSpPr>
          <p:cNvPr id="4" name="Shape 2"/>
          <p:cNvSpPr/>
          <p:nvPr/>
        </p:nvSpPr>
        <p:spPr>
          <a:xfrm>
            <a:off x="548640" y="1920240"/>
            <a:ext cx="6858000" cy="2022793"/>
          </a:xfrm>
          <a:prstGeom prst="roundRect">
            <a:avLst>
              <a:gd name="adj" fmla="val 2260"/>
            </a:avLst>
          </a:prstGeom>
          <a:solidFill>
            <a:srgbClr val="0B2F3A"/>
          </a:solidFill>
          <a:ln w="12700">
            <a:solidFill>
              <a:srgbClr val="0B2F3A"/>
            </a:solidFill>
            <a:prstDash val="solid"/>
          </a:ln>
        </p:spPr>
      </p:sp>
      <p:sp>
        <p:nvSpPr>
          <p:cNvPr id="5" name="Text 3"/>
          <p:cNvSpPr txBox="1"/>
          <p:nvPr/>
        </p:nvSpPr>
        <p:spPr>
          <a:xfrm>
            <a:off x="777240" y="2066544"/>
            <a:ext cx="6400800" cy="1730185"/>
          </a:xfrm>
          <a:prstGeom prst="rect">
            <a:avLst/>
          </a:prstGeom>
          <a:noFill/>
          <a:ln/>
        </p:spPr>
        <p:txBody>
          <a:bodyPr wrap="square" lIns="0" tIns="0" rIns="0" bIns="0" rtlCol="0" anchor="t"/>
          <a:lstStyle/>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g(A u B) = g(A) + g(B) + lambda*g(A)*g(B)</a:t>
            </a:r>
            <a:endParaRPr lang="en-US" sz="1250" dirty="0"/>
          </a:p>
          <a:p>
            <a:pPr indent="0" marL="0">
              <a:lnSpc>
                <a:spcPct val="130000"/>
              </a:lnSpc>
              <a:buNone/>
            </a:pPr>
            <a:endParaRPr lang="en-US" sz="1250" dirty="0"/>
          </a:p>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lambda fixed by   1 + lambda = PROD (1 + lambda*g_i)</a:t>
            </a:r>
            <a:endParaRPr lang="en-US" sz="1250" dirty="0"/>
          </a:p>
          <a:p>
            <a:pPr indent="0" marL="0">
              <a:lnSpc>
                <a:spcPct val="130000"/>
              </a:lnSpc>
              <a:buNone/>
            </a:pPr>
            <a:endParaRPr lang="en-US" sz="1250" dirty="0"/>
          </a:p>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Sort predictions largest first, then</a:t>
            </a:r>
            <a:endParaRPr lang="en-US" sz="1250" dirty="0"/>
          </a:p>
          <a:p>
            <a:pPr indent="0" marL="0">
              <a:lnSpc>
                <a:spcPct val="130000"/>
              </a:lnSpc>
              <a:buNone/>
            </a:pPr>
            <a:endParaRPr lang="en-US" sz="1250" dirty="0"/>
          </a:p>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   C = SUM_j  h(j) * [ g(top j) - g(top j-1) ]</a:t>
            </a:r>
            <a:endParaRPr lang="en-US" sz="1250" dirty="0"/>
          </a:p>
        </p:txBody>
      </p:sp>
      <p:sp>
        <p:nvSpPr>
          <p:cNvPr id="6" name="Text 4"/>
          <p:cNvSpPr txBox="1"/>
          <p:nvPr/>
        </p:nvSpPr>
        <p:spPr>
          <a:xfrm>
            <a:off x="7589520" y="1920240"/>
            <a:ext cx="4114800" cy="2011680"/>
          </a:xfrm>
          <a:prstGeom prst="rect">
            <a:avLst/>
          </a:prstGeom>
          <a:noFill/>
          <a:ln/>
        </p:spPr>
        <p:txBody>
          <a:bodyPr wrap="square" rtlCol="0" anchor="t"/>
          <a:lstStyle/>
          <a:p>
            <a:pPr marL="342900" indent="-342900">
              <a:spcAft>
                <a:spcPts val="900"/>
              </a:spcAft>
              <a:buSzPct val="100000"/>
              <a:buChar char="•"/>
            </a:pPr>
            <a:r>
              <a:rPr lang="en-US" sz="1250" dirty="0">
                <a:solidFill>
                  <a:srgbClr val="0B2F3A"/>
                </a:solidFill>
                <a:latin typeface="Calibri" pitchFamily="34" charset="0"/>
                <a:ea typeface="Calibri" pitchFamily="34" charset="-122"/>
                <a:cs typeface="Calibri" pitchFamily="34" charset="-120"/>
              </a:rPr>
              <a:t>Each prediction is weighted by how much the group's importance GREW when it was added.</a:t>
            </a:r>
            <a:endParaRPr lang="en-US" sz="1250" dirty="0"/>
          </a:p>
          <a:p>
            <a:pPr marL="342900" indent="-342900">
              <a:spcAft>
                <a:spcPts val="900"/>
              </a:spcAft>
              <a:buSzPct val="100000"/>
              <a:buChar char="•"/>
            </a:pPr>
            <a:r>
              <a:rPr lang="en-US" sz="1250" dirty="0">
                <a:solidFill>
                  <a:srgbClr val="0B2F3A"/>
                </a:solidFill>
                <a:latin typeface="Calibri" pitchFamily="34" charset="0"/>
                <a:ea typeface="Calibri" pitchFamily="34" charset="-122"/>
                <a:cs typeface="Calibri" pitchFamily="34" charset="-120"/>
              </a:rPr>
              <a:t>If the densities sum to 1 then lambda = 0 and this is exactly a weighted average - so the Choquet integral generalises it.</a:t>
            </a:r>
            <a:endParaRPr lang="en-US" sz="1250" dirty="0"/>
          </a:p>
          <a:p>
            <a:pPr marL="342900" indent="-342900">
              <a:spcAft>
                <a:spcPts val="900"/>
              </a:spcAft>
              <a:buSzPct val="100000"/>
              <a:buChar char="•"/>
            </a:pPr>
            <a:r>
              <a:rPr lang="en-US" sz="1250" dirty="0">
                <a:solidFill>
                  <a:srgbClr val="0B2F3A"/>
                </a:solidFill>
                <a:latin typeface="Calibri" pitchFamily="34" charset="0"/>
                <a:ea typeface="Calibri" pitchFamily="34" charset="-122"/>
                <a:cs typeface="Calibri" pitchFamily="34" charset="-120"/>
              </a:rPr>
              <a:t>Densities come from each model's honest out-of-fold accuracy.</a:t>
            </a:r>
            <a:endParaRPr lang="en-US" sz="1250" dirty="0"/>
          </a:p>
        </p:txBody>
      </p:sp>
      <p:sp>
        <p:nvSpPr>
          <p:cNvPr id="7" name="Text 5"/>
          <p:cNvSpPr txBox="1"/>
          <p:nvPr/>
        </p:nvSpPr>
        <p:spPr>
          <a:xfrm>
            <a:off x="7589520" y="4023360"/>
            <a:ext cx="4114800" cy="274320"/>
          </a:xfrm>
          <a:prstGeom prst="rect">
            <a:avLst/>
          </a:prstGeom>
          <a:noFill/>
          <a:ln/>
        </p:spPr>
        <p:txBody>
          <a:bodyPr wrap="square"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Worked example</a:t>
            </a:r>
            <a:endParaRPr lang="en-US" sz="1300" dirty="0"/>
          </a:p>
        </p:txBody>
      </p:sp>
      <p:sp>
        <p:nvSpPr>
          <p:cNvPr id="8" name="Shape 6"/>
          <p:cNvSpPr/>
          <p:nvPr/>
        </p:nvSpPr>
        <p:spPr>
          <a:xfrm>
            <a:off x="7589520" y="4343400"/>
            <a:ext cx="4114800" cy="1221740"/>
          </a:xfrm>
          <a:prstGeom prst="roundRect">
            <a:avLst>
              <a:gd name="adj" fmla="val 3742"/>
            </a:avLst>
          </a:prstGeom>
          <a:solidFill>
            <a:srgbClr val="0B2F3A"/>
          </a:solidFill>
          <a:ln w="12700">
            <a:solidFill>
              <a:srgbClr val="0B2F3A"/>
            </a:solidFill>
            <a:prstDash val="solid"/>
          </a:ln>
        </p:spPr>
      </p:sp>
      <p:sp>
        <p:nvSpPr>
          <p:cNvPr id="9" name="Text 7"/>
          <p:cNvSpPr txBox="1"/>
          <p:nvPr/>
        </p:nvSpPr>
        <p:spPr>
          <a:xfrm>
            <a:off x="7818120" y="4489704"/>
            <a:ext cx="3657600" cy="929132"/>
          </a:xfrm>
          <a:prstGeom prst="rect">
            <a:avLst/>
          </a:prstGeom>
          <a:noFill/>
          <a:ln/>
        </p:spPr>
        <p:txBody>
          <a:bodyPr wrap="square" lIns="0" tIns="0" rIns="0" bIns="0" rtlCol="0" anchor="t"/>
          <a:lstStyle/>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g   = (.30, .25, .20)</a:t>
            </a:r>
            <a:endParaRPr lang="en-US" sz="1100" dirty="0"/>
          </a:p>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h   = (9.0, 7.0, 5.0)</a:t>
            </a:r>
            <a:endParaRPr lang="en-US" sz="1100" dirty="0"/>
          </a:p>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w   = (.300,.342,.358)</a:t>
            </a:r>
            <a:endParaRPr lang="en-US" sz="1100" dirty="0"/>
          </a:p>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C   = 6.88   mean 7.00</a:t>
            </a:r>
            <a:endParaRPr lang="en-US" sz="1100" dirty="0"/>
          </a:p>
        </p:txBody>
      </p:sp>
      <p:sp>
        <p:nvSpPr>
          <p:cNvPr id="10" name="Shape 8"/>
          <p:cNvSpPr/>
          <p:nvPr/>
        </p:nvSpPr>
        <p:spPr>
          <a:xfrm>
            <a:off x="548640" y="4069080"/>
            <a:ext cx="6858000" cy="1508760"/>
          </a:xfrm>
          <a:prstGeom prst="roundRect">
            <a:avLst>
              <a:gd name="adj" fmla="val 3636"/>
            </a:avLst>
          </a:prstGeom>
          <a:solidFill>
            <a:srgbClr val="EAF2F4"/>
          </a:solidFill>
          <a:ln w="12700">
            <a:solidFill>
              <a:srgbClr val="EAF2F4"/>
            </a:solidFill>
            <a:prstDash val="solid"/>
          </a:ln>
        </p:spPr>
      </p:sp>
      <p:sp>
        <p:nvSpPr>
          <p:cNvPr id="11" name="Text 9"/>
          <p:cNvSpPr txBox="1"/>
          <p:nvPr/>
        </p:nvSpPr>
        <p:spPr>
          <a:xfrm>
            <a:off x="749808" y="4215384"/>
            <a:ext cx="6455664" cy="34747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The intuition, in one sentence</a:t>
            </a:r>
            <a:endParaRPr lang="en-US" sz="1400" dirty="0"/>
          </a:p>
        </p:txBody>
      </p:sp>
      <p:sp>
        <p:nvSpPr>
          <p:cNvPr id="12" name="Text 10"/>
          <p:cNvSpPr txBox="1"/>
          <p:nvPr/>
        </p:nvSpPr>
        <p:spPr>
          <a:xfrm>
            <a:off x="749808" y="4599432"/>
            <a:ext cx="6455664" cy="822960"/>
          </a:xfrm>
          <a:prstGeom prst="rect">
            <a:avLst/>
          </a:prstGeom>
          <a:noFill/>
          <a:ln/>
        </p:spPr>
        <p:txBody>
          <a:bodyPr wrap="square" lIns="0" tIns="0" rIns="0" bIns="0" rtlCol="0" anchor="t"/>
          <a:lstStyle/>
          <a:p>
            <a:pPr indent="0" marL="0">
              <a:buNone/>
            </a:pPr>
            <a:r>
              <a:rPr lang="en-US" sz="1250" dirty="0">
                <a:solidFill>
                  <a:srgbClr val="0B2F3A"/>
                </a:solidFill>
                <a:latin typeface="Calibri" pitchFamily="34" charset="0"/>
                <a:ea typeface="Calibri" pitchFamily="34" charset="-122"/>
                <a:cs typeface="Calibri" pitchFamily="34" charset="-120"/>
              </a:rPr>
              <a:t>Three doctors give three opinions. Averaging counts a shared view twice if two of them trained together, and ignores that one is far more experienced. A fuzzy measure can express BOTH - because it scores every combination of doctors, not just each doctor.</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Before fusion: how 4000 raw samples become 193 numbers</a:t>
            </a:r>
            <a:endParaRPr lang="en-US" sz="2700" dirty="0"/>
          </a:p>
        </p:txBody>
      </p:sp>
      <p:sp>
        <p:nvSpPr>
          <p:cNvPr id="3" name="Text 1"/>
          <p:cNvSpPr txBox="1"/>
          <p:nvPr/>
        </p:nvSpPr>
        <p:spPr>
          <a:xfrm>
            <a:off x="548640" y="1280160"/>
            <a:ext cx="11094415" cy="548640"/>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A heartbeat mixes a sharp spike (QRS) with broad waves (P and T). The db4 wavelet transform splits the window into 8 sub-signals by speed, and each gets the same 10 measurements: 8 x 10 = 80 per signal, x2 signals = the paper's 160.</a:t>
            </a:r>
            <a:endParaRPr lang="en-US" sz="1400" dirty="0"/>
          </a:p>
        </p:txBody>
      </p:sp>
      <p:sp>
        <p:nvSpPr>
          <p:cNvPr id="4" name="Shape 2"/>
          <p:cNvSpPr/>
          <p:nvPr/>
        </p:nvSpPr>
        <p:spPr>
          <a:xfrm>
            <a:off x="548640" y="1874520"/>
            <a:ext cx="6035040" cy="2317433"/>
          </a:xfrm>
          <a:prstGeom prst="roundRect">
            <a:avLst>
              <a:gd name="adj" fmla="val 1973"/>
            </a:avLst>
          </a:prstGeom>
          <a:solidFill>
            <a:srgbClr val="0B2F3A"/>
          </a:solidFill>
          <a:ln w="12700">
            <a:solidFill>
              <a:srgbClr val="0B2F3A"/>
            </a:solidFill>
            <a:prstDash val="solid"/>
          </a:ln>
        </p:spPr>
      </p:sp>
      <p:sp>
        <p:nvSpPr>
          <p:cNvPr id="5" name="Text 3"/>
          <p:cNvSpPr txBox="1"/>
          <p:nvPr/>
        </p:nvSpPr>
        <p:spPr>
          <a:xfrm>
            <a:off x="777240" y="2020824"/>
            <a:ext cx="5577840" cy="2024825"/>
          </a:xfrm>
          <a:prstGeom prst="rect">
            <a:avLst/>
          </a:prstGeom>
          <a:noFill/>
          <a:ln/>
        </p:spPr>
        <p:txBody>
          <a:bodyPr wrap="square" lIns="0" tIns="0" rIns="0" bIns="0" rtlCol="0" anchor="t"/>
          <a:lstStyle/>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Hjorth parameters (SM, SC):</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Mobility   = sqrt( var(x') / var(x) )</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Complexity = Mobility(x') / Mobility(x)</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Shannon entropy (SE), over amplitude bins p_i:</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SE = - SUM_i  p_i * log2(p_i)</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Correlation dimension (CD), the log-log slope:</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CD = lim(r-&gt;0)  d log C(r) / d log r</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66560" y="1874520"/>
          <a:ext cx="4800600" cy="914400"/>
        </p:xfrm>
        <a:graphic>
          <a:graphicData uri="http://schemas.openxmlformats.org/drawingml/2006/table">
            <a:tbl>
              <a:tblPr/>
              <a:tblGrid>
                <a:gridCol w="1280160"/>
                <a:gridCol w="352044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Symbol</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measures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Kur, Ske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spiky / how lopsided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SM, SC</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Wiggle rate, and its variation</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FD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jagged the line is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CD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many processes drive it</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C0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Fraction that is irregular</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PSE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Energy spread across frequencies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KE, SE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unpredictable / how informative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7" name="Shape 4"/>
          <p:cNvSpPr/>
          <p:nvPr/>
        </p:nvSpPr>
        <p:spPr>
          <a:xfrm>
            <a:off x="6766560" y="4251960"/>
            <a:ext cx="4800600" cy="1325880"/>
          </a:xfrm>
          <a:prstGeom prst="roundRect">
            <a:avLst>
              <a:gd name="adj" fmla="val 4138"/>
            </a:avLst>
          </a:prstGeom>
          <a:solidFill>
            <a:srgbClr val="EAF2F4"/>
          </a:solidFill>
          <a:ln w="12700">
            <a:solidFill>
              <a:srgbClr val="EAF2F4"/>
            </a:solidFill>
            <a:prstDash val="solid"/>
          </a:ln>
        </p:spPr>
      </p:sp>
      <p:sp>
        <p:nvSpPr>
          <p:cNvPr id="8" name="Text 5"/>
          <p:cNvSpPr txBox="1"/>
          <p:nvPr/>
        </p:nvSpPr>
        <p:spPr>
          <a:xfrm>
            <a:off x="6967728" y="4398264"/>
            <a:ext cx="439826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Plus 33 morphological features</a:t>
            </a:r>
            <a:endParaRPr lang="en-US" sz="1300" dirty="0"/>
          </a:p>
        </p:txBody>
      </p:sp>
      <p:sp>
        <p:nvSpPr>
          <p:cNvPr id="9" name="Text 6"/>
          <p:cNvSpPr txBox="1"/>
          <p:nvPr/>
        </p:nvSpPr>
        <p:spPr>
          <a:xfrm>
            <a:off x="6967728" y="4782312"/>
            <a:ext cx="4398264" cy="640080"/>
          </a:xfrm>
          <a:prstGeom prst="rect">
            <a:avLst/>
          </a:prstGeom>
          <a:noFill/>
          <a:ln/>
        </p:spPr>
        <p:txBody>
          <a:bodyPr wrap="square" lIns="0" tIns="0" rIns="0" bIns="0" rtlCol="0" anchor="t"/>
          <a:lstStyle/>
          <a:p>
            <a:pPr indent="0" marL="0">
              <a:buNone/>
            </a:pPr>
            <a:r>
              <a:rPr lang="en-US" sz="1150" dirty="0">
                <a:solidFill>
                  <a:srgbClr val="0B2F3A"/>
                </a:solidFill>
                <a:latin typeface="Calibri" pitchFamily="34" charset="0"/>
                <a:ea typeface="Calibri" pitchFamily="34" charset="-122"/>
                <a:cs typeface="Calibri" pitchFamily="34" charset="-120"/>
              </a:rPr>
              <a:t>QT and QTc = QT/sqrt(RR), ST level, T-wave amplitude and sharpness, SDNN, RMSSD, pNN50, and PPG pulse shape. Each is citable to the glucose mechanism.</a:t>
            </a:r>
            <a:endParaRPr lang="en-US" sz="1150" dirty="0"/>
          </a:p>
        </p:txBody>
      </p:sp>
      <p:sp>
        <p:nvSpPr>
          <p:cNvPr id="10" name="Text 7"/>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We use the paper's exact choices: db4 wavelet, 7 decomposition levels, these ten features.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1: how you split the data changes the answer more than the model does</a:t>
            </a:r>
            <a:endParaRPr lang="en-US" sz="2700" dirty="0"/>
          </a:p>
        </p:txBody>
      </p:sp>
      <p:sp>
        <p:nvSpPr>
          <p:cNvPr id="3" name="Text 1"/>
          <p:cNvSpPr txBox="1"/>
          <p:nvPr/>
        </p:nvSpPr>
        <p:spPr>
          <a:xfrm>
            <a:off x="548640" y="1298448"/>
            <a:ext cx="11094415" cy="548640"/>
          </a:xfrm>
          <a:prstGeom prst="rect">
            <a:avLst/>
          </a:prstGeom>
          <a:noFill/>
          <a:ln/>
        </p:spPr>
        <p:txBody>
          <a:bodyPr wrap="square" rtlCol="0" anchor="ctr"/>
          <a:lstStyle/>
          <a:p>
            <a:pPr indent="0" marL="0">
              <a:buNone/>
            </a:pPr>
            <a:r>
              <a:rPr lang="en-US" sz="1500" dirty="0">
                <a:solidFill>
                  <a:srgbClr val="0B2F3A"/>
                </a:solidFill>
                <a:latin typeface="Calibri" pitchFamily="34" charset="0"/>
                <a:ea typeface="Calibri" pitchFamily="34" charset="-122"/>
                <a:cs typeface="Calibri" pitchFamily="34" charset="-120"/>
              </a:rPr>
              <a:t>Consecutive windows from one person are extremely similar. Shuffle them all and split at random, and the SAME patient appears in training and test - so a model can recognise the person instead of learning about glucose.</a:t>
            </a:r>
            <a:endParaRPr lang="en-US" sz="1500" dirty="0"/>
          </a:p>
        </p:txBody>
      </p:sp>
      <p:sp>
        <p:nvSpPr>
          <p:cNvPr id="4" name="Shape 2"/>
          <p:cNvSpPr/>
          <p:nvPr/>
        </p:nvSpPr>
        <p:spPr>
          <a:xfrm>
            <a:off x="548640" y="1965960"/>
            <a:ext cx="3520440" cy="2194560"/>
          </a:xfrm>
          <a:prstGeom prst="roundRect">
            <a:avLst>
              <a:gd name="adj" fmla="val 2500"/>
            </a:avLst>
          </a:prstGeom>
          <a:solidFill>
            <a:srgbClr val="EAF2F4"/>
          </a:solidFill>
          <a:ln w="12700">
            <a:solidFill>
              <a:srgbClr val="EAF2F4"/>
            </a:solidFill>
            <a:prstDash val="solid"/>
          </a:ln>
        </p:spPr>
      </p:sp>
      <p:sp>
        <p:nvSpPr>
          <p:cNvPr id="5" name="Text 3"/>
          <p:cNvSpPr txBox="1"/>
          <p:nvPr/>
        </p:nvSpPr>
        <p:spPr>
          <a:xfrm>
            <a:off x="768096" y="2130552"/>
            <a:ext cx="3108960" cy="30175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1. Random window</a:t>
            </a:r>
            <a:endParaRPr lang="en-US" sz="1400" dirty="0"/>
          </a:p>
        </p:txBody>
      </p:sp>
      <p:sp>
        <p:nvSpPr>
          <p:cNvPr id="6" name="Text 4"/>
          <p:cNvSpPr txBox="1"/>
          <p:nvPr/>
        </p:nvSpPr>
        <p:spPr>
          <a:xfrm>
            <a:off x="768096" y="2468880"/>
            <a:ext cx="3108960" cy="457200"/>
          </a:xfrm>
          <a:prstGeom prst="rect">
            <a:avLst/>
          </a:prstGeom>
          <a:noFill/>
          <a:ln/>
        </p:spPr>
        <p:txBody>
          <a:bodyPr wrap="square" lIns="0" tIns="0" rIns="0" bIns="0" rtlCol="0" anchor="ctr"/>
          <a:lstStyle/>
          <a:p>
            <a:pPr indent="0" marL="0">
              <a:buNone/>
            </a:pPr>
            <a:r>
              <a:rPr lang="en-US" sz="1150" i="1" dirty="0">
                <a:solidFill>
                  <a:srgbClr val="1C7293"/>
                </a:solidFill>
                <a:latin typeface="Calibri" pitchFamily="34" charset="0"/>
                <a:ea typeface="Calibri" pitchFamily="34" charset="-122"/>
                <a:cs typeface="Calibri" pitchFamily="34" charset="-120"/>
              </a:rPr>
              <a:t>Shuffle everything, split at random</a:t>
            </a:r>
            <a:endParaRPr lang="en-US" sz="1150" dirty="0"/>
          </a:p>
        </p:txBody>
      </p:sp>
      <p:sp>
        <p:nvSpPr>
          <p:cNvPr id="7" name="Text 5"/>
          <p:cNvSpPr txBox="1"/>
          <p:nvPr/>
        </p:nvSpPr>
        <p:spPr>
          <a:xfrm>
            <a:off x="768096" y="2944368"/>
            <a:ext cx="3108960" cy="105156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The same patient on both sides. This is what most published work reports.</a:t>
            </a:r>
            <a:endParaRPr lang="en-US" sz="1150" dirty="0"/>
          </a:p>
        </p:txBody>
      </p:sp>
      <p:sp>
        <p:nvSpPr>
          <p:cNvPr id="8" name="Shape 6"/>
          <p:cNvSpPr/>
          <p:nvPr/>
        </p:nvSpPr>
        <p:spPr>
          <a:xfrm>
            <a:off x="4315968" y="1965960"/>
            <a:ext cx="3520440" cy="2194560"/>
          </a:xfrm>
          <a:prstGeom prst="roundRect">
            <a:avLst>
              <a:gd name="adj" fmla="val 2500"/>
            </a:avLst>
          </a:prstGeom>
          <a:solidFill>
            <a:srgbClr val="E3EEF0"/>
          </a:solidFill>
          <a:ln w="12700">
            <a:solidFill>
              <a:srgbClr val="E3EEF0"/>
            </a:solidFill>
            <a:prstDash val="solid"/>
          </a:ln>
        </p:spPr>
      </p:sp>
      <p:sp>
        <p:nvSpPr>
          <p:cNvPr id="9" name="Text 7"/>
          <p:cNvSpPr txBox="1"/>
          <p:nvPr/>
        </p:nvSpPr>
        <p:spPr>
          <a:xfrm>
            <a:off x="4535424" y="2130552"/>
            <a:ext cx="3108960" cy="30175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2. Subject-aware</a:t>
            </a:r>
            <a:endParaRPr lang="en-US" sz="1400" dirty="0"/>
          </a:p>
        </p:txBody>
      </p:sp>
      <p:sp>
        <p:nvSpPr>
          <p:cNvPr id="10" name="Text 8"/>
          <p:cNvSpPr txBox="1"/>
          <p:nvPr/>
        </p:nvSpPr>
        <p:spPr>
          <a:xfrm>
            <a:off x="4535424" y="2468880"/>
            <a:ext cx="3108960" cy="457200"/>
          </a:xfrm>
          <a:prstGeom prst="rect">
            <a:avLst/>
          </a:prstGeom>
          <a:noFill/>
          <a:ln/>
        </p:spPr>
        <p:txBody>
          <a:bodyPr wrap="square" lIns="0" tIns="0" rIns="0" bIns="0" rtlCol="0" anchor="ctr"/>
          <a:lstStyle/>
          <a:p>
            <a:pPr indent="0" marL="0">
              <a:buNone/>
            </a:pPr>
            <a:r>
              <a:rPr lang="en-US" sz="1150" i="1" dirty="0">
                <a:solidFill>
                  <a:srgbClr val="1C7293"/>
                </a:solidFill>
                <a:latin typeface="Calibri" pitchFamily="34" charset="0"/>
                <a:ea typeface="Calibri" pitchFamily="34" charset="-122"/>
                <a:cs typeface="Calibri" pitchFamily="34" charset="-120"/>
              </a:rPr>
              <a:t>No patient on both sides</a:t>
            </a:r>
            <a:endParaRPr lang="en-US" sz="1150" dirty="0"/>
          </a:p>
        </p:txBody>
      </p:sp>
      <p:sp>
        <p:nvSpPr>
          <p:cNvPr id="11" name="Text 9"/>
          <p:cNvSpPr txBox="1"/>
          <p:nvPr/>
        </p:nvSpPr>
        <p:spPr>
          <a:xfrm>
            <a:off x="4535424" y="2944368"/>
            <a:ext cx="3108960" cy="105156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The model must now generalise across people, not memorise them.</a:t>
            </a:r>
            <a:endParaRPr lang="en-US" sz="1150" dirty="0"/>
          </a:p>
        </p:txBody>
      </p:sp>
      <p:sp>
        <p:nvSpPr>
          <p:cNvPr id="12" name="Shape 10"/>
          <p:cNvSpPr/>
          <p:nvPr/>
        </p:nvSpPr>
        <p:spPr>
          <a:xfrm>
            <a:off x="8083296" y="1965960"/>
            <a:ext cx="3520440" cy="2194560"/>
          </a:xfrm>
          <a:prstGeom prst="roundRect">
            <a:avLst>
              <a:gd name="adj" fmla="val 2500"/>
            </a:avLst>
          </a:prstGeom>
          <a:solidFill>
            <a:srgbClr val="0B2F3A"/>
          </a:solidFill>
          <a:ln w="12700">
            <a:solidFill>
              <a:srgbClr val="0B2F3A"/>
            </a:solidFill>
            <a:prstDash val="solid"/>
          </a:ln>
        </p:spPr>
      </p:sp>
      <p:sp>
        <p:nvSpPr>
          <p:cNvPr id="13" name="Text 11"/>
          <p:cNvSpPr txBox="1"/>
          <p:nvPr/>
        </p:nvSpPr>
        <p:spPr>
          <a:xfrm>
            <a:off x="8302752" y="2130552"/>
            <a:ext cx="3108960" cy="301752"/>
          </a:xfrm>
          <a:prstGeom prst="rect">
            <a:avLst/>
          </a:prstGeom>
          <a:noFill/>
          <a:ln/>
        </p:spPr>
        <p:txBody>
          <a:bodyPr wrap="square" lIns="0" tIns="0" rIns="0" bIns="0" rtlCol="0" anchor="ctr"/>
          <a:lstStyle/>
          <a:p>
            <a:pPr indent="0" marL="0">
              <a:buNone/>
            </a:pPr>
            <a:r>
              <a:rPr lang="en-US" sz="1400" b="1" dirty="0">
                <a:solidFill>
                  <a:srgbClr val="00C2A8"/>
                </a:solidFill>
                <a:latin typeface="Calibri" pitchFamily="34" charset="0"/>
                <a:ea typeface="Calibri" pitchFamily="34" charset="-122"/>
                <a:cs typeface="Calibri" pitchFamily="34" charset="-120"/>
              </a:rPr>
              <a:t>3. Leave-one-subject-out</a:t>
            </a:r>
            <a:endParaRPr lang="en-US" sz="1400" dirty="0"/>
          </a:p>
        </p:txBody>
      </p:sp>
      <p:sp>
        <p:nvSpPr>
          <p:cNvPr id="14" name="Text 12"/>
          <p:cNvSpPr txBox="1"/>
          <p:nvPr/>
        </p:nvSpPr>
        <p:spPr>
          <a:xfrm>
            <a:off x="8302752" y="2468880"/>
            <a:ext cx="3108960" cy="457200"/>
          </a:xfrm>
          <a:prstGeom prst="rect">
            <a:avLst/>
          </a:prstGeom>
          <a:noFill/>
          <a:ln/>
        </p:spPr>
        <p:txBody>
          <a:bodyPr wrap="square" lIns="0" tIns="0" rIns="0" bIns="0" rtlCol="0" anchor="ctr"/>
          <a:lstStyle/>
          <a:p>
            <a:pPr indent="0" marL="0">
              <a:buNone/>
            </a:pPr>
            <a:r>
              <a:rPr lang="en-US" sz="1150" i="1" dirty="0">
                <a:solidFill>
                  <a:srgbClr val="FFFFFF"/>
                </a:solidFill>
                <a:latin typeface="Calibri" pitchFamily="34" charset="0"/>
                <a:ea typeface="Calibri" pitchFamily="34" charset="-122"/>
                <a:cs typeface="Calibri" pitchFamily="34" charset="-120"/>
              </a:rPr>
              <a:t>Train on 9, test on the 10th</a:t>
            </a:r>
            <a:endParaRPr lang="en-US" sz="1150" dirty="0"/>
          </a:p>
        </p:txBody>
      </p:sp>
      <p:sp>
        <p:nvSpPr>
          <p:cNvPr id="15" name="Text 13"/>
          <p:cNvSpPr txBox="1"/>
          <p:nvPr/>
        </p:nvSpPr>
        <p:spPr>
          <a:xfrm>
            <a:off x="8302752" y="2944368"/>
            <a:ext cx="3108960" cy="1051560"/>
          </a:xfrm>
          <a:prstGeom prst="rect">
            <a:avLst/>
          </a:prstGeom>
          <a:noFill/>
          <a:ln/>
        </p:spPr>
        <p:txBody>
          <a:bodyPr wrap="square" lIns="0" tIns="0" rIns="0" bIns="0" rtlCol="0" anchor="ctr"/>
          <a:lstStyle/>
          <a:p>
            <a:pPr indent="0" marL="0">
              <a:buNone/>
            </a:pPr>
            <a:r>
              <a:rPr lang="en-US" sz="1150" dirty="0">
                <a:solidFill>
                  <a:srgbClr val="D6E6EA"/>
                </a:solidFill>
                <a:latin typeface="Calibri" pitchFamily="34" charset="0"/>
                <a:ea typeface="Calibri" pitchFamily="34" charset="-122"/>
                <a:cs typeface="Calibri" pitchFamily="34" charset="-120"/>
              </a:rPr>
              <a:t>The deployment case: a brand-new patient. (Not completed - we do not claim it.)</a:t>
            </a:r>
            <a:endParaRPr lang="en-US" sz="1150" dirty="0"/>
          </a:p>
        </p:txBody>
      </p:sp>
      <p:sp>
        <p:nvSpPr>
          <p:cNvPr id="16" name="Shape 14"/>
          <p:cNvSpPr/>
          <p:nvPr/>
        </p:nvSpPr>
        <p:spPr>
          <a:xfrm>
            <a:off x="548640" y="4434840"/>
            <a:ext cx="11094415" cy="1143000"/>
          </a:xfrm>
          <a:prstGeom prst="roundRect">
            <a:avLst>
              <a:gd name="adj" fmla="val 4000"/>
            </a:avLst>
          </a:prstGeom>
          <a:solidFill>
            <a:srgbClr val="FBEFEF"/>
          </a:solidFill>
          <a:ln w="12700">
            <a:solidFill>
              <a:srgbClr val="FBEFEF"/>
            </a:solidFill>
            <a:prstDash val="solid"/>
          </a:ln>
        </p:spPr>
      </p:sp>
      <p:sp>
        <p:nvSpPr>
          <p:cNvPr id="17" name="Text 15"/>
          <p:cNvSpPr txBox="1"/>
          <p:nvPr/>
        </p:nvSpPr>
        <p:spPr>
          <a:xfrm>
            <a:off x="822960" y="4636008"/>
            <a:ext cx="10545775" cy="777240"/>
          </a:xfrm>
          <a:prstGeom prst="rect">
            <a:avLst/>
          </a:prstGeom>
          <a:noFill/>
          <a:ln/>
        </p:spPr>
        <p:txBody>
          <a:bodyPr wrap="square" lIns="0" tIns="0" rIns="0" bIns="0" rtlCol="0" anchor="ctr"/>
          <a:lstStyle/>
          <a:p>
            <a:pPr indent="0" marL="0">
              <a:buNone/>
            </a:pPr>
            <a:r>
              <a:rPr lang="en-US" sz="1350" dirty="0">
                <a:solidFill>
                  <a:srgbClr val="0B2F3A"/>
                </a:solidFill>
                <a:latin typeface="Calibri" pitchFamily="34" charset="0"/>
                <a:ea typeface="Calibri" pitchFamily="34" charset="-122"/>
                <a:cs typeface="Calibri" pitchFamily="34" charset="-120"/>
              </a:rPr>
              <a:t>A 2026 study re-tested five published PPG-glucose methods this way. The best scored R-squared 0.60 under random splitting and -0.08 under participant-aware splitting - no better than guessing the mean.</a:t>
            </a:r>
            <a:endParaRPr lang="en-US" sz="1350" dirty="0"/>
          </a:p>
        </p:txBody>
      </p:sp>
      <p:sp>
        <p:nvSpPr>
          <p:cNvPr id="18" name="Text 16"/>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Reassessing the Feasibility of PPG-Based Non-Invasive Blood Glucose Level Estimation, arXiv:2608.01820 (2026).</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Our result: the same model, the same data, collapses from R2 +0.15 to -0.22</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926080"/>
                <a:gridCol w="2011680"/>
                <a:gridCol w="2011680"/>
              </a:tblGrid>
              <a:tr h="329184">
                <a:tc>
                  <a:txBody>
                    <a:bodyPr/>
                    <a:lstStyle/>
                    <a:p>
                      <a:pPr algn="l" indent="0" marL="0">
                        <a:buNone/>
                      </a:pP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Random split</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Subject-aware split</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29184">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Best single model (R2)</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+0.194</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-0.243</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Choquet fusion (R2)</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+0.149</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-0.223</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29184">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No-skill baseline (R2)</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-0.000</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-0.074</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Choquet RMSE (mmol/L)</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2.324</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2.786</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29184">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Baseline RMSE (mmol/L)</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2.520</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B2F3A"/>
                          </a:solidFill>
                          <a:latin typeface="Calibri" pitchFamily="34" charset="0"/>
                          <a:ea typeface="Calibri" pitchFamily="34" charset="-122"/>
                          <a:cs typeface="Calibri" pitchFamily="34" charset="-120"/>
                        </a:rPr>
                        <a:t>2.610</a:t>
                      </a:r>
                      <a:endParaRPr lang="en-US" sz="12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4" name="Shape 1"/>
          <p:cNvSpPr/>
          <p:nvPr/>
        </p:nvSpPr>
        <p:spPr>
          <a:xfrm>
            <a:off x="7635240" y="1463040"/>
            <a:ext cx="4069080" cy="1371600"/>
          </a:xfrm>
          <a:prstGeom prst="roundRect">
            <a:avLst>
              <a:gd name="adj" fmla="val 4000"/>
            </a:avLst>
          </a:prstGeom>
          <a:solidFill>
            <a:srgbClr val="EAF2F4"/>
          </a:solidFill>
          <a:ln w="12700">
            <a:solidFill>
              <a:srgbClr val="EAF2F4"/>
            </a:solidFill>
            <a:prstDash val="solid"/>
          </a:ln>
        </p:spPr>
      </p:sp>
      <p:sp>
        <p:nvSpPr>
          <p:cNvPr id="5" name="Text 2"/>
          <p:cNvSpPr txBox="1"/>
          <p:nvPr/>
        </p:nvSpPr>
        <p:spPr>
          <a:xfrm>
            <a:off x="7836408" y="1609344"/>
            <a:ext cx="366674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Read the R2 column first</a:t>
            </a:r>
            <a:endParaRPr lang="en-US" sz="1300" dirty="0"/>
          </a:p>
        </p:txBody>
      </p:sp>
      <p:sp>
        <p:nvSpPr>
          <p:cNvPr id="6" name="Text 3"/>
          <p:cNvSpPr txBox="1"/>
          <p:nvPr/>
        </p:nvSpPr>
        <p:spPr>
          <a:xfrm>
            <a:off x="7836408" y="1993392"/>
            <a:ext cx="3666744" cy="68580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It is the one metric that exposes a model doing no better than predicting the average. Negative means worse than guessing.</a:t>
            </a:r>
            <a:endParaRPr lang="en-US" sz="1200" dirty="0"/>
          </a:p>
        </p:txBody>
      </p:sp>
      <p:sp>
        <p:nvSpPr>
          <p:cNvPr id="7" name="Shape 4"/>
          <p:cNvSpPr/>
          <p:nvPr/>
        </p:nvSpPr>
        <p:spPr>
          <a:xfrm>
            <a:off x="7635240" y="2971800"/>
            <a:ext cx="4069080" cy="1417320"/>
          </a:xfrm>
          <a:prstGeom prst="roundRect">
            <a:avLst>
              <a:gd name="adj" fmla="val 3871"/>
            </a:avLst>
          </a:prstGeom>
          <a:solidFill>
            <a:srgbClr val="FBEFEF"/>
          </a:solidFill>
          <a:ln w="12700">
            <a:solidFill>
              <a:srgbClr val="FBEFEF"/>
            </a:solidFill>
            <a:prstDash val="solid"/>
          </a:ln>
        </p:spPr>
      </p:sp>
      <p:sp>
        <p:nvSpPr>
          <p:cNvPr id="8" name="Text 5"/>
          <p:cNvSpPr txBox="1"/>
          <p:nvPr/>
        </p:nvSpPr>
        <p:spPr>
          <a:xfrm>
            <a:off x="7863840" y="3127248"/>
            <a:ext cx="3611880" cy="274320"/>
          </a:xfrm>
          <a:prstGeom prst="rect">
            <a:avLst/>
          </a:prstGeom>
          <a:noFill/>
          <a:ln/>
        </p:spPr>
        <p:txBody>
          <a:bodyPr wrap="square" lIns="0" tIns="0" rIns="0" bIns="0"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Under the honest split</a:t>
            </a:r>
            <a:endParaRPr lang="en-US" sz="1300" dirty="0"/>
          </a:p>
        </p:txBody>
      </p:sp>
      <p:sp>
        <p:nvSpPr>
          <p:cNvPr id="9" name="Text 6"/>
          <p:cNvSpPr txBox="1"/>
          <p:nvPr/>
        </p:nvSpPr>
        <p:spPr>
          <a:xfrm>
            <a:off x="7863840" y="3438144"/>
            <a:ext cx="3611880" cy="822960"/>
          </a:xfrm>
          <a:prstGeom prst="rect">
            <a:avLst/>
          </a:prstGeom>
          <a:noFill/>
          <a:ln/>
        </p:spPr>
        <p:txBody>
          <a:bodyPr wrap="square" lIns="0" tIns="0" rIns="0" bIns="0" rtlCol="0" anchor="ctr"/>
          <a:lstStyle/>
          <a:p>
            <a:pPr indent="0" marL="0">
              <a:buNone/>
            </a:pPr>
            <a:r>
              <a:rPr lang="en-US" sz="1250" dirty="0">
                <a:solidFill>
                  <a:srgbClr val="0B2F3A"/>
                </a:solidFill>
                <a:latin typeface="Calibri" pitchFamily="34" charset="0"/>
                <a:ea typeface="Calibri" pitchFamily="34" charset="-122"/>
                <a:cs typeface="Calibri" pitchFamily="34" charset="-120"/>
              </a:rPr>
              <a:t>every model - including the fusion - is WORSE than simply guessing that patient's average glucose.</a:t>
            </a:r>
            <a:endParaRPr lang="en-US" sz="1250" dirty="0"/>
          </a:p>
        </p:txBody>
      </p:sp>
      <p:sp>
        <p:nvSpPr>
          <p:cNvPr id="10" name="Shape 7"/>
          <p:cNvSpPr/>
          <p:nvPr/>
        </p:nvSpPr>
        <p:spPr>
          <a:xfrm>
            <a:off x="548640" y="3886200"/>
            <a:ext cx="6949440" cy="1691640"/>
          </a:xfrm>
          <a:prstGeom prst="roundRect">
            <a:avLst>
              <a:gd name="adj" fmla="val 3243"/>
            </a:avLst>
          </a:prstGeom>
          <a:solidFill>
            <a:srgbClr val="0B2F3A"/>
          </a:solidFill>
          <a:ln w="12700">
            <a:solidFill>
              <a:srgbClr val="0B2F3A"/>
            </a:solidFill>
            <a:prstDash val="solid"/>
          </a:ln>
        </p:spPr>
      </p:sp>
      <p:sp>
        <p:nvSpPr>
          <p:cNvPr id="11" name="Text 8"/>
          <p:cNvSpPr txBox="1"/>
          <p:nvPr/>
        </p:nvSpPr>
        <p:spPr>
          <a:xfrm>
            <a:off x="822960" y="4114800"/>
            <a:ext cx="640080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Same data. Same model. Same code.</a:t>
            </a:r>
            <a:endParaRPr lang="en-US" sz="2200" dirty="0"/>
          </a:p>
          <a:p>
            <a:pPr indent="0" marL="0">
              <a:buNone/>
            </a:pPr>
            <a:r>
              <a:rPr lang="en-US" sz="2200" b="1" dirty="0">
                <a:solidFill>
                  <a:srgbClr val="FFFFFF"/>
                </a:solidFill>
                <a:latin typeface="Cambria" pitchFamily="34" charset="0"/>
                <a:ea typeface="Cambria" pitchFamily="34" charset="-122"/>
                <a:cs typeface="Cambria" pitchFamily="34" charset="-120"/>
              </a:rPr>
              <a:t>Only the split changed.</a:t>
            </a:r>
            <a:endParaRPr lang="en-US" sz="2200" dirty="0"/>
          </a:p>
        </p:txBody>
      </p:sp>
      <p:sp>
        <p:nvSpPr>
          <p:cNvPr id="12" name="Text 9"/>
          <p:cNvSpPr txBox="1"/>
          <p:nvPr/>
        </p:nvSpPr>
        <p:spPr>
          <a:xfrm>
            <a:off x="822960" y="4892040"/>
            <a:ext cx="6400800" cy="548640"/>
          </a:xfrm>
          <a:prstGeom prst="rect">
            <a:avLst/>
          </a:prstGeom>
          <a:noFill/>
          <a:ln/>
        </p:spPr>
        <p:txBody>
          <a:bodyPr wrap="square" lIns="0" tIns="0" rIns="0" bIns="0" rtlCol="0" anchor="ctr"/>
          <a:lstStyle/>
          <a:p>
            <a:pPr indent="0" marL="0">
              <a:buNone/>
            </a:pPr>
            <a:r>
              <a:rPr lang="en-US" sz="1250" dirty="0">
                <a:solidFill>
                  <a:srgbClr val="D6E6EA"/>
                </a:solidFill>
                <a:latin typeface="Calibri" pitchFamily="34" charset="0"/>
                <a:ea typeface="Calibri" pitchFamily="34" charset="-122"/>
                <a:cs typeface="Calibri" pitchFamily="34" charset="-120"/>
              </a:rPr>
              <a:t>This independently replicates the 2026 finding above - on a different signal (ECG), a different dataset, and a different model class (fuzzy-integral fusion, not CNNs).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What the failure looks like: predictions form a flat band, whatever the truth</a:t>
            </a:r>
            <a:endParaRPr lang="en-US" sz="2700" dirty="0"/>
          </a:p>
        </p:txBody>
      </p:sp>
      <p:pic>
        <p:nvPicPr>
          <p:cNvPr id="3" name="Image 0" descr="figures/results/fig10_parkes_subject_aware.png">    </p:cNvPr>
          <p:cNvPicPr>
            <a:picLocks noChangeAspect="1"/>
          </p:cNvPicPr>
          <p:nvPr/>
        </p:nvPicPr>
        <p:blipFill>
          <a:blip r:embed="rId1"/>
          <a:stretch>
            <a:fillRect/>
          </a:stretch>
        </p:blipFill>
        <p:spPr>
          <a:xfrm>
            <a:off x="548640" y="1234440"/>
            <a:ext cx="4434840" cy="4434840"/>
          </a:xfrm>
          <a:prstGeom prst="rect">
            <a:avLst/>
          </a:prstGeom>
        </p:spPr>
      </p:pic>
      <p:sp>
        <p:nvSpPr>
          <p:cNvPr id="4" name="Text 1"/>
          <p:cNvSpPr txBox="1"/>
          <p:nvPr/>
        </p:nvSpPr>
        <p:spPr>
          <a:xfrm>
            <a:off x="5349240" y="1371600"/>
            <a:ext cx="6355080" cy="3657600"/>
          </a:xfrm>
          <a:prstGeom prst="rect">
            <a:avLst/>
          </a:prstGeom>
          <a:noFill/>
          <a:ln/>
        </p:spPr>
        <p:txBody>
          <a:bodyPr wrap="square" rtlCol="0" anchor="t"/>
          <a:lstStyle/>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This is the paper's Fig. 10 - the Parkes error grid - drawn on our subject-aware predictions.</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The horizontal axis is the true glucose; the vertical axis is what the model predicted.</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A good model would produce a diagonal cloud along the dotted line.</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Ours is a HORIZONTAL band: whether the patient was at 4 or at 20 mmol/L, the model predicts roughly 6-9.</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That is what 'no better than predicting the average' looks like - and it is invisible in the zone percentages, because a flat band still lands inside zones A and B.</a:t>
            </a:r>
            <a:endParaRPr lang="en-US" sz="1400" dirty="0"/>
          </a:p>
        </p:txBody>
      </p:sp>
      <p:sp>
        <p:nvSpPr>
          <p:cNvPr id="5" name="Text 2"/>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30,830 predictions, Choquet fusion, subject-aware split.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2: the clinical metric everyone reports cannot tell the difference</a:t>
            </a:r>
            <a:endParaRPr lang="en-US" sz="2700" dirty="0"/>
          </a:p>
        </p:txBody>
      </p:sp>
      <p:sp>
        <p:nvSpPr>
          <p:cNvPr id="3" name="Text 1"/>
          <p:cNvSpPr txBox="1"/>
          <p:nvPr/>
        </p:nvSpPr>
        <p:spPr>
          <a:xfrm>
            <a:off x="548640" y="1298448"/>
            <a:ext cx="11094415" cy="548640"/>
          </a:xfrm>
          <a:prstGeom prst="rect">
            <a:avLst/>
          </a:prstGeom>
          <a:noFill/>
          <a:ln/>
        </p:spPr>
        <p:txBody>
          <a:bodyPr wrap="square" rtlCol="0" anchor="ctr"/>
          <a:lstStyle/>
          <a:p>
            <a:pPr indent="0" marL="0">
              <a:buNone/>
            </a:pPr>
            <a:r>
              <a:rPr lang="en-US" sz="1500" dirty="0">
                <a:solidFill>
                  <a:srgbClr val="0B2F3A"/>
                </a:solidFill>
                <a:latin typeface="Calibri" pitchFamily="34" charset="0"/>
                <a:ea typeface="Calibri" pitchFamily="34" charset="-122"/>
                <a:cs typeface="Calibri" pitchFamily="34" charset="-120"/>
              </a:rPr>
              <a:t>The Parkes error grid scores predictions by whether acting on them would harm the patient. Zone A+B is the headline clinical number in this field. Under the subject-aware split: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6766560" cy="914400"/>
        </p:xfrm>
        <a:graphic>
          <a:graphicData uri="http://schemas.openxmlformats.org/drawingml/2006/table">
            <a:tbl>
              <a:tblPr/>
              <a:tblGrid>
                <a:gridCol w="2377440"/>
                <a:gridCol w="1463040"/>
                <a:gridCol w="1463040"/>
                <a:gridCol w="1463040"/>
              </a:tblGrid>
              <a:tr h="32918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Zone A</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Zone A+B</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Choquet fusion</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-0.223</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41.9%</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89.4%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-0.249</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88.2%</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Gradient Boosting</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-0.243</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88.5%</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No-skill baseline</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-0.074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43.7%</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90.0%</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bl>
          </a:graphicData>
        </a:graphic>
      </p:graphicFrame>
      <p:sp>
        <p:nvSpPr>
          <p:cNvPr id="5" name="Shape 2"/>
          <p:cNvSpPr/>
          <p:nvPr/>
        </p:nvSpPr>
        <p:spPr>
          <a:xfrm>
            <a:off x="7452360" y="1965960"/>
            <a:ext cx="4251960" cy="1920240"/>
          </a:xfrm>
          <a:prstGeom prst="roundRect">
            <a:avLst>
              <a:gd name="adj" fmla="val 2857"/>
            </a:avLst>
          </a:prstGeom>
          <a:solidFill>
            <a:srgbClr val="FBEFEF"/>
          </a:solidFill>
          <a:ln w="12700">
            <a:solidFill>
              <a:srgbClr val="FBEFEF"/>
            </a:solidFill>
            <a:prstDash val="solid"/>
          </a:ln>
        </p:spPr>
      </p:sp>
      <p:sp>
        <p:nvSpPr>
          <p:cNvPr id="6" name="Text 3"/>
          <p:cNvSpPr txBox="1"/>
          <p:nvPr/>
        </p:nvSpPr>
        <p:spPr>
          <a:xfrm>
            <a:off x="7680960" y="2130552"/>
            <a:ext cx="3794760" cy="274320"/>
          </a:xfrm>
          <a:prstGeom prst="rect">
            <a:avLst/>
          </a:prstGeom>
          <a:noFill/>
          <a:ln/>
        </p:spPr>
        <p:txBody>
          <a:bodyPr wrap="square" lIns="0" tIns="0" rIns="0" bIns="0"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The baseline wins on BOTH</a:t>
            </a:r>
            <a:endParaRPr lang="en-US" sz="1300" dirty="0"/>
          </a:p>
        </p:txBody>
      </p:sp>
      <p:sp>
        <p:nvSpPr>
          <p:cNvPr id="7" name="Text 4"/>
          <p:cNvSpPr txBox="1"/>
          <p:nvPr/>
        </p:nvSpPr>
        <p:spPr>
          <a:xfrm>
            <a:off x="7680960" y="2441448"/>
            <a:ext cx="3794760" cy="1325880"/>
          </a:xfrm>
          <a:prstGeom prst="rect">
            <a:avLst/>
          </a:prstGeom>
          <a:noFill/>
          <a:ln/>
        </p:spPr>
        <p:txBody>
          <a:bodyPr wrap="square" lIns="0" tIns="0" rIns="0" bIns="0" rtlCol="0" anchor="ctr"/>
          <a:lstStyle/>
          <a:p>
            <a:pPr indent="0" marL="0">
              <a:buNone/>
            </a:pPr>
            <a:r>
              <a:rPr lang="en-US" sz="1200" dirty="0">
                <a:solidFill>
                  <a:srgbClr val="0B2F3A"/>
                </a:solidFill>
                <a:latin typeface="Calibri" pitchFamily="34" charset="0"/>
                <a:ea typeface="Calibri" pitchFamily="34" charset="-122"/>
                <a:cs typeface="Calibri" pitchFamily="34" charset="-120"/>
              </a:rPr>
              <a:t>A constant predictor - which explains zero variance by construction - has the best R-squared AND the best clinical score.</a:t>
            </a:r>
            <a:endParaRPr lang="en-US" sz="1200" dirty="0"/>
          </a:p>
          <a:p>
            <a:pPr indent="0" marL="0">
              <a:buNone/>
            </a:pPr>
            <a:endParaRPr lang="en-US" sz="1200" dirty="0"/>
          </a:p>
          <a:p>
            <a:pPr indent="0" marL="0">
              <a:buNone/>
            </a:pPr>
            <a:r>
              <a:rPr lang="en-US" sz="1200" dirty="0">
                <a:solidFill>
                  <a:srgbClr val="0B2F3A"/>
                </a:solidFill>
                <a:latin typeface="Calibri" pitchFamily="34" charset="0"/>
                <a:ea typeface="Calibri" pitchFamily="34" charset="-122"/>
                <a:cs typeface="Calibri" pitchFamily="34" charset="-120"/>
              </a:rPr>
              <a:t>Shown only the Parkes column, a reader sees 88-90% across the board and concludes the method works.</a:t>
            </a:r>
            <a:endParaRPr lang="en-US" sz="1200" dirty="0"/>
          </a:p>
        </p:txBody>
      </p:sp>
      <p:sp>
        <p:nvSpPr>
          <p:cNvPr id="8" name="Shape 5"/>
          <p:cNvSpPr/>
          <p:nvPr/>
        </p:nvSpPr>
        <p:spPr>
          <a:xfrm>
            <a:off x="548640" y="4160520"/>
            <a:ext cx="11094415" cy="1325880"/>
          </a:xfrm>
          <a:prstGeom prst="roundRect">
            <a:avLst>
              <a:gd name="adj" fmla="val 4138"/>
            </a:avLst>
          </a:prstGeom>
          <a:solidFill>
            <a:srgbClr val="0B2F3A"/>
          </a:solidFill>
          <a:ln w="12700">
            <a:solidFill>
              <a:srgbClr val="0B2F3A"/>
            </a:solidFill>
            <a:prstDash val="solid"/>
          </a:ln>
        </p:spPr>
      </p:sp>
      <p:sp>
        <p:nvSpPr>
          <p:cNvPr id="9" name="Text 6"/>
          <p:cNvSpPr txBox="1"/>
          <p:nvPr/>
        </p:nvSpPr>
        <p:spPr>
          <a:xfrm>
            <a:off x="822960" y="4334256"/>
            <a:ext cx="7315200" cy="274320"/>
          </a:xfrm>
          <a:prstGeom prst="rect">
            <a:avLst/>
          </a:prstGeom>
          <a:noFill/>
          <a:ln/>
        </p:spPr>
        <p:txBody>
          <a:bodyPr wrap="square" lIns="0" tIns="0" rIns="0" bIns="0" rtlCol="0" anchor="ctr"/>
          <a:lstStyle/>
          <a:p>
            <a:pPr indent="0" marL="0">
              <a:buNone/>
            </a:pPr>
            <a:r>
              <a:rPr lang="en-US" sz="1300" b="1" dirty="0">
                <a:solidFill>
                  <a:srgbClr val="00C2A8"/>
                </a:solidFill>
                <a:latin typeface="Calibri" pitchFamily="34" charset="0"/>
                <a:ea typeface="Calibri" pitchFamily="34" charset="-122"/>
                <a:cs typeface="Calibri" pitchFamily="34" charset="-120"/>
              </a:rPr>
              <a:t>Why this happens, and what to do about it</a:t>
            </a:r>
            <a:endParaRPr lang="en-US" sz="1300" dirty="0"/>
          </a:p>
        </p:txBody>
      </p:sp>
      <p:sp>
        <p:nvSpPr>
          <p:cNvPr id="10" name="Text 7"/>
          <p:cNvSpPr txBox="1"/>
          <p:nvPr/>
        </p:nvSpPr>
        <p:spPr>
          <a:xfrm>
            <a:off x="822960" y="4645152"/>
            <a:ext cx="10545775" cy="7315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Most glucose readings sit in a narrow band around normal, so predicting a constant already lands the large majority of points in the acceptable zones. Zone metrics cannot certify a model on their own - they must be reported next to a baseline computed on the same folds.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The same seven models, two metrics, opposite verdicts</a:t>
            </a:r>
            <a:endParaRPr lang="en-US" sz="2700" dirty="0"/>
          </a:p>
        </p:txBody>
      </p:sp>
      <p:pic>
        <p:nvPicPr>
          <p:cNvPr id="3" name="Image 0" descr="figures/results/fig_zone_vs_r2.png">    </p:cNvPr>
          <p:cNvPicPr>
            <a:picLocks noChangeAspect="1"/>
          </p:cNvPicPr>
          <p:nvPr/>
        </p:nvPicPr>
        <p:blipFill>
          <a:blip r:embed="rId1"/>
          <a:stretch>
            <a:fillRect/>
          </a:stretch>
        </p:blipFill>
        <p:spPr>
          <a:xfrm>
            <a:off x="548640" y="1325880"/>
            <a:ext cx="11064240" cy="3566160"/>
          </a:xfrm>
          <a:prstGeom prst="rect">
            <a:avLst/>
          </a:prstGeom>
        </p:spPr>
      </p:pic>
      <p:sp>
        <p:nvSpPr>
          <p:cNvPr id="4" name="Shape 1"/>
          <p:cNvSpPr/>
          <p:nvPr/>
        </p:nvSpPr>
        <p:spPr>
          <a:xfrm>
            <a:off x="548640" y="5074920"/>
            <a:ext cx="11094415" cy="1051560"/>
          </a:xfrm>
          <a:prstGeom prst="roundRect">
            <a:avLst>
              <a:gd name="adj" fmla="val 4348"/>
            </a:avLst>
          </a:prstGeom>
          <a:solidFill>
            <a:srgbClr val="0B2F3A"/>
          </a:solidFill>
          <a:ln w="12700">
            <a:solidFill>
              <a:srgbClr val="0B2F3A"/>
            </a:solidFill>
            <a:prstDash val="solid"/>
          </a:ln>
        </p:spPr>
      </p:sp>
      <p:sp>
        <p:nvSpPr>
          <p:cNvPr id="5" name="Text 2"/>
          <p:cNvSpPr txBox="1"/>
          <p:nvPr/>
        </p:nvSpPr>
        <p:spPr>
          <a:xfrm>
            <a:off x="822960" y="5257800"/>
            <a:ext cx="10545775" cy="7315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red bar is a model that predicts a CONSTANT. On the left it has the LONGEST bar - the best clinical score of anything tested. On the right it has the SHORTEST - because it is the least-bad R-squared. One metric says it is the winner; the other says nothing here works.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3: the fusion had degenerated into a minimum operator</a:t>
            </a:r>
            <a:endParaRPr lang="en-US" sz="2700" dirty="0"/>
          </a:p>
        </p:txBody>
      </p:sp>
      <p:sp>
        <p:nvSpPr>
          <p:cNvPr id="3" name="Text 1"/>
          <p:cNvSpPr txBox="1"/>
          <p:nvPr/>
        </p:nvSpPr>
        <p:spPr>
          <a:xfrm>
            <a:off x="548640" y="1280160"/>
            <a:ext cx="11094415" cy="548640"/>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If every model gets the SAME density, the fuzzy measure becomes symmetric - it depends only on how many models are in a group, never which ones. The Choquet integral then reduces to a fixed function of the sorted predictions:</a:t>
            </a:r>
            <a:endParaRPr lang="en-US" sz="1400" dirty="0"/>
          </a:p>
        </p:txBody>
      </p:sp>
      <p:sp>
        <p:nvSpPr>
          <p:cNvPr id="4" name="Shape 2"/>
          <p:cNvSpPr/>
          <p:nvPr/>
        </p:nvSpPr>
        <p:spPr>
          <a:xfrm>
            <a:off x="548640" y="1874520"/>
            <a:ext cx="5852160" cy="1737360"/>
          </a:xfrm>
          <a:prstGeom prst="roundRect">
            <a:avLst>
              <a:gd name="adj" fmla="val 2632"/>
            </a:avLst>
          </a:prstGeom>
          <a:solidFill>
            <a:srgbClr val="0B2F3A"/>
          </a:solidFill>
          <a:ln w="12700">
            <a:solidFill>
              <a:srgbClr val="0B2F3A"/>
            </a:solidFill>
            <a:prstDash val="solid"/>
          </a:ln>
        </p:spPr>
      </p:sp>
      <p:sp>
        <p:nvSpPr>
          <p:cNvPr id="5" name="Text 3"/>
          <p:cNvSpPr txBox="1"/>
          <p:nvPr/>
        </p:nvSpPr>
        <p:spPr>
          <a:xfrm>
            <a:off x="777240" y="2020824"/>
            <a:ext cx="5394960" cy="1444752"/>
          </a:xfrm>
          <a:prstGeom prst="rect">
            <a:avLst/>
          </a:prstGeom>
          <a:noFill/>
          <a:ln/>
        </p:spPr>
        <p:txBody>
          <a:bodyPr wrap="square" lIns="0" tIns="0" rIns="0" bIns="0" rtlCol="0" anchor="t"/>
          <a:lstStyle/>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w_j = g * beta^(j-1),   beta = 1 + lambda*g</a:t>
            </a:r>
            <a:endParaRPr lang="en-US" sz="1200" dirty="0"/>
          </a:p>
          <a:p>
            <a:pPr indent="0" marL="0">
              <a:lnSpc>
                <a:spcPct val="130000"/>
              </a:lnSpc>
              <a:buNone/>
            </a:pPr>
            <a:endParaRPr lang="en-US" sz="1200" dirty="0"/>
          </a:p>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j = 1 is the LARGEST prediction</a:t>
            </a:r>
            <a:endParaRPr lang="en-US" sz="1200" dirty="0"/>
          </a:p>
          <a:p>
            <a:pPr indent="0" marL="0">
              <a:lnSpc>
                <a:spcPct val="130000"/>
              </a:lnSpc>
              <a:buNone/>
            </a:pPr>
            <a:endParaRPr lang="en-US" sz="1200" dirty="0"/>
          </a:p>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sum(g) &lt; 1  =&gt;  lambda &gt; 0  =&gt;  beta &gt; 1</a:t>
            </a:r>
            <a:endParaRPr lang="en-US" sz="1200" dirty="0"/>
          </a:p>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so weight GROWS toward the smallest.</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37960" y="1874520"/>
          <a:ext cx="5074920" cy="914400"/>
        </p:xfrm>
        <a:graphic>
          <a:graphicData uri="http://schemas.openxmlformats.org/drawingml/2006/table">
            <a:tbl>
              <a:tblPr/>
              <a:tblGrid>
                <a:gridCol w="685800"/>
                <a:gridCol w="1005840"/>
                <a:gridCol w="1005840"/>
                <a:gridCol w="1097280"/>
                <a:gridCol w="1280160"/>
              </a:tblGrid>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w(largest)</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w(middle)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w(smallest)</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becomes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292608">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0.010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0.010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0.095</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0.895</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minimum</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0.254</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0.646</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rank-weighted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92608">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arithmetic mean</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537960" y="3154680"/>
            <a:ext cx="5166360" cy="502920"/>
          </a:xfrm>
          <a:prstGeom prst="rect">
            <a:avLst/>
          </a:prstGeom>
          <a:noFill/>
          <a:ln/>
        </p:spPr>
        <p:txBody>
          <a:bodyPr wrap="square" rtlCol="0" anchor="ctr"/>
          <a:lstStyle/>
          <a:p>
            <a:pPr indent="0" marL="0">
              <a:buNone/>
            </a:pPr>
            <a:r>
              <a:rPr lang="en-US" sz="1250" dirty="0">
                <a:solidFill>
                  <a:srgbClr val="0B2F3A"/>
                </a:solidFill>
                <a:latin typeface="Calibri" pitchFamily="34" charset="0"/>
                <a:ea typeface="Calibri" pitchFamily="34" charset="-122"/>
                <a:cs typeface="Calibri" pitchFamily="34" charset="-120"/>
              </a:rPr>
              <a:t>In our runs the densities sat at the 0.01 floor. So we checked the output against min():</a:t>
            </a:r>
            <a:endParaRPr lang="en-US" sz="1250" dirty="0"/>
          </a:p>
        </p:txBody>
      </p:sp>
      <p:sp>
        <p:nvSpPr>
          <p:cNvPr id="8" name="Text 5"/>
          <p:cNvSpPr txBox="1"/>
          <p:nvPr/>
        </p:nvSpPr>
        <p:spPr>
          <a:xfrm>
            <a:off x="6537960" y="3657600"/>
            <a:ext cx="246888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0.998</a:t>
            </a:r>
            <a:endParaRPr lang="en-US" sz="4200" dirty="0"/>
          </a:p>
        </p:txBody>
      </p:sp>
      <p:sp>
        <p:nvSpPr>
          <p:cNvPr id="9" name="Text 6"/>
          <p:cNvSpPr txBox="1"/>
          <p:nvPr/>
        </p:nvSpPr>
        <p:spPr>
          <a:xfrm>
            <a:off x="6537960" y="4498848"/>
            <a:ext cx="246888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correlation with min()</a:t>
            </a:r>
            <a:endParaRPr lang="en-US" sz="1150" dirty="0"/>
          </a:p>
        </p:txBody>
      </p:sp>
      <p:sp>
        <p:nvSpPr>
          <p:cNvPr id="10" name="Text 7"/>
          <p:cNvSpPr txBox="1"/>
          <p:nvPr/>
        </p:nvSpPr>
        <p:spPr>
          <a:xfrm>
            <a:off x="9189720" y="3657600"/>
            <a:ext cx="246888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0.04</a:t>
            </a:r>
            <a:endParaRPr lang="en-US" sz="4200" dirty="0"/>
          </a:p>
        </p:txBody>
      </p:sp>
      <p:sp>
        <p:nvSpPr>
          <p:cNvPr id="11" name="Text 8"/>
          <p:cNvSpPr txBox="1"/>
          <p:nvPr/>
        </p:nvSpPr>
        <p:spPr>
          <a:xfrm>
            <a:off x="9189720" y="4498848"/>
            <a:ext cx="246888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mean gap to min()</a:t>
            </a:r>
            <a:endParaRPr lang="en-US" sz="1150" dirty="0"/>
          </a:p>
          <a:p>
            <a:pPr algn="ctr" indent="0" marL="0">
              <a:buNone/>
            </a:pPr>
            <a:r>
              <a:rPr lang="en-US" sz="1150" dirty="0">
                <a:solidFill>
                  <a:srgbClr val="5A6B72"/>
                </a:solidFill>
                <a:latin typeface="Calibri" pitchFamily="34" charset="0"/>
                <a:ea typeface="Calibri" pitchFamily="34" charset="-122"/>
                <a:cs typeface="Calibri" pitchFamily="34" charset="-120"/>
              </a:rPr>
              <a:t>(mmol/L)</a:t>
            </a:r>
            <a:endParaRPr lang="en-US" sz="1150" dirty="0"/>
          </a:p>
        </p:txBody>
      </p:sp>
      <p:sp>
        <p:nvSpPr>
          <p:cNvPr id="12" name="Shape 9"/>
          <p:cNvSpPr/>
          <p:nvPr/>
        </p:nvSpPr>
        <p:spPr>
          <a:xfrm>
            <a:off x="548640" y="4160520"/>
            <a:ext cx="5852160" cy="1417320"/>
          </a:xfrm>
          <a:prstGeom prst="roundRect">
            <a:avLst>
              <a:gd name="adj" fmla="val 3871"/>
            </a:avLst>
          </a:prstGeom>
          <a:solidFill>
            <a:srgbClr val="0B2F3A"/>
          </a:solidFill>
          <a:ln w="12700">
            <a:solidFill>
              <a:srgbClr val="0B2F3A"/>
            </a:solidFill>
            <a:prstDash val="solid"/>
          </a:ln>
        </p:spPr>
      </p:sp>
      <p:sp>
        <p:nvSpPr>
          <p:cNvPr id="13" name="Text 10"/>
          <p:cNvSpPr txBox="1"/>
          <p:nvPr/>
        </p:nvSpPr>
        <p:spPr>
          <a:xfrm>
            <a:off x="804672" y="4343400"/>
            <a:ext cx="5349240" cy="5486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published method's distinguishing component was returning min(m1, m2, m3).</a:t>
            </a:r>
            <a:endParaRPr lang="en-US" sz="1600" dirty="0"/>
          </a:p>
        </p:txBody>
      </p:sp>
      <p:sp>
        <p:nvSpPr>
          <p:cNvPr id="14" name="Text 11"/>
          <p:cNvSpPr txBox="1"/>
          <p:nvPr/>
        </p:nvSpPr>
        <p:spPr>
          <a:xfrm>
            <a:off x="804672" y="4892040"/>
            <a:ext cx="5349240" cy="594360"/>
          </a:xfrm>
          <a:prstGeom prst="rect">
            <a:avLst/>
          </a:prstGeom>
          <a:noFill/>
          <a:ln/>
        </p:spPr>
        <p:txBody>
          <a:bodyPr wrap="square" lIns="0" tIns="0" rIns="0" bIns="0" rtlCol="0" anchor="ctr"/>
          <a:lstStyle/>
          <a:p>
            <a:pPr indent="0" marL="0">
              <a:buNone/>
            </a:pPr>
            <a:r>
              <a:rPr lang="en-US" sz="1150" dirty="0">
                <a:solidFill>
                  <a:srgbClr val="D6E6EA"/>
                </a:solidFill>
                <a:latin typeface="Calibri" pitchFamily="34" charset="0"/>
                <a:ea typeface="Calibri" pitchFamily="34" charset="-122"/>
                <a:cs typeface="Calibri" pitchFamily="34" charset="-120"/>
              </a:rPr>
              <a:t>And it is not only a bug: under honest evaluation the models genuinely cannot generalise, so the densities floor legitimately - the fusion silently turns into min() exactly when you most need it to help.</a:t>
            </a:r>
            <a:endParaRPr lang="en-US" sz="1150" dirty="0"/>
          </a:p>
        </p:txBody>
      </p:sp>
      <p:sp>
        <p:nvSpPr>
          <p:cNvPr id="15" name="Text 12"/>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The symmetric-measure/OWA equivalence is standard theory (Grabisch; Marichal). New here: a saturating density estimator induces it by accident.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The derivation, so you can reproduce it on a board</a:t>
            </a:r>
            <a:endParaRPr lang="en-US" sz="2700" dirty="0"/>
          </a:p>
        </p:txBody>
      </p:sp>
      <p:sp>
        <p:nvSpPr>
          <p:cNvPr id="3" name="Text 1"/>
          <p:cNvSpPr txBox="1"/>
          <p:nvPr/>
        </p:nvSpPr>
        <p:spPr>
          <a:xfrm>
            <a:off x="548640" y="1280160"/>
            <a:ext cx="11094415" cy="320040"/>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With all densities equal to g, the Sugeno measure of a group depends only on its SIZE:</a:t>
            </a:r>
            <a:endParaRPr lang="en-US" sz="1400" dirty="0"/>
          </a:p>
        </p:txBody>
      </p:sp>
      <p:sp>
        <p:nvSpPr>
          <p:cNvPr id="4" name="Shape 2"/>
          <p:cNvSpPr/>
          <p:nvPr/>
        </p:nvSpPr>
        <p:spPr>
          <a:xfrm>
            <a:off x="548640" y="1691640"/>
            <a:ext cx="7223760" cy="3376295"/>
          </a:xfrm>
          <a:prstGeom prst="roundRect">
            <a:avLst>
              <a:gd name="adj" fmla="val 1354"/>
            </a:avLst>
          </a:prstGeom>
          <a:solidFill>
            <a:srgbClr val="0B2F3A"/>
          </a:solidFill>
          <a:ln w="12700">
            <a:solidFill>
              <a:srgbClr val="0B2F3A"/>
            </a:solidFill>
            <a:prstDash val="solid"/>
          </a:ln>
        </p:spPr>
      </p:sp>
      <p:sp>
        <p:nvSpPr>
          <p:cNvPr id="5" name="Text 3"/>
          <p:cNvSpPr txBox="1"/>
          <p:nvPr/>
        </p:nvSpPr>
        <p:spPr>
          <a:xfrm>
            <a:off x="777240" y="1837944"/>
            <a:ext cx="6766560" cy="3083687"/>
          </a:xfrm>
          <a:prstGeom prst="rect">
            <a:avLst/>
          </a:prstGeom>
          <a:noFill/>
          <a:ln/>
        </p:spPr>
        <p:txBody>
          <a:bodyPr wrap="square" lIns="0" tIns="0" rIns="0" bIns="0" rtlCol="0" anchor="t"/>
          <a:lstStyle/>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Sugeno recursion, applied j times:</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g(A_j) = [ (1 + lambda*g)^j  -  1 ] / lambda</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The weight on the j-th largest prediction is the growth:</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w_j = g(A_j) - g(A_j-1)</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 [ beta^j - beta^(j-1) ] / lambda      (beta = 1+lambda*g)</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 g * beta^(j-1)</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Check it sums to 1:</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SUM_j w_j = g*(beta^N - 1)/(beta - 1)</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 (beta^N - 1)/lambda  =  g(X)  =  1</a:t>
            </a:r>
            <a:endParaRPr lang="en-US" sz="1150" dirty="0"/>
          </a:p>
        </p:txBody>
      </p:sp>
      <p:sp>
        <p:nvSpPr>
          <p:cNvPr id="6" name="Text 4"/>
          <p:cNvSpPr txBox="1"/>
          <p:nvPr/>
        </p:nvSpPr>
        <p:spPr>
          <a:xfrm>
            <a:off x="8001000" y="1691640"/>
            <a:ext cx="3703320" cy="2834640"/>
          </a:xfrm>
          <a:prstGeom prst="rect">
            <a:avLst/>
          </a:prstGeom>
          <a:noFill/>
          <a:ln/>
        </p:spPr>
        <p:txBody>
          <a:bodyPr wrap="square" rtlCol="0" anchor="t"/>
          <a:lstStyle/>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Step 1 is just the Sugeno rule g(A u B) = g(A)+g(B)+lambda*g(A)*g(B) applied repeatedly to identical densities.</a:t>
            </a:r>
            <a:endParaRPr lang="en-US" sz="1200" dirty="0"/>
          </a:p>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Step 2 is the definition of the Choquet weights.</a:t>
            </a:r>
            <a:endParaRPr lang="en-US" sz="1200" dirty="0"/>
          </a:p>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Step 3 uses the geometric series, and the last equality is the boundary condition g(X)=1.</a:t>
            </a:r>
            <a:endParaRPr lang="en-US" sz="1200" dirty="0"/>
          </a:p>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The conclusion: the weights depend only on RANK and on g - never on which model is which.</a:t>
            </a:r>
            <a:endParaRPr lang="en-US" sz="1200" dirty="0"/>
          </a:p>
        </p:txBody>
      </p:sp>
      <p:sp>
        <p:nvSpPr>
          <p:cNvPr id="7" name="Shape 5"/>
          <p:cNvSpPr/>
          <p:nvPr/>
        </p:nvSpPr>
        <p:spPr>
          <a:xfrm>
            <a:off x="8001000" y="4617720"/>
            <a:ext cx="3703320" cy="1234440"/>
          </a:xfrm>
          <a:prstGeom prst="roundRect">
            <a:avLst>
              <a:gd name="adj" fmla="val 4444"/>
            </a:avLst>
          </a:prstGeom>
          <a:solidFill>
            <a:srgbClr val="FBEFEF"/>
          </a:solidFill>
          <a:ln w="12700">
            <a:solidFill>
              <a:srgbClr val="FBEFEF"/>
            </a:solidFill>
            <a:prstDash val="solid"/>
          </a:ln>
        </p:spPr>
      </p:sp>
      <p:sp>
        <p:nvSpPr>
          <p:cNvPr id="8" name="Text 6"/>
          <p:cNvSpPr txBox="1"/>
          <p:nvPr/>
        </p:nvSpPr>
        <p:spPr>
          <a:xfrm>
            <a:off x="8229600" y="4773168"/>
            <a:ext cx="3246120" cy="274320"/>
          </a:xfrm>
          <a:prstGeom prst="rect">
            <a:avLst/>
          </a:prstGeom>
          <a:noFill/>
          <a:ln/>
        </p:spPr>
        <p:txBody>
          <a:bodyPr wrap="square" lIns="0" tIns="0" rIns="0" bIns="0" rtlCol="0" anchor="ctr"/>
          <a:lstStyle/>
          <a:p>
            <a:pPr indent="0" marL="0">
              <a:buNone/>
            </a:pPr>
            <a:r>
              <a:rPr lang="en-US" sz="1250" b="1" dirty="0">
                <a:solidFill>
                  <a:srgbClr val="C62828"/>
                </a:solidFill>
                <a:latin typeface="Calibri" pitchFamily="34" charset="0"/>
                <a:ea typeface="Calibri" pitchFamily="34" charset="-122"/>
                <a:cs typeface="Calibri" pitchFamily="34" charset="-120"/>
              </a:rPr>
              <a:t>Why beta &gt; 1 matters</a:t>
            </a:r>
            <a:endParaRPr lang="en-US" sz="1250" dirty="0"/>
          </a:p>
        </p:txBody>
      </p:sp>
      <p:sp>
        <p:nvSpPr>
          <p:cNvPr id="9" name="Text 7"/>
          <p:cNvSpPr txBox="1"/>
          <p:nvPr/>
        </p:nvSpPr>
        <p:spPr>
          <a:xfrm>
            <a:off x="8229600" y="5065776"/>
            <a:ext cx="3246120" cy="68580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Weak models give sum(g) &lt; 1, hence lambda &gt; 0, hence beta &gt; 1 - so w_j GROWS with j, piling weight on the smallest prediction.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4: a standard feature library returns different answers for identical input</a:t>
            </a:r>
            <a:endParaRPr lang="en-US" sz="2700" dirty="0"/>
          </a:p>
        </p:txBody>
      </p:sp>
      <p:sp>
        <p:nvSpPr>
          <p:cNvPr id="3" name="Text 1"/>
          <p:cNvSpPr txBox="1"/>
          <p:nvPr/>
        </p:nvSpPr>
        <p:spPr>
          <a:xfrm>
            <a:off x="548640" y="1298448"/>
            <a:ext cx="11094415" cy="548640"/>
          </a:xfrm>
          <a:prstGeom prst="rect">
            <a:avLst/>
          </a:prstGeom>
          <a:noFill/>
          <a:ln/>
        </p:spPr>
        <p:txBody>
          <a:bodyPr wrap="square" rtlCol="0" anchor="ctr"/>
          <a:lstStyle/>
          <a:p>
            <a:pPr indent="0" marL="0">
              <a:buNone/>
            </a:pPr>
            <a:r>
              <a:rPr lang="en-US" sz="1500" dirty="0">
                <a:solidFill>
                  <a:srgbClr val="0B2F3A"/>
                </a:solidFill>
                <a:latin typeface="Calibri" pitchFamily="34" charset="0"/>
                <a:ea typeface="Calibri" pitchFamily="34" charset="-122"/>
                <a:cs typeface="Calibri" pitchFamily="34" charset="-120"/>
              </a:rPr>
              <a:t>One of the ten features is the correlation dimension, estimated as the slope of a log-log plot. The library fits that slope with RANSAC - a method that tries RANDOM subsets - and does not seed it.</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6400800" cy="914400"/>
        </p:xfrm>
        <a:graphic>
          <a:graphicData uri="http://schemas.openxmlformats.org/drawingml/2006/table">
            <a:tbl>
              <a:tblPr/>
              <a:tblGrid>
                <a:gridCol w="3108960"/>
                <a:gridCol w="329184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Slope fitting method</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Distinct values from 30 identical calls</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47472">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RANSAC (the library default)</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Ordinary least squares</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bl>
          </a:graphicData>
        </a:graphic>
      </p:graphicFrame>
      <p:sp>
        <p:nvSpPr>
          <p:cNvPr id="5" name="Text 2"/>
          <p:cNvSpPr txBox="1"/>
          <p:nvPr/>
        </p:nvSpPr>
        <p:spPr>
          <a:xfrm>
            <a:off x="548640" y="3108960"/>
            <a:ext cx="310896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72%</a:t>
            </a:r>
            <a:endParaRPr lang="en-US" sz="4200" dirty="0"/>
          </a:p>
        </p:txBody>
      </p:sp>
      <p:sp>
        <p:nvSpPr>
          <p:cNvPr id="6" name="Text 3"/>
          <p:cNvSpPr txBox="1"/>
          <p:nvPr/>
        </p:nvSpPr>
        <p:spPr>
          <a:xfrm>
            <a:off x="548640" y="3950208"/>
            <a:ext cx="310896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of correlation-dimension</a:t>
            </a:r>
            <a:endParaRPr lang="en-US" sz="1150" dirty="0"/>
          </a:p>
          <a:p>
            <a:pPr algn="ctr" indent="0" marL="0">
              <a:buNone/>
            </a:pPr>
            <a:r>
              <a:rPr lang="en-US" sz="1150" dirty="0">
                <a:solidFill>
                  <a:srgbClr val="5A6B72"/>
                </a:solidFill>
                <a:latin typeface="Calibri" pitchFamily="34" charset="0"/>
                <a:ea typeface="Calibri" pitchFamily="34" charset="-122"/>
                <a:cs typeface="Calibri" pitchFamily="34" charset="-120"/>
              </a:rPr>
              <a:t>values changed</a:t>
            </a:r>
            <a:endParaRPr lang="en-US" sz="1150" dirty="0"/>
          </a:p>
        </p:txBody>
      </p:sp>
      <p:sp>
        <p:nvSpPr>
          <p:cNvPr id="7" name="Text 4"/>
          <p:cNvSpPr txBox="1"/>
          <p:nvPr/>
        </p:nvSpPr>
        <p:spPr>
          <a:xfrm>
            <a:off x="3840480" y="3108960"/>
            <a:ext cx="310896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177</a:t>
            </a:r>
            <a:endParaRPr lang="en-US" sz="4200" dirty="0"/>
          </a:p>
        </p:txBody>
      </p:sp>
      <p:sp>
        <p:nvSpPr>
          <p:cNvPr id="8" name="Text 5"/>
          <p:cNvSpPr txBox="1"/>
          <p:nvPr/>
        </p:nvSpPr>
        <p:spPr>
          <a:xfrm>
            <a:off x="3840480" y="3950208"/>
            <a:ext cx="310896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other features:</a:t>
            </a:r>
            <a:endParaRPr lang="en-US" sz="1150" dirty="0"/>
          </a:p>
          <a:p>
            <a:pPr algn="ctr" indent="0" marL="0">
              <a:buNone/>
            </a:pPr>
            <a:r>
              <a:rPr lang="en-US" sz="1150" dirty="0">
                <a:solidFill>
                  <a:srgbClr val="5A6B72"/>
                </a:solidFill>
                <a:latin typeface="Calibri" pitchFamily="34" charset="0"/>
                <a:ea typeface="Calibri" pitchFamily="34" charset="-122"/>
                <a:cs typeface="Calibri" pitchFamily="34" charset="-120"/>
              </a:rPr>
              <a:t>bit-identical</a:t>
            </a:r>
            <a:endParaRPr lang="en-US" sz="1150" dirty="0"/>
          </a:p>
        </p:txBody>
      </p:sp>
      <p:sp>
        <p:nvSpPr>
          <p:cNvPr id="9" name="Shape 6"/>
          <p:cNvSpPr/>
          <p:nvPr/>
        </p:nvSpPr>
        <p:spPr>
          <a:xfrm>
            <a:off x="6903720" y="1965960"/>
            <a:ext cx="4800600" cy="1737360"/>
          </a:xfrm>
          <a:prstGeom prst="roundRect">
            <a:avLst>
              <a:gd name="adj" fmla="val 3158"/>
            </a:avLst>
          </a:prstGeom>
          <a:solidFill>
            <a:srgbClr val="EAF2F4"/>
          </a:solidFill>
          <a:ln w="12700">
            <a:solidFill>
              <a:srgbClr val="EAF2F4"/>
            </a:solidFill>
            <a:prstDash val="solid"/>
          </a:ln>
        </p:spPr>
      </p:sp>
      <p:sp>
        <p:nvSpPr>
          <p:cNvPr id="10" name="Text 7"/>
          <p:cNvSpPr txBox="1"/>
          <p:nvPr/>
        </p:nvSpPr>
        <p:spPr>
          <a:xfrm>
            <a:off x="7104888" y="2112264"/>
            <a:ext cx="439826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Why the second number matters</a:t>
            </a:r>
            <a:endParaRPr lang="en-US" sz="1300" dirty="0"/>
          </a:p>
        </p:txBody>
      </p:sp>
      <p:sp>
        <p:nvSpPr>
          <p:cNvPr id="11" name="Text 8"/>
          <p:cNvSpPr txBox="1"/>
          <p:nvPr/>
        </p:nvSpPr>
        <p:spPr>
          <a:xfrm>
            <a:off x="7104888" y="2496312"/>
            <a:ext cx="4398264" cy="105156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The 177 unchanged features are the control. They prove the differences came from the random fit, not from anything else we changed.</a:t>
            </a:r>
            <a:endParaRPr lang="en-US" sz="1200" dirty="0"/>
          </a:p>
        </p:txBody>
      </p:sp>
      <p:sp>
        <p:nvSpPr>
          <p:cNvPr id="12" name="Shape 9"/>
          <p:cNvSpPr/>
          <p:nvPr/>
        </p:nvSpPr>
        <p:spPr>
          <a:xfrm>
            <a:off x="6903720" y="3840480"/>
            <a:ext cx="4800600" cy="1280160"/>
          </a:xfrm>
          <a:prstGeom prst="roundRect">
            <a:avLst>
              <a:gd name="adj" fmla="val 4286"/>
            </a:avLst>
          </a:prstGeom>
          <a:solidFill>
            <a:srgbClr val="EAF2F4"/>
          </a:solidFill>
          <a:ln w="12700">
            <a:solidFill>
              <a:srgbClr val="EAF2F4"/>
            </a:solidFill>
            <a:prstDash val="solid"/>
          </a:ln>
        </p:spPr>
      </p:sp>
      <p:sp>
        <p:nvSpPr>
          <p:cNvPr id="13" name="Text 10"/>
          <p:cNvSpPr txBox="1"/>
          <p:nvPr/>
        </p:nvSpPr>
        <p:spPr>
          <a:xfrm>
            <a:off x="7104888" y="3986784"/>
            <a:ext cx="439826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The fix</a:t>
            </a:r>
            <a:endParaRPr lang="en-US" sz="1300" dirty="0"/>
          </a:p>
        </p:txBody>
      </p:sp>
      <p:sp>
        <p:nvSpPr>
          <p:cNvPr id="14" name="Text 11"/>
          <p:cNvSpPr txBox="1"/>
          <p:nvPr/>
        </p:nvSpPr>
        <p:spPr>
          <a:xfrm>
            <a:off x="7104888" y="4370832"/>
            <a:ext cx="4398264" cy="59436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One argument - fit the slope with least squares. Both methods agree on the typical value; only one always returns it.</a:t>
            </a:r>
            <a:endParaRPr lang="en-US" sz="1200" dirty="0"/>
          </a:p>
        </p:txBody>
      </p:sp>
      <p:sp>
        <p:nvSpPr>
          <p:cNvPr id="15" name="Shape 12"/>
          <p:cNvSpPr/>
          <p:nvPr/>
        </p:nvSpPr>
        <p:spPr>
          <a:xfrm>
            <a:off x="548640" y="4526280"/>
            <a:ext cx="6400800" cy="1051560"/>
          </a:xfrm>
          <a:prstGeom prst="roundRect">
            <a:avLst>
              <a:gd name="adj" fmla="val 4348"/>
            </a:avLst>
          </a:prstGeom>
          <a:solidFill>
            <a:srgbClr val="FBEFEF"/>
          </a:solidFill>
          <a:ln w="12700">
            <a:solidFill>
              <a:srgbClr val="FBEFEF"/>
            </a:solidFill>
            <a:prstDash val="solid"/>
          </a:ln>
        </p:spPr>
      </p:sp>
      <p:sp>
        <p:nvSpPr>
          <p:cNvPr id="16" name="Text 13"/>
          <p:cNvSpPr txBox="1"/>
          <p:nvPr/>
        </p:nvSpPr>
        <p:spPr>
          <a:xfrm>
            <a:off x="804672" y="4700016"/>
            <a:ext cx="5897880" cy="777240"/>
          </a:xfrm>
          <a:prstGeom prst="rect">
            <a:avLst/>
          </a:prstGeom>
          <a:noFill/>
          <a:ln/>
        </p:spPr>
        <p:txBody>
          <a:bodyPr wrap="square" lIns="0" tIns="0" rIns="0" bIns="0" rtlCol="0" anchor="ctr"/>
          <a:lstStyle/>
          <a:p>
            <a:pPr indent="0" marL="0">
              <a:buNone/>
            </a:pPr>
            <a:r>
              <a:rPr lang="en-US" sz="1250" dirty="0">
                <a:solidFill>
                  <a:srgbClr val="0B2F3A"/>
                </a:solidFill>
                <a:latin typeface="Calibri" pitchFamily="34" charset="0"/>
                <a:ea typeface="Calibri" pitchFamily="34" charset="-122"/>
                <a:cs typeface="Calibri" pitchFamily="34" charset="-120"/>
              </a:rPr>
              <a:t>Any result computed from these features was irreproducible - nobody re-running the pipeline, including us, would get the same numbers. Found only because we tested whether identical input gives identical output.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What this contributes, and what we cannot claim</a:t>
            </a:r>
            <a:endParaRPr lang="en-US" sz="2700" dirty="0"/>
          </a:p>
        </p:txBody>
      </p:sp>
      <p:sp>
        <p:nvSpPr>
          <p:cNvPr id="3" name="Shape 1"/>
          <p:cNvSpPr/>
          <p:nvPr/>
        </p:nvSpPr>
        <p:spPr>
          <a:xfrm>
            <a:off x="548640" y="1353312"/>
            <a:ext cx="384048" cy="384048"/>
          </a:xfrm>
          <a:prstGeom prst="ellipse">
            <a:avLst/>
          </a:prstGeom>
          <a:solidFill>
            <a:srgbClr val="0B2F3A"/>
          </a:solidFill>
          <a:ln w="12700">
            <a:solidFill>
              <a:srgbClr val="0B2F3A"/>
            </a:solidFill>
            <a:prstDash val="solid"/>
          </a:ln>
        </p:spPr>
      </p:sp>
      <p:sp>
        <p:nvSpPr>
          <p:cNvPr id="4" name="Text 2"/>
          <p:cNvSpPr txBox="1"/>
          <p:nvPr/>
        </p:nvSpPr>
        <p:spPr>
          <a:xfrm>
            <a:off x="548640" y="140817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115568" y="132588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An open reproduction on open data</a:t>
            </a:r>
            <a:endParaRPr lang="en-US" sz="1450" dirty="0"/>
          </a:p>
        </p:txBody>
      </p:sp>
      <p:sp>
        <p:nvSpPr>
          <p:cNvPr id="6" name="Text 4"/>
          <p:cNvSpPr txBox="1"/>
          <p:nvPr/>
        </p:nvSpPr>
        <p:spPr>
          <a:xfrm>
            <a:off x="1115568" y="161848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All three stages rebuilt from the paper, run on PhysioCGM: 30,830 windows, 193 features, 10 patients.</a:t>
            </a:r>
            <a:endParaRPr lang="en-US" sz="1200" dirty="0"/>
          </a:p>
        </p:txBody>
      </p:sp>
      <p:sp>
        <p:nvSpPr>
          <p:cNvPr id="7" name="Shape 5"/>
          <p:cNvSpPr/>
          <p:nvPr/>
        </p:nvSpPr>
        <p:spPr>
          <a:xfrm>
            <a:off x="548640" y="2221992"/>
            <a:ext cx="384048" cy="384048"/>
          </a:xfrm>
          <a:prstGeom prst="ellipse">
            <a:avLst/>
          </a:prstGeom>
          <a:solidFill>
            <a:srgbClr val="0B2F3A"/>
          </a:solidFill>
          <a:ln w="12700">
            <a:solidFill>
              <a:srgbClr val="0B2F3A"/>
            </a:solidFill>
            <a:prstDash val="solid"/>
          </a:ln>
        </p:spPr>
      </p:sp>
      <p:sp>
        <p:nvSpPr>
          <p:cNvPr id="8" name="Text 6"/>
          <p:cNvSpPr txBox="1"/>
          <p:nvPr/>
        </p:nvSpPr>
        <p:spPr>
          <a:xfrm>
            <a:off x="548640" y="227685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115568" y="219456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A degeneracy theorem with a runnable diagnostic</a:t>
            </a:r>
            <a:endParaRPr lang="en-US" sz="1450" dirty="0"/>
          </a:p>
        </p:txBody>
      </p:sp>
      <p:sp>
        <p:nvSpPr>
          <p:cNvPr id="10" name="Text 8"/>
          <p:cNvSpPr txBox="1"/>
          <p:nvPr/>
        </p:nvSpPr>
        <p:spPr>
          <a:xfrm>
            <a:off x="1115568" y="248716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When densities saturate, the Sugeno-lambda Choquet integral provably becomes a fixed order statistic. Verified at correlation 0.998.</a:t>
            </a:r>
            <a:endParaRPr lang="en-US" sz="1200" dirty="0"/>
          </a:p>
        </p:txBody>
      </p:sp>
      <p:sp>
        <p:nvSpPr>
          <p:cNvPr id="11" name="Shape 9"/>
          <p:cNvSpPr/>
          <p:nvPr/>
        </p:nvSpPr>
        <p:spPr>
          <a:xfrm>
            <a:off x="548640" y="3090672"/>
            <a:ext cx="384048" cy="384048"/>
          </a:xfrm>
          <a:prstGeom prst="ellipse">
            <a:avLst/>
          </a:prstGeom>
          <a:solidFill>
            <a:srgbClr val="0B2F3A"/>
          </a:solidFill>
          <a:ln w="12700">
            <a:solidFill>
              <a:srgbClr val="0B2F3A"/>
            </a:solidFill>
            <a:prstDash val="solid"/>
          </a:ln>
        </p:spPr>
      </p:sp>
      <p:sp>
        <p:nvSpPr>
          <p:cNvPr id="12" name="Text 10"/>
          <p:cNvSpPr txBox="1"/>
          <p:nvPr/>
        </p:nvSpPr>
        <p:spPr>
          <a:xfrm>
            <a:off x="548640" y="314553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15568" y="306324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Evidence that the evaluation protocol dominates</a:t>
            </a:r>
            <a:endParaRPr lang="en-US" sz="1450" dirty="0"/>
          </a:p>
        </p:txBody>
      </p:sp>
      <p:sp>
        <p:nvSpPr>
          <p:cNvPr id="14" name="Text 12"/>
          <p:cNvSpPr txBox="1"/>
          <p:nvPr/>
        </p:nvSpPr>
        <p:spPr>
          <a:xfrm>
            <a:off x="1115568" y="335584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R-squared +0.149 to -0.223 on identical data, and a constant predictor beating every model on the clinical metric.</a:t>
            </a:r>
            <a:endParaRPr lang="en-US" sz="1200" dirty="0"/>
          </a:p>
        </p:txBody>
      </p:sp>
      <p:sp>
        <p:nvSpPr>
          <p:cNvPr id="15" name="Shape 13"/>
          <p:cNvSpPr/>
          <p:nvPr/>
        </p:nvSpPr>
        <p:spPr>
          <a:xfrm>
            <a:off x="548640" y="3959352"/>
            <a:ext cx="384048" cy="384048"/>
          </a:xfrm>
          <a:prstGeom prst="ellipse">
            <a:avLst/>
          </a:prstGeom>
          <a:solidFill>
            <a:srgbClr val="0B2F3A"/>
          </a:solidFill>
          <a:ln w="12700">
            <a:solidFill>
              <a:srgbClr val="0B2F3A"/>
            </a:solidFill>
            <a:prstDash val="solid"/>
          </a:ln>
        </p:spPr>
      </p:sp>
      <p:sp>
        <p:nvSpPr>
          <p:cNvPr id="16" name="Text 14"/>
          <p:cNvSpPr txBox="1"/>
          <p:nvPr/>
        </p:nvSpPr>
        <p:spPr>
          <a:xfrm>
            <a:off x="548640" y="401421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115568" y="393192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A reproducibility failure in a standard library</a:t>
            </a:r>
            <a:endParaRPr lang="en-US" sz="1450" dirty="0"/>
          </a:p>
        </p:txBody>
      </p:sp>
      <p:sp>
        <p:nvSpPr>
          <p:cNvPr id="18" name="Text 16"/>
          <p:cNvSpPr txBox="1"/>
          <p:nvPr/>
        </p:nvSpPr>
        <p:spPr>
          <a:xfrm>
            <a:off x="1115568" y="422452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An unseeded random fit changing up to 72% of values between identical runs.</a:t>
            </a:r>
            <a:endParaRPr lang="en-US" sz="1200" dirty="0"/>
          </a:p>
        </p:txBody>
      </p:sp>
      <p:sp>
        <p:nvSpPr>
          <p:cNvPr id="19" name="Shape 17"/>
          <p:cNvSpPr/>
          <p:nvPr/>
        </p:nvSpPr>
        <p:spPr>
          <a:xfrm>
            <a:off x="548640" y="4892040"/>
            <a:ext cx="11094415" cy="1234440"/>
          </a:xfrm>
          <a:prstGeom prst="roundRect">
            <a:avLst>
              <a:gd name="adj" fmla="val 4444"/>
            </a:avLst>
          </a:prstGeom>
          <a:solidFill>
            <a:srgbClr val="FFF6E5"/>
          </a:solidFill>
          <a:ln w="12700">
            <a:solidFill>
              <a:srgbClr val="FFF6E5"/>
            </a:solidFill>
            <a:prstDash val="solid"/>
          </a:ln>
        </p:spPr>
      </p:sp>
      <p:sp>
        <p:nvSpPr>
          <p:cNvPr id="20" name="Text 18"/>
          <p:cNvSpPr txBox="1"/>
          <p:nvPr/>
        </p:nvSpPr>
        <p:spPr>
          <a:xfrm>
            <a:off x="822960" y="5047488"/>
            <a:ext cx="5486400" cy="274320"/>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What we cannot claim</a:t>
            </a:r>
            <a:endParaRPr lang="en-US" sz="1300" dirty="0"/>
          </a:p>
        </p:txBody>
      </p:sp>
      <p:sp>
        <p:nvSpPr>
          <p:cNvPr id="21" name="Text 19"/>
          <p:cNvSpPr txBox="1"/>
          <p:nvPr/>
        </p:nvSpPr>
        <p:spPr>
          <a:xfrm>
            <a:off x="822960" y="5349240"/>
            <a:ext cx="10545775" cy="685800"/>
          </a:xfrm>
          <a:prstGeom prst="rect">
            <a:avLst/>
          </a:prstGeom>
          <a:noFill/>
          <a:ln/>
        </p:spPr>
        <p:txBody>
          <a:bodyPr wrap="square" lIns="0" tIns="0" rIns="0" bIns="0" rtlCol="0" anchor="ctr"/>
          <a:lstStyle/>
          <a:p>
            <a:pPr indent="0" marL="0">
              <a:buNone/>
            </a:pPr>
            <a:r>
              <a:rPr lang="en-US" sz="1250" dirty="0">
                <a:solidFill>
                  <a:srgbClr val="0B2F3A"/>
                </a:solidFill>
                <a:latin typeface="Calibri" pitchFamily="34" charset="0"/>
                <a:ea typeface="Calibri" pitchFamily="34" charset="-122"/>
                <a:cs typeface="Calibri" pitchFamily="34" charset="-120"/>
              </a:rPr>
              <a:t>That the method never works. We show it does not work ON THIS DATASET UNDER HONEST EVALUATION, and that its fusion component was inactive. Our morphological branch differs from theirs, ten patients is small, and leave-one-subject-out was not completed - so we do not report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References</a:t>
            </a:r>
            <a:endParaRPr lang="en-US" sz="2700" dirty="0"/>
          </a:p>
        </p:txBody>
      </p:sp>
      <p:sp>
        <p:nvSpPr>
          <p:cNvPr id="3" name="Text 1"/>
          <p:cNvSpPr txBox="1"/>
          <p:nvPr/>
        </p:nvSpPr>
        <p:spPr>
          <a:xfrm>
            <a:off x="548640" y="1325880"/>
            <a:ext cx="11094415" cy="4206240"/>
          </a:xfrm>
          <a:prstGeom prst="rect">
            <a:avLst/>
          </a:prstGeom>
          <a:noFill/>
          <a:ln/>
        </p:spPr>
        <p:txBody>
          <a:bodyPr wrap="square" rtlCol="0" anchor="ctr"/>
          <a:lstStyle/>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Li, J. et al. "Noninvasive Blood Glucose Monitoring Using Spatiotemporal ECG and PPG Feature Fusion and Weight-Based Choquet Integral Multimodel Approach." IEEE Trans. Neural Networks and Learning Systems, 35(10), 2024.</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PhysioCGM: a multimodal physiological dataset for non-invasive blood glucose estimation. Scientific Data, 2025. figshare 28136294 (CC0).</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Reassessing the Feasibility of PPG-Based Non-Invasive Blood Glucose Level Estimation. arXiv:2608.01820, 2026.</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Parkes, J. L. et al. "A New Consensus Error Grid to Evaluate the Clinical Significance of Inaccuracies in the Estimation of Blood Glucose." Diabetes Care, 23(8), 2000.</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Pfutzner, A. et al. "Technical Aspects of the Parkes Error Grid." J. Diabetes Science and Technology, 7(5), 2013.</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Eckert, B. &amp; Agardh, C.-D. "Hypoglycaemia leads to an increased QT interval in normal men." Clinical Physiology, 18(6), 1998.</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Grabisch, M. "Fuzzy integral in multicriteria decision making." Fuzzy Sets and Systems, 69(3), 1995.</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Marichal, J.-L. "On Choquet and Sugeno integrals as aggregation functions." Fuzzy Measures and Integrals, 2000.</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Sugeno, M. Theory of fuzzy integrals and its applications. PhD thesis, Tokyo Institute of Technology, 1974.</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Hjorth, B. "EEG analysis based on time domain properties." Electroencephalography and Clinical Neurophysiology, 29(3), 1970.</a:t>
            </a:r>
            <a:endParaRPr lang="en-US" sz="1150" dirty="0"/>
          </a:p>
        </p:txBody>
      </p:sp>
      <p:sp>
        <p:nvSpPr>
          <p:cNvPr id="4" name="Text 2"/>
          <p:cNvSpPr txBox="1"/>
          <p:nvPr/>
        </p:nvSpPr>
        <p:spPr>
          <a:xfrm>
            <a:off x="548640" y="5669280"/>
            <a:ext cx="11094415" cy="365760"/>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Full technical write-up, including every derivation: WRITEUP.md in the project repository.</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Noninvasive Blood Glucose Estimation</dc:title>
  <dc:subject>PptxGenJS Presentation</dc:subject>
  <dc:creator>Navtesh Maken</dc:creator>
  <cp:lastModifiedBy>Navtesh Maken</cp:lastModifiedBy>
  <cp:revision>1</cp:revision>
  <dcterms:created xsi:type="dcterms:W3CDTF">2026-09-26T18:17:54Z</dcterms:created>
  <dcterms:modified xsi:type="dcterms:W3CDTF">2026-09-26T18:17:54Z</dcterms:modified>
</cp:coreProperties>
</file>