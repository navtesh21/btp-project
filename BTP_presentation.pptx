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30s. Do NOT give the conclusion yet - slides 2-5 set up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Three beats: (1) what glucose is and why both directions are dangerous, (2) today it means breaking skin, 590M adults, (3) the amber box - the biology supports DETECTING an event, not reading the exact number. Classification vs regression. This project attempted the number.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IEEE TNNLS, a serious journal. 1.49 mmol/L approaches approved CGM accuracy. They published code but NOT data - so nobody had independently checked it. That is what a reproduction is for. Walk the three stage boxes left to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SLOW DOWN on the dark box. 2.519 is the standard deviation of glucose, and therefore the error of a model that always guesses the average. It is the score for learning NOTHING. Most papers never report it; we report it beside every result. Everything after this slide depends on them having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densest slide. START WITH THE ANALOGY at bottom left - three doctors, two trained together so averaging double-counts, one is more experienced. A weighted average handles the second but NOT the first. THEN the formulas. Note the weights (.300,.342,.358) are not the densities (.30,.25,.20) - that gap is the integral doing something a weighted average cannot.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60s. CUT THIS FIRST if short on time. Key line: a heartbeat mixes fast (QRS, 0.1s) and slow (T wave, 0.3s) things, so measuring the whole window blends them; the wavelet separates them into 8 layers. Then 8 x 10 = 80 per signal. Mention QTc median 0.405s vs textbook 0.35-0.44 as validation.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THE most important concept in the talk. Walk the three boxes. Then the key insight, said slowly: consecutive windows from one person are very similar, so a random split lets the model recognise the PERSON and recall their typical glucose. That is not learning about glucose - but it scores beautifully. Close with the 2026 study: 0.60 under random, -0.08 under participant-aware.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DEFINE R-SQUARED FIRST - 1 perfect, 0 = same as guessing the average, NEGATIVE = worse than guessing. Then: +0.149 random, -0.223 subject-aware, -0.097 leave-one-out. Same data, same code, only the split changed. RAISE THE ORDERING YOURSELF: LOSO is better than subject-aware because it trains on 9 of 10 rather than 4 of 5. Saying it first is far stronger than being caught.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YOUR BEST SLIDE. Trace the diagonal with your hand - that is what a working model looks like. Then trace the horizontal band - whether the truth was 4 or 20, it predicts 6-9. That is what 'no better than the average' looks like drawn. THEN the sting: that same flat band scores 89.4% Zone A+B. PAUSE. Let it land.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75s. Point at the LAST row. The baseline predicts a constant, explains zero variance, and has BOTH the best R-squared (-0.074) and the best clinical score (90.0%). Why: most readings sit in a narrow band, so a constant already lands in A and B. The grid catches DANGEROUS errors, not USELESS ones. Rule: never report a zone score without a baseline beside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45s, quick and visual. Red bar = the constant predictor. LONGEST on the left (best clinical score), SHORTEST on the right (least-bad R-squared). One metric says it wins, the other says nothing works. If you only report the left chart, you would ship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Start with the two clues: weighted average = plain average byte-identical (impossible if weights differ), and every density at exactly the 0.01 floor. Then the theorem: equal densities make the measure symmetric, so the integral becomes a fixed function of RANK. Weak models -&gt; lambda &gt; 0 -&gt; beta &gt; 1 -&gt; weight grows toward the SMALLEST. At g=0.01 that is 89.5% on the minimum. Confirmation: corr 0.998 with min(). DO NOT SKIP the dark box - it is not only a bug, it fires exactly when the models cannot generalise.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60s. Two points. LEFT: every bar is past the dashed baseline - no subset of the 193 features recovers glucose. And the ordering runs the WRONG WAY: fewer features score better, which is what fitting noise looks like. RIGHT: the worst models by R-squared carry the HIGHEST clinical score. Not weak - inverted. A model predicting a narrow band near the average is never dangerous, just useless - and the grid only catches danger.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60s. CUT IF SHORT - the result is already on slide 12. Three substitutions: apply Sugeno j times, subtract consecutive terms, check the geometric series sums to 1. The red box is the point: weak models force beta &gt; 1, which piles weight on the smallest prediction.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60s. RANSAC = random sample consensus, unseeded, so identical input gives different output - 5 distinct values in 30 calls. Up to 72% of correlation-dimension values changed. POINT AT THE SECOND NUMBER: 177 other features bit-identical - that is the control proving it was the slope fit, not anything else we changed. Found only because we tested determinism, which almost nobody does.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90s. Four contributions, then the amber box. Say the limits CONFIDENTLY, not apologetically: cannot claim the method never works, only that it does not here under honest evaluation and that its fusion was inactive. Stating limitations is the point of a reproduction, not a weakness.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15s. 'Full write-up with every derivation is in the repository.' Then STOP TALKING. Leave this up, or go back to slide 15 for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3A"/>
        </a:solidFill>
      </p:bgPr>
    </p:bg>
    <p:spTree>
      <p:nvGrpSpPr>
        <p:cNvPr id="1" name=""/>
        <p:cNvGrpSpPr/>
        <p:nvPr/>
      </p:nvGrpSpPr>
      <p:grpSpPr>
        <a:xfrm>
          <a:off x="0" y="0"/>
          <a:ext cx="0" cy="0"/>
          <a:chOff x="0" y="0"/>
          <a:chExt cx="0" cy="0"/>
        </a:xfrm>
      </p:grpSpPr>
      <p:sp>
        <p:nvSpPr>
          <p:cNvPr id="2" name="Text 0"/>
          <p:cNvSpPr txBox="1"/>
          <p:nvPr/>
        </p:nvSpPr>
        <p:spPr>
          <a:xfrm>
            <a:off x="548640" y="1600200"/>
            <a:ext cx="9997135" cy="13716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Can your heartbeat tell us your blood sugar?</a:t>
            </a:r>
            <a:endParaRPr lang="en-US" sz="4200" dirty="0"/>
          </a:p>
        </p:txBody>
      </p:sp>
      <p:sp>
        <p:nvSpPr>
          <p:cNvPr id="3" name="Text 1"/>
          <p:cNvSpPr txBox="1"/>
          <p:nvPr/>
        </p:nvSpPr>
        <p:spPr>
          <a:xfrm>
            <a:off x="548640" y="3017520"/>
            <a:ext cx="9082735" cy="822960"/>
          </a:xfrm>
          <a:prstGeom prst="rect">
            <a:avLst/>
          </a:prstGeom>
          <a:noFill/>
          <a:ln/>
        </p:spPr>
        <p:txBody>
          <a:bodyPr wrap="square" rtlCol="0" anchor="ctr"/>
          <a:lstStyle/>
          <a:p>
            <a:pPr indent="0" marL="0">
              <a:buNone/>
            </a:pPr>
            <a:r>
              <a:rPr lang="en-US" sz="1700" dirty="0">
                <a:solidFill>
                  <a:srgbClr val="AEC6CC"/>
                </a:solidFill>
                <a:latin typeface="Calibri" pitchFamily="34" charset="0"/>
                <a:ea typeface="Calibri" pitchFamily="34" charset="-122"/>
                <a:cs typeface="Calibri" pitchFamily="34" charset="-120"/>
              </a:rPr>
              <a:t>Reproducing a Choquet-integral multimodel approach to noninvasive blood glucose estimation from ECG and PPG</a:t>
            </a:r>
            <a:endParaRPr lang="en-US" sz="1700" dirty="0"/>
          </a:p>
        </p:txBody>
      </p:sp>
      <p:sp>
        <p:nvSpPr>
          <p:cNvPr id="4" name="Text 2"/>
          <p:cNvSpPr txBox="1"/>
          <p:nvPr/>
        </p:nvSpPr>
        <p:spPr>
          <a:xfrm>
            <a:off x="548640" y="4114800"/>
            <a:ext cx="5486400" cy="365760"/>
          </a:xfrm>
          <a:prstGeom prst="rect">
            <a:avLst/>
          </a:prstGeom>
          <a:noFill/>
          <a:ln/>
        </p:spPr>
        <p:txBody>
          <a:bodyPr wrap="square" rtlCol="0" anchor="ctr"/>
          <a:lstStyle/>
          <a:p>
            <a:pPr indent="0" marL="0">
              <a:buNone/>
            </a:pPr>
            <a:r>
              <a:rPr lang="en-US" sz="1300" b="1" spc="200" kern="0" dirty="0">
                <a:solidFill>
                  <a:srgbClr val="00C2A8"/>
                </a:solidFill>
                <a:latin typeface="Calibri" pitchFamily="34" charset="0"/>
                <a:ea typeface="Calibri" pitchFamily="34" charset="-122"/>
                <a:cs typeface="Calibri" pitchFamily="34" charset="-120"/>
              </a:rPr>
              <a:t>B.Tech Final Year Project</a:t>
            </a:r>
            <a:endParaRPr lang="en-US" sz="1300" dirty="0"/>
          </a:p>
        </p:txBody>
      </p:sp>
      <p:sp>
        <p:nvSpPr>
          <p:cNvPr id="5" name="Text 3"/>
          <p:cNvSpPr txBox="1"/>
          <p:nvPr/>
        </p:nvSpPr>
        <p:spPr>
          <a:xfrm>
            <a:off x="548640" y="4526280"/>
            <a:ext cx="548640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Navtesh Maken</a:t>
            </a:r>
            <a:endParaRPr lang="en-US" sz="1500" dirty="0"/>
          </a:p>
        </p:txBody>
      </p:sp>
      <p:sp>
        <p:nvSpPr>
          <p:cNvPr id="6" name="Shape 4"/>
          <p:cNvSpPr/>
          <p:nvPr/>
        </p:nvSpPr>
        <p:spPr>
          <a:xfrm>
            <a:off x="548640" y="5943600"/>
            <a:ext cx="443777" cy="3658"/>
          </a:xfrm>
          <a:prstGeom prst="line">
            <a:avLst/>
          </a:prstGeom>
          <a:noFill/>
          <a:ln w="31750">
            <a:solidFill>
              <a:srgbClr val="00C2A8"/>
            </a:solidFill>
            <a:prstDash val="solid"/>
          </a:ln>
        </p:spPr>
      </p:sp>
      <p:sp>
        <p:nvSpPr>
          <p:cNvPr id="7" name="Shape 5"/>
          <p:cNvSpPr/>
          <p:nvPr/>
        </p:nvSpPr>
        <p:spPr>
          <a:xfrm flipV="1">
            <a:off x="992417" y="5852160"/>
            <a:ext cx="221888" cy="91440"/>
          </a:xfrm>
          <a:prstGeom prst="line">
            <a:avLst/>
          </a:prstGeom>
          <a:noFill/>
          <a:ln w="31750">
            <a:solidFill>
              <a:srgbClr val="00C2A8"/>
            </a:solidFill>
            <a:prstDash val="solid"/>
          </a:ln>
        </p:spPr>
      </p:sp>
      <p:sp>
        <p:nvSpPr>
          <p:cNvPr id="8" name="Shape 6"/>
          <p:cNvSpPr/>
          <p:nvPr/>
        </p:nvSpPr>
        <p:spPr>
          <a:xfrm>
            <a:off x="1214305" y="5852160"/>
            <a:ext cx="221888" cy="91440"/>
          </a:xfrm>
          <a:prstGeom prst="line">
            <a:avLst/>
          </a:prstGeom>
          <a:noFill/>
          <a:ln w="31750">
            <a:solidFill>
              <a:srgbClr val="00C2A8"/>
            </a:solidFill>
            <a:prstDash val="solid"/>
          </a:ln>
        </p:spPr>
      </p:sp>
      <p:sp>
        <p:nvSpPr>
          <p:cNvPr id="9" name="Shape 7"/>
          <p:cNvSpPr/>
          <p:nvPr/>
        </p:nvSpPr>
        <p:spPr>
          <a:xfrm>
            <a:off x="1436193" y="5943600"/>
            <a:ext cx="332832" cy="3658"/>
          </a:xfrm>
          <a:prstGeom prst="line">
            <a:avLst/>
          </a:prstGeom>
          <a:noFill/>
          <a:ln w="31750">
            <a:solidFill>
              <a:srgbClr val="00C2A8"/>
            </a:solidFill>
            <a:prstDash val="solid"/>
          </a:ln>
        </p:spPr>
      </p:sp>
      <p:sp>
        <p:nvSpPr>
          <p:cNvPr id="10" name="Shape 8"/>
          <p:cNvSpPr/>
          <p:nvPr/>
        </p:nvSpPr>
        <p:spPr>
          <a:xfrm>
            <a:off x="1769026" y="5943600"/>
            <a:ext cx="221888" cy="54864"/>
          </a:xfrm>
          <a:prstGeom prst="line">
            <a:avLst/>
          </a:prstGeom>
          <a:noFill/>
          <a:ln w="31750">
            <a:solidFill>
              <a:srgbClr val="00C2A8"/>
            </a:solidFill>
            <a:prstDash val="solid"/>
          </a:ln>
        </p:spPr>
      </p:sp>
      <p:sp>
        <p:nvSpPr>
          <p:cNvPr id="11" name="Shape 9"/>
          <p:cNvSpPr/>
          <p:nvPr/>
        </p:nvSpPr>
        <p:spPr>
          <a:xfrm flipV="1">
            <a:off x="1990914" y="5577840"/>
            <a:ext cx="221888" cy="420624"/>
          </a:xfrm>
          <a:prstGeom prst="line">
            <a:avLst/>
          </a:prstGeom>
          <a:noFill/>
          <a:ln w="31750">
            <a:solidFill>
              <a:srgbClr val="00C2A8"/>
            </a:solidFill>
            <a:prstDash val="solid"/>
          </a:ln>
        </p:spPr>
      </p:sp>
      <p:sp>
        <p:nvSpPr>
          <p:cNvPr id="12" name="Shape 10"/>
          <p:cNvSpPr/>
          <p:nvPr/>
        </p:nvSpPr>
        <p:spPr>
          <a:xfrm>
            <a:off x="2212802" y="5577840"/>
            <a:ext cx="221888" cy="548640"/>
          </a:xfrm>
          <a:prstGeom prst="line">
            <a:avLst/>
          </a:prstGeom>
          <a:noFill/>
          <a:ln w="31750">
            <a:solidFill>
              <a:srgbClr val="00C2A8"/>
            </a:solidFill>
            <a:prstDash val="solid"/>
          </a:ln>
        </p:spPr>
      </p:sp>
      <p:sp>
        <p:nvSpPr>
          <p:cNvPr id="13" name="Shape 11"/>
          <p:cNvSpPr/>
          <p:nvPr/>
        </p:nvSpPr>
        <p:spPr>
          <a:xfrm flipV="1">
            <a:off x="2434691" y="5943600"/>
            <a:ext cx="221888" cy="182880"/>
          </a:xfrm>
          <a:prstGeom prst="line">
            <a:avLst/>
          </a:prstGeom>
          <a:noFill/>
          <a:ln w="31750">
            <a:solidFill>
              <a:srgbClr val="00C2A8"/>
            </a:solidFill>
            <a:prstDash val="solid"/>
          </a:ln>
        </p:spPr>
      </p:sp>
      <p:sp>
        <p:nvSpPr>
          <p:cNvPr id="14" name="Shape 12"/>
          <p:cNvSpPr/>
          <p:nvPr/>
        </p:nvSpPr>
        <p:spPr>
          <a:xfrm>
            <a:off x="2656579" y="5943600"/>
            <a:ext cx="443777" cy="3658"/>
          </a:xfrm>
          <a:prstGeom prst="line">
            <a:avLst/>
          </a:prstGeom>
          <a:noFill/>
          <a:ln w="31750">
            <a:solidFill>
              <a:srgbClr val="00C2A8"/>
            </a:solidFill>
            <a:prstDash val="solid"/>
          </a:ln>
        </p:spPr>
      </p:sp>
      <p:sp>
        <p:nvSpPr>
          <p:cNvPr id="15" name="Shape 13"/>
          <p:cNvSpPr/>
          <p:nvPr/>
        </p:nvSpPr>
        <p:spPr>
          <a:xfrm flipV="1">
            <a:off x="3100355" y="5779008"/>
            <a:ext cx="443777" cy="164592"/>
          </a:xfrm>
          <a:prstGeom prst="line">
            <a:avLst/>
          </a:prstGeom>
          <a:noFill/>
          <a:ln w="31750">
            <a:solidFill>
              <a:srgbClr val="00C2A8"/>
            </a:solidFill>
            <a:prstDash val="solid"/>
          </a:ln>
        </p:spPr>
      </p:sp>
      <p:sp>
        <p:nvSpPr>
          <p:cNvPr id="16" name="Shape 14"/>
          <p:cNvSpPr/>
          <p:nvPr/>
        </p:nvSpPr>
        <p:spPr>
          <a:xfrm>
            <a:off x="3544132" y="5779008"/>
            <a:ext cx="443777" cy="164592"/>
          </a:xfrm>
          <a:prstGeom prst="line">
            <a:avLst/>
          </a:prstGeom>
          <a:noFill/>
          <a:ln w="31750">
            <a:solidFill>
              <a:srgbClr val="00C2A8"/>
            </a:solidFill>
            <a:prstDash val="solid"/>
          </a:ln>
        </p:spPr>
      </p:sp>
      <p:sp>
        <p:nvSpPr>
          <p:cNvPr id="17" name="Shape 15"/>
          <p:cNvSpPr/>
          <p:nvPr/>
        </p:nvSpPr>
        <p:spPr>
          <a:xfrm>
            <a:off x="3987909" y="5943600"/>
            <a:ext cx="721137" cy="3658"/>
          </a:xfrm>
          <a:prstGeom prst="line">
            <a:avLst/>
          </a:prstGeom>
          <a:noFill/>
          <a:ln w="31750">
            <a:solidFill>
              <a:srgbClr val="00C2A8"/>
            </a:solidFill>
            <a:prstDash val="solid"/>
          </a:ln>
        </p:spPr>
      </p:sp>
      <p:sp>
        <p:nvSpPr>
          <p:cNvPr id="18" name="Shape 16"/>
          <p:cNvSpPr/>
          <p:nvPr/>
        </p:nvSpPr>
        <p:spPr>
          <a:xfrm>
            <a:off x="4709046" y="5943600"/>
            <a:ext cx="1386802" cy="3658"/>
          </a:xfrm>
          <a:prstGeom prst="line">
            <a:avLst/>
          </a:prstGeom>
          <a:noFill/>
          <a:ln w="31750">
            <a:solidFill>
              <a:srgbClr val="00C2A8"/>
            </a:solidFill>
            <a:prstDash val="solid"/>
          </a:ln>
        </p:spPr>
      </p:sp>
      <p:sp>
        <p:nvSpPr>
          <p:cNvPr id="19" name="Shape 17"/>
          <p:cNvSpPr/>
          <p:nvPr/>
        </p:nvSpPr>
        <p:spPr>
          <a:xfrm>
            <a:off x="6095848" y="5943600"/>
            <a:ext cx="0" cy="3658"/>
          </a:xfrm>
          <a:prstGeom prst="line">
            <a:avLst/>
          </a:prstGeom>
          <a:noFill/>
          <a:ln w="31750">
            <a:solidFill>
              <a:srgbClr val="00C2A8"/>
            </a:solidFill>
            <a:prstDash val="solid"/>
          </a:ln>
        </p:spPr>
      </p:sp>
      <p:sp>
        <p:nvSpPr>
          <p:cNvPr id="20" name="Shape 18"/>
          <p:cNvSpPr/>
          <p:nvPr/>
        </p:nvSpPr>
        <p:spPr>
          <a:xfrm>
            <a:off x="6095848" y="5943600"/>
            <a:ext cx="443777" cy="3658"/>
          </a:xfrm>
          <a:prstGeom prst="line">
            <a:avLst/>
          </a:prstGeom>
          <a:noFill/>
          <a:ln w="31750">
            <a:solidFill>
              <a:srgbClr val="00C2A8"/>
            </a:solidFill>
            <a:prstDash val="solid"/>
          </a:ln>
        </p:spPr>
      </p:sp>
      <p:sp>
        <p:nvSpPr>
          <p:cNvPr id="21" name="Shape 19"/>
          <p:cNvSpPr/>
          <p:nvPr/>
        </p:nvSpPr>
        <p:spPr>
          <a:xfrm flipV="1">
            <a:off x="6539624" y="5852160"/>
            <a:ext cx="221888" cy="91440"/>
          </a:xfrm>
          <a:prstGeom prst="line">
            <a:avLst/>
          </a:prstGeom>
          <a:noFill/>
          <a:ln w="31750">
            <a:solidFill>
              <a:srgbClr val="00C2A8"/>
            </a:solidFill>
            <a:prstDash val="solid"/>
          </a:ln>
        </p:spPr>
      </p:sp>
      <p:sp>
        <p:nvSpPr>
          <p:cNvPr id="22" name="Shape 20"/>
          <p:cNvSpPr/>
          <p:nvPr/>
        </p:nvSpPr>
        <p:spPr>
          <a:xfrm>
            <a:off x="6761513" y="5852160"/>
            <a:ext cx="221888" cy="91440"/>
          </a:xfrm>
          <a:prstGeom prst="line">
            <a:avLst/>
          </a:prstGeom>
          <a:noFill/>
          <a:ln w="31750">
            <a:solidFill>
              <a:srgbClr val="00C2A8"/>
            </a:solidFill>
            <a:prstDash val="solid"/>
          </a:ln>
        </p:spPr>
      </p:sp>
      <p:sp>
        <p:nvSpPr>
          <p:cNvPr id="23" name="Shape 21"/>
          <p:cNvSpPr/>
          <p:nvPr/>
        </p:nvSpPr>
        <p:spPr>
          <a:xfrm>
            <a:off x="6983401" y="5943600"/>
            <a:ext cx="332832" cy="3658"/>
          </a:xfrm>
          <a:prstGeom prst="line">
            <a:avLst/>
          </a:prstGeom>
          <a:noFill/>
          <a:ln w="31750">
            <a:solidFill>
              <a:srgbClr val="00C2A8"/>
            </a:solidFill>
            <a:prstDash val="solid"/>
          </a:ln>
        </p:spPr>
      </p:sp>
      <p:sp>
        <p:nvSpPr>
          <p:cNvPr id="24" name="Shape 22"/>
          <p:cNvSpPr/>
          <p:nvPr/>
        </p:nvSpPr>
        <p:spPr>
          <a:xfrm>
            <a:off x="7316233" y="5943600"/>
            <a:ext cx="221888" cy="54864"/>
          </a:xfrm>
          <a:prstGeom prst="line">
            <a:avLst/>
          </a:prstGeom>
          <a:noFill/>
          <a:ln w="31750">
            <a:solidFill>
              <a:srgbClr val="00C2A8"/>
            </a:solidFill>
            <a:prstDash val="solid"/>
          </a:ln>
        </p:spPr>
      </p:sp>
      <p:sp>
        <p:nvSpPr>
          <p:cNvPr id="25" name="Shape 23"/>
          <p:cNvSpPr/>
          <p:nvPr/>
        </p:nvSpPr>
        <p:spPr>
          <a:xfrm flipV="1">
            <a:off x="7538122" y="5577840"/>
            <a:ext cx="221888" cy="420624"/>
          </a:xfrm>
          <a:prstGeom prst="line">
            <a:avLst/>
          </a:prstGeom>
          <a:noFill/>
          <a:ln w="31750">
            <a:solidFill>
              <a:srgbClr val="00C2A8"/>
            </a:solidFill>
            <a:prstDash val="solid"/>
          </a:ln>
        </p:spPr>
      </p:sp>
      <p:sp>
        <p:nvSpPr>
          <p:cNvPr id="26" name="Shape 24"/>
          <p:cNvSpPr/>
          <p:nvPr/>
        </p:nvSpPr>
        <p:spPr>
          <a:xfrm>
            <a:off x="7760010" y="5577840"/>
            <a:ext cx="221888" cy="548640"/>
          </a:xfrm>
          <a:prstGeom prst="line">
            <a:avLst/>
          </a:prstGeom>
          <a:noFill/>
          <a:ln w="31750">
            <a:solidFill>
              <a:srgbClr val="00C2A8"/>
            </a:solidFill>
            <a:prstDash val="solid"/>
          </a:ln>
        </p:spPr>
      </p:sp>
      <p:sp>
        <p:nvSpPr>
          <p:cNvPr id="27" name="Shape 25"/>
          <p:cNvSpPr/>
          <p:nvPr/>
        </p:nvSpPr>
        <p:spPr>
          <a:xfrm flipV="1">
            <a:off x="7981898" y="5943600"/>
            <a:ext cx="221888" cy="182880"/>
          </a:xfrm>
          <a:prstGeom prst="line">
            <a:avLst/>
          </a:prstGeom>
          <a:noFill/>
          <a:ln w="31750">
            <a:solidFill>
              <a:srgbClr val="00C2A8"/>
            </a:solidFill>
            <a:prstDash val="solid"/>
          </a:ln>
        </p:spPr>
      </p:sp>
      <p:sp>
        <p:nvSpPr>
          <p:cNvPr id="28" name="Shape 26"/>
          <p:cNvSpPr/>
          <p:nvPr/>
        </p:nvSpPr>
        <p:spPr>
          <a:xfrm>
            <a:off x="8203786" y="5943600"/>
            <a:ext cx="443777" cy="3658"/>
          </a:xfrm>
          <a:prstGeom prst="line">
            <a:avLst/>
          </a:prstGeom>
          <a:noFill/>
          <a:ln w="31750">
            <a:solidFill>
              <a:srgbClr val="00C2A8"/>
            </a:solidFill>
            <a:prstDash val="solid"/>
          </a:ln>
        </p:spPr>
      </p:sp>
      <p:sp>
        <p:nvSpPr>
          <p:cNvPr id="29" name="Shape 27"/>
          <p:cNvSpPr/>
          <p:nvPr/>
        </p:nvSpPr>
        <p:spPr>
          <a:xfrm flipV="1">
            <a:off x="8647563" y="5779008"/>
            <a:ext cx="443777" cy="164592"/>
          </a:xfrm>
          <a:prstGeom prst="line">
            <a:avLst/>
          </a:prstGeom>
          <a:noFill/>
          <a:ln w="31750">
            <a:solidFill>
              <a:srgbClr val="00C2A8"/>
            </a:solidFill>
            <a:prstDash val="solid"/>
          </a:ln>
        </p:spPr>
      </p:sp>
      <p:sp>
        <p:nvSpPr>
          <p:cNvPr id="30" name="Shape 28"/>
          <p:cNvSpPr/>
          <p:nvPr/>
        </p:nvSpPr>
        <p:spPr>
          <a:xfrm>
            <a:off x="9091340" y="5779008"/>
            <a:ext cx="443777" cy="164592"/>
          </a:xfrm>
          <a:prstGeom prst="line">
            <a:avLst/>
          </a:prstGeom>
          <a:noFill/>
          <a:ln w="31750">
            <a:solidFill>
              <a:srgbClr val="00C2A8"/>
            </a:solidFill>
            <a:prstDash val="solid"/>
          </a:ln>
        </p:spPr>
      </p:sp>
      <p:sp>
        <p:nvSpPr>
          <p:cNvPr id="31" name="Shape 29"/>
          <p:cNvSpPr/>
          <p:nvPr/>
        </p:nvSpPr>
        <p:spPr>
          <a:xfrm>
            <a:off x="9535116" y="5943600"/>
            <a:ext cx="721137" cy="3658"/>
          </a:xfrm>
          <a:prstGeom prst="line">
            <a:avLst/>
          </a:prstGeom>
          <a:noFill/>
          <a:ln w="31750">
            <a:solidFill>
              <a:srgbClr val="00C2A8"/>
            </a:solidFill>
            <a:prstDash val="solid"/>
          </a:ln>
        </p:spPr>
      </p:sp>
      <p:sp>
        <p:nvSpPr>
          <p:cNvPr id="32" name="Shape 30"/>
          <p:cNvSpPr/>
          <p:nvPr/>
        </p:nvSpPr>
        <p:spPr>
          <a:xfrm>
            <a:off x="10256253" y="5943600"/>
            <a:ext cx="1386802" cy="3658"/>
          </a:xfrm>
          <a:prstGeom prst="line">
            <a:avLst/>
          </a:prstGeom>
          <a:noFill/>
          <a:ln w="31750">
            <a:solidFill>
              <a:srgbClr val="00C2A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Measuring blood glucose means breaking the skin, several times a day, for life</a:t>
            </a:r>
            <a:endParaRPr lang="en-US" sz="2700" dirty="0"/>
          </a:p>
        </p:txBody>
      </p:sp>
      <p:sp>
        <p:nvSpPr>
          <p:cNvPr id="3" name="Text 1"/>
          <p:cNvSpPr txBox="1"/>
          <p:nvPr/>
        </p:nvSpPr>
        <p:spPr>
          <a:xfrm>
            <a:off x="548640" y="1371600"/>
            <a:ext cx="6583680" cy="2651760"/>
          </a:xfrm>
          <a:prstGeom prst="rect">
            <a:avLst/>
          </a:prstGeom>
          <a:noFill/>
          <a:ln/>
        </p:spPr>
        <p:txBody>
          <a:bodyPr wrap="square" rtlCol="0" anchor="t"/>
          <a:lstStyle/>
          <a:p>
            <a:pPr marL="342900" indent="-342900">
              <a:spcAft>
                <a:spcPts val="900"/>
              </a:spcAft>
              <a:buSzPct val="100000"/>
              <a:buChar char="•"/>
            </a:pPr>
            <a:r>
              <a:rPr lang="en-US" sz="1500" dirty="0">
                <a:solidFill>
                  <a:srgbClr val="0B2F3A"/>
                </a:solidFill>
                <a:latin typeface="Calibri" pitchFamily="34" charset="0"/>
                <a:ea typeface="Calibri" pitchFamily="34" charset="-122"/>
                <a:cs typeface="Calibri" pitchFamily="34" charset="-120"/>
              </a:rPr>
              <a:t>Glucose is the fuel every cell runs on. In Type 1 diabetes the body makes almost no insulin, so it builds up in the blood.</a:t>
            </a:r>
            <a:endParaRPr lang="en-US" sz="1500" dirty="0"/>
          </a:p>
          <a:p>
            <a:pPr marL="342900" indent="-342900">
              <a:spcAft>
                <a:spcPts val="900"/>
              </a:spcAft>
              <a:buSzPct val="100000"/>
              <a:buChar char="•"/>
            </a:pPr>
            <a:r>
              <a:rPr lang="en-US" sz="1500" dirty="0">
                <a:solidFill>
                  <a:srgbClr val="0B2F3A"/>
                </a:solidFill>
                <a:latin typeface="Calibri" pitchFamily="34" charset="0"/>
                <a:ea typeface="Calibri" pitchFamily="34" charset="-122"/>
                <a:cs typeface="Calibri" pitchFamily="34" charset="-120"/>
              </a:rPr>
              <a:t>Below 3.9 mmol/L: confusion, seizure, coma - within minutes. Above 10.0: nerve, eye and kidney damage over years.</a:t>
            </a:r>
            <a:endParaRPr lang="en-US" sz="1500" dirty="0"/>
          </a:p>
          <a:p>
            <a:pPr marL="342900" indent="-342900">
              <a:spcAft>
                <a:spcPts val="900"/>
              </a:spcAft>
              <a:buSzPct val="100000"/>
              <a:buChar char="•"/>
            </a:pPr>
            <a:r>
              <a:rPr lang="en-US" sz="1500" dirty="0">
                <a:solidFill>
                  <a:srgbClr val="0B2F3A"/>
                </a:solidFill>
                <a:latin typeface="Calibri" pitchFamily="34" charset="0"/>
                <a:ea typeface="Calibri" pitchFamily="34" charset="-122"/>
                <a:cs typeface="Calibri" pitchFamily="34" charset="-120"/>
              </a:rPr>
              <a:t>Today that is managed with finger-pricks 4-10 times daily, or a sensor worn under the skin and replaced fortnightly.</a:t>
            </a:r>
            <a:endParaRPr lang="en-US" sz="1500" dirty="0"/>
          </a:p>
          <a:p>
            <a:pPr marL="342900" indent="-342900">
              <a:spcAft>
                <a:spcPts val="900"/>
              </a:spcAft>
              <a:buSzPct val="100000"/>
              <a:buChar char="•"/>
            </a:pPr>
            <a:r>
              <a:rPr lang="en-US" sz="1500" dirty="0">
                <a:solidFill>
                  <a:srgbClr val="0B2F3A"/>
                </a:solidFill>
                <a:latin typeface="Calibri" pitchFamily="34" charset="0"/>
                <a:ea typeface="Calibri" pitchFamily="34" charset="-122"/>
                <a:cs typeface="Calibri" pitchFamily="34" charset="-120"/>
              </a:rPr>
              <a:t>About 590 million adults live with diabetes. All of them manage it by repeatedly breaking their own skin.</a:t>
            </a:r>
            <a:endParaRPr lang="en-US" sz="1500" dirty="0"/>
          </a:p>
        </p:txBody>
      </p:sp>
      <p:sp>
        <p:nvSpPr>
          <p:cNvPr id="4" name="Shape 2"/>
          <p:cNvSpPr/>
          <p:nvPr/>
        </p:nvSpPr>
        <p:spPr>
          <a:xfrm>
            <a:off x="7360920" y="1325880"/>
            <a:ext cx="4343400" cy="2148840"/>
          </a:xfrm>
          <a:prstGeom prst="roundRect">
            <a:avLst>
              <a:gd name="adj" fmla="val 2553"/>
            </a:avLst>
          </a:prstGeom>
          <a:solidFill>
            <a:srgbClr val="EAF2F4"/>
          </a:solidFill>
          <a:ln w="12700">
            <a:solidFill>
              <a:srgbClr val="EAF2F4"/>
            </a:solidFill>
            <a:prstDash val="solid"/>
          </a:ln>
        </p:spPr>
      </p:sp>
      <p:sp>
        <p:nvSpPr>
          <p:cNvPr id="5" name="Text 3"/>
          <p:cNvSpPr txBox="1"/>
          <p:nvPr/>
        </p:nvSpPr>
        <p:spPr>
          <a:xfrm>
            <a:off x="7562088" y="1472184"/>
            <a:ext cx="3941064" cy="347472"/>
          </a:xfrm>
          <a:prstGeom prst="rect">
            <a:avLst/>
          </a:prstGeom>
          <a:noFill/>
          <a:ln/>
        </p:spPr>
        <p:txBody>
          <a:bodyPr wrap="square" lIns="0" tIns="0" rIns="0" bIns="0" rtlCol="0" anchor="ctr"/>
          <a:lstStyle/>
          <a:p>
            <a:pPr indent="0" marL="0">
              <a:buNone/>
            </a:pPr>
            <a:r>
              <a:rPr lang="en-US" sz="1400" b="1" dirty="0">
                <a:solidFill>
                  <a:srgbClr val="0B2F3A"/>
                </a:solidFill>
                <a:latin typeface="Calibri" pitchFamily="34" charset="0"/>
                <a:ea typeface="Calibri" pitchFamily="34" charset="-122"/>
                <a:cs typeface="Calibri" pitchFamily="34" charset="-120"/>
              </a:rPr>
              <a:t>Why a heartbeat might know</a:t>
            </a:r>
            <a:endParaRPr lang="en-US" sz="1400" dirty="0"/>
          </a:p>
        </p:txBody>
      </p:sp>
      <p:sp>
        <p:nvSpPr>
          <p:cNvPr id="6" name="Text 4"/>
          <p:cNvSpPr txBox="1"/>
          <p:nvPr/>
        </p:nvSpPr>
        <p:spPr>
          <a:xfrm>
            <a:off x="7562088" y="1856232"/>
            <a:ext cx="3941064" cy="1463040"/>
          </a:xfrm>
          <a:prstGeom prst="rect">
            <a:avLst/>
          </a:prstGeom>
          <a:noFill/>
          <a:ln/>
        </p:spPr>
        <p:txBody>
          <a:bodyPr wrap="square" lIns="0" tIns="0" rIns="0" bIns="0" rtlCol="0" anchor="t"/>
          <a:lstStyle/>
          <a:p>
            <a:pPr indent="0" marL="0">
              <a:buNone/>
            </a:pPr>
            <a:r>
              <a:rPr lang="en-US" sz="1250" dirty="0">
                <a:solidFill>
                  <a:srgbClr val="0B2F3A"/>
                </a:solidFill>
                <a:latin typeface="Calibri" pitchFamily="34" charset="0"/>
                <a:ea typeface="Calibri" pitchFamily="34" charset="-122"/>
                <a:cs typeface="Calibri" pitchFamily="34" charset="-120"/>
              </a:rPr>
              <a:t>Low glucose triggers adrenaline, which drives potassium into cells. Potassium controls how heart cells reset after each beat - so the ECG's QT interval lengthens. High glucose suppresses vagal tone and alters ST and T waves.</a:t>
            </a:r>
            <a:endParaRPr lang="en-US" sz="1250" dirty="0"/>
          </a:p>
          <a:p>
            <a:pPr indent="0" marL="0">
              <a:buNone/>
            </a:pPr>
            <a:endParaRPr lang="en-US" sz="1250" dirty="0"/>
          </a:p>
          <a:p>
            <a:pPr indent="0" marL="0">
              <a:buNone/>
            </a:pPr>
            <a:r>
              <a:rPr lang="en-US" sz="1250" dirty="0">
                <a:solidFill>
                  <a:srgbClr val="0B2F3A"/>
                </a:solidFill>
                <a:latin typeface="Calibri" pitchFamily="34" charset="0"/>
                <a:ea typeface="Calibri" pitchFamily="34" charset="-122"/>
                <a:cs typeface="Calibri" pitchFamily="34" charset="-120"/>
              </a:rPr>
              <a:t>The mechanism is real and well documented.</a:t>
            </a:r>
            <a:endParaRPr lang="en-US" sz="1250" dirty="0"/>
          </a:p>
        </p:txBody>
      </p:sp>
      <p:sp>
        <p:nvSpPr>
          <p:cNvPr id="7" name="Shape 5"/>
          <p:cNvSpPr/>
          <p:nvPr/>
        </p:nvSpPr>
        <p:spPr>
          <a:xfrm>
            <a:off x="548640" y="4160520"/>
            <a:ext cx="11094415" cy="1325880"/>
          </a:xfrm>
          <a:prstGeom prst="roundRect">
            <a:avLst>
              <a:gd name="adj" fmla="val 4138"/>
            </a:avLst>
          </a:prstGeom>
          <a:solidFill>
            <a:srgbClr val="FFF6E5"/>
          </a:solidFill>
          <a:ln w="12700">
            <a:solidFill>
              <a:srgbClr val="FFF6E5"/>
            </a:solidFill>
            <a:prstDash val="solid"/>
          </a:ln>
        </p:spPr>
      </p:sp>
      <p:sp>
        <p:nvSpPr>
          <p:cNvPr id="8" name="Text 6"/>
          <p:cNvSpPr txBox="1"/>
          <p:nvPr/>
        </p:nvSpPr>
        <p:spPr>
          <a:xfrm>
            <a:off x="822960" y="4334256"/>
            <a:ext cx="7315200" cy="292608"/>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But note what the mechanism actually supports</a:t>
            </a:r>
            <a:endParaRPr lang="en-US" sz="1300" dirty="0"/>
          </a:p>
        </p:txBody>
      </p:sp>
      <p:sp>
        <p:nvSpPr>
          <p:cNvPr id="9" name="Text 7"/>
          <p:cNvSpPr txBox="1"/>
          <p:nvPr/>
        </p:nvSpPr>
        <p:spPr>
          <a:xfrm>
            <a:off x="822960" y="4645152"/>
            <a:ext cx="10545775" cy="731520"/>
          </a:xfrm>
          <a:prstGeom prst="rect">
            <a:avLst/>
          </a:prstGeom>
          <a:noFill/>
          <a:ln/>
        </p:spPr>
        <p:txBody>
          <a:bodyPr wrap="square" lIns="0" tIns="0" rIns="0" bIns="0" rtlCol="0" anchor="ctr"/>
          <a:lstStyle/>
          <a:p>
            <a:pPr indent="0" marL="0">
              <a:buNone/>
            </a:pPr>
            <a:r>
              <a:rPr lang="en-US" sz="1300" dirty="0">
                <a:solidFill>
                  <a:srgbClr val="0B2F3A"/>
                </a:solidFill>
                <a:latin typeface="Calibri" pitchFamily="34" charset="0"/>
                <a:ea typeface="Calibri" pitchFamily="34" charset="-122"/>
                <a:cs typeface="Calibri" pitchFamily="34" charset="-120"/>
              </a:rPr>
              <a:t>It explains DETECTING a dangerous low or high - a classification problem. It does not promise that the exact number can be read off the waveform, which is regression, and far harder. Published ECG classification reaches 84-94% accuracy; regression consistently does not hold 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A 2024 IEEE paper reports near-clinical accuracy by fusing two signals and three models</a:t>
            </a:r>
            <a:endParaRPr lang="en-US" sz="2700" dirty="0"/>
          </a:p>
        </p:txBody>
      </p:sp>
      <p:sp>
        <p:nvSpPr>
          <p:cNvPr id="3" name="Text 1"/>
          <p:cNvSpPr txBox="1"/>
          <p:nvPr/>
        </p:nvSpPr>
        <p:spPr>
          <a:xfrm>
            <a:off x="548640" y="1298448"/>
            <a:ext cx="11094415" cy="502920"/>
          </a:xfrm>
          <a:prstGeom prst="rect">
            <a:avLst/>
          </a:prstGeom>
          <a:noFill/>
          <a:ln/>
        </p:spPr>
        <p:txBody>
          <a:bodyPr wrap="square" rtlCol="0" anchor="ctr"/>
          <a:lstStyle/>
          <a:p>
            <a:pPr indent="0" marL="0">
              <a:buNone/>
            </a:pPr>
            <a:r>
              <a:rPr lang="en-US" sz="1350" i="1" dirty="0">
                <a:solidFill>
                  <a:srgbClr val="0B2F3A"/>
                </a:solidFill>
                <a:latin typeface="Calibri" pitchFamily="34" charset="0"/>
                <a:ea typeface="Calibri" pitchFamily="34" charset="-122"/>
                <a:cs typeface="Calibri" pitchFamily="34" charset="-120"/>
              </a:rPr>
              <a:t>Li et al., "Noninvasive Blood Glucose Monitoring Using Spatiotemporal ECG and PPG Feature Fusion and Weight-Based Choquet Integral Multimodel Approach", IEEE TNNLS 35(10), 2024.</a:t>
            </a:r>
            <a:endParaRPr lang="en-US" sz="1350" dirty="0"/>
          </a:p>
        </p:txBody>
      </p:sp>
      <p:sp>
        <p:nvSpPr>
          <p:cNvPr id="4" name="Text 2"/>
          <p:cNvSpPr txBox="1"/>
          <p:nvPr/>
        </p:nvSpPr>
        <p:spPr>
          <a:xfrm>
            <a:off x="548640" y="192024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1.49</a:t>
            </a:r>
            <a:endParaRPr lang="en-US" sz="4200" dirty="0"/>
          </a:p>
        </p:txBody>
      </p:sp>
      <p:sp>
        <p:nvSpPr>
          <p:cNvPr id="5" name="Text 3"/>
          <p:cNvSpPr txBox="1"/>
          <p:nvPr/>
        </p:nvSpPr>
        <p:spPr>
          <a:xfrm>
            <a:off x="548640" y="276148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RMSE (mmol/L)</a:t>
            </a:r>
            <a:endParaRPr lang="en-US" sz="1150" dirty="0"/>
          </a:p>
        </p:txBody>
      </p:sp>
      <p:sp>
        <p:nvSpPr>
          <p:cNvPr id="6" name="Text 4"/>
          <p:cNvSpPr txBox="1"/>
          <p:nvPr/>
        </p:nvSpPr>
        <p:spPr>
          <a:xfrm>
            <a:off x="3429000" y="192024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13.42%</a:t>
            </a:r>
            <a:endParaRPr lang="en-US" sz="4200" dirty="0"/>
          </a:p>
        </p:txBody>
      </p:sp>
      <p:sp>
        <p:nvSpPr>
          <p:cNvPr id="7" name="Text 5"/>
          <p:cNvSpPr txBox="1"/>
          <p:nvPr/>
        </p:nvSpPr>
        <p:spPr>
          <a:xfrm>
            <a:off x="3429000" y="276148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MARD</a:t>
            </a:r>
            <a:endParaRPr lang="en-US" sz="1150" dirty="0"/>
          </a:p>
        </p:txBody>
      </p:sp>
      <p:sp>
        <p:nvSpPr>
          <p:cNvPr id="8" name="Text 6"/>
          <p:cNvSpPr txBox="1"/>
          <p:nvPr/>
        </p:nvSpPr>
        <p:spPr>
          <a:xfrm>
            <a:off x="6309360" y="192024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80.1%</a:t>
            </a:r>
            <a:endParaRPr lang="en-US" sz="4200" dirty="0"/>
          </a:p>
        </p:txBody>
      </p:sp>
      <p:sp>
        <p:nvSpPr>
          <p:cNvPr id="9" name="Text 7"/>
          <p:cNvSpPr txBox="1"/>
          <p:nvPr/>
        </p:nvSpPr>
        <p:spPr>
          <a:xfrm>
            <a:off x="6309360" y="276148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Parkes Zone A</a:t>
            </a:r>
            <a:endParaRPr lang="en-US" sz="1150" dirty="0"/>
          </a:p>
        </p:txBody>
      </p:sp>
      <p:sp>
        <p:nvSpPr>
          <p:cNvPr id="10" name="Text 8"/>
          <p:cNvSpPr txBox="1"/>
          <p:nvPr/>
        </p:nvSpPr>
        <p:spPr>
          <a:xfrm>
            <a:off x="9189720" y="192024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99.5%</a:t>
            </a:r>
            <a:endParaRPr lang="en-US" sz="4200" dirty="0"/>
          </a:p>
        </p:txBody>
      </p:sp>
      <p:sp>
        <p:nvSpPr>
          <p:cNvPr id="11" name="Text 9"/>
          <p:cNvSpPr txBox="1"/>
          <p:nvPr/>
        </p:nvSpPr>
        <p:spPr>
          <a:xfrm>
            <a:off x="9189720" y="276148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Zone A+B</a:t>
            </a:r>
            <a:endParaRPr lang="en-US" sz="1150" dirty="0"/>
          </a:p>
        </p:txBody>
      </p:sp>
      <p:sp>
        <p:nvSpPr>
          <p:cNvPr id="12" name="Shape 10"/>
          <p:cNvSpPr/>
          <p:nvPr/>
        </p:nvSpPr>
        <p:spPr>
          <a:xfrm>
            <a:off x="548640" y="3566160"/>
            <a:ext cx="3520440" cy="1920240"/>
          </a:xfrm>
          <a:prstGeom prst="roundRect">
            <a:avLst>
              <a:gd name="adj" fmla="val 2857"/>
            </a:avLst>
          </a:prstGeom>
          <a:solidFill>
            <a:srgbClr val="EAF2F4"/>
          </a:solidFill>
          <a:ln w="12700">
            <a:solidFill>
              <a:srgbClr val="EAF2F4"/>
            </a:solidFill>
            <a:prstDash val="solid"/>
          </a:ln>
        </p:spPr>
      </p:sp>
      <p:sp>
        <p:nvSpPr>
          <p:cNvPr id="13" name="Text 11"/>
          <p:cNvSpPr txBox="1"/>
          <p:nvPr/>
        </p:nvSpPr>
        <p:spPr>
          <a:xfrm>
            <a:off x="768096" y="3712464"/>
            <a:ext cx="31089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STAGE 1</a:t>
            </a:r>
            <a:endParaRPr lang="en-US" sz="1100" dirty="0"/>
          </a:p>
        </p:txBody>
      </p:sp>
      <p:sp>
        <p:nvSpPr>
          <p:cNvPr id="14" name="Text 12"/>
          <p:cNvSpPr txBox="1"/>
          <p:nvPr/>
        </p:nvSpPr>
        <p:spPr>
          <a:xfrm>
            <a:off x="768096" y="3986784"/>
            <a:ext cx="3108960" cy="347472"/>
          </a:xfrm>
          <a:prstGeom prst="rect">
            <a:avLst/>
          </a:prstGeom>
          <a:noFill/>
          <a:ln/>
        </p:spPr>
        <p:txBody>
          <a:bodyPr wrap="square" lIns="0" tIns="0" rIns="0" bIns="0" rtlCol="0" anchor="ctr"/>
          <a:lstStyle/>
          <a:p>
            <a:pPr indent="0" marL="0">
              <a:buNone/>
            </a:pPr>
            <a:r>
              <a:rPr lang="en-US" sz="1700" b="1" dirty="0">
                <a:solidFill>
                  <a:srgbClr val="0B2F3A"/>
                </a:solidFill>
                <a:latin typeface="Cambria" pitchFamily="34" charset="0"/>
                <a:ea typeface="Cambria" pitchFamily="34" charset="-122"/>
                <a:cs typeface="Cambria" pitchFamily="34" charset="-120"/>
              </a:rPr>
              <a:t>Collect and clean</a:t>
            </a:r>
            <a:endParaRPr lang="en-US" sz="1700" dirty="0"/>
          </a:p>
        </p:txBody>
      </p:sp>
      <p:sp>
        <p:nvSpPr>
          <p:cNvPr id="15" name="Text 13"/>
          <p:cNvSpPr txBox="1"/>
          <p:nvPr/>
        </p:nvSpPr>
        <p:spPr>
          <a:xfrm>
            <a:off x="768096" y="4407408"/>
            <a:ext cx="3108960" cy="914400"/>
          </a:xfrm>
          <a:prstGeom prst="rect">
            <a:avLst/>
          </a:prstGeom>
          <a:noFill/>
          <a:ln/>
        </p:spPr>
        <p:txBody>
          <a:bodyPr wrap="square" lIns="0" tIns="0" rIns="0" bIns="0" rtlCol="0" anchor="ctr"/>
          <a:lstStyle/>
          <a:p>
            <a:pPr indent="0" marL="0">
              <a:buNone/>
            </a:pPr>
            <a:r>
              <a:rPr lang="en-US" sz="1150" dirty="0">
                <a:solidFill>
                  <a:srgbClr val="0B2F3A"/>
                </a:solidFill>
                <a:latin typeface="Calibri" pitchFamily="34" charset="0"/>
                <a:ea typeface="Calibri" pitchFamily="34" charset="-122"/>
                <a:cs typeface="Calibri" pitchFamily="34" charset="-120"/>
              </a:rPr>
              <a:t>Record ECG + PPG, filter, cut into 16-second windows paired with a glucose reading</a:t>
            </a:r>
            <a:endParaRPr lang="en-US" sz="1150" dirty="0"/>
          </a:p>
        </p:txBody>
      </p:sp>
      <p:sp>
        <p:nvSpPr>
          <p:cNvPr id="16" name="Shape 14"/>
          <p:cNvSpPr/>
          <p:nvPr/>
        </p:nvSpPr>
        <p:spPr>
          <a:xfrm>
            <a:off x="4315968" y="3566160"/>
            <a:ext cx="3520440" cy="1920240"/>
          </a:xfrm>
          <a:prstGeom prst="roundRect">
            <a:avLst>
              <a:gd name="adj" fmla="val 2857"/>
            </a:avLst>
          </a:prstGeom>
          <a:solidFill>
            <a:srgbClr val="EAF2F4"/>
          </a:solidFill>
          <a:ln w="12700">
            <a:solidFill>
              <a:srgbClr val="EAF2F4"/>
            </a:solidFill>
            <a:prstDash val="solid"/>
          </a:ln>
        </p:spPr>
      </p:sp>
      <p:sp>
        <p:nvSpPr>
          <p:cNvPr id="17" name="Text 15"/>
          <p:cNvSpPr txBox="1"/>
          <p:nvPr/>
        </p:nvSpPr>
        <p:spPr>
          <a:xfrm>
            <a:off x="4535424" y="3712464"/>
            <a:ext cx="31089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STAGE 2</a:t>
            </a:r>
            <a:endParaRPr lang="en-US" sz="1100" dirty="0"/>
          </a:p>
        </p:txBody>
      </p:sp>
      <p:sp>
        <p:nvSpPr>
          <p:cNvPr id="18" name="Text 16"/>
          <p:cNvSpPr txBox="1"/>
          <p:nvPr/>
        </p:nvSpPr>
        <p:spPr>
          <a:xfrm>
            <a:off x="4535424" y="3986784"/>
            <a:ext cx="3108960" cy="347472"/>
          </a:xfrm>
          <a:prstGeom prst="rect">
            <a:avLst/>
          </a:prstGeom>
          <a:noFill/>
          <a:ln/>
        </p:spPr>
        <p:txBody>
          <a:bodyPr wrap="square" lIns="0" tIns="0" rIns="0" bIns="0" rtlCol="0" anchor="ctr"/>
          <a:lstStyle/>
          <a:p>
            <a:pPr indent="0" marL="0">
              <a:buNone/>
            </a:pPr>
            <a:r>
              <a:rPr lang="en-US" sz="1700" b="1" dirty="0">
                <a:solidFill>
                  <a:srgbClr val="0B2F3A"/>
                </a:solidFill>
                <a:latin typeface="Cambria" pitchFamily="34" charset="0"/>
                <a:ea typeface="Cambria" pitchFamily="34" charset="-122"/>
                <a:cs typeface="Cambria" pitchFamily="34" charset="-120"/>
              </a:rPr>
              <a:t>Describe the signal</a:t>
            </a:r>
            <a:endParaRPr lang="en-US" sz="1700" dirty="0"/>
          </a:p>
        </p:txBody>
      </p:sp>
      <p:sp>
        <p:nvSpPr>
          <p:cNvPr id="19" name="Text 17"/>
          <p:cNvSpPr txBox="1"/>
          <p:nvPr/>
        </p:nvSpPr>
        <p:spPr>
          <a:xfrm>
            <a:off x="4535424" y="4407408"/>
            <a:ext cx="3108960" cy="914400"/>
          </a:xfrm>
          <a:prstGeom prst="rect">
            <a:avLst/>
          </a:prstGeom>
          <a:noFill/>
          <a:ln/>
        </p:spPr>
        <p:txBody>
          <a:bodyPr wrap="square" lIns="0" tIns="0" rIns="0" bIns="0" rtlCol="0" anchor="ctr"/>
          <a:lstStyle/>
          <a:p>
            <a:pPr indent="0" marL="0">
              <a:buNone/>
            </a:pPr>
            <a:r>
              <a:rPr lang="en-US" sz="1150" dirty="0">
                <a:solidFill>
                  <a:srgbClr val="0B2F3A"/>
                </a:solidFill>
                <a:latin typeface="Calibri" pitchFamily="34" charset="0"/>
                <a:ea typeface="Calibri" pitchFamily="34" charset="-122"/>
                <a:cs typeface="Calibri" pitchFamily="34" charset="-120"/>
              </a:rPr>
              <a:t>Wavelet statistics plus waveform-shape measurements: 193 numbers per window</a:t>
            </a:r>
            <a:endParaRPr lang="en-US" sz="1150" dirty="0"/>
          </a:p>
        </p:txBody>
      </p:sp>
      <p:sp>
        <p:nvSpPr>
          <p:cNvPr id="20" name="Shape 18"/>
          <p:cNvSpPr/>
          <p:nvPr/>
        </p:nvSpPr>
        <p:spPr>
          <a:xfrm>
            <a:off x="8083296" y="3566160"/>
            <a:ext cx="3520440" cy="1920240"/>
          </a:xfrm>
          <a:prstGeom prst="roundRect">
            <a:avLst>
              <a:gd name="adj" fmla="val 2857"/>
            </a:avLst>
          </a:prstGeom>
          <a:solidFill>
            <a:srgbClr val="0B2F3A"/>
          </a:solidFill>
          <a:ln w="12700">
            <a:solidFill>
              <a:srgbClr val="0B2F3A"/>
            </a:solidFill>
            <a:prstDash val="solid"/>
          </a:ln>
        </p:spPr>
      </p:sp>
      <p:sp>
        <p:nvSpPr>
          <p:cNvPr id="21" name="Text 19"/>
          <p:cNvSpPr txBox="1"/>
          <p:nvPr/>
        </p:nvSpPr>
        <p:spPr>
          <a:xfrm>
            <a:off x="8302752" y="3712464"/>
            <a:ext cx="3108960" cy="256032"/>
          </a:xfrm>
          <a:prstGeom prst="rect">
            <a:avLst/>
          </a:prstGeom>
          <a:noFill/>
          <a:ln/>
        </p:spPr>
        <p:txBody>
          <a:bodyPr wrap="square" lIns="0" tIns="0" rIns="0" bIns="0" rtlCol="0" anchor="ctr"/>
          <a:lstStyle/>
          <a:p>
            <a:pPr indent="0" marL="0">
              <a:buNone/>
            </a:pPr>
            <a:r>
              <a:rPr lang="en-US" sz="1100" b="1" spc="200" kern="0" dirty="0">
                <a:solidFill>
                  <a:srgbClr val="00C2A8"/>
                </a:solidFill>
                <a:latin typeface="Calibri" pitchFamily="34" charset="0"/>
                <a:ea typeface="Calibri" pitchFamily="34" charset="-122"/>
                <a:cs typeface="Calibri" pitchFamily="34" charset="-120"/>
              </a:rPr>
              <a:t>STAGE 3</a:t>
            </a:r>
            <a:endParaRPr lang="en-US" sz="1100" dirty="0"/>
          </a:p>
        </p:txBody>
      </p:sp>
      <p:sp>
        <p:nvSpPr>
          <p:cNvPr id="22" name="Text 20"/>
          <p:cNvSpPr txBox="1"/>
          <p:nvPr/>
        </p:nvSpPr>
        <p:spPr>
          <a:xfrm>
            <a:off x="8302752" y="3986784"/>
            <a:ext cx="310896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Predict and fuse</a:t>
            </a:r>
            <a:endParaRPr lang="en-US" sz="1700" dirty="0"/>
          </a:p>
        </p:txBody>
      </p:sp>
      <p:sp>
        <p:nvSpPr>
          <p:cNvPr id="23" name="Text 21"/>
          <p:cNvSpPr txBox="1"/>
          <p:nvPr/>
        </p:nvSpPr>
        <p:spPr>
          <a:xfrm>
            <a:off x="8302752" y="4407408"/>
            <a:ext cx="3108960" cy="914400"/>
          </a:xfrm>
          <a:prstGeom prst="rect">
            <a:avLst/>
          </a:prstGeom>
          <a:noFill/>
          <a:ln/>
        </p:spPr>
        <p:txBody>
          <a:bodyPr wrap="square" lIns="0" tIns="0" rIns="0" bIns="0" rtlCol="0" anchor="ctr"/>
          <a:lstStyle/>
          <a:p>
            <a:pPr indent="0" marL="0">
              <a:buNone/>
            </a:pPr>
            <a:r>
              <a:rPr lang="en-US" sz="1150" dirty="0">
                <a:solidFill>
                  <a:srgbClr val="D6E6EA"/>
                </a:solidFill>
                <a:latin typeface="Calibri" pitchFamily="34" charset="0"/>
                <a:ea typeface="Calibri" pitchFamily="34" charset="-122"/>
                <a:cs typeface="Calibri" pitchFamily="34" charset="-120"/>
              </a:rPr>
              <a:t>Three models each predict; a Choquet integral combines their answers</a:t>
            </a:r>
            <a:endParaRPr lang="en-US" sz="1150" dirty="0"/>
          </a:p>
        </p:txBody>
      </p:sp>
      <p:sp>
        <p:nvSpPr>
          <p:cNvPr id="24" name="Text 22"/>
          <p:cNvSpPr txBox="1"/>
          <p:nvPr/>
        </p:nvSpPr>
        <p:spPr>
          <a:xfrm>
            <a:off x="548640" y="6291072"/>
            <a:ext cx="11094415" cy="32004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1.49 mmol/L approaches approved CGM accuracy. The authors published code but not data, so the claim had never been independently checked.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We rebuilt all three stages and ran them on the largest open ECG+PPG+CGM dataset</a:t>
            </a:r>
            <a:endParaRPr lang="en-US" sz="2700" dirty="0"/>
          </a:p>
        </p:txBody>
      </p:sp>
      <p:sp>
        <p:nvSpPr>
          <p:cNvPr id="3" name="Text 1"/>
          <p:cNvSpPr txBox="1"/>
          <p:nvPr/>
        </p:nvSpPr>
        <p:spPr>
          <a:xfrm>
            <a:off x="548640" y="137160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30,830</a:t>
            </a:r>
            <a:endParaRPr lang="en-US" sz="4200" dirty="0"/>
          </a:p>
        </p:txBody>
      </p:sp>
      <p:sp>
        <p:nvSpPr>
          <p:cNvPr id="4" name="Text 2"/>
          <p:cNvSpPr txBox="1"/>
          <p:nvPr/>
        </p:nvSpPr>
        <p:spPr>
          <a:xfrm>
            <a:off x="548640" y="221284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paired ECG+PPG windows</a:t>
            </a:r>
            <a:endParaRPr lang="en-US" sz="1150" dirty="0"/>
          </a:p>
        </p:txBody>
      </p:sp>
      <p:sp>
        <p:nvSpPr>
          <p:cNvPr id="5" name="Text 3"/>
          <p:cNvSpPr txBox="1"/>
          <p:nvPr/>
        </p:nvSpPr>
        <p:spPr>
          <a:xfrm>
            <a:off x="3429000" y="137160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193</a:t>
            </a:r>
            <a:endParaRPr lang="en-US" sz="4200" dirty="0"/>
          </a:p>
        </p:txBody>
      </p:sp>
      <p:sp>
        <p:nvSpPr>
          <p:cNvPr id="6" name="Text 4"/>
          <p:cNvSpPr txBox="1"/>
          <p:nvPr/>
        </p:nvSpPr>
        <p:spPr>
          <a:xfrm>
            <a:off x="3429000" y="221284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features per window</a:t>
            </a:r>
            <a:endParaRPr lang="en-US" sz="1150" dirty="0"/>
          </a:p>
        </p:txBody>
      </p:sp>
      <p:sp>
        <p:nvSpPr>
          <p:cNvPr id="7" name="Text 5"/>
          <p:cNvSpPr txBox="1"/>
          <p:nvPr/>
        </p:nvSpPr>
        <p:spPr>
          <a:xfrm>
            <a:off x="6309360" y="1371600"/>
            <a:ext cx="274320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10</a:t>
            </a:r>
            <a:endParaRPr lang="en-US" sz="4200" dirty="0"/>
          </a:p>
        </p:txBody>
      </p:sp>
      <p:sp>
        <p:nvSpPr>
          <p:cNvPr id="8" name="Text 6"/>
          <p:cNvSpPr txBox="1"/>
          <p:nvPr/>
        </p:nvSpPr>
        <p:spPr>
          <a:xfrm>
            <a:off x="6309360" y="221284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Type-1 patients</a:t>
            </a:r>
            <a:endParaRPr lang="en-US" sz="1150" dirty="0"/>
          </a:p>
        </p:txBody>
      </p:sp>
      <p:sp>
        <p:nvSpPr>
          <p:cNvPr id="9" name="Text 7"/>
          <p:cNvSpPr txBox="1"/>
          <p:nvPr/>
        </p:nvSpPr>
        <p:spPr>
          <a:xfrm>
            <a:off x="9189720" y="1371600"/>
            <a:ext cx="2743200" cy="868680"/>
          </a:xfrm>
          <a:prstGeom prst="rect">
            <a:avLst/>
          </a:prstGeom>
          <a:noFill/>
          <a:ln/>
        </p:spPr>
        <p:txBody>
          <a:bodyPr wrap="square" lIns="0" tIns="0" rIns="0" bIns="0" rtlCol="0" anchor="ctr"/>
          <a:lstStyle/>
          <a:p>
            <a:pPr algn="ctr" indent="0" marL="0">
              <a:buNone/>
            </a:pPr>
            <a:r>
              <a:rPr lang="en-US" sz="4200" b="1" dirty="0">
                <a:solidFill>
                  <a:srgbClr val="C62828"/>
                </a:solidFill>
                <a:latin typeface="Cambria" pitchFamily="34" charset="0"/>
                <a:ea typeface="Cambria" pitchFamily="34" charset="-122"/>
                <a:cs typeface="Cambria" pitchFamily="34" charset="-120"/>
              </a:rPr>
              <a:t>2.519</a:t>
            </a:r>
            <a:endParaRPr lang="en-US" sz="4200" dirty="0"/>
          </a:p>
        </p:txBody>
      </p:sp>
      <p:sp>
        <p:nvSpPr>
          <p:cNvPr id="10" name="Text 8"/>
          <p:cNvSpPr txBox="1"/>
          <p:nvPr/>
        </p:nvSpPr>
        <p:spPr>
          <a:xfrm>
            <a:off x="9189720" y="2212848"/>
            <a:ext cx="274320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baseline RMSE to beat</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5760720" cy="914400"/>
        </p:xfrm>
        <a:graphic>
          <a:graphicData uri="http://schemas.openxmlformats.org/drawingml/2006/table">
            <a:tbl>
              <a:tblPr/>
              <a:tblGrid>
                <a:gridCol w="1280160"/>
                <a:gridCol w="1371600"/>
                <a:gridCol w="3108960"/>
              </a:tblGrid>
              <a:tr h="30175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Signal</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Rate</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Device</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301752">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ECG</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250 Hz</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Zephyr BioHarness chest strap</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01752">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PPG</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64 Hz</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Empatica E4 wristband</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301752">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Glucose</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every 5 min</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B2F3A"/>
                          </a:solidFill>
                          <a:latin typeface="Calibri" pitchFamily="34" charset="0"/>
                          <a:ea typeface="Calibri" pitchFamily="34" charset="-122"/>
                          <a:cs typeface="Calibri" pitchFamily="34" charset="-120"/>
                        </a:rPr>
                        <a:t>Dexcom CGM - the reference</a:t>
                      </a:r>
                      <a:endParaRPr lang="en-US" sz="12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bl>
          </a:graphicData>
        </a:graphic>
      </p:graphicFrame>
      <p:sp>
        <p:nvSpPr>
          <p:cNvPr id="12" name="Shape 9"/>
          <p:cNvSpPr/>
          <p:nvPr/>
        </p:nvSpPr>
        <p:spPr>
          <a:xfrm>
            <a:off x="6629400" y="3017520"/>
            <a:ext cx="5074920" cy="1325880"/>
          </a:xfrm>
          <a:prstGeom prst="roundRect">
            <a:avLst>
              <a:gd name="adj" fmla="val 4138"/>
            </a:avLst>
          </a:prstGeom>
          <a:solidFill>
            <a:srgbClr val="EAF2F4"/>
          </a:solidFill>
          <a:ln w="12700">
            <a:solidFill>
              <a:srgbClr val="EAF2F4"/>
            </a:solidFill>
            <a:prstDash val="solid"/>
          </a:ln>
        </p:spPr>
      </p:sp>
      <p:sp>
        <p:nvSpPr>
          <p:cNvPr id="13" name="Text 10"/>
          <p:cNvSpPr txBox="1"/>
          <p:nvPr/>
        </p:nvSpPr>
        <p:spPr>
          <a:xfrm>
            <a:off x="6830568" y="3163824"/>
            <a:ext cx="4672584" cy="347472"/>
          </a:xfrm>
          <a:prstGeom prst="rect">
            <a:avLst/>
          </a:prstGeom>
          <a:noFill/>
          <a:ln/>
        </p:spPr>
        <p:txBody>
          <a:bodyPr wrap="square" lIns="0" tIns="0" rIns="0" bIns="0"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PhysioCGM (Scientific Data, 2025)</a:t>
            </a:r>
            <a:endParaRPr lang="en-US" sz="1300" dirty="0"/>
          </a:p>
        </p:txBody>
      </p:sp>
      <p:sp>
        <p:nvSpPr>
          <p:cNvPr id="14" name="Text 11"/>
          <p:cNvSpPr txBox="1"/>
          <p:nvPr/>
        </p:nvSpPr>
        <p:spPr>
          <a:xfrm>
            <a:off x="6830568" y="3547872"/>
            <a:ext cx="4672584" cy="640080"/>
          </a:xfrm>
          <a:prstGeom prst="rect">
            <a:avLst/>
          </a:prstGeom>
          <a:noFill/>
          <a:ln/>
        </p:spPr>
        <p:txBody>
          <a:bodyPr wrap="square" lIns="0" tIns="0" rIns="0" bIns="0" rtlCol="0" anchor="t"/>
          <a:lstStyle/>
          <a:p>
            <a:pPr indent="0" marL="0">
              <a:buNone/>
            </a:pPr>
            <a:r>
              <a:rPr lang="en-US" sz="1200" dirty="0">
                <a:solidFill>
                  <a:srgbClr val="0B2F3A"/>
                </a:solidFill>
                <a:latin typeface="Calibri" pitchFamily="34" charset="0"/>
                <a:ea typeface="Calibri" pitchFamily="34" charset="-122"/>
                <a:cs typeface="Calibri" pitchFamily="34" charset="-120"/>
              </a:rPr>
              <a:t>Public domain, CC0. The only open dataset carrying ECG AND PPG against a CGM reference - exactly the pair this paper needs.</a:t>
            </a:r>
            <a:endParaRPr lang="en-US" sz="1200" dirty="0"/>
          </a:p>
        </p:txBody>
      </p:sp>
      <p:sp>
        <p:nvSpPr>
          <p:cNvPr id="15" name="Shape 12"/>
          <p:cNvSpPr/>
          <p:nvPr/>
        </p:nvSpPr>
        <p:spPr>
          <a:xfrm>
            <a:off x="548640" y="4526280"/>
            <a:ext cx="11094415" cy="1097280"/>
          </a:xfrm>
          <a:prstGeom prst="roundRect">
            <a:avLst>
              <a:gd name="adj" fmla="val 4167"/>
            </a:avLst>
          </a:prstGeom>
          <a:solidFill>
            <a:srgbClr val="0B2F3A"/>
          </a:solidFill>
          <a:ln w="12700">
            <a:solidFill>
              <a:srgbClr val="0B2F3A"/>
            </a:solidFill>
            <a:prstDash val="solid"/>
          </a:ln>
        </p:spPr>
      </p:sp>
      <p:sp>
        <p:nvSpPr>
          <p:cNvPr id="16" name="Text 13"/>
          <p:cNvSpPr txBox="1"/>
          <p:nvPr/>
        </p:nvSpPr>
        <p:spPr>
          <a:xfrm>
            <a:off x="822960" y="4718304"/>
            <a:ext cx="10545775"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number that matters most is 2.519 mmol/L - the standard deviation of glucose, and therefore the error of a model that simply guesses the average every time. Nothing counts as learning unless it beats that.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The Choquet integral assigns importance to GROUPS of models, not just to each one</a:t>
            </a:r>
            <a:endParaRPr lang="en-US" sz="2700" dirty="0"/>
          </a:p>
        </p:txBody>
      </p:sp>
      <p:sp>
        <p:nvSpPr>
          <p:cNvPr id="3" name="Text 1"/>
          <p:cNvSpPr txBox="1"/>
          <p:nvPr/>
        </p:nvSpPr>
        <p:spPr>
          <a:xfrm>
            <a:off x="548640" y="1280160"/>
            <a:ext cx="11094415" cy="566928"/>
          </a:xfrm>
          <a:prstGeom prst="rect">
            <a:avLst/>
          </a:prstGeom>
          <a:noFill/>
          <a:ln/>
        </p:spPr>
        <p:txBody>
          <a:bodyPr wrap="square" rtlCol="0" anchor="ctr"/>
          <a:lstStyle/>
          <a:p>
            <a:pPr indent="0" marL="0">
              <a:buNone/>
            </a:pPr>
            <a:r>
              <a:rPr lang="en-US" sz="1400" dirty="0">
                <a:solidFill>
                  <a:srgbClr val="0B2F3A"/>
                </a:solidFill>
                <a:latin typeface="Calibri" pitchFamily="34" charset="0"/>
                <a:ea typeface="Calibri" pitchFamily="34" charset="-122"/>
                <a:cs typeface="Calibri" pitchFamily="34" charset="-120"/>
              </a:rPr>
              <a:t>A weighted average gives each model a number. A fuzzy measure gives every SUBSET a number - so it can say two models overlap, or that two work well together. The Sugeno lambda-measure builds all of them from one density per model:</a:t>
            </a:r>
            <a:endParaRPr lang="en-US" sz="1400" dirty="0"/>
          </a:p>
        </p:txBody>
      </p:sp>
      <p:sp>
        <p:nvSpPr>
          <p:cNvPr id="4" name="Shape 2"/>
          <p:cNvSpPr/>
          <p:nvPr/>
        </p:nvSpPr>
        <p:spPr>
          <a:xfrm>
            <a:off x="548640" y="1920240"/>
            <a:ext cx="6858000" cy="2022793"/>
          </a:xfrm>
          <a:prstGeom prst="roundRect">
            <a:avLst>
              <a:gd name="adj" fmla="val 2260"/>
            </a:avLst>
          </a:prstGeom>
          <a:solidFill>
            <a:srgbClr val="0B2F3A"/>
          </a:solidFill>
          <a:ln w="12700">
            <a:solidFill>
              <a:srgbClr val="0B2F3A"/>
            </a:solidFill>
            <a:prstDash val="solid"/>
          </a:ln>
        </p:spPr>
      </p:sp>
      <p:sp>
        <p:nvSpPr>
          <p:cNvPr id="5" name="Text 3"/>
          <p:cNvSpPr txBox="1"/>
          <p:nvPr/>
        </p:nvSpPr>
        <p:spPr>
          <a:xfrm>
            <a:off x="777240" y="2066544"/>
            <a:ext cx="6400800" cy="1730185"/>
          </a:xfrm>
          <a:prstGeom prst="rect">
            <a:avLst/>
          </a:prstGeom>
          <a:noFill/>
          <a:ln/>
        </p:spPr>
        <p:txBody>
          <a:bodyPr wrap="square" lIns="0" tIns="0" rIns="0" bIns="0" rtlCol="0" anchor="t"/>
          <a:lstStyle/>
          <a:p>
            <a:pPr indent="0" marL="0">
              <a:lnSpc>
                <a:spcPct val="130000"/>
              </a:lnSpc>
              <a:buNone/>
            </a:pPr>
            <a:r>
              <a:rPr lang="en-US" sz="1250" dirty="0">
                <a:solidFill>
                  <a:srgbClr val="00C2A8"/>
                </a:solidFill>
                <a:latin typeface="Courier New" pitchFamily="34" charset="0"/>
                <a:ea typeface="Courier New" pitchFamily="34" charset="-122"/>
                <a:cs typeface="Courier New" pitchFamily="34" charset="-120"/>
              </a:rPr>
              <a:t>g(A u B) = g(A) + g(B) + lambda*g(A)*g(B)</a:t>
            </a:r>
            <a:endParaRPr lang="en-US" sz="1250" dirty="0"/>
          </a:p>
          <a:p>
            <a:pPr indent="0" marL="0">
              <a:lnSpc>
                <a:spcPct val="130000"/>
              </a:lnSpc>
              <a:buNone/>
            </a:pPr>
            <a:endParaRPr lang="en-US" sz="1250" dirty="0"/>
          </a:p>
          <a:p>
            <a:pPr indent="0" marL="0">
              <a:lnSpc>
                <a:spcPct val="130000"/>
              </a:lnSpc>
              <a:buNone/>
            </a:pPr>
            <a:r>
              <a:rPr lang="en-US" sz="1250" dirty="0">
                <a:solidFill>
                  <a:srgbClr val="00C2A8"/>
                </a:solidFill>
                <a:latin typeface="Courier New" pitchFamily="34" charset="0"/>
                <a:ea typeface="Courier New" pitchFamily="34" charset="-122"/>
                <a:cs typeface="Courier New" pitchFamily="34" charset="-120"/>
              </a:rPr>
              <a:t>lambda fixed by   1 + lambda = PROD (1 + lambda*g_i)</a:t>
            </a:r>
            <a:endParaRPr lang="en-US" sz="1250" dirty="0"/>
          </a:p>
          <a:p>
            <a:pPr indent="0" marL="0">
              <a:lnSpc>
                <a:spcPct val="130000"/>
              </a:lnSpc>
              <a:buNone/>
            </a:pPr>
            <a:endParaRPr lang="en-US" sz="1250" dirty="0"/>
          </a:p>
          <a:p>
            <a:pPr indent="0" marL="0">
              <a:lnSpc>
                <a:spcPct val="130000"/>
              </a:lnSpc>
              <a:buNone/>
            </a:pPr>
            <a:r>
              <a:rPr lang="en-US" sz="1250" dirty="0">
                <a:solidFill>
                  <a:srgbClr val="00C2A8"/>
                </a:solidFill>
                <a:latin typeface="Courier New" pitchFamily="34" charset="0"/>
                <a:ea typeface="Courier New" pitchFamily="34" charset="-122"/>
                <a:cs typeface="Courier New" pitchFamily="34" charset="-120"/>
              </a:rPr>
              <a:t>Sort predictions largest first, then</a:t>
            </a:r>
            <a:endParaRPr lang="en-US" sz="1250" dirty="0"/>
          </a:p>
          <a:p>
            <a:pPr indent="0" marL="0">
              <a:lnSpc>
                <a:spcPct val="130000"/>
              </a:lnSpc>
              <a:buNone/>
            </a:pPr>
            <a:endParaRPr lang="en-US" sz="1250" dirty="0"/>
          </a:p>
          <a:p>
            <a:pPr indent="0" marL="0">
              <a:lnSpc>
                <a:spcPct val="130000"/>
              </a:lnSpc>
              <a:buNone/>
            </a:pPr>
            <a:r>
              <a:rPr lang="en-US" sz="1250" dirty="0">
                <a:solidFill>
                  <a:srgbClr val="00C2A8"/>
                </a:solidFill>
                <a:latin typeface="Courier New" pitchFamily="34" charset="0"/>
                <a:ea typeface="Courier New" pitchFamily="34" charset="-122"/>
                <a:cs typeface="Courier New" pitchFamily="34" charset="-120"/>
              </a:rPr>
              <a:t>   C = SUM_j  h(j) * [ g(top j) - g(top j-1) ]</a:t>
            </a:r>
            <a:endParaRPr lang="en-US" sz="1250" dirty="0"/>
          </a:p>
        </p:txBody>
      </p:sp>
      <p:sp>
        <p:nvSpPr>
          <p:cNvPr id="6" name="Text 4"/>
          <p:cNvSpPr txBox="1"/>
          <p:nvPr/>
        </p:nvSpPr>
        <p:spPr>
          <a:xfrm>
            <a:off x="7589520" y="1920240"/>
            <a:ext cx="4114800" cy="2011680"/>
          </a:xfrm>
          <a:prstGeom prst="rect">
            <a:avLst/>
          </a:prstGeom>
          <a:noFill/>
          <a:ln/>
        </p:spPr>
        <p:txBody>
          <a:bodyPr wrap="square" rtlCol="0" anchor="t"/>
          <a:lstStyle/>
          <a:p>
            <a:pPr marL="342900" indent="-342900">
              <a:spcAft>
                <a:spcPts val="900"/>
              </a:spcAft>
              <a:buSzPct val="100000"/>
              <a:buChar char="•"/>
            </a:pPr>
            <a:r>
              <a:rPr lang="en-US" sz="1250" dirty="0">
                <a:solidFill>
                  <a:srgbClr val="0B2F3A"/>
                </a:solidFill>
                <a:latin typeface="Calibri" pitchFamily="34" charset="0"/>
                <a:ea typeface="Calibri" pitchFamily="34" charset="-122"/>
                <a:cs typeface="Calibri" pitchFamily="34" charset="-120"/>
              </a:rPr>
              <a:t>Each prediction is weighted by how much the group's importance GREW when it was added.</a:t>
            </a:r>
            <a:endParaRPr lang="en-US" sz="1250" dirty="0"/>
          </a:p>
          <a:p>
            <a:pPr marL="342900" indent="-342900">
              <a:spcAft>
                <a:spcPts val="900"/>
              </a:spcAft>
              <a:buSzPct val="100000"/>
              <a:buChar char="•"/>
            </a:pPr>
            <a:r>
              <a:rPr lang="en-US" sz="1250" dirty="0">
                <a:solidFill>
                  <a:srgbClr val="0B2F3A"/>
                </a:solidFill>
                <a:latin typeface="Calibri" pitchFamily="34" charset="0"/>
                <a:ea typeface="Calibri" pitchFamily="34" charset="-122"/>
                <a:cs typeface="Calibri" pitchFamily="34" charset="-120"/>
              </a:rPr>
              <a:t>If the densities sum to 1 then lambda = 0 and this is exactly a weighted average - so the Choquet integral generalises it.</a:t>
            </a:r>
            <a:endParaRPr lang="en-US" sz="1250" dirty="0"/>
          </a:p>
          <a:p>
            <a:pPr marL="342900" indent="-342900">
              <a:spcAft>
                <a:spcPts val="900"/>
              </a:spcAft>
              <a:buSzPct val="100000"/>
              <a:buChar char="•"/>
            </a:pPr>
            <a:r>
              <a:rPr lang="en-US" sz="1250" dirty="0">
                <a:solidFill>
                  <a:srgbClr val="0B2F3A"/>
                </a:solidFill>
                <a:latin typeface="Calibri" pitchFamily="34" charset="0"/>
                <a:ea typeface="Calibri" pitchFamily="34" charset="-122"/>
                <a:cs typeface="Calibri" pitchFamily="34" charset="-120"/>
              </a:rPr>
              <a:t>Densities come from each model's honest out-of-fold accuracy.</a:t>
            </a:r>
            <a:endParaRPr lang="en-US" sz="1250" dirty="0"/>
          </a:p>
        </p:txBody>
      </p:sp>
      <p:sp>
        <p:nvSpPr>
          <p:cNvPr id="7" name="Text 5"/>
          <p:cNvSpPr txBox="1"/>
          <p:nvPr/>
        </p:nvSpPr>
        <p:spPr>
          <a:xfrm>
            <a:off x="7589520" y="4023360"/>
            <a:ext cx="4114800" cy="274320"/>
          </a:xfrm>
          <a:prstGeom prst="rect">
            <a:avLst/>
          </a:prstGeom>
          <a:noFill/>
          <a:ln/>
        </p:spPr>
        <p:txBody>
          <a:bodyPr wrap="square"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Worked example</a:t>
            </a:r>
            <a:endParaRPr lang="en-US" sz="1300" dirty="0"/>
          </a:p>
        </p:txBody>
      </p:sp>
      <p:sp>
        <p:nvSpPr>
          <p:cNvPr id="8" name="Shape 6"/>
          <p:cNvSpPr/>
          <p:nvPr/>
        </p:nvSpPr>
        <p:spPr>
          <a:xfrm>
            <a:off x="7589520" y="4343400"/>
            <a:ext cx="4114800" cy="1221740"/>
          </a:xfrm>
          <a:prstGeom prst="roundRect">
            <a:avLst>
              <a:gd name="adj" fmla="val 3742"/>
            </a:avLst>
          </a:prstGeom>
          <a:solidFill>
            <a:srgbClr val="0B2F3A"/>
          </a:solidFill>
          <a:ln w="12700">
            <a:solidFill>
              <a:srgbClr val="0B2F3A"/>
            </a:solidFill>
            <a:prstDash val="solid"/>
          </a:ln>
        </p:spPr>
      </p:sp>
      <p:sp>
        <p:nvSpPr>
          <p:cNvPr id="9" name="Text 7"/>
          <p:cNvSpPr txBox="1"/>
          <p:nvPr/>
        </p:nvSpPr>
        <p:spPr>
          <a:xfrm>
            <a:off x="7818120" y="4489704"/>
            <a:ext cx="3657600" cy="929132"/>
          </a:xfrm>
          <a:prstGeom prst="rect">
            <a:avLst/>
          </a:prstGeom>
          <a:noFill/>
          <a:ln/>
        </p:spPr>
        <p:txBody>
          <a:bodyPr wrap="square" lIns="0" tIns="0" rIns="0" bIns="0" rtlCol="0" anchor="t"/>
          <a:lstStyle/>
          <a:p>
            <a:pPr indent="0" marL="0">
              <a:lnSpc>
                <a:spcPct val="130000"/>
              </a:lnSpc>
              <a:buNone/>
            </a:pPr>
            <a:r>
              <a:rPr lang="en-US" sz="1100" dirty="0">
                <a:solidFill>
                  <a:srgbClr val="00C2A8"/>
                </a:solidFill>
                <a:latin typeface="Courier New" pitchFamily="34" charset="0"/>
                <a:ea typeface="Courier New" pitchFamily="34" charset="-122"/>
                <a:cs typeface="Courier New" pitchFamily="34" charset="-120"/>
              </a:rPr>
              <a:t>g   = (.30, .25, .20)</a:t>
            </a:r>
            <a:endParaRPr lang="en-US" sz="1100" dirty="0"/>
          </a:p>
          <a:p>
            <a:pPr indent="0" marL="0">
              <a:lnSpc>
                <a:spcPct val="130000"/>
              </a:lnSpc>
              <a:buNone/>
            </a:pPr>
            <a:r>
              <a:rPr lang="en-US" sz="1100" dirty="0">
                <a:solidFill>
                  <a:srgbClr val="00C2A8"/>
                </a:solidFill>
                <a:latin typeface="Courier New" pitchFamily="34" charset="0"/>
                <a:ea typeface="Courier New" pitchFamily="34" charset="-122"/>
                <a:cs typeface="Courier New" pitchFamily="34" charset="-120"/>
              </a:rPr>
              <a:t>h   = (9.0, 7.0, 5.0)</a:t>
            </a:r>
            <a:endParaRPr lang="en-US" sz="1100" dirty="0"/>
          </a:p>
          <a:p>
            <a:pPr indent="0" marL="0">
              <a:lnSpc>
                <a:spcPct val="130000"/>
              </a:lnSpc>
              <a:buNone/>
            </a:pPr>
            <a:r>
              <a:rPr lang="en-US" sz="1100" dirty="0">
                <a:solidFill>
                  <a:srgbClr val="00C2A8"/>
                </a:solidFill>
                <a:latin typeface="Courier New" pitchFamily="34" charset="0"/>
                <a:ea typeface="Courier New" pitchFamily="34" charset="-122"/>
                <a:cs typeface="Courier New" pitchFamily="34" charset="-120"/>
              </a:rPr>
              <a:t>w   = (.300,.342,.358)</a:t>
            </a:r>
            <a:endParaRPr lang="en-US" sz="1100" dirty="0"/>
          </a:p>
          <a:p>
            <a:pPr indent="0" marL="0">
              <a:lnSpc>
                <a:spcPct val="130000"/>
              </a:lnSpc>
              <a:buNone/>
            </a:pPr>
            <a:r>
              <a:rPr lang="en-US" sz="1100" dirty="0">
                <a:solidFill>
                  <a:srgbClr val="00C2A8"/>
                </a:solidFill>
                <a:latin typeface="Courier New" pitchFamily="34" charset="0"/>
                <a:ea typeface="Courier New" pitchFamily="34" charset="-122"/>
                <a:cs typeface="Courier New" pitchFamily="34" charset="-120"/>
              </a:rPr>
              <a:t>C   = 6.88   mean 7.00</a:t>
            </a:r>
            <a:endParaRPr lang="en-US" sz="1100" dirty="0"/>
          </a:p>
        </p:txBody>
      </p:sp>
      <p:sp>
        <p:nvSpPr>
          <p:cNvPr id="10" name="Shape 8"/>
          <p:cNvSpPr/>
          <p:nvPr/>
        </p:nvSpPr>
        <p:spPr>
          <a:xfrm>
            <a:off x="548640" y="4069080"/>
            <a:ext cx="6858000" cy="1508760"/>
          </a:xfrm>
          <a:prstGeom prst="roundRect">
            <a:avLst>
              <a:gd name="adj" fmla="val 3636"/>
            </a:avLst>
          </a:prstGeom>
          <a:solidFill>
            <a:srgbClr val="EAF2F4"/>
          </a:solidFill>
          <a:ln w="12700">
            <a:solidFill>
              <a:srgbClr val="EAF2F4"/>
            </a:solidFill>
            <a:prstDash val="solid"/>
          </a:ln>
        </p:spPr>
      </p:sp>
      <p:sp>
        <p:nvSpPr>
          <p:cNvPr id="11" name="Text 9"/>
          <p:cNvSpPr txBox="1"/>
          <p:nvPr/>
        </p:nvSpPr>
        <p:spPr>
          <a:xfrm>
            <a:off x="749808" y="4215384"/>
            <a:ext cx="6455664" cy="347472"/>
          </a:xfrm>
          <a:prstGeom prst="rect">
            <a:avLst/>
          </a:prstGeom>
          <a:noFill/>
          <a:ln/>
        </p:spPr>
        <p:txBody>
          <a:bodyPr wrap="square" lIns="0" tIns="0" rIns="0" bIns="0" rtlCol="0" anchor="ctr"/>
          <a:lstStyle/>
          <a:p>
            <a:pPr indent="0" marL="0">
              <a:buNone/>
            </a:pPr>
            <a:r>
              <a:rPr lang="en-US" sz="1400" b="1" dirty="0">
                <a:solidFill>
                  <a:srgbClr val="0B2F3A"/>
                </a:solidFill>
                <a:latin typeface="Calibri" pitchFamily="34" charset="0"/>
                <a:ea typeface="Calibri" pitchFamily="34" charset="-122"/>
                <a:cs typeface="Calibri" pitchFamily="34" charset="-120"/>
              </a:rPr>
              <a:t>The intuition, in one sentence</a:t>
            </a:r>
            <a:endParaRPr lang="en-US" sz="1400" dirty="0"/>
          </a:p>
        </p:txBody>
      </p:sp>
      <p:sp>
        <p:nvSpPr>
          <p:cNvPr id="12" name="Text 10"/>
          <p:cNvSpPr txBox="1"/>
          <p:nvPr/>
        </p:nvSpPr>
        <p:spPr>
          <a:xfrm>
            <a:off x="749808" y="4599432"/>
            <a:ext cx="6455664" cy="822960"/>
          </a:xfrm>
          <a:prstGeom prst="rect">
            <a:avLst/>
          </a:prstGeom>
          <a:noFill/>
          <a:ln/>
        </p:spPr>
        <p:txBody>
          <a:bodyPr wrap="square" lIns="0" tIns="0" rIns="0" bIns="0" rtlCol="0" anchor="t"/>
          <a:lstStyle/>
          <a:p>
            <a:pPr indent="0" marL="0">
              <a:buNone/>
            </a:pPr>
            <a:r>
              <a:rPr lang="en-US" sz="1250" dirty="0">
                <a:solidFill>
                  <a:srgbClr val="0B2F3A"/>
                </a:solidFill>
                <a:latin typeface="Calibri" pitchFamily="34" charset="0"/>
                <a:ea typeface="Calibri" pitchFamily="34" charset="-122"/>
                <a:cs typeface="Calibri" pitchFamily="34" charset="-120"/>
              </a:rPr>
              <a:t>Three doctors give three opinions. Averaging counts a shared view twice if two of them trained together, and ignores that one is far more experienced. A fuzzy measure can express BOTH - because it scores every combination of doctors, not just each doctor.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Before fusion: how 4000 raw samples become 193 numbers</a:t>
            </a:r>
            <a:endParaRPr lang="en-US" sz="2700" dirty="0"/>
          </a:p>
        </p:txBody>
      </p:sp>
      <p:sp>
        <p:nvSpPr>
          <p:cNvPr id="3" name="Text 1"/>
          <p:cNvSpPr txBox="1"/>
          <p:nvPr/>
        </p:nvSpPr>
        <p:spPr>
          <a:xfrm>
            <a:off x="548640" y="1280160"/>
            <a:ext cx="11094415" cy="548640"/>
          </a:xfrm>
          <a:prstGeom prst="rect">
            <a:avLst/>
          </a:prstGeom>
          <a:noFill/>
          <a:ln/>
        </p:spPr>
        <p:txBody>
          <a:bodyPr wrap="square" rtlCol="0" anchor="ctr"/>
          <a:lstStyle/>
          <a:p>
            <a:pPr indent="0" marL="0">
              <a:buNone/>
            </a:pPr>
            <a:r>
              <a:rPr lang="en-US" sz="1400" dirty="0">
                <a:solidFill>
                  <a:srgbClr val="0B2F3A"/>
                </a:solidFill>
                <a:latin typeface="Calibri" pitchFamily="34" charset="0"/>
                <a:ea typeface="Calibri" pitchFamily="34" charset="-122"/>
                <a:cs typeface="Calibri" pitchFamily="34" charset="-120"/>
              </a:rPr>
              <a:t>A heartbeat mixes a sharp spike (QRS) with broad waves (P and T). The db4 wavelet transform splits the window into 8 sub-signals by speed, and each gets the same 10 measurements: 8 x 10 = 80 per signal, x2 signals = the paper's 160.</a:t>
            </a:r>
            <a:endParaRPr lang="en-US" sz="1400" dirty="0"/>
          </a:p>
        </p:txBody>
      </p:sp>
      <p:sp>
        <p:nvSpPr>
          <p:cNvPr id="4" name="Shape 2"/>
          <p:cNvSpPr/>
          <p:nvPr/>
        </p:nvSpPr>
        <p:spPr>
          <a:xfrm>
            <a:off x="548640" y="1874520"/>
            <a:ext cx="6035040" cy="2317433"/>
          </a:xfrm>
          <a:prstGeom prst="roundRect">
            <a:avLst>
              <a:gd name="adj" fmla="val 1973"/>
            </a:avLst>
          </a:prstGeom>
          <a:solidFill>
            <a:srgbClr val="0B2F3A"/>
          </a:solidFill>
          <a:ln w="12700">
            <a:solidFill>
              <a:srgbClr val="0B2F3A"/>
            </a:solidFill>
            <a:prstDash val="solid"/>
          </a:ln>
        </p:spPr>
      </p:sp>
      <p:sp>
        <p:nvSpPr>
          <p:cNvPr id="5" name="Text 3"/>
          <p:cNvSpPr txBox="1"/>
          <p:nvPr/>
        </p:nvSpPr>
        <p:spPr>
          <a:xfrm>
            <a:off x="777240" y="2020824"/>
            <a:ext cx="5577840" cy="2024825"/>
          </a:xfrm>
          <a:prstGeom prst="rect">
            <a:avLst/>
          </a:prstGeom>
          <a:noFill/>
          <a:ln/>
        </p:spPr>
        <p:txBody>
          <a:bodyPr wrap="square" lIns="0" tIns="0" rIns="0" bIns="0" rtlCol="0" anchor="t"/>
          <a:lstStyle/>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Hjorth parameters (SM, SC):</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Mobility   = sqrt( var(x') / var(x) )</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Complexity = Mobility(x') / Mobility(x)</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Shannon entropy (SE), over amplitude bins p_i:</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SE = - SUM_i  p_i * log2(p_i)</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Correlation dimension (CD), the log-log slope:</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CD = lim(r-&gt;0)  d log C(r) / d log r</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66560" y="1874520"/>
          <a:ext cx="4800600" cy="914400"/>
        </p:xfrm>
        <a:graphic>
          <a:graphicData uri="http://schemas.openxmlformats.org/drawingml/2006/table">
            <a:tbl>
              <a:tblPr/>
              <a:tblGrid>
                <a:gridCol w="1280160"/>
                <a:gridCol w="3520440"/>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Symbol</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measures</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Kur, Ske</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How spiky / how lopsided</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SM, SC</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Wiggle rate, and its variation</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FD</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How jagged the line is</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CD</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How many processes drive it</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C0</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Fraction that is irregular</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PSE</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Energy spread across frequencies</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274320">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KE, SE</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How unpredictable / how informative</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bl>
          </a:graphicData>
        </a:graphic>
      </p:graphicFrame>
      <p:sp>
        <p:nvSpPr>
          <p:cNvPr id="7" name="Shape 4"/>
          <p:cNvSpPr/>
          <p:nvPr/>
        </p:nvSpPr>
        <p:spPr>
          <a:xfrm>
            <a:off x="6766560" y="4251960"/>
            <a:ext cx="4800600" cy="1325880"/>
          </a:xfrm>
          <a:prstGeom prst="roundRect">
            <a:avLst>
              <a:gd name="adj" fmla="val 4138"/>
            </a:avLst>
          </a:prstGeom>
          <a:solidFill>
            <a:srgbClr val="EAF2F4"/>
          </a:solidFill>
          <a:ln w="12700">
            <a:solidFill>
              <a:srgbClr val="EAF2F4"/>
            </a:solidFill>
            <a:prstDash val="solid"/>
          </a:ln>
        </p:spPr>
      </p:sp>
      <p:sp>
        <p:nvSpPr>
          <p:cNvPr id="8" name="Text 5"/>
          <p:cNvSpPr txBox="1"/>
          <p:nvPr/>
        </p:nvSpPr>
        <p:spPr>
          <a:xfrm>
            <a:off x="6967728" y="4398264"/>
            <a:ext cx="4398264" cy="347472"/>
          </a:xfrm>
          <a:prstGeom prst="rect">
            <a:avLst/>
          </a:prstGeom>
          <a:noFill/>
          <a:ln/>
        </p:spPr>
        <p:txBody>
          <a:bodyPr wrap="square" lIns="0" tIns="0" rIns="0" bIns="0"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Plus 33 morphological features</a:t>
            </a:r>
            <a:endParaRPr lang="en-US" sz="1300" dirty="0"/>
          </a:p>
        </p:txBody>
      </p:sp>
      <p:sp>
        <p:nvSpPr>
          <p:cNvPr id="9" name="Text 6"/>
          <p:cNvSpPr txBox="1"/>
          <p:nvPr/>
        </p:nvSpPr>
        <p:spPr>
          <a:xfrm>
            <a:off x="6967728" y="4782312"/>
            <a:ext cx="4398264" cy="640080"/>
          </a:xfrm>
          <a:prstGeom prst="rect">
            <a:avLst/>
          </a:prstGeom>
          <a:noFill/>
          <a:ln/>
        </p:spPr>
        <p:txBody>
          <a:bodyPr wrap="square" lIns="0" tIns="0" rIns="0" bIns="0" rtlCol="0" anchor="t"/>
          <a:lstStyle/>
          <a:p>
            <a:pPr indent="0" marL="0">
              <a:buNone/>
            </a:pPr>
            <a:r>
              <a:rPr lang="en-US" sz="1150" dirty="0">
                <a:solidFill>
                  <a:srgbClr val="0B2F3A"/>
                </a:solidFill>
                <a:latin typeface="Calibri" pitchFamily="34" charset="0"/>
                <a:ea typeface="Calibri" pitchFamily="34" charset="-122"/>
                <a:cs typeface="Calibri" pitchFamily="34" charset="-120"/>
              </a:rPr>
              <a:t>QT and QTc = QT/sqrt(RR), ST level, T-wave amplitude and sharpness, SDNN, RMSSD, pNN50, and PPG pulse shape. Each is citable to the glucose mechanism.</a:t>
            </a:r>
            <a:endParaRPr lang="en-US" sz="1150" dirty="0"/>
          </a:p>
        </p:txBody>
      </p:sp>
      <p:sp>
        <p:nvSpPr>
          <p:cNvPr id="10" name="Text 7"/>
          <p:cNvSpPr txBox="1"/>
          <p:nvPr/>
        </p:nvSpPr>
        <p:spPr>
          <a:xfrm>
            <a:off x="548640" y="6291072"/>
            <a:ext cx="11094415" cy="32004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We use the paper's exact choices: db4 wavelet, 7 decomposition levels, these ten features.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Finding 1: how you split the data changes the answer more than the model does</a:t>
            </a:r>
            <a:endParaRPr lang="en-US" sz="2700" dirty="0"/>
          </a:p>
        </p:txBody>
      </p:sp>
      <p:sp>
        <p:nvSpPr>
          <p:cNvPr id="3" name="Text 1"/>
          <p:cNvSpPr txBox="1"/>
          <p:nvPr/>
        </p:nvSpPr>
        <p:spPr>
          <a:xfrm>
            <a:off x="548640" y="1298448"/>
            <a:ext cx="11094415" cy="548640"/>
          </a:xfrm>
          <a:prstGeom prst="rect">
            <a:avLst/>
          </a:prstGeom>
          <a:noFill/>
          <a:ln/>
        </p:spPr>
        <p:txBody>
          <a:bodyPr wrap="square" rtlCol="0" anchor="ctr"/>
          <a:lstStyle/>
          <a:p>
            <a:pPr indent="0" marL="0">
              <a:buNone/>
            </a:pPr>
            <a:r>
              <a:rPr lang="en-US" sz="1500" dirty="0">
                <a:solidFill>
                  <a:srgbClr val="0B2F3A"/>
                </a:solidFill>
                <a:latin typeface="Calibri" pitchFamily="34" charset="0"/>
                <a:ea typeface="Calibri" pitchFamily="34" charset="-122"/>
                <a:cs typeface="Calibri" pitchFamily="34" charset="-120"/>
              </a:rPr>
              <a:t>Consecutive windows from one person are extremely similar. Shuffle them all and split at random, and the SAME patient appears in training and test - so a model can recognise the person instead of learning about glucose.</a:t>
            </a:r>
            <a:endParaRPr lang="en-US" sz="1500" dirty="0"/>
          </a:p>
        </p:txBody>
      </p:sp>
      <p:sp>
        <p:nvSpPr>
          <p:cNvPr id="4" name="Shape 2"/>
          <p:cNvSpPr/>
          <p:nvPr/>
        </p:nvSpPr>
        <p:spPr>
          <a:xfrm>
            <a:off x="548640" y="1965960"/>
            <a:ext cx="3520440" cy="2194560"/>
          </a:xfrm>
          <a:prstGeom prst="roundRect">
            <a:avLst>
              <a:gd name="adj" fmla="val 2500"/>
            </a:avLst>
          </a:prstGeom>
          <a:solidFill>
            <a:srgbClr val="EAF2F4"/>
          </a:solidFill>
          <a:ln w="12700">
            <a:solidFill>
              <a:srgbClr val="EAF2F4"/>
            </a:solidFill>
            <a:prstDash val="solid"/>
          </a:ln>
        </p:spPr>
      </p:sp>
      <p:sp>
        <p:nvSpPr>
          <p:cNvPr id="5" name="Text 3"/>
          <p:cNvSpPr txBox="1"/>
          <p:nvPr/>
        </p:nvSpPr>
        <p:spPr>
          <a:xfrm>
            <a:off x="768096" y="2130552"/>
            <a:ext cx="3108960" cy="301752"/>
          </a:xfrm>
          <a:prstGeom prst="rect">
            <a:avLst/>
          </a:prstGeom>
          <a:noFill/>
          <a:ln/>
        </p:spPr>
        <p:txBody>
          <a:bodyPr wrap="square" lIns="0" tIns="0" rIns="0" bIns="0" rtlCol="0" anchor="ctr"/>
          <a:lstStyle/>
          <a:p>
            <a:pPr indent="0" marL="0">
              <a:buNone/>
            </a:pPr>
            <a:r>
              <a:rPr lang="en-US" sz="1400" b="1" dirty="0">
                <a:solidFill>
                  <a:srgbClr val="0B2F3A"/>
                </a:solidFill>
                <a:latin typeface="Calibri" pitchFamily="34" charset="0"/>
                <a:ea typeface="Calibri" pitchFamily="34" charset="-122"/>
                <a:cs typeface="Calibri" pitchFamily="34" charset="-120"/>
              </a:rPr>
              <a:t>1. Random window</a:t>
            </a:r>
            <a:endParaRPr lang="en-US" sz="1400" dirty="0"/>
          </a:p>
        </p:txBody>
      </p:sp>
      <p:sp>
        <p:nvSpPr>
          <p:cNvPr id="6" name="Text 4"/>
          <p:cNvSpPr txBox="1"/>
          <p:nvPr/>
        </p:nvSpPr>
        <p:spPr>
          <a:xfrm>
            <a:off x="768096" y="2468880"/>
            <a:ext cx="3108960" cy="45720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Shuffle everything, split at random</a:t>
            </a:r>
            <a:endParaRPr lang="en-US" sz="1150" dirty="0"/>
          </a:p>
        </p:txBody>
      </p:sp>
      <p:sp>
        <p:nvSpPr>
          <p:cNvPr id="7" name="Text 5"/>
          <p:cNvSpPr txBox="1"/>
          <p:nvPr/>
        </p:nvSpPr>
        <p:spPr>
          <a:xfrm>
            <a:off x="768096" y="2944368"/>
            <a:ext cx="3108960" cy="1051560"/>
          </a:xfrm>
          <a:prstGeom prst="rect">
            <a:avLst/>
          </a:prstGeom>
          <a:noFill/>
          <a:ln/>
        </p:spPr>
        <p:txBody>
          <a:bodyPr wrap="square" lIns="0" tIns="0" rIns="0" bIns="0" rtlCol="0" anchor="ctr"/>
          <a:lstStyle/>
          <a:p>
            <a:pPr indent="0" marL="0">
              <a:buNone/>
            </a:pPr>
            <a:r>
              <a:rPr lang="en-US" sz="1150" dirty="0">
                <a:solidFill>
                  <a:srgbClr val="0B2F3A"/>
                </a:solidFill>
                <a:latin typeface="Calibri" pitchFamily="34" charset="0"/>
                <a:ea typeface="Calibri" pitchFamily="34" charset="-122"/>
                <a:cs typeface="Calibri" pitchFamily="34" charset="-120"/>
              </a:rPr>
              <a:t>The same patient on both sides. This is what most published work reports.</a:t>
            </a:r>
            <a:endParaRPr lang="en-US" sz="1150" dirty="0"/>
          </a:p>
        </p:txBody>
      </p:sp>
      <p:sp>
        <p:nvSpPr>
          <p:cNvPr id="8" name="Shape 6"/>
          <p:cNvSpPr/>
          <p:nvPr/>
        </p:nvSpPr>
        <p:spPr>
          <a:xfrm>
            <a:off x="4315968" y="1965960"/>
            <a:ext cx="3520440" cy="2194560"/>
          </a:xfrm>
          <a:prstGeom prst="roundRect">
            <a:avLst>
              <a:gd name="adj" fmla="val 2500"/>
            </a:avLst>
          </a:prstGeom>
          <a:solidFill>
            <a:srgbClr val="E3EEF0"/>
          </a:solidFill>
          <a:ln w="12700">
            <a:solidFill>
              <a:srgbClr val="E3EEF0"/>
            </a:solidFill>
            <a:prstDash val="solid"/>
          </a:ln>
        </p:spPr>
      </p:sp>
      <p:sp>
        <p:nvSpPr>
          <p:cNvPr id="9" name="Text 7"/>
          <p:cNvSpPr txBox="1"/>
          <p:nvPr/>
        </p:nvSpPr>
        <p:spPr>
          <a:xfrm>
            <a:off x="4535424" y="2130552"/>
            <a:ext cx="3108960" cy="301752"/>
          </a:xfrm>
          <a:prstGeom prst="rect">
            <a:avLst/>
          </a:prstGeom>
          <a:noFill/>
          <a:ln/>
        </p:spPr>
        <p:txBody>
          <a:bodyPr wrap="square" lIns="0" tIns="0" rIns="0" bIns="0" rtlCol="0" anchor="ctr"/>
          <a:lstStyle/>
          <a:p>
            <a:pPr indent="0" marL="0">
              <a:buNone/>
            </a:pPr>
            <a:r>
              <a:rPr lang="en-US" sz="1400" b="1" dirty="0">
                <a:solidFill>
                  <a:srgbClr val="0B2F3A"/>
                </a:solidFill>
                <a:latin typeface="Calibri" pitchFamily="34" charset="0"/>
                <a:ea typeface="Calibri" pitchFamily="34" charset="-122"/>
                <a:cs typeface="Calibri" pitchFamily="34" charset="-120"/>
              </a:rPr>
              <a:t>2. Subject-aware</a:t>
            </a:r>
            <a:endParaRPr lang="en-US" sz="1400" dirty="0"/>
          </a:p>
        </p:txBody>
      </p:sp>
      <p:sp>
        <p:nvSpPr>
          <p:cNvPr id="10" name="Text 8"/>
          <p:cNvSpPr txBox="1"/>
          <p:nvPr/>
        </p:nvSpPr>
        <p:spPr>
          <a:xfrm>
            <a:off x="4535424" y="2468880"/>
            <a:ext cx="3108960" cy="45720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No patient on both sides</a:t>
            </a:r>
            <a:endParaRPr lang="en-US" sz="1150" dirty="0"/>
          </a:p>
        </p:txBody>
      </p:sp>
      <p:sp>
        <p:nvSpPr>
          <p:cNvPr id="11" name="Text 9"/>
          <p:cNvSpPr txBox="1"/>
          <p:nvPr/>
        </p:nvSpPr>
        <p:spPr>
          <a:xfrm>
            <a:off x="4535424" y="2944368"/>
            <a:ext cx="3108960" cy="1051560"/>
          </a:xfrm>
          <a:prstGeom prst="rect">
            <a:avLst/>
          </a:prstGeom>
          <a:noFill/>
          <a:ln/>
        </p:spPr>
        <p:txBody>
          <a:bodyPr wrap="square" lIns="0" tIns="0" rIns="0" bIns="0" rtlCol="0" anchor="ctr"/>
          <a:lstStyle/>
          <a:p>
            <a:pPr indent="0" marL="0">
              <a:buNone/>
            </a:pPr>
            <a:r>
              <a:rPr lang="en-US" sz="1150" dirty="0">
                <a:solidFill>
                  <a:srgbClr val="0B2F3A"/>
                </a:solidFill>
                <a:latin typeface="Calibri" pitchFamily="34" charset="0"/>
                <a:ea typeface="Calibri" pitchFamily="34" charset="-122"/>
                <a:cs typeface="Calibri" pitchFamily="34" charset="-120"/>
              </a:rPr>
              <a:t>The model must now generalise across people, not memorise them.</a:t>
            </a:r>
            <a:endParaRPr lang="en-US" sz="1150" dirty="0"/>
          </a:p>
        </p:txBody>
      </p:sp>
      <p:sp>
        <p:nvSpPr>
          <p:cNvPr id="12" name="Shape 10"/>
          <p:cNvSpPr/>
          <p:nvPr/>
        </p:nvSpPr>
        <p:spPr>
          <a:xfrm>
            <a:off x="8083296" y="1965960"/>
            <a:ext cx="3520440" cy="2194560"/>
          </a:xfrm>
          <a:prstGeom prst="roundRect">
            <a:avLst>
              <a:gd name="adj" fmla="val 2500"/>
            </a:avLst>
          </a:prstGeom>
          <a:solidFill>
            <a:srgbClr val="0B2F3A"/>
          </a:solidFill>
          <a:ln w="12700">
            <a:solidFill>
              <a:srgbClr val="0B2F3A"/>
            </a:solidFill>
            <a:prstDash val="solid"/>
          </a:ln>
        </p:spPr>
      </p:sp>
      <p:sp>
        <p:nvSpPr>
          <p:cNvPr id="13" name="Text 11"/>
          <p:cNvSpPr txBox="1"/>
          <p:nvPr/>
        </p:nvSpPr>
        <p:spPr>
          <a:xfrm>
            <a:off x="8302752" y="2130552"/>
            <a:ext cx="3108960" cy="301752"/>
          </a:xfrm>
          <a:prstGeom prst="rect">
            <a:avLst/>
          </a:prstGeom>
          <a:noFill/>
          <a:ln/>
        </p:spPr>
        <p:txBody>
          <a:bodyPr wrap="square" lIns="0" tIns="0" rIns="0" bIns="0" rtlCol="0" anchor="ctr"/>
          <a:lstStyle/>
          <a:p>
            <a:pPr indent="0" marL="0">
              <a:buNone/>
            </a:pPr>
            <a:r>
              <a:rPr lang="en-US" sz="1400" b="1" dirty="0">
                <a:solidFill>
                  <a:srgbClr val="00C2A8"/>
                </a:solidFill>
                <a:latin typeface="Calibri" pitchFamily="34" charset="0"/>
                <a:ea typeface="Calibri" pitchFamily="34" charset="-122"/>
                <a:cs typeface="Calibri" pitchFamily="34" charset="-120"/>
              </a:rPr>
              <a:t>3. Leave-one-subject-out</a:t>
            </a:r>
            <a:endParaRPr lang="en-US" sz="1400" dirty="0"/>
          </a:p>
        </p:txBody>
      </p:sp>
      <p:sp>
        <p:nvSpPr>
          <p:cNvPr id="14" name="Text 12"/>
          <p:cNvSpPr txBox="1"/>
          <p:nvPr/>
        </p:nvSpPr>
        <p:spPr>
          <a:xfrm>
            <a:off x="8302752" y="2468880"/>
            <a:ext cx="3108960" cy="457200"/>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Train on 9, test on the 10th</a:t>
            </a:r>
            <a:endParaRPr lang="en-US" sz="1150" dirty="0"/>
          </a:p>
        </p:txBody>
      </p:sp>
      <p:sp>
        <p:nvSpPr>
          <p:cNvPr id="15" name="Text 13"/>
          <p:cNvSpPr txBox="1"/>
          <p:nvPr/>
        </p:nvSpPr>
        <p:spPr>
          <a:xfrm>
            <a:off x="8302752" y="2944368"/>
            <a:ext cx="3108960" cy="1051560"/>
          </a:xfrm>
          <a:prstGeom prst="rect">
            <a:avLst/>
          </a:prstGeom>
          <a:noFill/>
          <a:ln/>
        </p:spPr>
        <p:txBody>
          <a:bodyPr wrap="square" lIns="0" tIns="0" rIns="0" bIns="0" rtlCol="0" anchor="ctr"/>
          <a:lstStyle/>
          <a:p>
            <a:pPr indent="0" marL="0">
              <a:buNone/>
            </a:pPr>
            <a:r>
              <a:rPr lang="en-US" sz="1150" dirty="0">
                <a:solidFill>
                  <a:srgbClr val="D6E6EA"/>
                </a:solidFill>
                <a:latin typeface="Calibri" pitchFamily="34" charset="0"/>
                <a:ea typeface="Calibri" pitchFamily="34" charset="-122"/>
                <a:cs typeface="Calibri" pitchFamily="34" charset="-120"/>
              </a:rPr>
              <a:t>The deployment case: a brand-new patient. (Not completed - we do not claim it.)</a:t>
            </a:r>
            <a:endParaRPr lang="en-US" sz="1150" dirty="0"/>
          </a:p>
        </p:txBody>
      </p:sp>
      <p:sp>
        <p:nvSpPr>
          <p:cNvPr id="16" name="Shape 14"/>
          <p:cNvSpPr/>
          <p:nvPr/>
        </p:nvSpPr>
        <p:spPr>
          <a:xfrm>
            <a:off x="548640" y="4434840"/>
            <a:ext cx="11094415" cy="1143000"/>
          </a:xfrm>
          <a:prstGeom prst="roundRect">
            <a:avLst>
              <a:gd name="adj" fmla="val 4000"/>
            </a:avLst>
          </a:prstGeom>
          <a:solidFill>
            <a:srgbClr val="FBEFEF"/>
          </a:solidFill>
          <a:ln w="12700">
            <a:solidFill>
              <a:srgbClr val="FBEFEF"/>
            </a:solidFill>
            <a:prstDash val="solid"/>
          </a:ln>
        </p:spPr>
      </p:sp>
      <p:sp>
        <p:nvSpPr>
          <p:cNvPr id="17" name="Text 15"/>
          <p:cNvSpPr txBox="1"/>
          <p:nvPr/>
        </p:nvSpPr>
        <p:spPr>
          <a:xfrm>
            <a:off x="822960" y="4636008"/>
            <a:ext cx="10545775" cy="777240"/>
          </a:xfrm>
          <a:prstGeom prst="rect">
            <a:avLst/>
          </a:prstGeom>
          <a:noFill/>
          <a:ln/>
        </p:spPr>
        <p:txBody>
          <a:bodyPr wrap="square" lIns="0" tIns="0" rIns="0" bIns="0" rtlCol="0" anchor="ctr"/>
          <a:lstStyle/>
          <a:p>
            <a:pPr indent="0" marL="0">
              <a:buNone/>
            </a:pPr>
            <a:r>
              <a:rPr lang="en-US" sz="1350" dirty="0">
                <a:solidFill>
                  <a:srgbClr val="0B2F3A"/>
                </a:solidFill>
                <a:latin typeface="Calibri" pitchFamily="34" charset="0"/>
                <a:ea typeface="Calibri" pitchFamily="34" charset="-122"/>
                <a:cs typeface="Calibri" pitchFamily="34" charset="-120"/>
              </a:rPr>
              <a:t>A 2026 study re-tested five published PPG-glucose methods this way. The best scored R-squared 0.60 under random splitting and -0.08 under participant-aware splitting - no better than guessing the mean.</a:t>
            </a:r>
            <a:endParaRPr lang="en-US" sz="1350" dirty="0"/>
          </a:p>
        </p:txBody>
      </p:sp>
      <p:sp>
        <p:nvSpPr>
          <p:cNvPr id="18" name="Text 16"/>
          <p:cNvSpPr txBox="1"/>
          <p:nvPr/>
        </p:nvSpPr>
        <p:spPr>
          <a:xfrm>
            <a:off x="548640" y="6291072"/>
            <a:ext cx="11094415" cy="32004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Reassessing the Feasibility of PPG-Based Non-Invasive Blood Glucose Level Estimation, arXiv:2608.01820 (2026).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Our result: honest splits put every method behind the baseline</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286000"/>
                <a:gridCol w="1463040"/>
                <a:gridCol w="1691640"/>
                <a:gridCol w="1508760"/>
              </a:tblGrid>
              <a:tr h="301752">
                <a:tc>
                  <a:txBody>
                    <a:bodyPr/>
                    <a:lstStyle/>
                    <a:p>
                      <a:pPr algn="l"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Random</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Subject-aware</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Leave-one-out</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Best single model (R2)</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+0.194</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-0.243</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-0.092</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Choquet fusion (R2)</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+0.149</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-0.223</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-0.097</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No-skill baseline (R2)</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-0.000</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-0.074</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-0.035</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Choquet RMSE (mmol/L)</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2.324</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2.786</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2.639</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Baseline RMSE (mmol/L)</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2.520</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2.610</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2.564</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Beats the baseline?</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50" dirty="0">
                          <a:solidFill>
                            <a:srgbClr val="0B2F3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bl>
          </a:graphicData>
        </a:graphic>
      </p:graphicFrame>
      <p:sp>
        <p:nvSpPr>
          <p:cNvPr id="4" name="Shape 1"/>
          <p:cNvSpPr/>
          <p:nvPr/>
        </p:nvSpPr>
        <p:spPr>
          <a:xfrm>
            <a:off x="7635240" y="1463040"/>
            <a:ext cx="4069080" cy="1371600"/>
          </a:xfrm>
          <a:prstGeom prst="roundRect">
            <a:avLst>
              <a:gd name="adj" fmla="val 4000"/>
            </a:avLst>
          </a:prstGeom>
          <a:solidFill>
            <a:srgbClr val="EAF2F4"/>
          </a:solidFill>
          <a:ln w="12700">
            <a:solidFill>
              <a:srgbClr val="EAF2F4"/>
            </a:solidFill>
            <a:prstDash val="solid"/>
          </a:ln>
        </p:spPr>
      </p:sp>
      <p:sp>
        <p:nvSpPr>
          <p:cNvPr id="5" name="Text 2"/>
          <p:cNvSpPr txBox="1"/>
          <p:nvPr/>
        </p:nvSpPr>
        <p:spPr>
          <a:xfrm>
            <a:off x="7836408" y="1609344"/>
            <a:ext cx="3666744" cy="347472"/>
          </a:xfrm>
          <a:prstGeom prst="rect">
            <a:avLst/>
          </a:prstGeom>
          <a:noFill/>
          <a:ln/>
        </p:spPr>
        <p:txBody>
          <a:bodyPr wrap="square" lIns="0" tIns="0" rIns="0" bIns="0"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Read the R2 column first</a:t>
            </a:r>
            <a:endParaRPr lang="en-US" sz="1300" dirty="0"/>
          </a:p>
        </p:txBody>
      </p:sp>
      <p:sp>
        <p:nvSpPr>
          <p:cNvPr id="6" name="Text 3"/>
          <p:cNvSpPr txBox="1"/>
          <p:nvPr/>
        </p:nvSpPr>
        <p:spPr>
          <a:xfrm>
            <a:off x="7836408" y="1993392"/>
            <a:ext cx="3666744" cy="685800"/>
          </a:xfrm>
          <a:prstGeom prst="rect">
            <a:avLst/>
          </a:prstGeom>
          <a:noFill/>
          <a:ln/>
        </p:spPr>
        <p:txBody>
          <a:bodyPr wrap="square" lIns="0" tIns="0" rIns="0" bIns="0" rtlCol="0" anchor="t"/>
          <a:lstStyle/>
          <a:p>
            <a:pPr indent="0" marL="0">
              <a:buNone/>
            </a:pPr>
            <a:r>
              <a:rPr lang="en-US" sz="1200" dirty="0">
                <a:solidFill>
                  <a:srgbClr val="0B2F3A"/>
                </a:solidFill>
                <a:latin typeface="Calibri" pitchFamily="34" charset="0"/>
                <a:ea typeface="Calibri" pitchFamily="34" charset="-122"/>
                <a:cs typeface="Calibri" pitchFamily="34" charset="-120"/>
              </a:rPr>
              <a:t>It is the one metric that exposes a model doing no better than predicting the average. Negative means worse than guessing.</a:t>
            </a:r>
            <a:endParaRPr lang="en-US" sz="1200" dirty="0"/>
          </a:p>
        </p:txBody>
      </p:sp>
      <p:sp>
        <p:nvSpPr>
          <p:cNvPr id="7" name="Shape 4"/>
          <p:cNvSpPr/>
          <p:nvPr/>
        </p:nvSpPr>
        <p:spPr>
          <a:xfrm>
            <a:off x="7635240" y="2971800"/>
            <a:ext cx="4069080" cy="1417320"/>
          </a:xfrm>
          <a:prstGeom prst="roundRect">
            <a:avLst>
              <a:gd name="adj" fmla="val 3871"/>
            </a:avLst>
          </a:prstGeom>
          <a:solidFill>
            <a:srgbClr val="FBEFEF"/>
          </a:solidFill>
          <a:ln w="12700">
            <a:solidFill>
              <a:srgbClr val="FBEFEF"/>
            </a:solidFill>
            <a:prstDash val="solid"/>
          </a:ln>
        </p:spPr>
      </p:sp>
      <p:sp>
        <p:nvSpPr>
          <p:cNvPr id="8" name="Text 5"/>
          <p:cNvSpPr txBox="1"/>
          <p:nvPr/>
        </p:nvSpPr>
        <p:spPr>
          <a:xfrm>
            <a:off x="7863840" y="3127248"/>
            <a:ext cx="3611880" cy="27432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Under the honest split</a:t>
            </a:r>
            <a:endParaRPr lang="en-US" sz="1300" dirty="0"/>
          </a:p>
        </p:txBody>
      </p:sp>
      <p:sp>
        <p:nvSpPr>
          <p:cNvPr id="9" name="Text 6"/>
          <p:cNvSpPr txBox="1"/>
          <p:nvPr/>
        </p:nvSpPr>
        <p:spPr>
          <a:xfrm>
            <a:off x="7863840" y="3438144"/>
            <a:ext cx="3611880" cy="822960"/>
          </a:xfrm>
          <a:prstGeom prst="rect">
            <a:avLst/>
          </a:prstGeom>
          <a:noFill/>
          <a:ln/>
        </p:spPr>
        <p:txBody>
          <a:bodyPr wrap="square" lIns="0" tIns="0" rIns="0" bIns="0" rtlCol="0" anchor="ctr"/>
          <a:lstStyle/>
          <a:p>
            <a:pPr indent="0" marL="0">
              <a:buNone/>
            </a:pPr>
            <a:r>
              <a:rPr lang="en-US" sz="1250" dirty="0">
                <a:solidFill>
                  <a:srgbClr val="0B2F3A"/>
                </a:solidFill>
                <a:latin typeface="Calibri" pitchFamily="34" charset="0"/>
                <a:ea typeface="Calibri" pitchFamily="34" charset="-122"/>
                <a:cs typeface="Calibri" pitchFamily="34" charset="-120"/>
              </a:rPr>
              <a:t>every model - including the fusion - is WORSE than simply guessing that patient's average glucose.</a:t>
            </a:r>
            <a:endParaRPr lang="en-US" sz="1250" dirty="0"/>
          </a:p>
        </p:txBody>
      </p:sp>
      <p:sp>
        <p:nvSpPr>
          <p:cNvPr id="10" name="Shape 7"/>
          <p:cNvSpPr/>
          <p:nvPr/>
        </p:nvSpPr>
        <p:spPr>
          <a:xfrm>
            <a:off x="548640" y="3886200"/>
            <a:ext cx="6949440" cy="1691640"/>
          </a:xfrm>
          <a:prstGeom prst="roundRect">
            <a:avLst>
              <a:gd name="adj" fmla="val 3243"/>
            </a:avLst>
          </a:prstGeom>
          <a:solidFill>
            <a:srgbClr val="0B2F3A"/>
          </a:solidFill>
          <a:ln w="12700">
            <a:solidFill>
              <a:srgbClr val="0B2F3A"/>
            </a:solidFill>
            <a:prstDash val="solid"/>
          </a:ln>
        </p:spPr>
      </p:sp>
      <p:sp>
        <p:nvSpPr>
          <p:cNvPr id="11" name="Text 8"/>
          <p:cNvSpPr txBox="1"/>
          <p:nvPr/>
        </p:nvSpPr>
        <p:spPr>
          <a:xfrm>
            <a:off x="822960" y="4114800"/>
            <a:ext cx="640080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Same data. Same model. Same code.</a:t>
            </a:r>
            <a:endParaRPr lang="en-US" sz="2200" dirty="0"/>
          </a:p>
          <a:p>
            <a:pPr indent="0" marL="0">
              <a:buNone/>
            </a:pPr>
            <a:r>
              <a:rPr lang="en-US" sz="2200" b="1" dirty="0">
                <a:solidFill>
                  <a:srgbClr val="FFFFFF"/>
                </a:solidFill>
                <a:latin typeface="Cambria" pitchFamily="34" charset="0"/>
                <a:ea typeface="Cambria" pitchFamily="34" charset="-122"/>
                <a:cs typeface="Cambria" pitchFamily="34" charset="-120"/>
              </a:rPr>
              <a:t>Only the split changed.</a:t>
            </a:r>
            <a:endParaRPr lang="en-US" sz="2200" dirty="0"/>
          </a:p>
        </p:txBody>
      </p:sp>
      <p:sp>
        <p:nvSpPr>
          <p:cNvPr id="12" name="Text 9"/>
          <p:cNvSpPr txBox="1"/>
          <p:nvPr/>
        </p:nvSpPr>
        <p:spPr>
          <a:xfrm>
            <a:off x="822960" y="4846320"/>
            <a:ext cx="6400800" cy="640080"/>
          </a:xfrm>
          <a:prstGeom prst="rect">
            <a:avLst/>
          </a:prstGeom>
          <a:noFill/>
          <a:ln/>
        </p:spPr>
        <p:txBody>
          <a:bodyPr wrap="square" lIns="0" tIns="0" rIns="0" bIns="0" rtlCol="0" anchor="ctr"/>
          <a:lstStyle/>
          <a:p>
            <a:pPr indent="0" marL="0">
              <a:buNone/>
            </a:pPr>
            <a:r>
              <a:rPr lang="en-US" sz="1200" dirty="0">
                <a:solidFill>
                  <a:srgbClr val="D6E6EA"/>
                </a:solidFill>
                <a:latin typeface="Calibri" pitchFamily="34" charset="0"/>
                <a:ea typeface="Calibri" pitchFamily="34" charset="-122"/>
                <a:cs typeface="Calibri" pitchFamily="34" charset="-120"/>
              </a:rPr>
              <a:t>Note leave-one-out is not worse than subject-aware: it trains on 9 of 10 patients rather than 4 of 5, so it has more data. The invariant is that BOTH honest splits put every method behind the baseline.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What the failure looks like: predictions form a flat band, whatever the truth</a:t>
            </a:r>
            <a:endParaRPr lang="en-US" sz="2700" dirty="0"/>
          </a:p>
        </p:txBody>
      </p:sp>
      <p:pic>
        <p:nvPicPr>
          <p:cNvPr id="3" name="Image 0" descr="figures/results/fig10_parkes_subject_aware.png">    </p:cNvPr>
          <p:cNvPicPr>
            <a:picLocks noChangeAspect="1"/>
          </p:cNvPicPr>
          <p:nvPr/>
        </p:nvPicPr>
        <p:blipFill>
          <a:blip r:embed="rId1"/>
          <a:stretch>
            <a:fillRect/>
          </a:stretch>
        </p:blipFill>
        <p:spPr>
          <a:xfrm>
            <a:off x="548640" y="1234440"/>
            <a:ext cx="4434840" cy="4434840"/>
          </a:xfrm>
          <a:prstGeom prst="rect">
            <a:avLst/>
          </a:prstGeom>
        </p:spPr>
      </p:pic>
      <p:sp>
        <p:nvSpPr>
          <p:cNvPr id="4" name="Text 1"/>
          <p:cNvSpPr txBox="1"/>
          <p:nvPr/>
        </p:nvSpPr>
        <p:spPr>
          <a:xfrm>
            <a:off x="5349240" y="1371600"/>
            <a:ext cx="6355080" cy="3657600"/>
          </a:xfrm>
          <a:prstGeom prst="rect">
            <a:avLst/>
          </a:prstGeom>
          <a:noFill/>
          <a:ln/>
        </p:spPr>
        <p:txBody>
          <a:bodyPr wrap="square" rtlCol="0" anchor="t"/>
          <a:lstStyle/>
          <a:p>
            <a:pPr marL="342900" indent="-342900">
              <a:spcAft>
                <a:spcPts val="900"/>
              </a:spcAft>
              <a:buSzPct val="100000"/>
              <a:buChar char="•"/>
            </a:pPr>
            <a:r>
              <a:rPr lang="en-US" sz="1400" dirty="0">
                <a:solidFill>
                  <a:srgbClr val="0B2F3A"/>
                </a:solidFill>
                <a:latin typeface="Calibri" pitchFamily="34" charset="0"/>
                <a:ea typeface="Calibri" pitchFamily="34" charset="-122"/>
                <a:cs typeface="Calibri" pitchFamily="34" charset="-120"/>
              </a:rPr>
              <a:t>This is the paper's Fig. 10 - the Parkes error grid - drawn on our subject-aware predictions.</a:t>
            </a:r>
            <a:endParaRPr lang="en-US" sz="1400" dirty="0"/>
          </a:p>
          <a:p>
            <a:pPr marL="342900" indent="-342900">
              <a:spcAft>
                <a:spcPts val="900"/>
              </a:spcAft>
              <a:buSzPct val="100000"/>
              <a:buChar char="•"/>
            </a:pPr>
            <a:r>
              <a:rPr lang="en-US" sz="1400" dirty="0">
                <a:solidFill>
                  <a:srgbClr val="0B2F3A"/>
                </a:solidFill>
                <a:latin typeface="Calibri" pitchFamily="34" charset="0"/>
                <a:ea typeface="Calibri" pitchFamily="34" charset="-122"/>
                <a:cs typeface="Calibri" pitchFamily="34" charset="-120"/>
              </a:rPr>
              <a:t>The horizontal axis is the true glucose; the vertical axis is what the model predicted.</a:t>
            </a:r>
            <a:endParaRPr lang="en-US" sz="1400" dirty="0"/>
          </a:p>
          <a:p>
            <a:pPr marL="342900" indent="-342900">
              <a:spcAft>
                <a:spcPts val="900"/>
              </a:spcAft>
              <a:buSzPct val="100000"/>
              <a:buChar char="•"/>
            </a:pPr>
            <a:r>
              <a:rPr lang="en-US" sz="1400" dirty="0">
                <a:solidFill>
                  <a:srgbClr val="0B2F3A"/>
                </a:solidFill>
                <a:latin typeface="Calibri" pitchFamily="34" charset="0"/>
                <a:ea typeface="Calibri" pitchFamily="34" charset="-122"/>
                <a:cs typeface="Calibri" pitchFamily="34" charset="-120"/>
              </a:rPr>
              <a:t>A good model would produce a diagonal cloud along the dotted line.</a:t>
            </a:r>
            <a:endParaRPr lang="en-US" sz="1400" dirty="0"/>
          </a:p>
          <a:p>
            <a:pPr marL="342900" indent="-342900">
              <a:spcAft>
                <a:spcPts val="900"/>
              </a:spcAft>
              <a:buSzPct val="100000"/>
              <a:buChar char="•"/>
            </a:pPr>
            <a:r>
              <a:rPr lang="en-US" sz="1400" dirty="0">
                <a:solidFill>
                  <a:srgbClr val="0B2F3A"/>
                </a:solidFill>
                <a:latin typeface="Calibri" pitchFamily="34" charset="0"/>
                <a:ea typeface="Calibri" pitchFamily="34" charset="-122"/>
                <a:cs typeface="Calibri" pitchFamily="34" charset="-120"/>
              </a:rPr>
              <a:t>Ours is a HORIZONTAL band: whether the patient was at 4 or at 20 mmol/L, the model predicts roughly 6-9.</a:t>
            </a:r>
            <a:endParaRPr lang="en-US" sz="1400" dirty="0"/>
          </a:p>
          <a:p>
            <a:pPr marL="342900" indent="-342900">
              <a:spcAft>
                <a:spcPts val="900"/>
              </a:spcAft>
              <a:buSzPct val="100000"/>
              <a:buChar char="•"/>
            </a:pPr>
            <a:r>
              <a:rPr lang="en-US" sz="1400" dirty="0">
                <a:solidFill>
                  <a:srgbClr val="0B2F3A"/>
                </a:solidFill>
                <a:latin typeface="Calibri" pitchFamily="34" charset="0"/>
                <a:ea typeface="Calibri" pitchFamily="34" charset="-122"/>
                <a:cs typeface="Calibri" pitchFamily="34" charset="-120"/>
              </a:rPr>
              <a:t>That is what 'no better than predicting the average' looks like - and it is invisible in the zone percentages, because a flat band still lands inside zones A and B.</a:t>
            </a:r>
            <a:endParaRPr lang="en-US" sz="1400" dirty="0"/>
          </a:p>
        </p:txBody>
      </p:sp>
      <p:sp>
        <p:nvSpPr>
          <p:cNvPr id="5" name="Text 2"/>
          <p:cNvSpPr txBox="1"/>
          <p:nvPr/>
        </p:nvSpPr>
        <p:spPr>
          <a:xfrm>
            <a:off x="548640" y="6291072"/>
            <a:ext cx="11094415" cy="32004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30,830 predictions, Choquet fusion, subject-aware split.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Finding 2: the clinical metric everyone reports cannot tell the difference</a:t>
            </a:r>
            <a:endParaRPr lang="en-US" sz="2700" dirty="0"/>
          </a:p>
        </p:txBody>
      </p:sp>
      <p:sp>
        <p:nvSpPr>
          <p:cNvPr id="3" name="Text 1"/>
          <p:cNvSpPr txBox="1"/>
          <p:nvPr/>
        </p:nvSpPr>
        <p:spPr>
          <a:xfrm>
            <a:off x="548640" y="1298448"/>
            <a:ext cx="11094415" cy="548640"/>
          </a:xfrm>
          <a:prstGeom prst="rect">
            <a:avLst/>
          </a:prstGeom>
          <a:noFill/>
          <a:ln/>
        </p:spPr>
        <p:txBody>
          <a:bodyPr wrap="square" rtlCol="0" anchor="ctr"/>
          <a:lstStyle/>
          <a:p>
            <a:pPr indent="0" marL="0">
              <a:buNone/>
            </a:pPr>
            <a:r>
              <a:rPr lang="en-US" sz="1500" dirty="0">
                <a:solidFill>
                  <a:srgbClr val="0B2F3A"/>
                </a:solidFill>
                <a:latin typeface="Calibri" pitchFamily="34" charset="0"/>
                <a:ea typeface="Calibri" pitchFamily="34" charset="-122"/>
                <a:cs typeface="Calibri" pitchFamily="34" charset="-120"/>
              </a:rPr>
              <a:t>The Parkes error grid scores predictions by whether acting on them would harm the patient. Zone A+B is the headline clinical number in this field. Under the subject-aware split:</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766560" cy="914400"/>
        </p:xfrm>
        <a:graphic>
          <a:graphicData uri="http://schemas.openxmlformats.org/drawingml/2006/table">
            <a:tbl>
              <a:tblPr/>
              <a:tblGrid>
                <a:gridCol w="2377440"/>
                <a:gridCol w="1463040"/>
                <a:gridCol w="1463040"/>
                <a:gridCol w="146304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Zone A</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Zone A+B</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329184">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Choquet fusion</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-0.223</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41.9%</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89.4%</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-0.249</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88.2%</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329184">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-0.243</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88.5%</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No-skill baseline</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-0.074</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43.7%</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90.0%</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bl>
          </a:graphicData>
        </a:graphic>
      </p:graphicFrame>
      <p:sp>
        <p:nvSpPr>
          <p:cNvPr id="5" name="Shape 2"/>
          <p:cNvSpPr/>
          <p:nvPr/>
        </p:nvSpPr>
        <p:spPr>
          <a:xfrm>
            <a:off x="7452360" y="1965960"/>
            <a:ext cx="4251960" cy="1920240"/>
          </a:xfrm>
          <a:prstGeom prst="roundRect">
            <a:avLst>
              <a:gd name="adj" fmla="val 2857"/>
            </a:avLst>
          </a:prstGeom>
          <a:solidFill>
            <a:srgbClr val="FBEFEF"/>
          </a:solidFill>
          <a:ln w="12700">
            <a:solidFill>
              <a:srgbClr val="FBEFEF"/>
            </a:solidFill>
            <a:prstDash val="solid"/>
          </a:ln>
        </p:spPr>
      </p:sp>
      <p:sp>
        <p:nvSpPr>
          <p:cNvPr id="6" name="Text 3"/>
          <p:cNvSpPr txBox="1"/>
          <p:nvPr/>
        </p:nvSpPr>
        <p:spPr>
          <a:xfrm>
            <a:off x="7680960" y="2130552"/>
            <a:ext cx="3794760" cy="27432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The baseline wins on BOTH</a:t>
            </a:r>
            <a:endParaRPr lang="en-US" sz="1300" dirty="0"/>
          </a:p>
        </p:txBody>
      </p:sp>
      <p:sp>
        <p:nvSpPr>
          <p:cNvPr id="7" name="Text 4"/>
          <p:cNvSpPr txBox="1"/>
          <p:nvPr/>
        </p:nvSpPr>
        <p:spPr>
          <a:xfrm>
            <a:off x="7680960" y="2441448"/>
            <a:ext cx="3794760" cy="1325880"/>
          </a:xfrm>
          <a:prstGeom prst="rect">
            <a:avLst/>
          </a:prstGeom>
          <a:noFill/>
          <a:ln/>
        </p:spPr>
        <p:txBody>
          <a:bodyPr wrap="square" lIns="0" tIns="0" rIns="0" bIns="0" rtlCol="0" anchor="ctr"/>
          <a:lstStyle/>
          <a:p>
            <a:pPr indent="0" marL="0">
              <a:buNone/>
            </a:pPr>
            <a:r>
              <a:rPr lang="en-US" sz="1200" dirty="0">
                <a:solidFill>
                  <a:srgbClr val="0B2F3A"/>
                </a:solidFill>
                <a:latin typeface="Calibri" pitchFamily="34" charset="0"/>
                <a:ea typeface="Calibri" pitchFamily="34" charset="-122"/>
                <a:cs typeface="Calibri" pitchFamily="34" charset="-120"/>
              </a:rPr>
              <a:t>A constant predictor - which explains zero variance by construction - has the best R-squared AND the best clinical score.</a:t>
            </a:r>
            <a:endParaRPr lang="en-US" sz="1200" dirty="0"/>
          </a:p>
          <a:p>
            <a:pPr indent="0" marL="0">
              <a:buNone/>
            </a:pPr>
            <a:endParaRPr lang="en-US" sz="1200" dirty="0"/>
          </a:p>
          <a:p>
            <a:pPr indent="0" marL="0">
              <a:buNone/>
            </a:pPr>
            <a:r>
              <a:rPr lang="en-US" sz="1200" dirty="0">
                <a:solidFill>
                  <a:srgbClr val="0B2F3A"/>
                </a:solidFill>
                <a:latin typeface="Calibri" pitchFamily="34" charset="0"/>
                <a:ea typeface="Calibri" pitchFamily="34" charset="-122"/>
                <a:cs typeface="Calibri" pitchFamily="34" charset="-120"/>
              </a:rPr>
              <a:t>Shown only the Parkes column, a reader sees 88-90% across the board and concludes the method works.</a:t>
            </a:r>
            <a:endParaRPr lang="en-US" sz="1200" dirty="0"/>
          </a:p>
        </p:txBody>
      </p:sp>
      <p:sp>
        <p:nvSpPr>
          <p:cNvPr id="8" name="Shape 5"/>
          <p:cNvSpPr/>
          <p:nvPr/>
        </p:nvSpPr>
        <p:spPr>
          <a:xfrm>
            <a:off x="548640" y="4160520"/>
            <a:ext cx="11094415" cy="1325880"/>
          </a:xfrm>
          <a:prstGeom prst="roundRect">
            <a:avLst>
              <a:gd name="adj" fmla="val 4138"/>
            </a:avLst>
          </a:prstGeom>
          <a:solidFill>
            <a:srgbClr val="0B2F3A"/>
          </a:solidFill>
          <a:ln w="12700">
            <a:solidFill>
              <a:srgbClr val="0B2F3A"/>
            </a:solidFill>
            <a:prstDash val="solid"/>
          </a:ln>
        </p:spPr>
      </p:sp>
      <p:sp>
        <p:nvSpPr>
          <p:cNvPr id="9" name="Text 6"/>
          <p:cNvSpPr txBox="1"/>
          <p:nvPr/>
        </p:nvSpPr>
        <p:spPr>
          <a:xfrm>
            <a:off x="822960" y="4334256"/>
            <a:ext cx="7315200" cy="274320"/>
          </a:xfrm>
          <a:prstGeom prst="rect">
            <a:avLst/>
          </a:prstGeom>
          <a:noFill/>
          <a:ln/>
        </p:spPr>
        <p:txBody>
          <a:bodyPr wrap="square" lIns="0" tIns="0" rIns="0" bIns="0" rtlCol="0" anchor="ctr"/>
          <a:lstStyle/>
          <a:p>
            <a:pPr indent="0" marL="0">
              <a:buNone/>
            </a:pPr>
            <a:r>
              <a:rPr lang="en-US" sz="1300" b="1" dirty="0">
                <a:solidFill>
                  <a:srgbClr val="00C2A8"/>
                </a:solidFill>
                <a:latin typeface="Calibri" pitchFamily="34" charset="0"/>
                <a:ea typeface="Calibri" pitchFamily="34" charset="-122"/>
                <a:cs typeface="Calibri" pitchFamily="34" charset="-120"/>
              </a:rPr>
              <a:t>Why this happens, and what to do about it</a:t>
            </a:r>
            <a:endParaRPr lang="en-US" sz="1300" dirty="0"/>
          </a:p>
        </p:txBody>
      </p:sp>
      <p:sp>
        <p:nvSpPr>
          <p:cNvPr id="10" name="Text 7"/>
          <p:cNvSpPr txBox="1"/>
          <p:nvPr/>
        </p:nvSpPr>
        <p:spPr>
          <a:xfrm>
            <a:off x="822960" y="4645152"/>
            <a:ext cx="10545775" cy="7315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Most glucose readings sit in a narrow band around normal, so predicting a constant already lands the large majority of points in the acceptable zones. Zone metrics cannot certify a model on their own - they must be reported next to a baseline computed on the same folds.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The same seven models, two metrics, opposite verdicts</a:t>
            </a:r>
            <a:endParaRPr lang="en-US" sz="2700" dirty="0"/>
          </a:p>
        </p:txBody>
      </p:sp>
      <p:pic>
        <p:nvPicPr>
          <p:cNvPr id="3" name="Image 0" descr="figures/results/fig_zone_vs_r2.png">    </p:cNvPr>
          <p:cNvPicPr>
            <a:picLocks noChangeAspect="1"/>
          </p:cNvPicPr>
          <p:nvPr/>
        </p:nvPicPr>
        <p:blipFill>
          <a:blip r:embed="rId1"/>
          <a:stretch>
            <a:fillRect/>
          </a:stretch>
        </p:blipFill>
        <p:spPr>
          <a:xfrm>
            <a:off x="548640" y="1325880"/>
            <a:ext cx="11064240" cy="3566160"/>
          </a:xfrm>
          <a:prstGeom prst="rect">
            <a:avLst/>
          </a:prstGeom>
        </p:spPr>
      </p:pic>
      <p:sp>
        <p:nvSpPr>
          <p:cNvPr id="4" name="Shape 1"/>
          <p:cNvSpPr/>
          <p:nvPr/>
        </p:nvSpPr>
        <p:spPr>
          <a:xfrm>
            <a:off x="548640" y="5074920"/>
            <a:ext cx="11094415" cy="1051560"/>
          </a:xfrm>
          <a:prstGeom prst="roundRect">
            <a:avLst>
              <a:gd name="adj" fmla="val 4348"/>
            </a:avLst>
          </a:prstGeom>
          <a:solidFill>
            <a:srgbClr val="0B2F3A"/>
          </a:solidFill>
          <a:ln w="12700">
            <a:solidFill>
              <a:srgbClr val="0B2F3A"/>
            </a:solidFill>
            <a:prstDash val="solid"/>
          </a:ln>
        </p:spPr>
      </p:sp>
      <p:sp>
        <p:nvSpPr>
          <p:cNvPr id="5" name="Text 2"/>
          <p:cNvSpPr txBox="1"/>
          <p:nvPr/>
        </p:nvSpPr>
        <p:spPr>
          <a:xfrm>
            <a:off x="822960" y="5257800"/>
            <a:ext cx="10545775" cy="7315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red bar is a model that predicts a CONSTANT. On the left it has the LONGEST bar - the best clinical score of anything tested. On the right it has the SHORTEST - because it is the least-bad R-squared. One metric says it is the winner; the other says nothing here works.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Finding 3: the fusion had degenerated into a minimum operator</a:t>
            </a:r>
            <a:endParaRPr lang="en-US" sz="2700" dirty="0"/>
          </a:p>
        </p:txBody>
      </p:sp>
      <p:sp>
        <p:nvSpPr>
          <p:cNvPr id="3" name="Text 1"/>
          <p:cNvSpPr txBox="1"/>
          <p:nvPr/>
        </p:nvSpPr>
        <p:spPr>
          <a:xfrm>
            <a:off x="548640" y="1280160"/>
            <a:ext cx="11094415" cy="548640"/>
          </a:xfrm>
          <a:prstGeom prst="rect">
            <a:avLst/>
          </a:prstGeom>
          <a:noFill/>
          <a:ln/>
        </p:spPr>
        <p:txBody>
          <a:bodyPr wrap="square" rtlCol="0" anchor="ctr"/>
          <a:lstStyle/>
          <a:p>
            <a:pPr indent="0" marL="0">
              <a:buNone/>
            </a:pPr>
            <a:r>
              <a:rPr lang="en-US" sz="1400" dirty="0">
                <a:solidFill>
                  <a:srgbClr val="0B2F3A"/>
                </a:solidFill>
                <a:latin typeface="Calibri" pitchFamily="34" charset="0"/>
                <a:ea typeface="Calibri" pitchFamily="34" charset="-122"/>
                <a:cs typeface="Calibri" pitchFamily="34" charset="-120"/>
              </a:rPr>
              <a:t>If every model gets the SAME density, the fuzzy measure becomes symmetric - it depends only on how many models are in a group, never which ones. The Choquet integral then reduces to a fixed function of the sorted predictions:</a:t>
            </a:r>
            <a:endParaRPr lang="en-US" sz="1400" dirty="0"/>
          </a:p>
        </p:txBody>
      </p:sp>
      <p:sp>
        <p:nvSpPr>
          <p:cNvPr id="4" name="Shape 2"/>
          <p:cNvSpPr/>
          <p:nvPr/>
        </p:nvSpPr>
        <p:spPr>
          <a:xfrm>
            <a:off x="548640" y="1874520"/>
            <a:ext cx="5852160" cy="1737360"/>
          </a:xfrm>
          <a:prstGeom prst="roundRect">
            <a:avLst>
              <a:gd name="adj" fmla="val 2632"/>
            </a:avLst>
          </a:prstGeom>
          <a:solidFill>
            <a:srgbClr val="0B2F3A"/>
          </a:solidFill>
          <a:ln w="12700">
            <a:solidFill>
              <a:srgbClr val="0B2F3A"/>
            </a:solidFill>
            <a:prstDash val="solid"/>
          </a:ln>
        </p:spPr>
      </p:sp>
      <p:sp>
        <p:nvSpPr>
          <p:cNvPr id="5" name="Text 3"/>
          <p:cNvSpPr txBox="1"/>
          <p:nvPr/>
        </p:nvSpPr>
        <p:spPr>
          <a:xfrm>
            <a:off x="777240" y="2020824"/>
            <a:ext cx="5394960" cy="1444752"/>
          </a:xfrm>
          <a:prstGeom prst="rect">
            <a:avLst/>
          </a:prstGeom>
          <a:noFill/>
          <a:ln/>
        </p:spPr>
        <p:txBody>
          <a:bodyPr wrap="square" lIns="0" tIns="0" rIns="0" bIns="0" rtlCol="0" anchor="t"/>
          <a:lstStyle/>
          <a:p>
            <a:pPr indent="0" marL="0">
              <a:lnSpc>
                <a:spcPct val="130000"/>
              </a:lnSpc>
              <a:buNone/>
            </a:pPr>
            <a:r>
              <a:rPr lang="en-US" sz="1200" dirty="0">
                <a:solidFill>
                  <a:srgbClr val="00C2A8"/>
                </a:solidFill>
                <a:latin typeface="Courier New" pitchFamily="34" charset="0"/>
                <a:ea typeface="Courier New" pitchFamily="34" charset="-122"/>
                <a:cs typeface="Courier New" pitchFamily="34" charset="-120"/>
              </a:rPr>
              <a:t>w_j = g * beta^(j-1),   beta = 1 + lambda*g</a:t>
            </a:r>
            <a:endParaRPr lang="en-US" sz="1200" dirty="0"/>
          </a:p>
          <a:p>
            <a:pPr indent="0" marL="0">
              <a:lnSpc>
                <a:spcPct val="130000"/>
              </a:lnSpc>
              <a:buNone/>
            </a:pPr>
            <a:endParaRPr lang="en-US" sz="1200" dirty="0"/>
          </a:p>
          <a:p>
            <a:pPr indent="0" marL="0">
              <a:lnSpc>
                <a:spcPct val="130000"/>
              </a:lnSpc>
              <a:buNone/>
            </a:pPr>
            <a:r>
              <a:rPr lang="en-US" sz="1200" dirty="0">
                <a:solidFill>
                  <a:srgbClr val="00C2A8"/>
                </a:solidFill>
                <a:latin typeface="Courier New" pitchFamily="34" charset="0"/>
                <a:ea typeface="Courier New" pitchFamily="34" charset="-122"/>
                <a:cs typeface="Courier New" pitchFamily="34" charset="-120"/>
              </a:rPr>
              <a:t>j = 1 is the LARGEST prediction</a:t>
            </a:r>
            <a:endParaRPr lang="en-US" sz="1200" dirty="0"/>
          </a:p>
          <a:p>
            <a:pPr indent="0" marL="0">
              <a:lnSpc>
                <a:spcPct val="130000"/>
              </a:lnSpc>
              <a:buNone/>
            </a:pPr>
            <a:endParaRPr lang="en-US" sz="1200" dirty="0"/>
          </a:p>
          <a:p>
            <a:pPr indent="0" marL="0">
              <a:lnSpc>
                <a:spcPct val="130000"/>
              </a:lnSpc>
              <a:buNone/>
            </a:pPr>
            <a:r>
              <a:rPr lang="en-US" sz="1200" dirty="0">
                <a:solidFill>
                  <a:srgbClr val="00C2A8"/>
                </a:solidFill>
                <a:latin typeface="Courier New" pitchFamily="34" charset="0"/>
                <a:ea typeface="Courier New" pitchFamily="34" charset="-122"/>
                <a:cs typeface="Courier New" pitchFamily="34" charset="-120"/>
              </a:rPr>
              <a:t>sum(g) &lt; 1  =&gt;  lambda &gt; 0  =&gt;  beta &gt; 1</a:t>
            </a:r>
            <a:endParaRPr lang="en-US" sz="1200" dirty="0"/>
          </a:p>
          <a:p>
            <a:pPr indent="0" marL="0">
              <a:lnSpc>
                <a:spcPct val="130000"/>
              </a:lnSpc>
              <a:buNone/>
            </a:pPr>
            <a:r>
              <a:rPr lang="en-US" sz="1200" dirty="0">
                <a:solidFill>
                  <a:srgbClr val="00C2A8"/>
                </a:solidFill>
                <a:latin typeface="Courier New" pitchFamily="34" charset="0"/>
                <a:ea typeface="Courier New" pitchFamily="34" charset="-122"/>
                <a:cs typeface="Courier New" pitchFamily="34" charset="-120"/>
              </a:rPr>
              <a:t>so weight GROWS toward the smallest.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37960" y="1874520"/>
          <a:ext cx="5074920" cy="914400"/>
        </p:xfrm>
        <a:graphic>
          <a:graphicData uri="http://schemas.openxmlformats.org/drawingml/2006/table">
            <a:tbl>
              <a:tblPr/>
              <a:tblGrid>
                <a:gridCol w="685800"/>
                <a:gridCol w="1005840"/>
                <a:gridCol w="1005840"/>
                <a:gridCol w="1097280"/>
                <a:gridCol w="128016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w(largest)</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w(middle)</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w(smallest)</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becomes</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292608">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0.095</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0.895</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minimum</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0.254</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0.646</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rank-weighted</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r h="292608">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0.333</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0.333</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0.333</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0.333</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B2F3A"/>
                          </a:solidFill>
                          <a:latin typeface="Calibri" pitchFamily="34" charset="0"/>
                          <a:ea typeface="Calibri" pitchFamily="34" charset="-122"/>
                          <a:cs typeface="Calibri" pitchFamily="34" charset="-120"/>
                        </a:rPr>
                        <a:t>arithmetic mean</a:t>
                      </a:r>
                      <a:endParaRPr lang="en-US" sz="11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537960" y="3154680"/>
            <a:ext cx="5166360" cy="502920"/>
          </a:xfrm>
          <a:prstGeom prst="rect">
            <a:avLst/>
          </a:prstGeom>
          <a:noFill/>
          <a:ln/>
        </p:spPr>
        <p:txBody>
          <a:bodyPr wrap="square" rtlCol="0" anchor="ctr"/>
          <a:lstStyle/>
          <a:p>
            <a:pPr indent="0" marL="0">
              <a:buNone/>
            </a:pPr>
            <a:r>
              <a:rPr lang="en-US" sz="1250" dirty="0">
                <a:solidFill>
                  <a:srgbClr val="0B2F3A"/>
                </a:solidFill>
                <a:latin typeface="Calibri" pitchFamily="34" charset="0"/>
                <a:ea typeface="Calibri" pitchFamily="34" charset="-122"/>
                <a:cs typeface="Calibri" pitchFamily="34" charset="-120"/>
              </a:rPr>
              <a:t>In our runs the densities sat at the 0.01 floor. So we checked the output against min():</a:t>
            </a:r>
            <a:endParaRPr lang="en-US" sz="1250" dirty="0"/>
          </a:p>
        </p:txBody>
      </p:sp>
      <p:sp>
        <p:nvSpPr>
          <p:cNvPr id="8" name="Text 5"/>
          <p:cNvSpPr txBox="1"/>
          <p:nvPr/>
        </p:nvSpPr>
        <p:spPr>
          <a:xfrm>
            <a:off x="6537960" y="3657600"/>
            <a:ext cx="2468880" cy="868680"/>
          </a:xfrm>
          <a:prstGeom prst="rect">
            <a:avLst/>
          </a:prstGeom>
          <a:noFill/>
          <a:ln/>
        </p:spPr>
        <p:txBody>
          <a:bodyPr wrap="square" lIns="0" tIns="0" rIns="0" bIns="0" rtlCol="0" anchor="ctr"/>
          <a:lstStyle/>
          <a:p>
            <a:pPr algn="ctr" indent="0" marL="0">
              <a:buNone/>
            </a:pPr>
            <a:r>
              <a:rPr lang="en-US" sz="4200" b="1" dirty="0">
                <a:solidFill>
                  <a:srgbClr val="C62828"/>
                </a:solidFill>
                <a:latin typeface="Cambria" pitchFamily="34" charset="0"/>
                <a:ea typeface="Cambria" pitchFamily="34" charset="-122"/>
                <a:cs typeface="Cambria" pitchFamily="34" charset="-120"/>
              </a:rPr>
              <a:t>0.998</a:t>
            </a:r>
            <a:endParaRPr lang="en-US" sz="4200" dirty="0"/>
          </a:p>
        </p:txBody>
      </p:sp>
      <p:sp>
        <p:nvSpPr>
          <p:cNvPr id="9" name="Text 6"/>
          <p:cNvSpPr txBox="1"/>
          <p:nvPr/>
        </p:nvSpPr>
        <p:spPr>
          <a:xfrm>
            <a:off x="6537960" y="4498848"/>
            <a:ext cx="246888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correlation with min()</a:t>
            </a:r>
            <a:endParaRPr lang="en-US" sz="1150" dirty="0"/>
          </a:p>
        </p:txBody>
      </p:sp>
      <p:sp>
        <p:nvSpPr>
          <p:cNvPr id="10" name="Text 7"/>
          <p:cNvSpPr txBox="1"/>
          <p:nvPr/>
        </p:nvSpPr>
        <p:spPr>
          <a:xfrm>
            <a:off x="9189720" y="3657600"/>
            <a:ext cx="2468880" cy="868680"/>
          </a:xfrm>
          <a:prstGeom prst="rect">
            <a:avLst/>
          </a:prstGeom>
          <a:noFill/>
          <a:ln/>
        </p:spPr>
        <p:txBody>
          <a:bodyPr wrap="square" lIns="0" tIns="0" rIns="0" bIns="0" rtlCol="0" anchor="ctr"/>
          <a:lstStyle/>
          <a:p>
            <a:pPr algn="ctr" indent="0" marL="0">
              <a:buNone/>
            </a:pPr>
            <a:r>
              <a:rPr lang="en-US" sz="4200" b="1" dirty="0">
                <a:solidFill>
                  <a:srgbClr val="C62828"/>
                </a:solidFill>
                <a:latin typeface="Cambria" pitchFamily="34" charset="0"/>
                <a:ea typeface="Cambria" pitchFamily="34" charset="-122"/>
                <a:cs typeface="Cambria" pitchFamily="34" charset="-120"/>
              </a:rPr>
              <a:t>0.04</a:t>
            </a:r>
            <a:endParaRPr lang="en-US" sz="4200" dirty="0"/>
          </a:p>
        </p:txBody>
      </p:sp>
      <p:sp>
        <p:nvSpPr>
          <p:cNvPr id="11" name="Text 8"/>
          <p:cNvSpPr txBox="1"/>
          <p:nvPr/>
        </p:nvSpPr>
        <p:spPr>
          <a:xfrm>
            <a:off x="9189720" y="4498848"/>
            <a:ext cx="246888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mean gap to min()</a:t>
            </a:r>
            <a:endParaRPr lang="en-US" sz="1150" dirty="0"/>
          </a:p>
          <a:p>
            <a:pPr algn="ctr" indent="0" marL="0">
              <a:buNone/>
            </a:pPr>
            <a:r>
              <a:rPr lang="en-US" sz="1150" dirty="0">
                <a:solidFill>
                  <a:srgbClr val="5A6B72"/>
                </a:solidFill>
                <a:latin typeface="Calibri" pitchFamily="34" charset="0"/>
                <a:ea typeface="Calibri" pitchFamily="34" charset="-122"/>
                <a:cs typeface="Calibri" pitchFamily="34" charset="-120"/>
              </a:rPr>
              <a:t>(mmol/L)</a:t>
            </a:r>
            <a:endParaRPr lang="en-US" sz="1150" dirty="0"/>
          </a:p>
        </p:txBody>
      </p:sp>
      <p:sp>
        <p:nvSpPr>
          <p:cNvPr id="12" name="Shape 9"/>
          <p:cNvSpPr/>
          <p:nvPr/>
        </p:nvSpPr>
        <p:spPr>
          <a:xfrm>
            <a:off x="548640" y="4160520"/>
            <a:ext cx="5852160" cy="1417320"/>
          </a:xfrm>
          <a:prstGeom prst="roundRect">
            <a:avLst>
              <a:gd name="adj" fmla="val 3871"/>
            </a:avLst>
          </a:prstGeom>
          <a:solidFill>
            <a:srgbClr val="0B2F3A"/>
          </a:solidFill>
          <a:ln w="12700">
            <a:solidFill>
              <a:srgbClr val="0B2F3A"/>
            </a:solidFill>
            <a:prstDash val="solid"/>
          </a:ln>
        </p:spPr>
      </p:sp>
      <p:sp>
        <p:nvSpPr>
          <p:cNvPr id="13" name="Text 10"/>
          <p:cNvSpPr txBox="1"/>
          <p:nvPr/>
        </p:nvSpPr>
        <p:spPr>
          <a:xfrm>
            <a:off x="804672" y="4343400"/>
            <a:ext cx="534924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published method's distinguishing component was returning min(m1, m2, m3).</a:t>
            </a:r>
            <a:endParaRPr lang="en-US" sz="1600" dirty="0"/>
          </a:p>
        </p:txBody>
      </p:sp>
      <p:sp>
        <p:nvSpPr>
          <p:cNvPr id="14" name="Text 11"/>
          <p:cNvSpPr txBox="1"/>
          <p:nvPr/>
        </p:nvSpPr>
        <p:spPr>
          <a:xfrm>
            <a:off x="804672" y="4892040"/>
            <a:ext cx="5349240" cy="594360"/>
          </a:xfrm>
          <a:prstGeom prst="rect">
            <a:avLst/>
          </a:prstGeom>
          <a:noFill/>
          <a:ln/>
        </p:spPr>
        <p:txBody>
          <a:bodyPr wrap="square" lIns="0" tIns="0" rIns="0" bIns="0" rtlCol="0" anchor="ctr"/>
          <a:lstStyle/>
          <a:p>
            <a:pPr indent="0" marL="0">
              <a:buNone/>
            </a:pPr>
            <a:r>
              <a:rPr lang="en-US" sz="1150" dirty="0">
                <a:solidFill>
                  <a:srgbClr val="D6E6EA"/>
                </a:solidFill>
                <a:latin typeface="Calibri" pitchFamily="34" charset="0"/>
                <a:ea typeface="Calibri" pitchFamily="34" charset="-122"/>
                <a:cs typeface="Calibri" pitchFamily="34" charset="-120"/>
              </a:rPr>
              <a:t>And it is not only a bug: under honest evaluation the models genuinely cannot generalise, so the densities floor legitimately - the fusion silently turns into min() exactly when you most need it to help.</a:t>
            </a:r>
            <a:endParaRPr lang="en-US" sz="1150" dirty="0"/>
          </a:p>
        </p:txBody>
      </p:sp>
      <p:sp>
        <p:nvSpPr>
          <p:cNvPr id="15" name="Text 12"/>
          <p:cNvSpPr txBox="1"/>
          <p:nvPr/>
        </p:nvSpPr>
        <p:spPr>
          <a:xfrm>
            <a:off x="548640" y="6291072"/>
            <a:ext cx="11094415" cy="320040"/>
          </a:xfrm>
          <a:prstGeom prst="rect">
            <a:avLst/>
          </a:prstGeom>
          <a:noFill/>
          <a:ln/>
        </p:spPr>
        <p:txBody>
          <a:bodyPr wrap="square" lIns="0" tIns="0" rIns="0" bIns="0" rtlCol="0" anchor="ctr"/>
          <a:lstStyle/>
          <a:p>
            <a:pPr indent="0" marL="0">
              <a:buNone/>
            </a:pPr>
            <a:r>
              <a:rPr lang="en-US" sz="1050" i="1" dirty="0">
                <a:solidFill>
                  <a:srgbClr val="5A6B72"/>
                </a:solidFill>
                <a:latin typeface="Calibri" pitchFamily="34" charset="0"/>
                <a:ea typeface="Calibri" pitchFamily="34" charset="-122"/>
                <a:cs typeface="Calibri" pitchFamily="34" charset="-120"/>
              </a:rPr>
              <a:t>The symmetric-measure/OWA equivalence is standard theory (Grabisch; Marichal). New here: a saturating density estimator induces it by accident.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The derivation, so you can reproduce it on a board</a:t>
            </a:r>
            <a:endParaRPr lang="en-US" sz="2700" dirty="0"/>
          </a:p>
        </p:txBody>
      </p:sp>
      <p:sp>
        <p:nvSpPr>
          <p:cNvPr id="3" name="Text 1"/>
          <p:cNvSpPr txBox="1"/>
          <p:nvPr/>
        </p:nvSpPr>
        <p:spPr>
          <a:xfrm>
            <a:off x="548640" y="1280160"/>
            <a:ext cx="11094415" cy="320040"/>
          </a:xfrm>
          <a:prstGeom prst="rect">
            <a:avLst/>
          </a:prstGeom>
          <a:noFill/>
          <a:ln/>
        </p:spPr>
        <p:txBody>
          <a:bodyPr wrap="square" rtlCol="0" anchor="ctr"/>
          <a:lstStyle/>
          <a:p>
            <a:pPr indent="0" marL="0">
              <a:buNone/>
            </a:pPr>
            <a:r>
              <a:rPr lang="en-US" sz="1400" dirty="0">
                <a:solidFill>
                  <a:srgbClr val="0B2F3A"/>
                </a:solidFill>
                <a:latin typeface="Calibri" pitchFamily="34" charset="0"/>
                <a:ea typeface="Calibri" pitchFamily="34" charset="-122"/>
                <a:cs typeface="Calibri" pitchFamily="34" charset="-120"/>
              </a:rPr>
              <a:t>With all densities equal to g, the Sugeno measure of a group depends only on its SIZE:</a:t>
            </a:r>
            <a:endParaRPr lang="en-US" sz="1400" dirty="0"/>
          </a:p>
        </p:txBody>
      </p:sp>
      <p:sp>
        <p:nvSpPr>
          <p:cNvPr id="4" name="Shape 2"/>
          <p:cNvSpPr/>
          <p:nvPr/>
        </p:nvSpPr>
        <p:spPr>
          <a:xfrm>
            <a:off x="548640" y="1691640"/>
            <a:ext cx="7223760" cy="3376295"/>
          </a:xfrm>
          <a:prstGeom prst="roundRect">
            <a:avLst>
              <a:gd name="adj" fmla="val 1354"/>
            </a:avLst>
          </a:prstGeom>
          <a:solidFill>
            <a:srgbClr val="0B2F3A"/>
          </a:solidFill>
          <a:ln w="12700">
            <a:solidFill>
              <a:srgbClr val="0B2F3A"/>
            </a:solidFill>
            <a:prstDash val="solid"/>
          </a:ln>
        </p:spPr>
      </p:sp>
      <p:sp>
        <p:nvSpPr>
          <p:cNvPr id="5" name="Text 3"/>
          <p:cNvSpPr txBox="1"/>
          <p:nvPr/>
        </p:nvSpPr>
        <p:spPr>
          <a:xfrm>
            <a:off x="777240" y="1837944"/>
            <a:ext cx="6766560" cy="3083687"/>
          </a:xfrm>
          <a:prstGeom prst="rect">
            <a:avLst/>
          </a:prstGeom>
          <a:noFill/>
          <a:ln/>
        </p:spPr>
        <p:txBody>
          <a:bodyPr wrap="square" lIns="0" tIns="0" rIns="0" bIns="0" rtlCol="0" anchor="t"/>
          <a:lstStyle/>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Sugeno recursion, applied j times:</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g(A_j) = [ (1 + lambda*g)^j  -  1 ] / lambda</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The weight on the j-th largest prediction is the growth:</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w_j = g(A_j) - g(A_j-1)</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 [ beta^j - beta^(j-1) ] / lambda      (beta = 1+lambda*g)</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 g * beta^(j-1)</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Check it sums to 1:</a:t>
            </a:r>
            <a:endParaRPr lang="en-US" sz="1150" dirty="0"/>
          </a:p>
          <a:p>
            <a:pPr indent="0" marL="0">
              <a:lnSpc>
                <a:spcPct val="130000"/>
              </a:lnSpc>
              <a:buNone/>
            </a:pP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SUM_j w_j = g*(beta^N - 1)/(beta - 1)</a:t>
            </a:r>
            <a:endParaRPr lang="en-US" sz="1150" dirty="0"/>
          </a:p>
          <a:p>
            <a:pPr indent="0" marL="0">
              <a:lnSpc>
                <a:spcPct val="130000"/>
              </a:lnSpc>
              <a:buNone/>
            </a:pPr>
            <a:r>
              <a:rPr lang="en-US" sz="1150" dirty="0">
                <a:solidFill>
                  <a:srgbClr val="00C2A8"/>
                </a:solidFill>
                <a:latin typeface="Courier New" pitchFamily="34" charset="0"/>
                <a:ea typeface="Courier New" pitchFamily="34" charset="-122"/>
                <a:cs typeface="Courier New" pitchFamily="34" charset="-120"/>
              </a:rPr>
              <a:t>              = (beta^N - 1)/lambda  =  g(X)  =  1</a:t>
            </a:r>
            <a:endParaRPr lang="en-US" sz="1150" dirty="0"/>
          </a:p>
        </p:txBody>
      </p:sp>
      <p:sp>
        <p:nvSpPr>
          <p:cNvPr id="6" name="Text 4"/>
          <p:cNvSpPr txBox="1"/>
          <p:nvPr/>
        </p:nvSpPr>
        <p:spPr>
          <a:xfrm>
            <a:off x="8001000" y="1691640"/>
            <a:ext cx="3703320" cy="2834640"/>
          </a:xfrm>
          <a:prstGeom prst="rect">
            <a:avLst/>
          </a:prstGeom>
          <a:noFill/>
          <a:ln/>
        </p:spPr>
        <p:txBody>
          <a:bodyPr wrap="square" rtlCol="0" anchor="t"/>
          <a:lstStyle/>
          <a:p>
            <a:pPr marL="342900" indent="-342900">
              <a:spcAft>
                <a:spcPts val="900"/>
              </a:spcAft>
              <a:buSzPct val="100000"/>
              <a:buChar char="•"/>
            </a:pPr>
            <a:r>
              <a:rPr lang="en-US" sz="1200" dirty="0">
                <a:solidFill>
                  <a:srgbClr val="0B2F3A"/>
                </a:solidFill>
                <a:latin typeface="Calibri" pitchFamily="34" charset="0"/>
                <a:ea typeface="Calibri" pitchFamily="34" charset="-122"/>
                <a:cs typeface="Calibri" pitchFamily="34" charset="-120"/>
              </a:rPr>
              <a:t>Step 1 is just the Sugeno rule g(A u B) = g(A)+g(B)+lambda*g(A)*g(B) applied repeatedly to identical densities.</a:t>
            </a:r>
            <a:endParaRPr lang="en-US" sz="1200" dirty="0"/>
          </a:p>
          <a:p>
            <a:pPr marL="342900" indent="-342900">
              <a:spcAft>
                <a:spcPts val="900"/>
              </a:spcAft>
              <a:buSzPct val="100000"/>
              <a:buChar char="•"/>
            </a:pPr>
            <a:r>
              <a:rPr lang="en-US" sz="1200" dirty="0">
                <a:solidFill>
                  <a:srgbClr val="0B2F3A"/>
                </a:solidFill>
                <a:latin typeface="Calibri" pitchFamily="34" charset="0"/>
                <a:ea typeface="Calibri" pitchFamily="34" charset="-122"/>
                <a:cs typeface="Calibri" pitchFamily="34" charset="-120"/>
              </a:rPr>
              <a:t>Step 2 is the definition of the Choquet weights.</a:t>
            </a:r>
            <a:endParaRPr lang="en-US" sz="1200" dirty="0"/>
          </a:p>
          <a:p>
            <a:pPr marL="342900" indent="-342900">
              <a:spcAft>
                <a:spcPts val="900"/>
              </a:spcAft>
              <a:buSzPct val="100000"/>
              <a:buChar char="•"/>
            </a:pPr>
            <a:r>
              <a:rPr lang="en-US" sz="1200" dirty="0">
                <a:solidFill>
                  <a:srgbClr val="0B2F3A"/>
                </a:solidFill>
                <a:latin typeface="Calibri" pitchFamily="34" charset="0"/>
                <a:ea typeface="Calibri" pitchFamily="34" charset="-122"/>
                <a:cs typeface="Calibri" pitchFamily="34" charset="-120"/>
              </a:rPr>
              <a:t>Step 3 uses the geometric series, and the last equality is the boundary condition g(X)=1.</a:t>
            </a:r>
            <a:endParaRPr lang="en-US" sz="1200" dirty="0"/>
          </a:p>
          <a:p>
            <a:pPr marL="342900" indent="-342900">
              <a:spcAft>
                <a:spcPts val="900"/>
              </a:spcAft>
              <a:buSzPct val="100000"/>
              <a:buChar char="•"/>
            </a:pPr>
            <a:r>
              <a:rPr lang="en-US" sz="1200" dirty="0">
                <a:solidFill>
                  <a:srgbClr val="0B2F3A"/>
                </a:solidFill>
                <a:latin typeface="Calibri" pitchFamily="34" charset="0"/>
                <a:ea typeface="Calibri" pitchFamily="34" charset="-122"/>
                <a:cs typeface="Calibri" pitchFamily="34" charset="-120"/>
              </a:rPr>
              <a:t>The conclusion: the weights depend only on RANK and on g - never on which model is which.</a:t>
            </a:r>
            <a:endParaRPr lang="en-US" sz="1200" dirty="0"/>
          </a:p>
        </p:txBody>
      </p:sp>
      <p:sp>
        <p:nvSpPr>
          <p:cNvPr id="7" name="Shape 5"/>
          <p:cNvSpPr/>
          <p:nvPr/>
        </p:nvSpPr>
        <p:spPr>
          <a:xfrm>
            <a:off x="8001000" y="4617720"/>
            <a:ext cx="3703320" cy="1234440"/>
          </a:xfrm>
          <a:prstGeom prst="roundRect">
            <a:avLst>
              <a:gd name="adj" fmla="val 4444"/>
            </a:avLst>
          </a:prstGeom>
          <a:solidFill>
            <a:srgbClr val="FBEFEF"/>
          </a:solidFill>
          <a:ln w="12700">
            <a:solidFill>
              <a:srgbClr val="FBEFEF"/>
            </a:solidFill>
            <a:prstDash val="solid"/>
          </a:ln>
        </p:spPr>
      </p:sp>
      <p:sp>
        <p:nvSpPr>
          <p:cNvPr id="8" name="Text 6"/>
          <p:cNvSpPr txBox="1"/>
          <p:nvPr/>
        </p:nvSpPr>
        <p:spPr>
          <a:xfrm>
            <a:off x="8229600" y="4773168"/>
            <a:ext cx="3246120" cy="274320"/>
          </a:xfrm>
          <a:prstGeom prst="rect">
            <a:avLst/>
          </a:prstGeom>
          <a:noFill/>
          <a:ln/>
        </p:spPr>
        <p:txBody>
          <a:bodyPr wrap="square" lIns="0" tIns="0" rIns="0" bIns="0" rtlCol="0" anchor="ctr"/>
          <a:lstStyle/>
          <a:p>
            <a:pPr indent="0" marL="0">
              <a:buNone/>
            </a:pPr>
            <a:r>
              <a:rPr lang="en-US" sz="1250" b="1" dirty="0">
                <a:solidFill>
                  <a:srgbClr val="C62828"/>
                </a:solidFill>
                <a:latin typeface="Calibri" pitchFamily="34" charset="0"/>
                <a:ea typeface="Calibri" pitchFamily="34" charset="-122"/>
                <a:cs typeface="Calibri" pitchFamily="34" charset="-120"/>
              </a:rPr>
              <a:t>Why beta &gt; 1 matters</a:t>
            </a:r>
            <a:endParaRPr lang="en-US" sz="1250" dirty="0"/>
          </a:p>
        </p:txBody>
      </p:sp>
      <p:sp>
        <p:nvSpPr>
          <p:cNvPr id="9" name="Text 7"/>
          <p:cNvSpPr txBox="1"/>
          <p:nvPr/>
        </p:nvSpPr>
        <p:spPr>
          <a:xfrm>
            <a:off x="8229600" y="5065776"/>
            <a:ext cx="3246120" cy="685800"/>
          </a:xfrm>
          <a:prstGeom prst="rect">
            <a:avLst/>
          </a:prstGeom>
          <a:noFill/>
          <a:ln/>
        </p:spPr>
        <p:txBody>
          <a:bodyPr wrap="square" lIns="0" tIns="0" rIns="0" bIns="0" rtlCol="0" anchor="ctr"/>
          <a:lstStyle/>
          <a:p>
            <a:pPr indent="0" marL="0">
              <a:buNone/>
            </a:pPr>
            <a:r>
              <a:rPr lang="en-US" sz="1150" dirty="0">
                <a:solidFill>
                  <a:srgbClr val="0B2F3A"/>
                </a:solidFill>
                <a:latin typeface="Calibri" pitchFamily="34" charset="0"/>
                <a:ea typeface="Calibri" pitchFamily="34" charset="-122"/>
                <a:cs typeface="Calibri" pitchFamily="34" charset="-120"/>
              </a:rPr>
              <a:t>Weak models give sum(g) &lt; 1, hence lambda &gt; 0, hence beta &gt; 1 - so w_j GROWS with j, piling weight on the smallest prediction.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Finding 4: no feature set works - and fewer features work better</a:t>
            </a:r>
            <a:endParaRPr lang="en-US" sz="2700" dirty="0"/>
          </a:p>
        </p:txBody>
      </p:sp>
      <p:pic>
        <p:nvPicPr>
          <p:cNvPr id="3" name="Image 0" descr="figures/results/fig_ablation.png">    </p:cNvPr>
          <p:cNvPicPr>
            <a:picLocks noChangeAspect="1"/>
          </p:cNvPicPr>
          <p:nvPr/>
        </p:nvPicPr>
        <p:blipFill>
          <a:blip r:embed="rId1"/>
          <a:stretch>
            <a:fillRect/>
          </a:stretch>
        </p:blipFill>
        <p:spPr>
          <a:xfrm>
            <a:off x="548640" y="1280160"/>
            <a:ext cx="11064240" cy="3383280"/>
          </a:xfrm>
          <a:prstGeom prst="rect">
            <a:avLst/>
          </a:prstGeom>
        </p:spPr>
      </p:pic>
      <p:sp>
        <p:nvSpPr>
          <p:cNvPr id="4" name="Shape 1"/>
          <p:cNvSpPr/>
          <p:nvPr/>
        </p:nvSpPr>
        <p:spPr>
          <a:xfrm>
            <a:off x="548640" y="4846320"/>
            <a:ext cx="5486400" cy="1188720"/>
          </a:xfrm>
          <a:prstGeom prst="roundRect">
            <a:avLst>
              <a:gd name="adj" fmla="val 3846"/>
            </a:avLst>
          </a:prstGeom>
          <a:solidFill>
            <a:srgbClr val="0B2F3A"/>
          </a:solidFill>
          <a:ln w="12700">
            <a:solidFill>
              <a:srgbClr val="0B2F3A"/>
            </a:solidFill>
            <a:prstDash val="solid"/>
          </a:ln>
        </p:spPr>
      </p:sp>
      <p:sp>
        <p:nvSpPr>
          <p:cNvPr id="5" name="Text 2"/>
          <p:cNvSpPr txBox="1"/>
          <p:nvPr/>
        </p:nvSpPr>
        <p:spPr>
          <a:xfrm>
            <a:off x="777240" y="4983480"/>
            <a:ext cx="5029200" cy="274320"/>
          </a:xfrm>
          <a:prstGeom prst="rect">
            <a:avLst/>
          </a:prstGeom>
          <a:noFill/>
          <a:ln/>
        </p:spPr>
        <p:txBody>
          <a:bodyPr wrap="square" lIns="0" tIns="0" rIns="0" bIns="0" rtlCol="0" anchor="ctr"/>
          <a:lstStyle/>
          <a:p>
            <a:pPr indent="0" marL="0">
              <a:buNone/>
            </a:pPr>
            <a:r>
              <a:rPr lang="en-US" sz="1300" b="1" dirty="0">
                <a:solidFill>
                  <a:srgbClr val="00C2A8"/>
                </a:solidFill>
                <a:latin typeface="Calibri" pitchFamily="34" charset="0"/>
                <a:ea typeface="Calibri" pitchFamily="34" charset="-122"/>
                <a:cs typeface="Calibri" pitchFamily="34" charset="-120"/>
              </a:rPr>
              <a:t>Adding information made it worse</a:t>
            </a:r>
            <a:endParaRPr lang="en-US" sz="1300" dirty="0"/>
          </a:p>
        </p:txBody>
      </p:sp>
      <p:sp>
        <p:nvSpPr>
          <p:cNvPr id="6" name="Text 3"/>
          <p:cNvSpPr txBox="1"/>
          <p:nvPr/>
        </p:nvSpPr>
        <p:spPr>
          <a:xfrm>
            <a:off x="777240" y="5276088"/>
            <a:ext cx="5029200" cy="640080"/>
          </a:xfrm>
          <a:prstGeom prst="rect">
            <a:avLst/>
          </a:prstGeom>
          <a:noFill/>
          <a:ln/>
        </p:spPr>
        <p:txBody>
          <a:bodyPr wrap="square" lIns="0" tIns="0" rIns="0" bIns="0" rtlCol="0" anchor="ctr"/>
          <a:lstStyle/>
          <a:p>
            <a:pPr indent="0" marL="0">
              <a:buNone/>
            </a:pPr>
            <a:r>
              <a:rPr lang="en-US" sz="1200" dirty="0">
                <a:solidFill>
                  <a:srgbClr val="D6E6EA"/>
                </a:solidFill>
                <a:latin typeface="Calibri" pitchFamily="34" charset="0"/>
                <a:ea typeface="Calibri" pitchFamily="34" charset="-122"/>
                <a:cs typeface="Calibri" pitchFamily="34" charset="-120"/>
              </a:rPr>
              <a:t>33 features score -0.070; 193 score -0.097. When more information makes a model worse, it is fitting noise.</a:t>
            </a:r>
            <a:endParaRPr lang="en-US" sz="1200" dirty="0"/>
          </a:p>
        </p:txBody>
      </p:sp>
      <p:sp>
        <p:nvSpPr>
          <p:cNvPr id="7" name="Shape 4"/>
          <p:cNvSpPr/>
          <p:nvPr/>
        </p:nvSpPr>
        <p:spPr>
          <a:xfrm>
            <a:off x="6263640" y="4846320"/>
            <a:ext cx="5440680" cy="1188720"/>
          </a:xfrm>
          <a:prstGeom prst="roundRect">
            <a:avLst>
              <a:gd name="adj" fmla="val 3846"/>
            </a:avLst>
          </a:prstGeom>
          <a:solidFill>
            <a:srgbClr val="FBEFEF"/>
          </a:solidFill>
          <a:ln w="12700">
            <a:solidFill>
              <a:srgbClr val="FBEFEF"/>
            </a:solidFill>
            <a:prstDash val="solid"/>
          </a:ln>
        </p:spPr>
      </p:sp>
      <p:sp>
        <p:nvSpPr>
          <p:cNvPr id="8" name="Text 5"/>
          <p:cNvSpPr txBox="1"/>
          <p:nvPr/>
        </p:nvSpPr>
        <p:spPr>
          <a:xfrm>
            <a:off x="6492240" y="4983480"/>
            <a:ext cx="4983480" cy="274320"/>
          </a:xfrm>
          <a:prstGeom prst="rect">
            <a:avLst/>
          </a:prstGeom>
          <a:noFill/>
          <a:ln/>
        </p:spPr>
        <p:txBody>
          <a:bodyPr wrap="square" lIns="0" tIns="0" rIns="0" bIns="0" rtlCol="0" anchor="ctr"/>
          <a:lstStyle/>
          <a:p>
            <a:pPr indent="0" marL="0">
              <a:buNone/>
            </a:pPr>
            <a:r>
              <a:rPr lang="en-US" sz="1300" b="1" dirty="0">
                <a:solidFill>
                  <a:srgbClr val="C62828"/>
                </a:solidFill>
                <a:latin typeface="Calibri" pitchFamily="34" charset="0"/>
                <a:ea typeface="Calibri" pitchFamily="34" charset="-122"/>
                <a:cs typeface="Calibri" pitchFamily="34" charset="-120"/>
              </a:rPr>
              <a:t>And the clinical score runs backwards</a:t>
            </a:r>
            <a:endParaRPr lang="en-US" sz="1300" dirty="0"/>
          </a:p>
        </p:txBody>
      </p:sp>
      <p:sp>
        <p:nvSpPr>
          <p:cNvPr id="9" name="Text 6"/>
          <p:cNvSpPr txBox="1"/>
          <p:nvPr/>
        </p:nvSpPr>
        <p:spPr>
          <a:xfrm>
            <a:off x="6492240" y="5276088"/>
            <a:ext cx="4983480" cy="640080"/>
          </a:xfrm>
          <a:prstGeom prst="rect">
            <a:avLst/>
          </a:prstGeom>
          <a:noFill/>
          <a:ln/>
        </p:spPr>
        <p:txBody>
          <a:bodyPr wrap="square" lIns="0" tIns="0" rIns="0" bIns="0" rtlCol="0" anchor="ctr"/>
          <a:lstStyle/>
          <a:p>
            <a:pPr indent="0" marL="0">
              <a:buNone/>
            </a:pPr>
            <a:r>
              <a:rPr lang="en-US" sz="1200" dirty="0">
                <a:solidFill>
                  <a:srgbClr val="0B2F3A"/>
                </a:solidFill>
                <a:latin typeface="Calibri" pitchFamily="34" charset="0"/>
                <a:ea typeface="Calibri" pitchFamily="34" charset="-122"/>
                <a:cs typeface="Calibri" pitchFamily="34" charset="-120"/>
              </a:rPr>
              <a:t>The models with the WORST R-squared (-0.106) carry the HIGHEST Zone A+B (91.5%). Not weak - inverted.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Finding 5: a standard feature library returns different answers for identical input</a:t>
            </a:r>
            <a:endParaRPr lang="en-US" sz="2700" dirty="0"/>
          </a:p>
        </p:txBody>
      </p:sp>
      <p:sp>
        <p:nvSpPr>
          <p:cNvPr id="3" name="Text 1"/>
          <p:cNvSpPr txBox="1"/>
          <p:nvPr/>
        </p:nvSpPr>
        <p:spPr>
          <a:xfrm>
            <a:off x="548640" y="1298448"/>
            <a:ext cx="11094415" cy="548640"/>
          </a:xfrm>
          <a:prstGeom prst="rect">
            <a:avLst/>
          </a:prstGeom>
          <a:noFill/>
          <a:ln/>
        </p:spPr>
        <p:txBody>
          <a:bodyPr wrap="square" rtlCol="0" anchor="ctr"/>
          <a:lstStyle/>
          <a:p>
            <a:pPr indent="0" marL="0">
              <a:buNone/>
            </a:pPr>
            <a:r>
              <a:rPr lang="en-US" sz="1500" dirty="0">
                <a:solidFill>
                  <a:srgbClr val="0B2F3A"/>
                </a:solidFill>
                <a:latin typeface="Calibri" pitchFamily="34" charset="0"/>
                <a:ea typeface="Calibri" pitchFamily="34" charset="-122"/>
                <a:cs typeface="Calibri" pitchFamily="34" charset="-120"/>
              </a:rPr>
              <a:t>One of the ten features is the correlation dimension, estimated as the slope of a log-log plot. The library fits that slope with RANSAC - a method that tries RANDOM subsets - and does not seed it.</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400800" cy="914400"/>
        </p:xfrm>
        <a:graphic>
          <a:graphicData uri="http://schemas.openxmlformats.org/drawingml/2006/table">
            <a:tbl>
              <a:tblPr/>
              <a:tblGrid>
                <a:gridCol w="3108960"/>
                <a:gridCol w="3291840"/>
              </a:tblGrid>
              <a:tr h="34747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Slope fitting method</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Distinct values from 30 identical calls</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0B2F3A"/>
                    </a:solidFill>
                  </a:tcPr>
                </a:tc>
              </a:tr>
              <a:tr h="347472">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RANSAC (the library default)</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FFFFFF"/>
                    </a:solidFill>
                  </a:tcPr>
                </a:tc>
              </a:tr>
              <a:tr h="347472">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Ordinary least squares</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c>
                  <a:txBody>
                    <a:bodyPr/>
                    <a:lstStyle/>
                    <a:p>
                      <a:pPr algn="l" indent="0" marL="0">
                        <a:buNone/>
                      </a:pPr>
                      <a:r>
                        <a:rPr lang="en-US" sz="1300" dirty="0">
                          <a:solidFill>
                            <a:srgbClr val="0B2F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5E2E6"/>
                      </a:solidFill>
                      <a:prstDash val="solid"/>
                      <a:round/>
                      <a:headEnd type="none" w="med" len="med"/>
                      <a:tailEnd type="none" w="med" len="med"/>
                    </a:lnL>
                    <a:lnR w="6350" cap="flat" cmpd="sng" algn="ctr">
                      <a:solidFill>
                        <a:srgbClr val="D5E2E6"/>
                      </a:solidFill>
                      <a:prstDash val="solid"/>
                      <a:round/>
                      <a:headEnd type="none" w="med" len="med"/>
                      <a:tailEnd type="none" w="med" len="med"/>
                    </a:lnR>
                    <a:lnT w="6350" cap="flat" cmpd="sng" algn="ctr">
                      <a:solidFill>
                        <a:srgbClr val="D5E2E6"/>
                      </a:solidFill>
                      <a:prstDash val="solid"/>
                      <a:round/>
                      <a:headEnd type="none" w="med" len="med"/>
                      <a:tailEnd type="none" w="med" len="med"/>
                    </a:lnT>
                    <a:lnB w="6350" cap="flat" cmpd="sng" algn="ctr">
                      <a:solidFill>
                        <a:srgbClr val="D5E2E6"/>
                      </a:solidFill>
                      <a:prstDash val="solid"/>
                      <a:round/>
                      <a:headEnd type="none" w="med" len="med"/>
                      <a:tailEnd type="none" w="med" len="med"/>
                    </a:lnB>
                    <a:solidFill>
                      <a:srgbClr val="EAF2F4"/>
                    </a:solidFill>
                  </a:tcPr>
                </a:tc>
              </a:tr>
            </a:tbl>
          </a:graphicData>
        </a:graphic>
      </p:graphicFrame>
      <p:sp>
        <p:nvSpPr>
          <p:cNvPr id="5" name="Text 2"/>
          <p:cNvSpPr txBox="1"/>
          <p:nvPr/>
        </p:nvSpPr>
        <p:spPr>
          <a:xfrm>
            <a:off x="548640" y="3108960"/>
            <a:ext cx="3108960" cy="868680"/>
          </a:xfrm>
          <a:prstGeom prst="rect">
            <a:avLst/>
          </a:prstGeom>
          <a:noFill/>
          <a:ln/>
        </p:spPr>
        <p:txBody>
          <a:bodyPr wrap="square" lIns="0" tIns="0" rIns="0" bIns="0" rtlCol="0" anchor="ctr"/>
          <a:lstStyle/>
          <a:p>
            <a:pPr algn="ctr" indent="0" marL="0">
              <a:buNone/>
            </a:pPr>
            <a:r>
              <a:rPr lang="en-US" sz="4200" b="1" dirty="0">
                <a:solidFill>
                  <a:srgbClr val="C62828"/>
                </a:solidFill>
                <a:latin typeface="Cambria" pitchFamily="34" charset="0"/>
                <a:ea typeface="Cambria" pitchFamily="34" charset="-122"/>
                <a:cs typeface="Cambria" pitchFamily="34" charset="-120"/>
              </a:rPr>
              <a:t>72%</a:t>
            </a:r>
            <a:endParaRPr lang="en-US" sz="4200" dirty="0"/>
          </a:p>
        </p:txBody>
      </p:sp>
      <p:sp>
        <p:nvSpPr>
          <p:cNvPr id="6" name="Text 3"/>
          <p:cNvSpPr txBox="1"/>
          <p:nvPr/>
        </p:nvSpPr>
        <p:spPr>
          <a:xfrm>
            <a:off x="548640" y="3950208"/>
            <a:ext cx="310896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of correlation-dimension</a:t>
            </a:r>
            <a:endParaRPr lang="en-US" sz="1150" dirty="0"/>
          </a:p>
          <a:p>
            <a:pPr algn="ctr" indent="0" marL="0">
              <a:buNone/>
            </a:pPr>
            <a:r>
              <a:rPr lang="en-US" sz="1150" dirty="0">
                <a:solidFill>
                  <a:srgbClr val="5A6B72"/>
                </a:solidFill>
                <a:latin typeface="Calibri" pitchFamily="34" charset="0"/>
                <a:ea typeface="Calibri" pitchFamily="34" charset="-122"/>
                <a:cs typeface="Calibri" pitchFamily="34" charset="-120"/>
              </a:rPr>
              <a:t>values changed</a:t>
            </a:r>
            <a:endParaRPr lang="en-US" sz="1150" dirty="0"/>
          </a:p>
        </p:txBody>
      </p:sp>
      <p:sp>
        <p:nvSpPr>
          <p:cNvPr id="7" name="Text 4"/>
          <p:cNvSpPr txBox="1"/>
          <p:nvPr/>
        </p:nvSpPr>
        <p:spPr>
          <a:xfrm>
            <a:off x="3840480" y="3108960"/>
            <a:ext cx="3108960" cy="868680"/>
          </a:xfrm>
          <a:prstGeom prst="rect">
            <a:avLst/>
          </a:prstGeom>
          <a:noFill/>
          <a:ln/>
        </p:spPr>
        <p:txBody>
          <a:bodyPr wrap="square" lIns="0" tIns="0" rIns="0" bIns="0" rtlCol="0" anchor="ctr"/>
          <a:lstStyle/>
          <a:p>
            <a:pPr algn="ctr" indent="0" marL="0">
              <a:buNone/>
            </a:pPr>
            <a:r>
              <a:rPr lang="en-US" sz="4200" b="1" dirty="0">
                <a:solidFill>
                  <a:srgbClr val="1C7293"/>
                </a:solidFill>
                <a:latin typeface="Cambria" pitchFamily="34" charset="0"/>
                <a:ea typeface="Cambria" pitchFamily="34" charset="-122"/>
                <a:cs typeface="Cambria" pitchFamily="34" charset="-120"/>
              </a:rPr>
              <a:t>177</a:t>
            </a:r>
            <a:endParaRPr lang="en-US" sz="4200" dirty="0"/>
          </a:p>
        </p:txBody>
      </p:sp>
      <p:sp>
        <p:nvSpPr>
          <p:cNvPr id="8" name="Text 5"/>
          <p:cNvSpPr txBox="1"/>
          <p:nvPr/>
        </p:nvSpPr>
        <p:spPr>
          <a:xfrm>
            <a:off x="3840480" y="3950208"/>
            <a:ext cx="3108960" cy="548640"/>
          </a:xfrm>
          <a:prstGeom prst="rect">
            <a:avLst/>
          </a:prstGeom>
          <a:noFill/>
          <a:ln/>
        </p:spPr>
        <p:txBody>
          <a:bodyPr wrap="square" lIns="0" tIns="0" rIns="0" bIns="0" rtlCol="0" anchor="ctr"/>
          <a:lstStyle/>
          <a:p>
            <a:pPr algn="ctr" indent="0" marL="0">
              <a:buNone/>
            </a:pPr>
            <a:r>
              <a:rPr lang="en-US" sz="1150" dirty="0">
                <a:solidFill>
                  <a:srgbClr val="5A6B72"/>
                </a:solidFill>
                <a:latin typeface="Calibri" pitchFamily="34" charset="0"/>
                <a:ea typeface="Calibri" pitchFamily="34" charset="-122"/>
                <a:cs typeface="Calibri" pitchFamily="34" charset="-120"/>
              </a:rPr>
              <a:t>other features:</a:t>
            </a:r>
            <a:endParaRPr lang="en-US" sz="1150" dirty="0"/>
          </a:p>
          <a:p>
            <a:pPr algn="ctr" indent="0" marL="0">
              <a:buNone/>
            </a:pPr>
            <a:r>
              <a:rPr lang="en-US" sz="1150" dirty="0">
                <a:solidFill>
                  <a:srgbClr val="5A6B72"/>
                </a:solidFill>
                <a:latin typeface="Calibri" pitchFamily="34" charset="0"/>
                <a:ea typeface="Calibri" pitchFamily="34" charset="-122"/>
                <a:cs typeface="Calibri" pitchFamily="34" charset="-120"/>
              </a:rPr>
              <a:t>bit-identical</a:t>
            </a:r>
            <a:endParaRPr lang="en-US" sz="1150" dirty="0"/>
          </a:p>
        </p:txBody>
      </p:sp>
      <p:sp>
        <p:nvSpPr>
          <p:cNvPr id="9" name="Shape 6"/>
          <p:cNvSpPr/>
          <p:nvPr/>
        </p:nvSpPr>
        <p:spPr>
          <a:xfrm>
            <a:off x="6903720" y="1965960"/>
            <a:ext cx="4800600" cy="1737360"/>
          </a:xfrm>
          <a:prstGeom prst="roundRect">
            <a:avLst>
              <a:gd name="adj" fmla="val 3158"/>
            </a:avLst>
          </a:prstGeom>
          <a:solidFill>
            <a:srgbClr val="EAF2F4"/>
          </a:solidFill>
          <a:ln w="12700">
            <a:solidFill>
              <a:srgbClr val="EAF2F4"/>
            </a:solidFill>
            <a:prstDash val="solid"/>
          </a:ln>
        </p:spPr>
      </p:sp>
      <p:sp>
        <p:nvSpPr>
          <p:cNvPr id="10" name="Text 7"/>
          <p:cNvSpPr txBox="1"/>
          <p:nvPr/>
        </p:nvSpPr>
        <p:spPr>
          <a:xfrm>
            <a:off x="7104888" y="2112264"/>
            <a:ext cx="4398264" cy="347472"/>
          </a:xfrm>
          <a:prstGeom prst="rect">
            <a:avLst/>
          </a:prstGeom>
          <a:noFill/>
          <a:ln/>
        </p:spPr>
        <p:txBody>
          <a:bodyPr wrap="square" lIns="0" tIns="0" rIns="0" bIns="0"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Why the second number matters</a:t>
            </a:r>
            <a:endParaRPr lang="en-US" sz="1300" dirty="0"/>
          </a:p>
        </p:txBody>
      </p:sp>
      <p:sp>
        <p:nvSpPr>
          <p:cNvPr id="11" name="Text 8"/>
          <p:cNvSpPr txBox="1"/>
          <p:nvPr/>
        </p:nvSpPr>
        <p:spPr>
          <a:xfrm>
            <a:off x="7104888" y="2496312"/>
            <a:ext cx="4398264" cy="1051560"/>
          </a:xfrm>
          <a:prstGeom prst="rect">
            <a:avLst/>
          </a:prstGeom>
          <a:noFill/>
          <a:ln/>
        </p:spPr>
        <p:txBody>
          <a:bodyPr wrap="square" lIns="0" tIns="0" rIns="0" bIns="0" rtlCol="0" anchor="t"/>
          <a:lstStyle/>
          <a:p>
            <a:pPr indent="0" marL="0">
              <a:buNone/>
            </a:pPr>
            <a:r>
              <a:rPr lang="en-US" sz="1200" dirty="0">
                <a:solidFill>
                  <a:srgbClr val="0B2F3A"/>
                </a:solidFill>
                <a:latin typeface="Calibri" pitchFamily="34" charset="0"/>
                <a:ea typeface="Calibri" pitchFamily="34" charset="-122"/>
                <a:cs typeface="Calibri" pitchFamily="34" charset="-120"/>
              </a:rPr>
              <a:t>The 177 unchanged features are the control. They prove the differences came from the random fit, not from anything else we changed.</a:t>
            </a:r>
            <a:endParaRPr lang="en-US" sz="1200" dirty="0"/>
          </a:p>
        </p:txBody>
      </p:sp>
      <p:sp>
        <p:nvSpPr>
          <p:cNvPr id="12" name="Shape 9"/>
          <p:cNvSpPr/>
          <p:nvPr/>
        </p:nvSpPr>
        <p:spPr>
          <a:xfrm>
            <a:off x="6903720" y="3840480"/>
            <a:ext cx="4800600" cy="1280160"/>
          </a:xfrm>
          <a:prstGeom prst="roundRect">
            <a:avLst>
              <a:gd name="adj" fmla="val 4286"/>
            </a:avLst>
          </a:prstGeom>
          <a:solidFill>
            <a:srgbClr val="EAF2F4"/>
          </a:solidFill>
          <a:ln w="12700">
            <a:solidFill>
              <a:srgbClr val="EAF2F4"/>
            </a:solidFill>
            <a:prstDash val="solid"/>
          </a:ln>
        </p:spPr>
      </p:sp>
      <p:sp>
        <p:nvSpPr>
          <p:cNvPr id="13" name="Text 10"/>
          <p:cNvSpPr txBox="1"/>
          <p:nvPr/>
        </p:nvSpPr>
        <p:spPr>
          <a:xfrm>
            <a:off x="7104888" y="3986784"/>
            <a:ext cx="4398264" cy="347472"/>
          </a:xfrm>
          <a:prstGeom prst="rect">
            <a:avLst/>
          </a:prstGeom>
          <a:noFill/>
          <a:ln/>
        </p:spPr>
        <p:txBody>
          <a:bodyPr wrap="square" lIns="0" tIns="0" rIns="0" bIns="0" rtlCol="0" anchor="ctr"/>
          <a:lstStyle/>
          <a:p>
            <a:pPr indent="0" marL="0">
              <a:buNone/>
            </a:pPr>
            <a:r>
              <a:rPr lang="en-US" sz="1300" b="1" dirty="0">
                <a:solidFill>
                  <a:srgbClr val="0B2F3A"/>
                </a:solidFill>
                <a:latin typeface="Calibri" pitchFamily="34" charset="0"/>
                <a:ea typeface="Calibri" pitchFamily="34" charset="-122"/>
                <a:cs typeface="Calibri" pitchFamily="34" charset="-120"/>
              </a:rPr>
              <a:t>The fix</a:t>
            </a:r>
            <a:endParaRPr lang="en-US" sz="1300" dirty="0"/>
          </a:p>
        </p:txBody>
      </p:sp>
      <p:sp>
        <p:nvSpPr>
          <p:cNvPr id="14" name="Text 11"/>
          <p:cNvSpPr txBox="1"/>
          <p:nvPr/>
        </p:nvSpPr>
        <p:spPr>
          <a:xfrm>
            <a:off x="7104888" y="4370832"/>
            <a:ext cx="4398264" cy="594360"/>
          </a:xfrm>
          <a:prstGeom prst="rect">
            <a:avLst/>
          </a:prstGeom>
          <a:noFill/>
          <a:ln/>
        </p:spPr>
        <p:txBody>
          <a:bodyPr wrap="square" lIns="0" tIns="0" rIns="0" bIns="0" rtlCol="0" anchor="t"/>
          <a:lstStyle/>
          <a:p>
            <a:pPr indent="0" marL="0">
              <a:buNone/>
            </a:pPr>
            <a:r>
              <a:rPr lang="en-US" sz="1200" dirty="0">
                <a:solidFill>
                  <a:srgbClr val="0B2F3A"/>
                </a:solidFill>
                <a:latin typeface="Calibri" pitchFamily="34" charset="0"/>
                <a:ea typeface="Calibri" pitchFamily="34" charset="-122"/>
                <a:cs typeface="Calibri" pitchFamily="34" charset="-120"/>
              </a:rPr>
              <a:t>One argument - fit the slope with least squares. Both methods agree on the typical value; only one always returns it.</a:t>
            </a:r>
            <a:endParaRPr lang="en-US" sz="1200" dirty="0"/>
          </a:p>
        </p:txBody>
      </p:sp>
      <p:sp>
        <p:nvSpPr>
          <p:cNvPr id="15" name="Shape 12"/>
          <p:cNvSpPr/>
          <p:nvPr/>
        </p:nvSpPr>
        <p:spPr>
          <a:xfrm>
            <a:off x="548640" y="4526280"/>
            <a:ext cx="6400800" cy="1051560"/>
          </a:xfrm>
          <a:prstGeom prst="roundRect">
            <a:avLst>
              <a:gd name="adj" fmla="val 4348"/>
            </a:avLst>
          </a:prstGeom>
          <a:solidFill>
            <a:srgbClr val="FBEFEF"/>
          </a:solidFill>
          <a:ln w="12700">
            <a:solidFill>
              <a:srgbClr val="FBEFEF"/>
            </a:solidFill>
            <a:prstDash val="solid"/>
          </a:ln>
        </p:spPr>
      </p:sp>
      <p:sp>
        <p:nvSpPr>
          <p:cNvPr id="16" name="Text 13"/>
          <p:cNvSpPr txBox="1"/>
          <p:nvPr/>
        </p:nvSpPr>
        <p:spPr>
          <a:xfrm>
            <a:off x="804672" y="4700016"/>
            <a:ext cx="5897880" cy="777240"/>
          </a:xfrm>
          <a:prstGeom prst="rect">
            <a:avLst/>
          </a:prstGeom>
          <a:noFill/>
          <a:ln/>
        </p:spPr>
        <p:txBody>
          <a:bodyPr wrap="square" lIns="0" tIns="0" rIns="0" bIns="0" rtlCol="0" anchor="ctr"/>
          <a:lstStyle/>
          <a:p>
            <a:pPr indent="0" marL="0">
              <a:buNone/>
            </a:pPr>
            <a:r>
              <a:rPr lang="en-US" sz="1250" dirty="0">
                <a:solidFill>
                  <a:srgbClr val="0B2F3A"/>
                </a:solidFill>
                <a:latin typeface="Calibri" pitchFamily="34" charset="0"/>
                <a:ea typeface="Calibri" pitchFamily="34" charset="-122"/>
                <a:cs typeface="Calibri" pitchFamily="34" charset="-120"/>
              </a:rPr>
              <a:t>Any result computed from these features was irreproducible - nobody re-running the pipeline, including us, would get the same numbers. Found only because we tested whether identical input gives identical output.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What this contributes, and what we cannot claim</a:t>
            </a:r>
            <a:endParaRPr lang="en-US" sz="2700" dirty="0"/>
          </a:p>
        </p:txBody>
      </p:sp>
      <p:sp>
        <p:nvSpPr>
          <p:cNvPr id="3" name="Shape 1"/>
          <p:cNvSpPr/>
          <p:nvPr/>
        </p:nvSpPr>
        <p:spPr>
          <a:xfrm>
            <a:off x="548640" y="1353312"/>
            <a:ext cx="384048" cy="384048"/>
          </a:xfrm>
          <a:prstGeom prst="ellipse">
            <a:avLst/>
          </a:prstGeom>
          <a:solidFill>
            <a:srgbClr val="0B2F3A"/>
          </a:solidFill>
          <a:ln w="12700">
            <a:solidFill>
              <a:srgbClr val="0B2F3A"/>
            </a:solidFill>
            <a:prstDash val="solid"/>
          </a:ln>
        </p:spPr>
      </p:sp>
      <p:sp>
        <p:nvSpPr>
          <p:cNvPr id="4" name="Text 2"/>
          <p:cNvSpPr txBox="1"/>
          <p:nvPr/>
        </p:nvSpPr>
        <p:spPr>
          <a:xfrm>
            <a:off x="548640" y="1408176"/>
            <a:ext cx="384048" cy="274320"/>
          </a:xfrm>
          <a:prstGeom prst="rect">
            <a:avLst/>
          </a:prstGeom>
          <a:noFill/>
          <a:ln/>
        </p:spPr>
        <p:txBody>
          <a:bodyPr wrap="square" lIns="0" tIns="0" rIns="0" bIns="0" rtlCol="0" anchor="ctr"/>
          <a:lstStyle/>
          <a:p>
            <a:pPr algn="ctr" indent="0" marL="0">
              <a:buNone/>
            </a:pPr>
            <a:r>
              <a:rPr lang="en-US" sz="1300" b="1" dirty="0">
                <a:solidFill>
                  <a:srgbClr val="00C2A8"/>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15568" y="1325880"/>
            <a:ext cx="10515600" cy="274320"/>
          </a:xfrm>
          <a:prstGeom prst="rect">
            <a:avLst/>
          </a:prstGeom>
          <a:noFill/>
          <a:ln/>
        </p:spPr>
        <p:txBody>
          <a:bodyPr wrap="square" lIns="0" tIns="0" rIns="0" bIns="0" rtlCol="0" anchor="ctr"/>
          <a:lstStyle/>
          <a:p>
            <a:pPr indent="0" marL="0">
              <a:buNone/>
            </a:pPr>
            <a:r>
              <a:rPr lang="en-US" sz="1450" b="1" dirty="0">
                <a:solidFill>
                  <a:srgbClr val="0B2F3A"/>
                </a:solidFill>
                <a:latin typeface="Calibri" pitchFamily="34" charset="0"/>
                <a:ea typeface="Calibri" pitchFamily="34" charset="-122"/>
                <a:cs typeface="Calibri" pitchFamily="34" charset="-120"/>
              </a:rPr>
              <a:t>An open reproduction on open data</a:t>
            </a:r>
            <a:endParaRPr lang="en-US" sz="1450" dirty="0"/>
          </a:p>
        </p:txBody>
      </p:sp>
      <p:sp>
        <p:nvSpPr>
          <p:cNvPr id="6" name="Text 4"/>
          <p:cNvSpPr txBox="1"/>
          <p:nvPr/>
        </p:nvSpPr>
        <p:spPr>
          <a:xfrm>
            <a:off x="1115568" y="1618488"/>
            <a:ext cx="10515600" cy="50292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All three stages rebuilt from the paper, run on PhysioCGM: 30,830 windows, 193 features, 10 patients.</a:t>
            </a:r>
            <a:endParaRPr lang="en-US" sz="1200" dirty="0"/>
          </a:p>
        </p:txBody>
      </p:sp>
      <p:sp>
        <p:nvSpPr>
          <p:cNvPr id="7" name="Shape 5"/>
          <p:cNvSpPr/>
          <p:nvPr/>
        </p:nvSpPr>
        <p:spPr>
          <a:xfrm>
            <a:off x="548640" y="2221992"/>
            <a:ext cx="384048" cy="384048"/>
          </a:xfrm>
          <a:prstGeom prst="ellipse">
            <a:avLst/>
          </a:prstGeom>
          <a:solidFill>
            <a:srgbClr val="0B2F3A"/>
          </a:solidFill>
          <a:ln w="12700">
            <a:solidFill>
              <a:srgbClr val="0B2F3A"/>
            </a:solidFill>
            <a:prstDash val="solid"/>
          </a:ln>
        </p:spPr>
      </p:sp>
      <p:sp>
        <p:nvSpPr>
          <p:cNvPr id="8" name="Text 6"/>
          <p:cNvSpPr txBox="1"/>
          <p:nvPr/>
        </p:nvSpPr>
        <p:spPr>
          <a:xfrm>
            <a:off x="548640" y="2276856"/>
            <a:ext cx="384048" cy="274320"/>
          </a:xfrm>
          <a:prstGeom prst="rect">
            <a:avLst/>
          </a:prstGeom>
          <a:noFill/>
          <a:ln/>
        </p:spPr>
        <p:txBody>
          <a:bodyPr wrap="square" lIns="0" tIns="0" rIns="0" bIns="0" rtlCol="0" anchor="ctr"/>
          <a:lstStyle/>
          <a:p>
            <a:pPr algn="ctr" indent="0" marL="0">
              <a:buNone/>
            </a:pPr>
            <a:r>
              <a:rPr lang="en-US" sz="1300" b="1" dirty="0">
                <a:solidFill>
                  <a:srgbClr val="00C2A8"/>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115568" y="2194560"/>
            <a:ext cx="10515600" cy="274320"/>
          </a:xfrm>
          <a:prstGeom prst="rect">
            <a:avLst/>
          </a:prstGeom>
          <a:noFill/>
          <a:ln/>
        </p:spPr>
        <p:txBody>
          <a:bodyPr wrap="square" lIns="0" tIns="0" rIns="0" bIns="0" rtlCol="0" anchor="ctr"/>
          <a:lstStyle/>
          <a:p>
            <a:pPr indent="0" marL="0">
              <a:buNone/>
            </a:pPr>
            <a:r>
              <a:rPr lang="en-US" sz="1450" b="1" dirty="0">
                <a:solidFill>
                  <a:srgbClr val="0B2F3A"/>
                </a:solidFill>
                <a:latin typeface="Calibri" pitchFamily="34" charset="0"/>
                <a:ea typeface="Calibri" pitchFamily="34" charset="-122"/>
                <a:cs typeface="Calibri" pitchFamily="34" charset="-120"/>
              </a:rPr>
              <a:t>A degeneracy theorem with a runnable diagnostic</a:t>
            </a:r>
            <a:endParaRPr lang="en-US" sz="1450" dirty="0"/>
          </a:p>
        </p:txBody>
      </p:sp>
      <p:sp>
        <p:nvSpPr>
          <p:cNvPr id="10" name="Text 8"/>
          <p:cNvSpPr txBox="1"/>
          <p:nvPr/>
        </p:nvSpPr>
        <p:spPr>
          <a:xfrm>
            <a:off x="1115568" y="2487168"/>
            <a:ext cx="10515600" cy="50292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When densities saturate, the Sugeno-lambda Choquet integral provably becomes a fixed order statistic. Verified at correlation 0.998.</a:t>
            </a:r>
            <a:endParaRPr lang="en-US" sz="1200" dirty="0"/>
          </a:p>
        </p:txBody>
      </p:sp>
      <p:sp>
        <p:nvSpPr>
          <p:cNvPr id="11" name="Shape 9"/>
          <p:cNvSpPr/>
          <p:nvPr/>
        </p:nvSpPr>
        <p:spPr>
          <a:xfrm>
            <a:off x="548640" y="3090672"/>
            <a:ext cx="384048" cy="384048"/>
          </a:xfrm>
          <a:prstGeom prst="ellipse">
            <a:avLst/>
          </a:prstGeom>
          <a:solidFill>
            <a:srgbClr val="0B2F3A"/>
          </a:solidFill>
          <a:ln w="12700">
            <a:solidFill>
              <a:srgbClr val="0B2F3A"/>
            </a:solidFill>
            <a:prstDash val="solid"/>
          </a:ln>
        </p:spPr>
      </p:sp>
      <p:sp>
        <p:nvSpPr>
          <p:cNvPr id="12" name="Text 10"/>
          <p:cNvSpPr txBox="1"/>
          <p:nvPr/>
        </p:nvSpPr>
        <p:spPr>
          <a:xfrm>
            <a:off x="548640" y="3145536"/>
            <a:ext cx="384048" cy="274320"/>
          </a:xfrm>
          <a:prstGeom prst="rect">
            <a:avLst/>
          </a:prstGeom>
          <a:noFill/>
          <a:ln/>
        </p:spPr>
        <p:txBody>
          <a:bodyPr wrap="square" lIns="0" tIns="0" rIns="0" bIns="0" rtlCol="0" anchor="ctr"/>
          <a:lstStyle/>
          <a:p>
            <a:pPr algn="ctr" indent="0" marL="0">
              <a:buNone/>
            </a:pPr>
            <a:r>
              <a:rPr lang="en-US" sz="1300" b="1" dirty="0">
                <a:solidFill>
                  <a:srgbClr val="00C2A8"/>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15568" y="3063240"/>
            <a:ext cx="10515600" cy="274320"/>
          </a:xfrm>
          <a:prstGeom prst="rect">
            <a:avLst/>
          </a:prstGeom>
          <a:noFill/>
          <a:ln/>
        </p:spPr>
        <p:txBody>
          <a:bodyPr wrap="square" lIns="0" tIns="0" rIns="0" bIns="0" rtlCol="0" anchor="ctr"/>
          <a:lstStyle/>
          <a:p>
            <a:pPr indent="0" marL="0">
              <a:buNone/>
            </a:pPr>
            <a:r>
              <a:rPr lang="en-US" sz="1450" b="1" dirty="0">
                <a:solidFill>
                  <a:srgbClr val="0B2F3A"/>
                </a:solidFill>
                <a:latin typeface="Calibri" pitchFamily="34" charset="0"/>
                <a:ea typeface="Calibri" pitchFamily="34" charset="-122"/>
                <a:cs typeface="Calibri" pitchFamily="34" charset="-120"/>
              </a:rPr>
              <a:t>Evidence that the evaluation protocol dominates</a:t>
            </a:r>
            <a:endParaRPr lang="en-US" sz="1450" dirty="0"/>
          </a:p>
        </p:txBody>
      </p:sp>
      <p:sp>
        <p:nvSpPr>
          <p:cNvPr id="14" name="Text 12"/>
          <p:cNvSpPr txBox="1"/>
          <p:nvPr/>
        </p:nvSpPr>
        <p:spPr>
          <a:xfrm>
            <a:off x="1115568" y="3355848"/>
            <a:ext cx="10515600" cy="50292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R-squared +0.149 to -0.223 on identical data, and a constant predictor beating every model on the clinical metric.</a:t>
            </a:r>
            <a:endParaRPr lang="en-US" sz="1200" dirty="0"/>
          </a:p>
        </p:txBody>
      </p:sp>
      <p:sp>
        <p:nvSpPr>
          <p:cNvPr id="15" name="Shape 13"/>
          <p:cNvSpPr/>
          <p:nvPr/>
        </p:nvSpPr>
        <p:spPr>
          <a:xfrm>
            <a:off x="548640" y="3959352"/>
            <a:ext cx="384048" cy="384048"/>
          </a:xfrm>
          <a:prstGeom prst="ellipse">
            <a:avLst/>
          </a:prstGeom>
          <a:solidFill>
            <a:srgbClr val="0B2F3A"/>
          </a:solidFill>
          <a:ln w="12700">
            <a:solidFill>
              <a:srgbClr val="0B2F3A"/>
            </a:solidFill>
            <a:prstDash val="solid"/>
          </a:ln>
        </p:spPr>
      </p:sp>
      <p:sp>
        <p:nvSpPr>
          <p:cNvPr id="16" name="Text 14"/>
          <p:cNvSpPr txBox="1"/>
          <p:nvPr/>
        </p:nvSpPr>
        <p:spPr>
          <a:xfrm>
            <a:off x="548640" y="4014216"/>
            <a:ext cx="384048" cy="274320"/>
          </a:xfrm>
          <a:prstGeom prst="rect">
            <a:avLst/>
          </a:prstGeom>
          <a:noFill/>
          <a:ln/>
        </p:spPr>
        <p:txBody>
          <a:bodyPr wrap="square" lIns="0" tIns="0" rIns="0" bIns="0" rtlCol="0" anchor="ctr"/>
          <a:lstStyle/>
          <a:p>
            <a:pPr algn="ctr" indent="0" marL="0">
              <a:buNone/>
            </a:pPr>
            <a:r>
              <a:rPr lang="en-US" sz="1300" b="1" dirty="0">
                <a:solidFill>
                  <a:srgbClr val="00C2A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931920"/>
            <a:ext cx="10515600" cy="274320"/>
          </a:xfrm>
          <a:prstGeom prst="rect">
            <a:avLst/>
          </a:prstGeom>
          <a:noFill/>
          <a:ln/>
        </p:spPr>
        <p:txBody>
          <a:bodyPr wrap="square" lIns="0" tIns="0" rIns="0" bIns="0" rtlCol="0" anchor="ctr"/>
          <a:lstStyle/>
          <a:p>
            <a:pPr indent="0" marL="0">
              <a:buNone/>
            </a:pPr>
            <a:r>
              <a:rPr lang="en-US" sz="1450" b="1" dirty="0">
                <a:solidFill>
                  <a:srgbClr val="0B2F3A"/>
                </a:solidFill>
                <a:latin typeface="Calibri" pitchFamily="34" charset="0"/>
                <a:ea typeface="Calibri" pitchFamily="34" charset="-122"/>
                <a:cs typeface="Calibri" pitchFamily="34" charset="-120"/>
              </a:rPr>
              <a:t>A reproducibility failure in a standard library</a:t>
            </a:r>
            <a:endParaRPr lang="en-US" sz="1450" dirty="0"/>
          </a:p>
        </p:txBody>
      </p:sp>
      <p:sp>
        <p:nvSpPr>
          <p:cNvPr id="18" name="Text 16"/>
          <p:cNvSpPr txBox="1"/>
          <p:nvPr/>
        </p:nvSpPr>
        <p:spPr>
          <a:xfrm>
            <a:off x="1115568" y="4224528"/>
            <a:ext cx="10515600" cy="502920"/>
          </a:xfrm>
          <a:prstGeom prst="rect">
            <a:avLst/>
          </a:prstGeom>
          <a:noFill/>
          <a:ln/>
        </p:spPr>
        <p:txBody>
          <a:bodyPr wrap="square" lIns="0" tIns="0" rIns="0" bIns="0" rtlCol="0" anchor="ctr"/>
          <a:lstStyle/>
          <a:p>
            <a:pPr indent="0" marL="0">
              <a:buNone/>
            </a:pPr>
            <a:r>
              <a:rPr lang="en-US" sz="1200" dirty="0">
                <a:solidFill>
                  <a:srgbClr val="5A6B72"/>
                </a:solidFill>
                <a:latin typeface="Calibri" pitchFamily="34" charset="0"/>
                <a:ea typeface="Calibri" pitchFamily="34" charset="-122"/>
                <a:cs typeface="Calibri" pitchFamily="34" charset="-120"/>
              </a:rPr>
              <a:t>An unseeded random fit changing up to 72% of values between identical runs.</a:t>
            </a:r>
            <a:endParaRPr lang="en-US" sz="1200" dirty="0"/>
          </a:p>
        </p:txBody>
      </p:sp>
      <p:sp>
        <p:nvSpPr>
          <p:cNvPr id="19" name="Shape 17"/>
          <p:cNvSpPr/>
          <p:nvPr/>
        </p:nvSpPr>
        <p:spPr>
          <a:xfrm>
            <a:off x="548640" y="4892040"/>
            <a:ext cx="11094415" cy="1234440"/>
          </a:xfrm>
          <a:prstGeom prst="roundRect">
            <a:avLst>
              <a:gd name="adj" fmla="val 4444"/>
            </a:avLst>
          </a:prstGeom>
          <a:solidFill>
            <a:srgbClr val="FFF6E5"/>
          </a:solidFill>
          <a:ln w="12700">
            <a:solidFill>
              <a:srgbClr val="FFF6E5"/>
            </a:solidFill>
            <a:prstDash val="solid"/>
          </a:ln>
        </p:spPr>
      </p:sp>
      <p:sp>
        <p:nvSpPr>
          <p:cNvPr id="20" name="Text 18"/>
          <p:cNvSpPr txBox="1"/>
          <p:nvPr/>
        </p:nvSpPr>
        <p:spPr>
          <a:xfrm>
            <a:off x="822960" y="5047488"/>
            <a:ext cx="5486400" cy="274320"/>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What we cannot claim</a:t>
            </a:r>
            <a:endParaRPr lang="en-US" sz="1300" dirty="0"/>
          </a:p>
        </p:txBody>
      </p:sp>
      <p:sp>
        <p:nvSpPr>
          <p:cNvPr id="21" name="Text 19"/>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250" dirty="0">
                <a:solidFill>
                  <a:srgbClr val="0B2F3A"/>
                </a:solidFill>
                <a:latin typeface="Calibri" pitchFamily="34" charset="0"/>
                <a:ea typeface="Calibri" pitchFamily="34" charset="-122"/>
                <a:cs typeface="Calibri" pitchFamily="34" charset="-120"/>
              </a:rPr>
              <a:t>That the method never works. We show it does not work ON THIS DATASET UNDER HONEST EVALUATION, and that its fusion component was inactive. Our morphological branch differs from theirs, ten patients is small, and leave-one-subject-out was not completed - so we do not report it.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868680"/>
          </a:xfrm>
          <a:prstGeom prst="rect">
            <a:avLst/>
          </a:prstGeom>
          <a:noFill/>
          <a:ln/>
        </p:spPr>
        <p:txBody>
          <a:bodyPr wrap="square" rtlCol="0" anchor="t"/>
          <a:lstStyle/>
          <a:p>
            <a:pPr indent="0" marL="0">
              <a:buNone/>
            </a:pPr>
            <a:r>
              <a:rPr lang="en-US" sz="2700" b="1" dirty="0">
                <a:solidFill>
                  <a:srgbClr val="0B2F3A"/>
                </a:solidFill>
                <a:latin typeface="Cambria" pitchFamily="34" charset="0"/>
                <a:ea typeface="Cambria" pitchFamily="34" charset="-122"/>
                <a:cs typeface="Cambria" pitchFamily="34" charset="-120"/>
              </a:rPr>
              <a:t>References</a:t>
            </a:r>
            <a:endParaRPr lang="en-US" sz="2700" dirty="0"/>
          </a:p>
        </p:txBody>
      </p:sp>
      <p:sp>
        <p:nvSpPr>
          <p:cNvPr id="3" name="Text 1"/>
          <p:cNvSpPr txBox="1"/>
          <p:nvPr/>
        </p:nvSpPr>
        <p:spPr>
          <a:xfrm>
            <a:off x="548640" y="1325880"/>
            <a:ext cx="11094415" cy="4206240"/>
          </a:xfrm>
          <a:prstGeom prst="rect">
            <a:avLst/>
          </a:prstGeom>
          <a:noFill/>
          <a:ln/>
        </p:spPr>
        <p:txBody>
          <a:bodyPr wrap="square" rtlCol="0" anchor="ctr"/>
          <a:lstStyle/>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Li, J. et al. "Noninvasive Blood Glucose Monitoring Using Spatiotemporal ECG and PPG Feature Fusion and Weight-Based Choquet Integral Multimodel Approach." IEEE Trans. Neural Networks and Learning Systems, 35(10), 2024.</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PhysioCGM: a multimodal physiological dataset for non-invasive blood glucose estimation. Scientific Data, 2025. figshare 28136294 (CC0).</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Reassessing the Feasibility of PPG-Based Non-Invasive Blood Glucose Level Estimation. arXiv:2608.01820, 2026.</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Parkes, J. L. et al. "A New Consensus Error Grid to Evaluate the Clinical Significance of Inaccuracies in the Estimation of Blood Glucose." Diabetes Care, 23(8), 2000.</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Pfutzner, A. et al. "Technical Aspects of the Parkes Error Grid." J. Diabetes Science and Technology, 7(5), 2013.</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Eckert, B. &amp; Agardh, C.-D. "Hypoglycaemia leads to an increased QT interval in normal men." Clinical Physiology, 18(6), 1998.</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Grabisch, M. "Fuzzy integral in multicriteria decision making." Fuzzy Sets and Systems, 69(3), 1995.</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Marichal, J.-L. "On Choquet and Sugeno integrals as aggregation functions." Fuzzy Measures and Integrals, 2000.</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Sugeno, M. Theory of fuzzy integrals and its applications. PhD thesis, Tokyo Institute of Technology, 1974.</a:t>
            </a:r>
            <a:endParaRPr lang="en-US" sz="1150" dirty="0"/>
          </a:p>
          <a:p>
            <a:pPr indent="0" marL="0">
              <a:spcAft>
                <a:spcPts val="700"/>
              </a:spcAft>
              <a:buNone/>
            </a:pPr>
            <a:r>
              <a:rPr lang="en-US" sz="1150" dirty="0">
                <a:solidFill>
                  <a:srgbClr val="0B2F3A"/>
                </a:solidFill>
                <a:latin typeface="Calibri" pitchFamily="34" charset="0"/>
                <a:ea typeface="Calibri" pitchFamily="34" charset="-122"/>
                <a:cs typeface="Calibri" pitchFamily="34" charset="-120"/>
              </a:rPr>
              <a:t>Hjorth, B. "EEG analysis based on time domain properties." Electroencephalography and Clinical Neurophysiology, 29(3), 1970.</a:t>
            </a:r>
            <a:endParaRPr lang="en-US" sz="1150" dirty="0"/>
          </a:p>
        </p:txBody>
      </p:sp>
      <p:sp>
        <p:nvSpPr>
          <p:cNvPr id="4" name="Text 2"/>
          <p:cNvSpPr txBox="1"/>
          <p:nvPr/>
        </p:nvSpPr>
        <p:spPr>
          <a:xfrm>
            <a:off x="548640" y="5669280"/>
            <a:ext cx="11094415" cy="365760"/>
          </a:xfrm>
          <a:prstGeom prst="rect">
            <a:avLst/>
          </a:prstGeom>
          <a:noFill/>
          <a:ln/>
        </p:spPr>
        <p:txBody>
          <a:bodyPr wrap="square"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Full technical write-up, including every derivation: WRITEUP.md in the project repository.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Noninvasive Blood Glucose Estimation</dc:title>
  <dc:subject>PptxGenJS Presentation</dc:subject>
  <dc:creator>Navtesh Maken</dc:creator>
  <cp:lastModifiedBy>Navtesh Maken</cp:lastModifiedBy>
  <cp:revision>1</cp:revision>
  <dcterms:created xsi:type="dcterms:W3CDTF">2026-09-27T08:15:02Z</dcterms:created>
  <dcterms:modified xsi:type="dcterms:W3CDTF">2026-09-27T08:15:02Z</dcterms:modified>
</cp:coreProperties>
</file>