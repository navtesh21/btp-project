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75" r:id="rId24"/>
    <p:sldId id="274" r:id="rId23"/>
    <p:sldId id="273" r:id="rId22"/>
    <p:sldId id="272" r:id="rId21"/>
    <p:sldId id="271" r:id="rId20"/>
    <p:sldId id="270" r:id="rId19"/>
    <p:sldId id="269" r:id="rId18"/>
    <p:sldId id="268" r:id="rId17"/>
    <p:sldId id="265" r:id="rId8"/>
    <p:sldId id="266" r:id="rId9"/>
    <p:sldId id="267" r:id="rId10"/>
    <p:sldId id="258" r:id="rId11"/>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8" d="100"/>
          <a:sy n="78" d="100"/>
        </p:scale>
        <p:origin x="45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5.xml"/><Relationship Id="rId9" Type="http://schemas.openxmlformats.org/officeDocument/2006/relationships/slide" Target="slides/slide16.xml"/><Relationship Id="rId10" Type="http://schemas.openxmlformats.org/officeDocument/2006/relationships/slide" Target="slides/slide17.xml"/><Relationship Id="rId11" Type="http://schemas.openxmlformats.org/officeDocument/2006/relationships/slide" Target="slides/slide18.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4.xml"/><Relationship Id="rId18" Type="http://schemas.openxmlformats.org/officeDocument/2006/relationships/slide" Target="slides/slide13.xml"/><Relationship Id="rId19" Type="http://schemas.openxmlformats.org/officeDocument/2006/relationships/slide" Target="slides/slide12.xml"/><Relationship Id="rId20" Type="http://schemas.openxmlformats.org/officeDocument/2006/relationships/slide" Target="slides/slide11.xml"/><Relationship Id="rId21" Type="http://schemas.openxmlformats.org/officeDocument/2006/relationships/slide" Target="slides/slide10.xml"/><Relationship Id="rId22" Type="http://schemas.openxmlformats.org/officeDocument/2006/relationships/slide" Target="slides/slide9.xml"/><Relationship Id="rId23" Type="http://schemas.openxmlformats.org/officeDocument/2006/relationships/slide" Target="slides/slide8.xml"/><Relationship Id="rId2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5DC5E6-4A77-7C66-8966-D4C3517727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39FBEE3F-6446-366E-7979-23FC000C300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237C1A3-5076-425A-A07B-01320E04D7CA}" type="datetimeFigureOut">
              <a:rPr lang="en-IN"/>
              <a:pPr>
                <a:defRPr/>
              </a:pPr>
              <a:t>16-03-2023</a:t>
            </a:fld>
            <a:endParaRPr lang="en-IN"/>
          </a:p>
        </p:txBody>
      </p:sp>
      <p:sp>
        <p:nvSpPr>
          <p:cNvPr id="4" name="Slide Image Placeholder 3">
            <a:extLst>
              <a:ext uri="{FF2B5EF4-FFF2-40B4-BE49-F238E27FC236}">
                <a16:creationId xmlns:a16="http://schemas.microsoft.com/office/drawing/2014/main" id="{98852133-B850-B963-BCB2-6DF0EAB93F1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F2F513B4-4BC6-B335-27D5-0F2EB5C7B260}"/>
              </a:ext>
            </a:extLst>
          </p:cNvPr>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prstTxWarp prst="textNoShape">
              <a:avLst/>
            </a:prstTxWarp>
          </a:bodyPr>
          <a:lstStyle/>
          <a:p>
            <a:pPr lvl="0"/>
            <a:r>
              <a:rPr lang="en-IN" altLang="en-US" noProof="0"/>
              <a:t>Click to edit Master text styles</a:t>
            </a:r>
          </a:p>
          <a:p>
            <a:pPr lvl="1"/>
            <a:r>
              <a:rPr lang="en-IN" altLang="en-US" noProof="0"/>
              <a:t>Second level</a:t>
            </a:r>
          </a:p>
          <a:p>
            <a:pPr lvl="2"/>
            <a:r>
              <a:rPr lang="en-IN" altLang="en-US" noProof="0"/>
              <a:t>Third level</a:t>
            </a:r>
          </a:p>
          <a:p>
            <a:pPr lvl="3"/>
            <a:r>
              <a:rPr lang="en-IN" altLang="en-US" noProof="0"/>
              <a:t>Fourth level</a:t>
            </a:r>
          </a:p>
          <a:p>
            <a:pPr lvl="4"/>
            <a:r>
              <a:rPr lang="en-IN" altLang="en-US" noProof="0"/>
              <a:t>Fifth level</a:t>
            </a:r>
          </a:p>
        </p:txBody>
      </p:sp>
      <p:sp>
        <p:nvSpPr>
          <p:cNvPr id="6" name="Footer Placeholder 5">
            <a:extLst>
              <a:ext uri="{FF2B5EF4-FFF2-40B4-BE49-F238E27FC236}">
                <a16:creationId xmlns:a16="http://schemas.microsoft.com/office/drawing/2014/main" id="{4B955E4B-5AF1-B0BF-421E-FBD8745161F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EBAB1C41-B812-CB28-159E-D0F0047CF4A0}"/>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541ECEF2-54D1-4B1D-B02D-45371ABE70CD}" type="slidenum">
              <a:rPr lang="en-IN"/>
              <a:pPr>
                <a:defRPr/>
              </a:pPr>
              <a:t>‹#›</a:t>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Name the paper and say plainly that this is a reproduction: we rebuilt a published method and tested whether its result survives on data the original authors never saw.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 Read the headings, do not elaborate.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90s. Three beats: what glucose is and why both directions are dangerous; measuring it today means breaking skin; there IS a real mechanism linking the heart to blood sugar. End on the caveat - it explains the whole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This is the paper's own comparison table. SFF-WCIM is the row we are reproducing. 1.49 approaches approved CGM accuracy - that is why it matters.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Four gaps, each of which became one of our findings. Gap 2 is the most important: the split protocol.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State the aim as a question - does the result survive? - then the five objectives. Be explicit that we could not use their data, and why that makes this a reproduction of the method rather than of the experiment.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The first row is the study we independently replicate - on ECG instead of PPG. The third row matters for honesty: the symmetric-measure result is known theory. Our contribution is showing it fires by accident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densest slide. Open with the analogy: three doctors, two trained together so averaging double-counts them, one far more experienced. A weighted average handles the second but not the first. THEN the equations. Sorting is what lets group importance enter - the weight depends on RANK.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90s. Walk the three levels, then the two tables. SLOW DOWN on 2.519 - it is the standard deviation of glucose and therefore the RMSE of a model that learns nothing. Everything after this slide is judged against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90s. Three groups: temporal statistical (the wavelet ones), morphological (measured directly, since we know QT is the mechanism), and selection. Equations 5 and 6 are the paper's own numbering so they can follow in the PDF. Mention that selection runs INSIDE each fold - selecting on the whole dataset leaks test information into the feature choice.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Define R-squared FIRST. Then: +0.149 random, -0.223 subject-aware, -0.097 leave-one-out. Same data, same code, only the split changed. RAISE THE ORDERING YOURSELF - leave-one-out beats subject-aware because it trains on 9 of 10 rather than 4 of 5. Saying it first is far stronger than being caught on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90s. YOUR STRONGEST SLIDE. Trace the diagonal with your hand - that is what a working model looks like. Then trace the horizontal band. Then the sting: 89.4% Zone A+B. PAUSE and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Four observations, in order. The last two are the interesting ones: fewer features do better (fitting noise), and the clinical score is INVERSELY related to R-squared.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Start with the two clues, then the derivation, then the table, then the empirical confirmation. DO NOT SKIP the last line - the degeneracy is a symptom as well as a bug, and it fires exactly when the models are weak.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The first point is the most important and the most defensible: the biology supports classification, not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Four outcomes plus the methodological one. Emphasise that the degeneracy result is reusable outside this problem entirely.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 Do not read these aloud.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or return to Results (4)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3BDE05B-C515-23E1-1C87-6483887EF358}"/>
              </a:ext>
            </a:extLst>
          </p:cNvPr>
          <p:cNvSpPr>
            <a:spLocks noGrp="1"/>
          </p:cNvSpPr>
          <p:nvPr>
            <p:ph type="dt" sz="half" idx="10"/>
          </p:nvPr>
        </p:nvSpPr>
        <p:spPr/>
        <p:txBody>
          <a:bodyPr/>
          <a:lstStyle>
            <a:lvl1pPr>
              <a:defRPr/>
            </a:lvl1pPr>
          </a:lstStyle>
          <a:p>
            <a:pPr>
              <a:defRPr/>
            </a:pPr>
            <a:fld id="{BEA04429-86E8-46AF-9FDB-978D8358EB55}" type="datetime1">
              <a:rPr lang="en-IN"/>
              <a:pPr>
                <a:defRPr/>
              </a:pPr>
              <a:t>16-03-2023</a:t>
            </a:fld>
            <a:endParaRPr lang="en-IN"/>
          </a:p>
        </p:txBody>
      </p:sp>
      <p:sp>
        <p:nvSpPr>
          <p:cNvPr id="5" name="Footer Placeholder 4">
            <a:extLst>
              <a:ext uri="{FF2B5EF4-FFF2-40B4-BE49-F238E27FC236}">
                <a16:creationId xmlns:a16="http://schemas.microsoft.com/office/drawing/2014/main" id="{0292877F-B4E4-BD86-2505-C07184556C19}"/>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01AF40FB-3328-0E65-71B2-EFDB5DED0055}"/>
              </a:ext>
            </a:extLst>
          </p:cNvPr>
          <p:cNvSpPr>
            <a:spLocks noGrp="1"/>
          </p:cNvSpPr>
          <p:nvPr>
            <p:ph type="sldNum" sz="quarter" idx="12"/>
          </p:nvPr>
        </p:nvSpPr>
        <p:spPr/>
        <p:txBody>
          <a:bodyPr/>
          <a:lstStyle>
            <a:lvl1pPr>
              <a:defRPr/>
            </a:lvl1pPr>
          </a:lstStyle>
          <a:p>
            <a:pPr>
              <a:defRPr/>
            </a:pPr>
            <a:fld id="{B6E396E2-347B-43EC-BF02-626F096E0544}" type="slidenum">
              <a:rPr lang="en-IN"/>
              <a:pPr>
                <a:defRPr/>
              </a:pPr>
              <a:t>‹#›</a:t>
            </a:fld>
            <a:endParaRPr lang="en-IN"/>
          </a:p>
        </p:txBody>
      </p:sp>
    </p:spTree>
    <p:extLst>
      <p:ext uri="{BB962C8B-B14F-4D97-AF65-F5344CB8AC3E}">
        <p14:creationId xmlns:p14="http://schemas.microsoft.com/office/powerpoint/2010/main" val="3277006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B3302F-B425-7CB6-F81B-45054596BC29}"/>
              </a:ext>
            </a:extLst>
          </p:cNvPr>
          <p:cNvSpPr>
            <a:spLocks noGrp="1"/>
          </p:cNvSpPr>
          <p:nvPr>
            <p:ph type="dt" sz="half" idx="10"/>
          </p:nvPr>
        </p:nvSpPr>
        <p:spPr/>
        <p:txBody>
          <a:bodyPr/>
          <a:lstStyle>
            <a:lvl1pPr>
              <a:defRPr/>
            </a:lvl1pPr>
          </a:lstStyle>
          <a:p>
            <a:pPr>
              <a:defRPr/>
            </a:pPr>
            <a:fld id="{451E4F4C-150A-4DC7-A26E-0C6C9678BA6D}" type="datetime1">
              <a:rPr lang="en-IN"/>
              <a:pPr>
                <a:defRPr/>
              </a:pPr>
              <a:t>16-03-2023</a:t>
            </a:fld>
            <a:endParaRPr lang="en-IN"/>
          </a:p>
        </p:txBody>
      </p:sp>
      <p:sp>
        <p:nvSpPr>
          <p:cNvPr id="5" name="Footer Placeholder 4">
            <a:extLst>
              <a:ext uri="{FF2B5EF4-FFF2-40B4-BE49-F238E27FC236}">
                <a16:creationId xmlns:a16="http://schemas.microsoft.com/office/drawing/2014/main" id="{A3ABF93A-8788-E148-B6C7-1B52026C9BB8}"/>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8F075919-FBB8-FF45-2999-DD527DEE9816}"/>
              </a:ext>
            </a:extLst>
          </p:cNvPr>
          <p:cNvSpPr>
            <a:spLocks noGrp="1"/>
          </p:cNvSpPr>
          <p:nvPr>
            <p:ph type="sldNum" sz="quarter" idx="12"/>
          </p:nvPr>
        </p:nvSpPr>
        <p:spPr/>
        <p:txBody>
          <a:bodyPr/>
          <a:lstStyle>
            <a:lvl1pPr>
              <a:defRPr/>
            </a:lvl1pPr>
          </a:lstStyle>
          <a:p>
            <a:pPr>
              <a:defRPr/>
            </a:pPr>
            <a:fld id="{73141184-EE45-498D-8C7E-5F01F4DD9770}" type="slidenum">
              <a:rPr lang="en-IN"/>
              <a:pPr>
                <a:defRPr/>
              </a:pPr>
              <a:t>‹#›</a:t>
            </a:fld>
            <a:endParaRPr lang="en-IN"/>
          </a:p>
        </p:txBody>
      </p:sp>
    </p:spTree>
    <p:extLst>
      <p:ext uri="{BB962C8B-B14F-4D97-AF65-F5344CB8AC3E}">
        <p14:creationId xmlns:p14="http://schemas.microsoft.com/office/powerpoint/2010/main" val="2743740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B2050-A00B-73BB-ABAE-0DD6A37C0DD9}"/>
              </a:ext>
            </a:extLst>
          </p:cNvPr>
          <p:cNvSpPr>
            <a:spLocks noGrp="1"/>
          </p:cNvSpPr>
          <p:nvPr>
            <p:ph type="dt" sz="half" idx="10"/>
          </p:nvPr>
        </p:nvSpPr>
        <p:spPr/>
        <p:txBody>
          <a:bodyPr/>
          <a:lstStyle>
            <a:lvl1pPr>
              <a:defRPr/>
            </a:lvl1pPr>
          </a:lstStyle>
          <a:p>
            <a:pPr>
              <a:defRPr/>
            </a:pPr>
            <a:fld id="{69B3BE7F-9D9F-4423-9BD7-1C8C041FA90F}" type="datetime1">
              <a:rPr lang="en-IN"/>
              <a:pPr>
                <a:defRPr/>
              </a:pPr>
              <a:t>16-03-2023</a:t>
            </a:fld>
            <a:endParaRPr lang="en-IN"/>
          </a:p>
        </p:txBody>
      </p:sp>
      <p:sp>
        <p:nvSpPr>
          <p:cNvPr id="5" name="Footer Placeholder 4">
            <a:extLst>
              <a:ext uri="{FF2B5EF4-FFF2-40B4-BE49-F238E27FC236}">
                <a16:creationId xmlns:a16="http://schemas.microsoft.com/office/drawing/2014/main" id="{71E8053A-6282-1BFE-B71F-3E3F7A339370}"/>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C5B35B7E-1539-7757-F401-4BD9C6E54F62}"/>
              </a:ext>
            </a:extLst>
          </p:cNvPr>
          <p:cNvSpPr>
            <a:spLocks noGrp="1"/>
          </p:cNvSpPr>
          <p:nvPr>
            <p:ph type="sldNum" sz="quarter" idx="12"/>
          </p:nvPr>
        </p:nvSpPr>
        <p:spPr/>
        <p:txBody>
          <a:bodyPr/>
          <a:lstStyle>
            <a:lvl1pPr>
              <a:defRPr/>
            </a:lvl1pPr>
          </a:lstStyle>
          <a:p>
            <a:pPr>
              <a:defRPr/>
            </a:pPr>
            <a:fld id="{599C383E-4B4E-484D-AE64-BE14BA963AE1}" type="slidenum">
              <a:rPr lang="en-IN"/>
              <a:pPr>
                <a:defRPr/>
              </a:pPr>
              <a:t>‹#›</a:t>
            </a:fld>
            <a:endParaRPr lang="en-IN"/>
          </a:p>
        </p:txBody>
      </p:sp>
    </p:spTree>
    <p:extLst>
      <p:ext uri="{BB962C8B-B14F-4D97-AF65-F5344CB8AC3E}">
        <p14:creationId xmlns:p14="http://schemas.microsoft.com/office/powerpoint/2010/main" val="1841511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5B95FD02-4FA5-E503-64C0-E4840F04F6DC}"/>
              </a:ext>
            </a:extLst>
          </p:cNvPr>
          <p:cNvSpPr>
            <a:spLocks noGrp="1"/>
          </p:cNvSpPr>
          <p:nvPr>
            <p:ph type="dt" sz="half" idx="10"/>
          </p:nvPr>
        </p:nvSpPr>
        <p:spPr/>
        <p:txBody>
          <a:bodyPr/>
          <a:lstStyle>
            <a:lvl1pPr>
              <a:defRPr/>
            </a:lvl1pPr>
          </a:lstStyle>
          <a:p>
            <a:pPr>
              <a:defRPr/>
            </a:pPr>
            <a:fld id="{33D26949-D86C-4F41-9B62-668BD82E8AC8}" type="datetime1">
              <a:rPr lang="en-IN"/>
              <a:pPr>
                <a:defRPr/>
              </a:pPr>
              <a:t>16-03-2023</a:t>
            </a:fld>
            <a:endParaRPr lang="en-IN"/>
          </a:p>
        </p:txBody>
      </p:sp>
      <p:sp>
        <p:nvSpPr>
          <p:cNvPr id="6" name="Footer Placeholder 4">
            <a:extLst>
              <a:ext uri="{FF2B5EF4-FFF2-40B4-BE49-F238E27FC236}">
                <a16:creationId xmlns:a16="http://schemas.microsoft.com/office/drawing/2014/main" id="{52080401-CF85-373E-8C95-DA0253F3AD52}"/>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F1AE38F0-9CA0-3A9C-C710-42DCCFEFD54E}"/>
              </a:ext>
            </a:extLst>
          </p:cNvPr>
          <p:cNvSpPr>
            <a:spLocks noGrp="1"/>
          </p:cNvSpPr>
          <p:nvPr>
            <p:ph type="sldNum" sz="quarter" idx="12"/>
          </p:nvPr>
        </p:nvSpPr>
        <p:spPr/>
        <p:txBody>
          <a:bodyPr/>
          <a:lstStyle>
            <a:lvl1pPr>
              <a:defRPr/>
            </a:lvl1pPr>
          </a:lstStyle>
          <a:p>
            <a:pPr>
              <a:defRPr/>
            </a:pPr>
            <a:fld id="{58CEC098-3F3B-4229-BFAF-B413B6EC9D17}" type="slidenum">
              <a:rPr lang="en-IN"/>
              <a:pPr>
                <a:defRPr/>
              </a:pPr>
              <a:t>‹#›</a:t>
            </a:fld>
            <a:endParaRPr lang="en-IN"/>
          </a:p>
        </p:txBody>
      </p:sp>
    </p:spTree>
    <p:extLst>
      <p:ext uri="{BB962C8B-B14F-4D97-AF65-F5344CB8AC3E}">
        <p14:creationId xmlns:p14="http://schemas.microsoft.com/office/powerpoint/2010/main" val="3581924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54BD76A7-62BA-C122-EB6F-DDBD14CD2175}"/>
              </a:ext>
            </a:extLst>
          </p:cNvPr>
          <p:cNvSpPr>
            <a:spLocks noGrp="1"/>
          </p:cNvSpPr>
          <p:nvPr>
            <p:ph type="dt" sz="half" idx="10"/>
          </p:nvPr>
        </p:nvSpPr>
        <p:spPr/>
        <p:txBody>
          <a:bodyPr/>
          <a:lstStyle>
            <a:lvl1pPr>
              <a:defRPr/>
            </a:lvl1pPr>
          </a:lstStyle>
          <a:p>
            <a:pPr>
              <a:defRPr/>
            </a:pPr>
            <a:fld id="{1A45625E-7D22-4C00-BFBD-5B10698E5733}" type="datetime1">
              <a:rPr lang="en-IN"/>
              <a:pPr>
                <a:defRPr/>
              </a:pPr>
              <a:t>16-03-2023</a:t>
            </a:fld>
            <a:endParaRPr lang="en-IN"/>
          </a:p>
        </p:txBody>
      </p:sp>
      <p:sp>
        <p:nvSpPr>
          <p:cNvPr id="8" name="Footer Placeholder 4">
            <a:extLst>
              <a:ext uri="{FF2B5EF4-FFF2-40B4-BE49-F238E27FC236}">
                <a16:creationId xmlns:a16="http://schemas.microsoft.com/office/drawing/2014/main" id="{24A39B46-57FA-9201-73DD-0D077175E697}"/>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483B7AE7-6C1B-FAFF-CA36-D34E84F7A78B}"/>
              </a:ext>
            </a:extLst>
          </p:cNvPr>
          <p:cNvSpPr>
            <a:spLocks noGrp="1"/>
          </p:cNvSpPr>
          <p:nvPr>
            <p:ph type="sldNum" sz="quarter" idx="12"/>
          </p:nvPr>
        </p:nvSpPr>
        <p:spPr/>
        <p:txBody>
          <a:bodyPr/>
          <a:lstStyle>
            <a:lvl1pPr>
              <a:defRPr/>
            </a:lvl1pPr>
          </a:lstStyle>
          <a:p>
            <a:pPr>
              <a:defRPr/>
            </a:pPr>
            <a:fld id="{DF80C97D-D1FB-424B-8645-BEA93186BFE0}" type="slidenum">
              <a:rPr lang="en-IN"/>
              <a:pPr>
                <a:defRPr/>
              </a:pPr>
              <a:t>‹#›</a:t>
            </a:fld>
            <a:endParaRPr lang="en-IN"/>
          </a:p>
        </p:txBody>
      </p:sp>
    </p:spTree>
    <p:extLst>
      <p:ext uri="{BB962C8B-B14F-4D97-AF65-F5344CB8AC3E}">
        <p14:creationId xmlns:p14="http://schemas.microsoft.com/office/powerpoint/2010/main" val="28324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F0545EA4-38DB-31BB-212A-A7BD416A201B}"/>
              </a:ext>
            </a:extLst>
          </p:cNvPr>
          <p:cNvSpPr>
            <a:spLocks noGrp="1"/>
          </p:cNvSpPr>
          <p:nvPr>
            <p:ph type="dt" sz="half" idx="10"/>
          </p:nvPr>
        </p:nvSpPr>
        <p:spPr/>
        <p:txBody>
          <a:bodyPr/>
          <a:lstStyle>
            <a:lvl1pPr>
              <a:defRPr/>
            </a:lvl1pPr>
          </a:lstStyle>
          <a:p>
            <a:pPr>
              <a:defRPr/>
            </a:pPr>
            <a:fld id="{19F38E00-2205-4314-8115-5297E14AF950}" type="datetime1">
              <a:rPr lang="en-IN"/>
              <a:pPr>
                <a:defRPr/>
              </a:pPr>
              <a:t>16-03-2023</a:t>
            </a:fld>
            <a:endParaRPr lang="en-IN"/>
          </a:p>
        </p:txBody>
      </p:sp>
      <p:sp>
        <p:nvSpPr>
          <p:cNvPr id="4" name="Footer Placeholder 4">
            <a:extLst>
              <a:ext uri="{FF2B5EF4-FFF2-40B4-BE49-F238E27FC236}">
                <a16:creationId xmlns:a16="http://schemas.microsoft.com/office/drawing/2014/main" id="{8906AFD0-D8A7-B3ED-2768-A80F173FFD20}"/>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FB8FA426-CF89-4DE2-F969-2F34F3BDE61A}"/>
              </a:ext>
            </a:extLst>
          </p:cNvPr>
          <p:cNvSpPr>
            <a:spLocks noGrp="1"/>
          </p:cNvSpPr>
          <p:nvPr>
            <p:ph type="sldNum" sz="quarter" idx="12"/>
          </p:nvPr>
        </p:nvSpPr>
        <p:spPr/>
        <p:txBody>
          <a:bodyPr/>
          <a:lstStyle>
            <a:lvl1pPr>
              <a:defRPr/>
            </a:lvl1pPr>
          </a:lstStyle>
          <a:p>
            <a:pPr>
              <a:defRPr/>
            </a:pPr>
            <a:fld id="{28AE4441-4146-47FB-BFA8-3F1CB3CE46F8}" type="slidenum">
              <a:rPr lang="en-IN"/>
              <a:pPr>
                <a:defRPr/>
              </a:pPr>
              <a:t>‹#›</a:t>
            </a:fld>
            <a:endParaRPr lang="en-IN"/>
          </a:p>
        </p:txBody>
      </p:sp>
    </p:spTree>
    <p:extLst>
      <p:ext uri="{BB962C8B-B14F-4D97-AF65-F5344CB8AC3E}">
        <p14:creationId xmlns:p14="http://schemas.microsoft.com/office/powerpoint/2010/main" val="4099231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413C4CB-DD90-7C40-EB6C-B92CE2BBEEB9}"/>
              </a:ext>
            </a:extLst>
          </p:cNvPr>
          <p:cNvSpPr>
            <a:spLocks noGrp="1"/>
          </p:cNvSpPr>
          <p:nvPr>
            <p:ph type="dt" sz="half" idx="10"/>
          </p:nvPr>
        </p:nvSpPr>
        <p:spPr/>
        <p:txBody>
          <a:bodyPr/>
          <a:lstStyle>
            <a:lvl1pPr>
              <a:defRPr/>
            </a:lvl1pPr>
          </a:lstStyle>
          <a:p>
            <a:pPr>
              <a:defRPr/>
            </a:pPr>
            <a:fld id="{9D3E3279-C87D-457F-8D51-876F6764EDFB}" type="datetime1">
              <a:rPr lang="en-IN"/>
              <a:pPr>
                <a:defRPr/>
              </a:pPr>
              <a:t>16-03-2023</a:t>
            </a:fld>
            <a:endParaRPr lang="en-IN"/>
          </a:p>
        </p:txBody>
      </p:sp>
      <p:sp>
        <p:nvSpPr>
          <p:cNvPr id="3" name="Footer Placeholder 4">
            <a:extLst>
              <a:ext uri="{FF2B5EF4-FFF2-40B4-BE49-F238E27FC236}">
                <a16:creationId xmlns:a16="http://schemas.microsoft.com/office/drawing/2014/main" id="{A3EBECA7-E237-BCB6-675D-CDFF81EE4605}"/>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4CC98512-4F01-45CB-3E5E-85DA9C18AEA9}"/>
              </a:ext>
            </a:extLst>
          </p:cNvPr>
          <p:cNvSpPr>
            <a:spLocks noGrp="1"/>
          </p:cNvSpPr>
          <p:nvPr>
            <p:ph type="sldNum" sz="quarter" idx="12"/>
          </p:nvPr>
        </p:nvSpPr>
        <p:spPr/>
        <p:txBody>
          <a:bodyPr/>
          <a:lstStyle>
            <a:lvl1pPr>
              <a:defRPr/>
            </a:lvl1pPr>
          </a:lstStyle>
          <a:p>
            <a:pPr>
              <a:defRPr/>
            </a:pPr>
            <a:fld id="{524DF2D2-7860-4746-9DC1-3101F84BD2C1}" type="slidenum">
              <a:rPr lang="en-IN"/>
              <a:pPr>
                <a:defRPr/>
              </a:pPr>
              <a:t>‹#›</a:t>
            </a:fld>
            <a:endParaRPr lang="en-IN"/>
          </a:p>
        </p:txBody>
      </p:sp>
    </p:spTree>
    <p:extLst>
      <p:ext uri="{BB962C8B-B14F-4D97-AF65-F5344CB8AC3E}">
        <p14:creationId xmlns:p14="http://schemas.microsoft.com/office/powerpoint/2010/main" val="3482576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1CC4426A-2A52-ACFA-D9A3-BB778BB73E87}"/>
              </a:ext>
            </a:extLst>
          </p:cNvPr>
          <p:cNvSpPr>
            <a:spLocks noGrp="1"/>
          </p:cNvSpPr>
          <p:nvPr>
            <p:ph type="dt" sz="half" idx="10"/>
          </p:nvPr>
        </p:nvSpPr>
        <p:spPr/>
        <p:txBody>
          <a:bodyPr/>
          <a:lstStyle>
            <a:lvl1pPr>
              <a:defRPr/>
            </a:lvl1pPr>
          </a:lstStyle>
          <a:p>
            <a:pPr>
              <a:defRPr/>
            </a:pPr>
            <a:fld id="{52CBDBC9-0818-4C41-B8F7-A29FBCAEB35C}" type="datetime1">
              <a:rPr lang="en-IN"/>
              <a:pPr>
                <a:defRPr/>
              </a:pPr>
              <a:t>16-03-2023</a:t>
            </a:fld>
            <a:endParaRPr lang="en-IN"/>
          </a:p>
        </p:txBody>
      </p:sp>
      <p:sp>
        <p:nvSpPr>
          <p:cNvPr id="6" name="Footer Placeholder 4">
            <a:extLst>
              <a:ext uri="{FF2B5EF4-FFF2-40B4-BE49-F238E27FC236}">
                <a16:creationId xmlns:a16="http://schemas.microsoft.com/office/drawing/2014/main" id="{2D696C48-2FB2-4997-9B31-32AF4CDEB02A}"/>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06A31A3C-3898-0E8D-EE0E-18B195232C1B}"/>
              </a:ext>
            </a:extLst>
          </p:cNvPr>
          <p:cNvSpPr>
            <a:spLocks noGrp="1"/>
          </p:cNvSpPr>
          <p:nvPr>
            <p:ph type="sldNum" sz="quarter" idx="12"/>
          </p:nvPr>
        </p:nvSpPr>
        <p:spPr/>
        <p:txBody>
          <a:bodyPr/>
          <a:lstStyle>
            <a:lvl1pPr>
              <a:defRPr/>
            </a:lvl1pPr>
          </a:lstStyle>
          <a:p>
            <a:pPr>
              <a:defRPr/>
            </a:pPr>
            <a:fld id="{8D6B762F-E2F3-4C68-A2A4-04EFB97CB318}" type="slidenum">
              <a:rPr lang="en-IN"/>
              <a:pPr>
                <a:defRPr/>
              </a:pPr>
              <a:t>‹#›</a:t>
            </a:fld>
            <a:endParaRPr lang="en-IN"/>
          </a:p>
        </p:txBody>
      </p:sp>
    </p:spTree>
    <p:extLst>
      <p:ext uri="{BB962C8B-B14F-4D97-AF65-F5344CB8AC3E}">
        <p14:creationId xmlns:p14="http://schemas.microsoft.com/office/powerpoint/2010/main" val="1338454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C507E42F-5C4D-ABEF-BC77-4224BF7B1B72}"/>
              </a:ext>
            </a:extLst>
          </p:cNvPr>
          <p:cNvSpPr>
            <a:spLocks noGrp="1"/>
          </p:cNvSpPr>
          <p:nvPr>
            <p:ph type="dt" sz="half" idx="10"/>
          </p:nvPr>
        </p:nvSpPr>
        <p:spPr/>
        <p:txBody>
          <a:bodyPr/>
          <a:lstStyle>
            <a:lvl1pPr>
              <a:defRPr/>
            </a:lvl1pPr>
          </a:lstStyle>
          <a:p>
            <a:pPr>
              <a:defRPr/>
            </a:pPr>
            <a:fld id="{E53022FA-F3B9-403D-8483-DFE827033924}" type="datetime1">
              <a:rPr lang="en-IN"/>
              <a:pPr>
                <a:defRPr/>
              </a:pPr>
              <a:t>16-03-2023</a:t>
            </a:fld>
            <a:endParaRPr lang="en-IN"/>
          </a:p>
        </p:txBody>
      </p:sp>
      <p:sp>
        <p:nvSpPr>
          <p:cNvPr id="6" name="Footer Placeholder 4">
            <a:extLst>
              <a:ext uri="{FF2B5EF4-FFF2-40B4-BE49-F238E27FC236}">
                <a16:creationId xmlns:a16="http://schemas.microsoft.com/office/drawing/2014/main" id="{11161629-9FEE-7C8D-013D-016AF80EDBCB}"/>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3240C405-9101-2DC5-B5B8-0530B09E29E6}"/>
              </a:ext>
            </a:extLst>
          </p:cNvPr>
          <p:cNvSpPr>
            <a:spLocks noGrp="1"/>
          </p:cNvSpPr>
          <p:nvPr>
            <p:ph type="sldNum" sz="quarter" idx="12"/>
          </p:nvPr>
        </p:nvSpPr>
        <p:spPr/>
        <p:txBody>
          <a:bodyPr/>
          <a:lstStyle>
            <a:lvl1pPr>
              <a:defRPr/>
            </a:lvl1pPr>
          </a:lstStyle>
          <a:p>
            <a:pPr>
              <a:defRPr/>
            </a:pPr>
            <a:fld id="{DCDDAFE2-7DB5-48CE-9C3D-5BE01023B61B}" type="slidenum">
              <a:rPr lang="en-IN"/>
              <a:pPr>
                <a:defRPr/>
              </a:pPr>
              <a:t>‹#›</a:t>
            </a:fld>
            <a:endParaRPr lang="en-IN"/>
          </a:p>
        </p:txBody>
      </p:sp>
    </p:spTree>
    <p:extLst>
      <p:ext uri="{BB962C8B-B14F-4D97-AF65-F5344CB8AC3E}">
        <p14:creationId xmlns:p14="http://schemas.microsoft.com/office/powerpoint/2010/main" val="2038926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CABA2D-E101-D4F4-86FC-449EB938279C}"/>
              </a:ext>
            </a:extLst>
          </p:cNvPr>
          <p:cNvSpPr>
            <a:spLocks noGrp="1"/>
          </p:cNvSpPr>
          <p:nvPr>
            <p:ph type="dt" sz="half" idx="10"/>
          </p:nvPr>
        </p:nvSpPr>
        <p:spPr/>
        <p:txBody>
          <a:bodyPr/>
          <a:lstStyle>
            <a:lvl1pPr>
              <a:defRPr/>
            </a:lvl1pPr>
          </a:lstStyle>
          <a:p>
            <a:pPr>
              <a:defRPr/>
            </a:pPr>
            <a:fld id="{978F30BB-ED0B-48FA-833D-0D448AAD7C58}" type="datetime1">
              <a:rPr lang="en-IN"/>
              <a:pPr>
                <a:defRPr/>
              </a:pPr>
              <a:t>16-03-2023</a:t>
            </a:fld>
            <a:endParaRPr lang="en-IN"/>
          </a:p>
        </p:txBody>
      </p:sp>
      <p:sp>
        <p:nvSpPr>
          <p:cNvPr id="5" name="Footer Placeholder 4">
            <a:extLst>
              <a:ext uri="{FF2B5EF4-FFF2-40B4-BE49-F238E27FC236}">
                <a16:creationId xmlns:a16="http://schemas.microsoft.com/office/drawing/2014/main" id="{FA3735EC-9F7C-027F-3077-96F258AE45F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C057F94B-8DCE-3334-6C47-7A176A75687A}"/>
              </a:ext>
            </a:extLst>
          </p:cNvPr>
          <p:cNvSpPr>
            <a:spLocks noGrp="1"/>
          </p:cNvSpPr>
          <p:nvPr>
            <p:ph type="sldNum" sz="quarter" idx="12"/>
          </p:nvPr>
        </p:nvSpPr>
        <p:spPr/>
        <p:txBody>
          <a:bodyPr/>
          <a:lstStyle>
            <a:lvl1pPr>
              <a:defRPr/>
            </a:lvl1pPr>
          </a:lstStyle>
          <a:p>
            <a:pPr>
              <a:defRPr/>
            </a:pPr>
            <a:fld id="{9628F9BD-FE7C-46D6-ABA6-DE5F7B068885}" type="slidenum">
              <a:rPr lang="en-IN"/>
              <a:pPr>
                <a:defRPr/>
              </a:pPr>
              <a:t>‹#›</a:t>
            </a:fld>
            <a:endParaRPr lang="en-IN"/>
          </a:p>
        </p:txBody>
      </p:sp>
    </p:spTree>
    <p:extLst>
      <p:ext uri="{BB962C8B-B14F-4D97-AF65-F5344CB8AC3E}">
        <p14:creationId xmlns:p14="http://schemas.microsoft.com/office/powerpoint/2010/main" val="3171099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87E430-7A1A-92C2-F07F-67A5AE364918}"/>
              </a:ext>
            </a:extLst>
          </p:cNvPr>
          <p:cNvSpPr>
            <a:spLocks noGrp="1"/>
          </p:cNvSpPr>
          <p:nvPr>
            <p:ph type="dt" sz="half" idx="10"/>
          </p:nvPr>
        </p:nvSpPr>
        <p:spPr/>
        <p:txBody>
          <a:bodyPr/>
          <a:lstStyle>
            <a:lvl1pPr>
              <a:defRPr/>
            </a:lvl1pPr>
          </a:lstStyle>
          <a:p>
            <a:pPr>
              <a:defRPr/>
            </a:pPr>
            <a:fld id="{F54F3786-6EB8-49BF-9750-4D4DB11EC4C9}" type="datetime1">
              <a:rPr lang="en-IN"/>
              <a:pPr>
                <a:defRPr/>
              </a:pPr>
              <a:t>16-03-2023</a:t>
            </a:fld>
            <a:endParaRPr lang="en-IN"/>
          </a:p>
        </p:txBody>
      </p:sp>
      <p:sp>
        <p:nvSpPr>
          <p:cNvPr id="5" name="Footer Placeholder 4">
            <a:extLst>
              <a:ext uri="{FF2B5EF4-FFF2-40B4-BE49-F238E27FC236}">
                <a16:creationId xmlns:a16="http://schemas.microsoft.com/office/drawing/2014/main" id="{9FCB56A1-3064-BB81-511F-75B564F5D6B7}"/>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43710D94-0E89-9C53-DAE4-26C380B3B365}"/>
              </a:ext>
            </a:extLst>
          </p:cNvPr>
          <p:cNvSpPr>
            <a:spLocks noGrp="1"/>
          </p:cNvSpPr>
          <p:nvPr>
            <p:ph type="sldNum" sz="quarter" idx="12"/>
          </p:nvPr>
        </p:nvSpPr>
        <p:spPr/>
        <p:txBody>
          <a:bodyPr/>
          <a:lstStyle>
            <a:lvl1pPr>
              <a:defRPr/>
            </a:lvl1pPr>
          </a:lstStyle>
          <a:p>
            <a:pPr>
              <a:defRPr/>
            </a:pPr>
            <a:fld id="{4ABF282C-AC0D-4F54-8ACD-858DB5D39BE1}" type="slidenum">
              <a:rPr lang="en-IN"/>
              <a:pPr>
                <a:defRPr/>
              </a:pPr>
              <a:t>‹#›</a:t>
            </a:fld>
            <a:endParaRPr lang="en-IN"/>
          </a:p>
        </p:txBody>
      </p:sp>
    </p:spTree>
    <p:extLst>
      <p:ext uri="{BB962C8B-B14F-4D97-AF65-F5344CB8AC3E}">
        <p14:creationId xmlns:p14="http://schemas.microsoft.com/office/powerpoint/2010/main" val="32636962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1D15498-E5B9-54B4-CD71-4A147E69526A}"/>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D645262D-BFE6-EE98-E0CE-7D2CE14FA6E8}"/>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34600620-1CF7-8251-F2B9-3BC807545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25014F7B-7BD9-44DC-BCA1-5EAA1E1232F2}" type="datetime1">
              <a:rPr lang="en-IN"/>
              <a:pPr>
                <a:defRPr/>
              </a:pPr>
              <a:t>16-03-2023</a:t>
            </a:fld>
            <a:endParaRPr lang="en-IN"/>
          </a:p>
        </p:txBody>
      </p:sp>
      <p:sp>
        <p:nvSpPr>
          <p:cNvPr id="5" name="Footer Placeholder 4">
            <a:extLst>
              <a:ext uri="{FF2B5EF4-FFF2-40B4-BE49-F238E27FC236}">
                <a16:creationId xmlns:a16="http://schemas.microsoft.com/office/drawing/2014/main" id="{31D8F50F-60B2-C5E5-9295-FD6C9E71F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1A1024EC-2C09-83A7-A2D8-AFC6EE787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148A908E-BF5B-49DC-A984-CA00F528A6E9}"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BA488521-3FCE-DF42-3273-49304D393711}"/>
              </a:ext>
            </a:extLst>
          </p:cNvPr>
          <p:cNvSpPr>
            <a:spLocks noGrp="1" noChangeArrowheads="1"/>
          </p:cNvSpPr>
          <p:nvPr>
            <p:ph type="ctrTitle"/>
          </p:nvPr>
        </p:nvSpPr>
        <p:spPr>
          <a:xfrm>
            <a:off x="1524000" y="1860550"/>
            <a:ext cx="9144000" cy="2387600"/>
          </a:xfrm>
        </p:spPr>
        <p:txBody>
          <a:bodyPr/>
          <a:lstStyle/>
          <a:p>
            <a:pPr eaLnBrk="1" hangingPunct="1"/>
            <a:r>
              <a:rPr lang="en-IN" altLang="en-US" sz="2600" b="1">
                <a:solidFill>
                  <a:srgbClr val="0B2F3A"/>
                </a:solidFill>
              </a:rPr>
              <a:t>Reproducing Choquet-Integral Multimodel Fusion for Noninvasive Blood Glucose Estimation from ECG and PPG</a:t>
            </a:r>
          </a:p>
        </p:txBody>
      </p:sp>
      <p:graphicFrame>
        <p:nvGraphicFramePr>
          <p:cNvPr id="4" name="Table 4">
            <a:extLst>
              <a:ext uri="{FF2B5EF4-FFF2-40B4-BE49-F238E27FC236}">
                <a16:creationId xmlns:a16="http://schemas.microsoft.com/office/drawing/2014/main" id="{6EF3B844-FB19-795C-3CC7-AB4479F90F41}"/>
              </a:ext>
            </a:extLst>
          </p:cNvPr>
          <p:cNvGraphicFramePr>
            <a:graphicFrameLocks noGrp="1"/>
          </p:cNvGraphicFramePr>
          <p:nvPr/>
        </p:nvGraphicFramePr>
        <p:xfrm>
          <a:off x="3278188" y="4454525"/>
          <a:ext cx="5635625" cy="1854200"/>
        </p:xfrm>
        <a:graphic>
          <a:graphicData uri="http://schemas.openxmlformats.org/drawingml/2006/table">
            <a:tbl>
              <a:tblPr firstRow="1" bandRow="1">
                <a:tableStyleId>{2D5ABB26-0587-4C30-8999-92F81FD0307C}</a:tableStyleId>
              </a:tblPr>
              <a:tblGrid>
                <a:gridCol w="1566841">
                  <a:extLst>
                    <a:ext uri="{9D8B030D-6E8A-4147-A177-3AD203B41FA5}">
                      <a16:colId xmlns:a16="http://schemas.microsoft.com/office/drawing/2014/main" val="20000"/>
                    </a:ext>
                  </a:extLst>
                </a:gridCol>
                <a:gridCol w="4068784">
                  <a:extLst>
                    <a:ext uri="{9D8B030D-6E8A-4147-A177-3AD203B41FA5}">
                      <a16:colId xmlns:a16="http://schemas.microsoft.com/office/drawing/2014/main" val="20001"/>
                    </a:ext>
                  </a:extLst>
                </a:gridCol>
              </a:tblGrid>
              <a:tr h="370840">
                <a:tc>
                  <a:txBody>
                    <a:bodyPr/>
                    <a:lstStyle/>
                    <a:p>
                      <a:r>
                        <a:rPr lang="en-IN" dirty="0"/>
                        <a:t>&lt;ROLL NO.&gt;</a:t>
                      </a:r>
                    </a:p>
                  </a:txBody>
                  <a:tcPr marL="91415" marR="91415"/>
                </a:tc>
                <a:tc>
                  <a:txBody>
                    <a:bodyPr/>
                    <a:lstStyle/>
                    <a:p>
                      <a:r>
                        <a:rPr lang="en-IN" dirty="0"/>
                        <a:t>NAVTESH MAKEN</a:t>
                      </a:r>
                    </a:p>
                  </a:txBody>
                  <a:tcPr marL="91415" marR="91415"/>
                </a:tc>
                <a:extLst>
                  <a:ext uri="{0D108BD9-81ED-4DB2-BD59-A6C34878D82A}">
                    <a16:rowId xmlns:a16="http://schemas.microsoft.com/office/drawing/2014/main" val="10000"/>
                  </a:ext>
                </a:extLst>
              </a:tr>
              <a:tr h="370840">
                <a:tc>
                  <a:txBody>
                    <a:bodyPr/>
                    <a:lstStyle/>
                    <a:p>
                      <a:r>
                        <a:rPr lang="en-IN" dirty="0"/>
                        <a:t/>
                      </a:r>
                    </a:p>
                  </a:txBody>
                  <a:tcPr marL="91415" marR="91415"/>
                </a:tc>
                <a:tc>
                  <a:txBody>
                    <a:bodyPr/>
                    <a:lstStyle/>
                    <a:p>
                      <a:r>
                        <a:rPr lang="en-IN" dirty="0"/>
                        <a:t/>
                      </a:r>
                    </a:p>
                  </a:txBody>
                  <a:tcPr marL="91415" marR="91415"/>
                </a:tc>
                <a:extLst>
                  <a:ext uri="{0D108BD9-81ED-4DB2-BD59-A6C34878D82A}">
                    <a16:rowId xmlns:a16="http://schemas.microsoft.com/office/drawing/2014/main" val="10001"/>
                  </a:ext>
                </a:extLst>
              </a:tr>
              <a:tr h="370840">
                <a:tc>
                  <a:txBody>
                    <a:bodyPr/>
                    <a:lstStyle/>
                    <a:p>
                      <a:r>
                        <a:rPr lang="en-IN" dirty="0"/>
                        <a:t/>
                      </a:r>
                    </a:p>
                  </a:txBody>
                  <a:tcPr marL="91415" marR="91415"/>
                </a:tc>
                <a:tc>
                  <a:txBody>
                    <a:bodyPr/>
                    <a:lstStyle/>
                    <a:p>
                      <a:r>
                        <a:rPr lang="en-IN" dirty="0"/>
                        <a:t/>
                      </a:r>
                    </a:p>
                  </a:txBody>
                  <a:tcPr marL="91415" marR="91415"/>
                </a:tc>
                <a:extLst>
                  <a:ext uri="{0D108BD9-81ED-4DB2-BD59-A6C34878D82A}">
                    <a16:rowId xmlns:a16="http://schemas.microsoft.com/office/drawing/2014/main" val="10002"/>
                  </a:ext>
                </a:extLst>
              </a:tr>
              <a:tr h="370840">
                <a:tc>
                  <a:txBody>
                    <a:bodyPr/>
                    <a:lstStyle/>
                    <a:p>
                      <a:r>
                        <a:rPr lang="en-IN" dirty="0"/>
                        <a:t/>
                      </a:r>
                    </a:p>
                  </a:txBody>
                  <a:tcPr marL="91415" marR="91415"/>
                </a:tc>
                <a:tc>
                  <a:txBody>
                    <a:bodyPr/>
                    <a:lstStyle/>
                    <a:p>
                      <a:r>
                        <a:rPr lang="en-IN" dirty="0"/>
                        <a:t/>
                      </a:r>
                    </a:p>
                  </a:txBody>
                  <a:tcPr marL="91415" marR="91415"/>
                </a:tc>
                <a:extLst>
                  <a:ext uri="{0D108BD9-81ED-4DB2-BD59-A6C34878D82A}">
                    <a16:rowId xmlns:a16="http://schemas.microsoft.com/office/drawing/2014/main" val="10003"/>
                  </a:ext>
                </a:extLst>
              </a:tr>
              <a:tr h="370840">
                <a:tc>
                  <a:txBody>
                    <a:bodyPr/>
                    <a:lstStyle/>
                    <a:p>
                      <a:endParaRPr lang="en-IN"/>
                    </a:p>
                  </a:txBody>
                  <a:tcPr marL="91415" marR="91415"/>
                </a:tc>
                <a:tc>
                  <a:txBody>
                    <a:bodyPr/>
                    <a:lstStyle/>
                    <a:p>
                      <a:endParaRPr lang="en-IN" dirty="0"/>
                    </a:p>
                  </a:txBody>
                  <a:tcPr marL="91415" marR="91415"/>
                </a:tc>
                <a:extLst>
                  <a:ext uri="{0D108BD9-81ED-4DB2-BD59-A6C34878D82A}">
                    <a16:rowId xmlns:a16="http://schemas.microsoft.com/office/drawing/2014/main" val="10004"/>
                  </a:ext>
                </a:extLst>
              </a:tr>
            </a:tbl>
          </a:graphicData>
        </a:graphic>
      </p:graphicFrame>
      <p:pic>
        <p:nvPicPr>
          <p:cNvPr id="3086" name="Picture 2">
            <a:extLst>
              <a:ext uri="{FF2B5EF4-FFF2-40B4-BE49-F238E27FC236}">
                <a16:creationId xmlns:a16="http://schemas.microsoft.com/office/drawing/2014/main" id="{A6CAE901-217F-373D-C817-D75DD7FFA0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54625" y="177800"/>
            <a:ext cx="1682750"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7" name="Subtitle 2">
            <a:extLst>
              <a:ext uri="{FF2B5EF4-FFF2-40B4-BE49-F238E27FC236}">
                <a16:creationId xmlns:a16="http://schemas.microsoft.com/office/drawing/2014/main" id="{9F70CAF2-78DB-B046-9E71-917A80D683AF}"/>
              </a:ext>
            </a:extLst>
          </p:cNvPr>
          <p:cNvSpPr txBox="1">
            <a:spLocks/>
          </p:cNvSpPr>
          <p:nvPr/>
        </p:nvSpPr>
        <p:spPr bwMode="auto">
          <a:xfrm>
            <a:off x="1524000" y="6308725"/>
            <a:ext cx="8696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en-US" altLang="en-US" sz="1200" b="1">
                <a:solidFill>
                  <a:srgbClr val="000000"/>
                </a:solidFill>
              </a:rPr>
              <a:t>Mid Term Review</a:t>
            </a:r>
          </a:p>
          <a:p>
            <a:pPr algn="ctr" eaLnBrk="1" hangingPunct="1">
              <a:lnSpc>
                <a:spcPct val="100000"/>
              </a:lnSpc>
              <a:spcBef>
                <a:spcPct val="0"/>
              </a:spcBef>
              <a:buFont typeface="Arial" panose="020B0604020202020204" pitchFamily="34" charset="0"/>
              <a:buNone/>
            </a:pPr>
            <a:r>
              <a:rPr lang="en-US" altLang="en-US" sz="1200" b="1">
                <a:solidFill>
                  <a:srgbClr val="000000"/>
                </a:solidFill>
              </a:rPr>
              <a:t> EEEEC23 B. Tech Project - II</a:t>
            </a:r>
            <a:endParaRPr lang="en-IN" altLang="en-US" sz="12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BEF30718-2444-E323-E731-4A0888D883CC}"/>
              </a:ext>
            </a:extLst>
          </p:cNvPr>
          <p:cNvSpPr>
            <a:spLocks noGrp="1" noChangeArrowheads="1"/>
          </p:cNvSpPr>
          <p:nvPr>
            <p:ph type="title"/>
          </p:nvPr>
        </p:nvSpPr>
        <p:spPr/>
        <p:txBody>
          <a:bodyPr/>
          <a:lstStyle/>
          <a:p>
            <a:pPr algn="ctr" eaLnBrk="1" hangingPunct="1"/>
            <a:r>
              <a:rPr lang="en-IN" altLang="en-US" b="1" sz="2800">
                <a:solidFill>
                  <a:srgbClr val="0B2F3A"/>
                </a:solidFill>
              </a:rPr>
              <a:t>Contents</a:t>
            </a:r>
          </a:p>
        </p:txBody>
      </p:sp>
      <p:sp>
        <p:nvSpPr>
          <p:cNvPr id="4099" name="Content Placeholder 2">
            <a:extLst>
              <a:ext uri="{FF2B5EF4-FFF2-40B4-BE49-F238E27FC236}">
                <a16:creationId xmlns:a16="http://schemas.microsoft.com/office/drawing/2014/main" id="{34E822B3-0CFD-C904-DCC4-13D915620FAB}"/>
              </a:ext>
            </a:extLst>
          </p:cNvPr>
          <p:cNvSpPr>
            <a:spLocks noGrp="1" noChangeArrowheads="1"/>
          </p:cNvSpPr>
          <p:nvPr>
            <p:ph idx="1"/>
          </p:nvPr>
        </p:nvSpPr>
        <p:spPr>
          <a:xfrm>
            <a:off x="649288" y="1489075"/>
            <a:ext cx="10898187" cy="5232400"/>
          </a:xfrm>
        </p:spPr>
        <p:txBody>
          <a:bodyPr wrap="square"/>
          <a:lstStyle/>
          <a:p>
            <a:pPr eaLnBrk="1" hangingPunct="1"/>
            <a:r>
              <a:rPr sz="1800">
                <a:solidFill>
                  <a:srgbClr val="0B2F3A"/>
                </a:solidFill>
              </a:rPr>
              <a:t>Introduction</a:t>
            </a:r>
          </a:p>
          <a:p>
            <a:pPr/>
            <a:r>
              <a:rPr sz="1800">
                <a:solidFill>
                  <a:srgbClr val="0B2F3A"/>
                </a:solidFill>
              </a:rPr>
              <a:t>Literature Survey</a:t>
            </a:r>
          </a:p>
          <a:p>
            <a:pPr/>
            <a:r>
              <a:rPr sz="1800">
                <a:solidFill>
                  <a:srgbClr val="0B2F3A"/>
                </a:solidFill>
              </a:rPr>
              <a:t>Gaps Identified</a:t>
            </a:r>
          </a:p>
          <a:p>
            <a:pPr/>
            <a:r>
              <a:rPr sz="1800">
                <a:solidFill>
                  <a:srgbClr val="0B2F3A"/>
                </a:solidFill>
              </a:rPr>
              <a:t>Aims / Objectives of the Project</a:t>
            </a:r>
          </a:p>
          <a:p>
            <a:pPr/>
            <a:r>
              <a:rPr sz="1800">
                <a:solidFill>
                  <a:srgbClr val="0B2F3A"/>
                </a:solidFill>
              </a:rPr>
              <a:t>Problem Formulation</a:t>
            </a:r>
          </a:p>
          <a:p>
            <a:pPr/>
            <a:r>
              <a:rPr sz="1800">
                <a:solidFill>
                  <a:srgbClr val="0B2F3A"/>
                </a:solidFill>
              </a:rPr>
              <a:t>Solution Methodology</a:t>
            </a:r>
          </a:p>
          <a:p>
            <a:pPr/>
            <a:r>
              <a:rPr sz="1800">
                <a:solidFill>
                  <a:srgbClr val="0B2F3A"/>
                </a:solidFill>
              </a:rPr>
              <a:t>Results</a:t>
            </a:r>
          </a:p>
          <a:p>
            <a:pPr/>
            <a:r>
              <a:rPr sz="1800">
                <a:solidFill>
                  <a:srgbClr val="0B2F3A"/>
                </a:solidFill>
              </a:rPr>
              <a:t>Future Work</a:t>
            </a:r>
          </a:p>
          <a:p>
            <a:pPr/>
            <a:r>
              <a:rPr sz="1800">
                <a:solidFill>
                  <a:srgbClr val="0B2F3A"/>
                </a:solidFill>
              </a:rPr>
              <a:t>Expected Outputs / Outcomes</a:t>
            </a:r>
          </a:p>
          <a:p>
            <a:pPr/>
            <a:r>
              <a:rPr sz="1800">
                <a:solidFill>
                  <a:srgbClr val="0B2F3A"/>
                </a:solidFill>
              </a:rPr>
              <a:t>References</a:t>
            </a:r>
          </a:p>
        </p:txBody>
      </p:sp>
      <p:sp>
        <p:nvSpPr>
          <p:cNvPr id="4" name="Slide Number Placeholder 3">
            <a:extLst>
              <a:ext uri="{FF2B5EF4-FFF2-40B4-BE49-F238E27FC236}">
                <a16:creationId xmlns:a16="http://schemas.microsoft.com/office/drawing/2014/main" id="{5CE363AE-5DDD-6C82-CF7C-C481A1859FB0}"/>
              </a:ext>
            </a:extLst>
          </p:cNvPr>
          <p:cNvSpPr>
            <a:spLocks noGrp="1"/>
          </p:cNvSpPr>
          <p:nvPr>
            <p:ph type="sldNum" sz="quarter" idx="12"/>
          </p:nvPr>
        </p:nvSpPr>
        <p:spPr/>
        <p:txBody>
          <a:bodyPr/>
          <a:lstStyle/>
          <a:p>
            <a:pPr>
              <a:defRPr/>
            </a:pPr>
            <a:fld id="{A4E626FC-14EA-4C00-BA83-0C2F4D38D660}" type="slidenum">
              <a:rPr lang="en-IN"/>
              <a:pPr>
                <a:defRPr/>
              </a:pPr>
              <a:t>2</a:t>
            </a:fld>
            <a:endParaRPr lang="en-IN"/>
          </a:p>
        </p:txBody>
      </p:sp>
      <p:pic>
        <p:nvPicPr>
          <p:cNvPr id="4101" name="Picture 2">
            <a:extLst>
              <a:ext uri="{FF2B5EF4-FFF2-40B4-BE49-F238E27FC236}">
                <a16:creationId xmlns:a16="http://schemas.microsoft.com/office/drawing/2014/main" id="{D7B00CF6-8EF9-56CD-F1EF-7C87A80195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Introduction</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5003800"/>
          </a:xfrm>
        </p:spPr>
        <p:txBody>
          <a:bodyPr rtlCol="0" wrap="square">
            <a:normAutofit/>
          </a:bodyPr>
          <a:lstStyle/>
          <a:p>
            <a:pPr algn="just" eaLnBrk="1" fontAlgn="auto" hangingPunct="1">
              <a:spcAft>
                <a:spcPts val="0"/>
              </a:spcAft>
              <a:defRPr/>
            </a:pPr>
            <a:r>
              <a:rPr sz="1500">
                <a:solidFill>
                  <a:srgbClr val="0B2F3A"/>
                </a:solidFill>
              </a:rPr>
              <a:t>Blood glucose must stay within 3.9 - 10.0 mmol/L. Below 3.9 causes seizure and coma within minutes; above 10.0 damages nerves, eyes and kidneys over years.</a:t>
            </a:r>
          </a:p>
          <a:p>
            <a:pPr/>
            <a:r>
              <a:rPr sz="1500">
                <a:solidFill>
                  <a:srgbClr val="0B2F3A"/>
                </a:solidFill>
              </a:rPr>
              <a:t>Every accurate measurement today breaks the skin: a finger-prick 4-10 times daily, or a CGM filament replaced every 10-14 days. ~590 million adults worldwide manage diabetes this way.</a:t>
            </a:r>
          </a:p>
          <a:p>
            <a:pPr/>
            <a:r>
              <a:rPr sz="1500">
                <a:solidFill>
                  <a:srgbClr val="0B2F3A"/>
                </a:solidFill>
              </a:rPr>
              <a:t>Motivation: ECG and PPG can be recorded painlessly by a chest strap or a smartwatch. If glucose can be inferred from them, monitoring becomes non-invasive and effectively free.</a:t>
            </a:r>
          </a:p>
          <a:p>
            <a:pPr/>
            <a:r>
              <a:rPr sz="1500">
                <a:solidFill>
                  <a:srgbClr val="0B2F3A"/>
                </a:solidFill>
              </a:rPr>
              <a:t>Established mechanism: hypoglycaemia triggers adrenaline, which drives potassium into cells; potassium governs cardiac repolarisation, so the ECG QT interval lengthens. Hyperglycaemia suppresses vagal tone and alters ST and T-wave morphology.</a:t>
            </a:r>
          </a:p>
          <a:p>
            <a:pPr/>
            <a:r>
              <a:rPr sz="1500">
                <a:solidFill>
                  <a:srgbClr val="0B2F3A"/>
                </a:solidFill>
              </a:rPr>
              <a:t>Caveat carried through this work: the mechanism supports DETECTING a dysglycaemic event (classification), not reading the exact concentration (regression). Published classification reaches 84-94% accuracy; regression does not replicate.</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9B96C46-37BD-65B7-87DF-38095ABB57F3}"/>
              </a:ext>
            </a:extLst>
          </p:cNvPr>
          <p:cNvSpPr>
            <a:spLocks noGrp="1" noChangeArrowheads="1"/>
          </p:cNvSpPr>
          <p:nvPr>
            <p:ph type="title"/>
          </p:nvPr>
        </p:nvSpPr>
        <p:spPr/>
        <p:txBody>
          <a:bodyPr/>
          <a:lstStyle/>
          <a:p>
            <a:pPr algn="ctr" eaLnBrk="1" hangingPunct="1"/>
            <a:r>
              <a:rPr lang="en-IN" altLang="en-US" b="1" sz="2800">
                <a:solidFill>
                  <a:srgbClr val="0B2F3A"/>
                </a:solidFill>
              </a:rPr>
              <a:t>Literature Survey (1/2): the method under test</a:t>
            </a:r>
          </a:p>
        </p:txBody>
      </p:sp>
      <p:sp>
        <p:nvSpPr>
          <p:cNvPr id="3" name="Content Placeholder 2">
            <a:extLst>
              <a:ext uri="{FF2B5EF4-FFF2-40B4-BE49-F238E27FC236}">
                <a16:creationId xmlns:a16="http://schemas.microsoft.com/office/drawing/2014/main" id="{6458CB6F-4FDA-6698-ED54-67A841C3C4A7}"/>
              </a:ext>
            </a:extLst>
          </p:cNvPr>
          <p:cNvSpPr>
            <a:spLocks noGrp="1"/>
          </p:cNvSpPr>
          <p:nvPr>
            <p:ph idx="1"/>
          </p:nvPr>
        </p:nvSpPr>
        <p:spPr>
          <a:xfrm>
            <a:off x="649288" y="1489075"/>
            <a:ext cx="10898187" cy="1234440"/>
          </a:xfrm>
        </p:spPr>
        <p:txBody>
          <a:bodyPr wrap="square">
            <a:normAutofit/>
          </a:bodyPr>
          <a:lstStyle/>
          <a:p>
            <a:pPr algn="just" eaLnBrk="1" hangingPunct="1">
              <a:defRPr/>
            </a:pPr>
            <a:r>
              <a:rPr sz="1500">
                <a:solidFill>
                  <a:srgbClr val="0B2F3A"/>
                </a:solidFill>
              </a:rPr>
              <a:t>Li et al., IEEE Trans. Neural Networks and Learning Systems 35(10), 2024 - "Spatiotemporal ECG and PPG Feature Fusion and Weight-Based Choquet Integral Multimodel Approach" (SFF-WCIM).</a:t>
            </a:r>
          </a:p>
          <a:p>
            <a:pPr/>
            <a:r>
              <a:rPr sz="1500" b="1">
                <a:solidFill>
                  <a:srgbClr val="0B2F3A"/>
                </a:solidFill>
              </a:rPr>
              <a:t>Reported performance on the authors' private cohort, and the methods they compare against:</a:t>
            </a:r>
          </a:p>
        </p:txBody>
      </p:sp>
      <p:sp>
        <p:nvSpPr>
          <p:cNvPr id="4" name="Slide Number Placeholder 3">
            <a:extLst>
              <a:ext uri="{FF2B5EF4-FFF2-40B4-BE49-F238E27FC236}">
                <a16:creationId xmlns:a16="http://schemas.microsoft.com/office/drawing/2014/main" id="{080DE454-FC8D-FF57-443B-50DF8FFD655B}"/>
              </a:ext>
            </a:extLst>
          </p:cNvPr>
          <p:cNvSpPr>
            <a:spLocks noGrp="1"/>
          </p:cNvSpPr>
          <p:nvPr>
            <p:ph type="sldNum" sz="quarter" idx="12"/>
          </p:nvPr>
        </p:nvSpPr>
        <p:spPr/>
        <p:txBody>
          <a:bodyPr/>
          <a:lstStyle/>
          <a:p>
            <a:pPr>
              <a:defRPr/>
            </a:pPr>
            <a:fld id="{C2EE7F8D-BEB2-43FF-93D0-4824B744D7DA}" type="slidenum">
              <a:rPr lang="en-IN"/>
              <a:pPr>
                <a:defRPr/>
              </a:pPr>
              <a:t>4</a:t>
            </a:fld>
            <a:endParaRPr lang="en-IN"/>
          </a:p>
        </p:txBody>
      </p:sp>
      <p:pic>
        <p:nvPicPr>
          <p:cNvPr id="6149" name="Picture 2">
            <a:extLst>
              <a:ext uri="{FF2B5EF4-FFF2-40B4-BE49-F238E27FC236}">
                <a16:creationId xmlns:a16="http://schemas.microsoft.com/office/drawing/2014/main" id="{81BD1B78-4F0E-3309-9A84-9F39BD6290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150" name="Table 6149"/>
          <p:cNvGraphicFramePr>
            <a:graphicFrameLocks noGrp="1"/>
          </p:cNvGraphicFramePr>
          <p:nvPr/>
        </p:nvGraphicFramePr>
        <p:xfrm>
          <a:off x="685800" y="3063240"/>
          <a:ext cx="10881359" cy="2194560"/>
        </p:xfrm>
        <a:graphic>
          <a:graphicData uri="http://schemas.openxmlformats.org/drawingml/2006/table">
            <a:tbl>
              <a:tblPr firstRow="1" bandRow="1">
                <a:tableStyleId>{5C22544A-7EE6-4342-B048-85BDC9FD1C3A}</a:tableStyleId>
              </a:tblPr>
              <a:tblGrid>
                <a:gridCol w="777240"/>
                <a:gridCol w="3977639"/>
                <a:gridCol w="1691640"/>
                <a:gridCol w="1371600"/>
                <a:gridCol w="1463040"/>
                <a:gridCol w="1600200"/>
              </a:tblGrid>
              <a:tr h="365760">
                <a:tc>
                  <a:txBody>
                    <a:bodyPr/>
                    <a:lstStyle/>
                    <a:p>
                      <a:r>
                        <a:rPr sz="1200" b="1">
                          <a:solidFill>
                            <a:srgbClr val="FFFFFF"/>
                          </a:solidFill>
                        </a:rPr>
                        <a:t>Ref.</a:t>
                      </a:r>
                    </a:p>
                  </a:txBody>
                  <a:tcPr marL="45720" marR="45720" marT="18288" marB="18288"/>
                </a:tc>
                <a:tc>
                  <a:txBody>
                    <a:bodyPr/>
                    <a:lstStyle/>
                    <a:p>
                      <a:r>
                        <a:rPr sz="1200" b="1">
                          <a:solidFill>
                            <a:srgbClr val="FFFFFF"/>
                          </a:solidFill>
                        </a:rPr>
                        <a:t>Method</a:t>
                      </a:r>
                    </a:p>
                  </a:txBody>
                  <a:tcPr marL="45720" marR="45720" marT="18288" marB="18288"/>
                </a:tc>
                <a:tc>
                  <a:txBody>
                    <a:bodyPr/>
                    <a:lstStyle/>
                    <a:p>
                      <a:r>
                        <a:rPr sz="1200" b="1">
                          <a:solidFill>
                            <a:srgbClr val="FFFFFF"/>
                          </a:solidFill>
                        </a:rPr>
                        <a:t>RMSE (mmol/L)</a:t>
                      </a:r>
                    </a:p>
                  </a:txBody>
                  <a:tcPr marL="45720" marR="45720" marT="18288" marB="18288"/>
                </a:tc>
                <a:tc>
                  <a:txBody>
                    <a:bodyPr/>
                    <a:lstStyle/>
                    <a:p>
                      <a:r>
                        <a:rPr sz="1200" b="1">
                          <a:solidFill>
                            <a:srgbClr val="FFFFFF"/>
                          </a:solidFill>
                        </a:rPr>
                        <a:t>MARD (%)</a:t>
                      </a:r>
                    </a:p>
                  </a:txBody>
                  <a:tcPr marL="45720" marR="45720" marT="18288" marB="18288"/>
                </a:tc>
                <a:tc>
                  <a:txBody>
                    <a:bodyPr/>
                    <a:lstStyle/>
                    <a:p>
                      <a:r>
                        <a:rPr sz="1200" b="1">
                          <a:solidFill>
                            <a:srgbClr val="FFFFFF"/>
                          </a:solidFill>
                        </a:rPr>
                        <a:t>Zone A (%)</a:t>
                      </a:r>
                    </a:p>
                  </a:txBody>
                  <a:tcPr marL="45720" marR="45720" marT="18288" marB="18288"/>
                </a:tc>
                <a:tc>
                  <a:txBody>
                    <a:bodyPr/>
                    <a:lstStyle/>
                    <a:p>
                      <a:r>
                        <a:rPr sz="1200" b="1">
                          <a:solidFill>
                            <a:srgbClr val="FFFFFF"/>
                          </a:solidFill>
                        </a:rPr>
                        <a:t>Zone A+B (%)</a:t>
                      </a:r>
                    </a:p>
                  </a:txBody>
                  <a:tcPr marL="45720" marR="45720" marT="18288" marB="18288"/>
                </a:tc>
              </a:tr>
              <a:tr h="365760">
                <a:tc>
                  <a:txBody>
                    <a:bodyPr/>
                    <a:lstStyle/>
                    <a:p>
                      <a:r>
                        <a:rPr sz="1200" b="0">
                          <a:solidFill>
                            <a:srgbClr val="0B2F3A"/>
                          </a:solidFill>
                        </a:rPr>
                        <a:t>[21]</a:t>
                      </a:r>
                    </a:p>
                  </a:txBody>
                  <a:tcPr marL="45720" marR="45720" marT="18288" marB="18288"/>
                </a:tc>
                <a:tc>
                  <a:txBody>
                    <a:bodyPr/>
                    <a:lstStyle/>
                    <a:p>
                      <a:r>
                        <a:rPr sz="1200" b="0">
                          <a:solidFill>
                            <a:srgbClr val="0B2F3A"/>
                          </a:solidFill>
                        </a:rPr>
                        <a:t>CNN-RNN</a:t>
                      </a:r>
                    </a:p>
                  </a:txBody>
                  <a:tcPr marL="45720" marR="45720" marT="18288" marB="18288"/>
                </a:tc>
                <a:tc>
                  <a:txBody>
                    <a:bodyPr/>
                    <a:lstStyle/>
                    <a:p>
                      <a:r>
                        <a:rPr sz="1200" b="0">
                          <a:solidFill>
                            <a:srgbClr val="0B2F3A"/>
                          </a:solidFill>
                        </a:rPr>
                        <a:t>1.66</a:t>
                      </a:r>
                    </a:p>
                  </a:txBody>
                  <a:tcPr marL="45720" marR="45720" marT="18288" marB="18288"/>
                </a:tc>
                <a:tc>
                  <a:txBody>
                    <a:bodyPr/>
                    <a:lstStyle/>
                    <a:p>
                      <a:r>
                        <a:rPr sz="1200" b="0">
                          <a:solidFill>
                            <a:srgbClr val="0B2F3A"/>
                          </a:solidFill>
                        </a:rPr>
                        <a:t>14.93</a:t>
                      </a:r>
                    </a:p>
                  </a:txBody>
                  <a:tcPr marL="45720" marR="45720" marT="18288" marB="18288"/>
                </a:tc>
                <a:tc>
                  <a:txBody>
                    <a:bodyPr/>
                    <a:lstStyle/>
                    <a:p>
                      <a:r>
                        <a:rPr sz="1200" b="0">
                          <a:solidFill>
                            <a:srgbClr val="0B2F3A"/>
                          </a:solidFill>
                        </a:rPr>
                        <a:t>75.46</a:t>
                      </a:r>
                    </a:p>
                  </a:txBody>
                  <a:tcPr marL="45720" marR="45720" marT="18288" marB="18288"/>
                </a:tc>
                <a:tc>
                  <a:txBody>
                    <a:bodyPr/>
                    <a:lstStyle/>
                    <a:p>
                      <a:r>
                        <a:rPr sz="1200" b="0">
                          <a:solidFill>
                            <a:srgbClr val="0B2F3A"/>
                          </a:solidFill>
                        </a:rPr>
                        <a:t>99.35</a:t>
                      </a:r>
                    </a:p>
                  </a:txBody>
                  <a:tcPr marL="45720" marR="45720" marT="18288" marB="18288"/>
                </a:tc>
              </a:tr>
              <a:tr h="365760">
                <a:tc>
                  <a:txBody>
                    <a:bodyPr/>
                    <a:lstStyle/>
                    <a:p>
                      <a:r>
                        <a:rPr sz="1200" b="0">
                          <a:solidFill>
                            <a:srgbClr val="0B2F3A"/>
                          </a:solidFill>
                        </a:rPr>
                        <a:t>[48]</a:t>
                      </a:r>
                    </a:p>
                  </a:txBody>
                  <a:tcPr marL="45720" marR="45720" marT="18288" marB="18288"/>
                </a:tc>
                <a:tc>
                  <a:txBody>
                    <a:bodyPr/>
                    <a:lstStyle/>
                    <a:p>
                      <a:r>
                        <a:rPr sz="1200" b="0">
                          <a:solidFill>
                            <a:srgbClr val="0B2F3A"/>
                          </a:solidFill>
                        </a:rPr>
                        <a:t>ResNets</a:t>
                      </a:r>
                    </a:p>
                  </a:txBody>
                  <a:tcPr marL="45720" marR="45720" marT="18288" marB="18288"/>
                </a:tc>
                <a:tc>
                  <a:txBody>
                    <a:bodyPr/>
                    <a:lstStyle/>
                    <a:p>
                      <a:r>
                        <a:rPr sz="1200" b="0">
                          <a:solidFill>
                            <a:srgbClr val="0B2F3A"/>
                          </a:solidFill>
                        </a:rPr>
                        <a:t>1.63</a:t>
                      </a:r>
                    </a:p>
                  </a:txBody>
                  <a:tcPr marL="45720" marR="45720" marT="18288" marB="18288"/>
                </a:tc>
                <a:tc>
                  <a:txBody>
                    <a:bodyPr/>
                    <a:lstStyle/>
                    <a:p>
                      <a:r>
                        <a:rPr sz="1200" b="0">
                          <a:solidFill>
                            <a:srgbClr val="0B2F3A"/>
                          </a:solidFill>
                        </a:rPr>
                        <a:t>15.22</a:t>
                      </a:r>
                    </a:p>
                  </a:txBody>
                  <a:tcPr marL="45720" marR="45720" marT="18288" marB="18288"/>
                </a:tc>
                <a:tc>
                  <a:txBody>
                    <a:bodyPr/>
                    <a:lstStyle/>
                    <a:p>
                      <a:r>
                        <a:rPr sz="1200" b="0">
                          <a:solidFill>
                            <a:srgbClr val="0B2F3A"/>
                          </a:solidFill>
                        </a:rPr>
                        <a:t>75.18</a:t>
                      </a:r>
                    </a:p>
                  </a:txBody>
                  <a:tcPr marL="45720" marR="45720" marT="18288" marB="18288"/>
                </a:tc>
                <a:tc>
                  <a:txBody>
                    <a:bodyPr/>
                    <a:lstStyle/>
                    <a:p>
                      <a:r>
                        <a:rPr sz="1200" b="0">
                          <a:solidFill>
                            <a:srgbClr val="0B2F3A"/>
                          </a:solidFill>
                        </a:rPr>
                        <a:t>99.26</a:t>
                      </a:r>
                    </a:p>
                  </a:txBody>
                  <a:tcPr marL="45720" marR="45720" marT="18288" marB="18288"/>
                </a:tc>
              </a:tr>
              <a:tr h="365760">
                <a:tc>
                  <a:txBody>
                    <a:bodyPr/>
                    <a:lstStyle/>
                    <a:p>
                      <a:r>
                        <a:rPr sz="1200" b="0">
                          <a:solidFill>
                            <a:srgbClr val="0B2F3A"/>
                          </a:solidFill>
                        </a:rPr>
                        <a:t>[22]</a:t>
                      </a:r>
                    </a:p>
                  </a:txBody>
                  <a:tcPr marL="45720" marR="45720" marT="18288" marB="18288"/>
                </a:tc>
                <a:tc>
                  <a:txBody>
                    <a:bodyPr/>
                    <a:lstStyle/>
                    <a:p>
                      <a:r>
                        <a:rPr sz="1200" b="0">
                          <a:solidFill>
                            <a:srgbClr val="0B2F3A"/>
                          </a:solidFill>
                        </a:rPr>
                        <a:t>CDA</a:t>
                      </a:r>
                    </a:p>
                  </a:txBody>
                  <a:tcPr marL="45720" marR="45720" marT="18288" marB="18288"/>
                </a:tc>
                <a:tc>
                  <a:txBody>
                    <a:bodyPr/>
                    <a:lstStyle/>
                    <a:p>
                      <a:r>
                        <a:rPr sz="1200" b="0">
                          <a:solidFill>
                            <a:srgbClr val="0B2F3A"/>
                          </a:solidFill>
                        </a:rPr>
                        <a:t>1.99</a:t>
                      </a:r>
                    </a:p>
                  </a:txBody>
                  <a:tcPr marL="45720" marR="45720" marT="18288" marB="18288"/>
                </a:tc>
                <a:tc>
                  <a:txBody>
                    <a:bodyPr/>
                    <a:lstStyle/>
                    <a:p>
                      <a:r>
                        <a:rPr sz="1200" b="0">
                          <a:solidFill>
                            <a:srgbClr val="0B2F3A"/>
                          </a:solidFill>
                        </a:rPr>
                        <a:t>20.67</a:t>
                      </a:r>
                    </a:p>
                  </a:txBody>
                  <a:tcPr marL="45720" marR="45720" marT="18288" marB="18288"/>
                </a:tc>
                <a:tc>
                  <a:txBody>
                    <a:bodyPr/>
                    <a:lstStyle/>
                    <a:p>
                      <a:r>
                        <a:rPr sz="1200" b="0">
                          <a:solidFill>
                            <a:srgbClr val="0B2F3A"/>
                          </a:solidFill>
                        </a:rPr>
                        <a:t>60.88</a:t>
                      </a:r>
                    </a:p>
                  </a:txBody>
                  <a:tcPr marL="45720" marR="45720" marT="18288" marB="18288"/>
                </a:tc>
                <a:tc>
                  <a:txBody>
                    <a:bodyPr/>
                    <a:lstStyle/>
                    <a:p>
                      <a:r>
                        <a:rPr sz="1200" b="0">
                          <a:solidFill>
                            <a:srgbClr val="0B2F3A"/>
                          </a:solidFill>
                        </a:rPr>
                        <a:t>98.56</a:t>
                      </a:r>
                    </a:p>
                  </a:txBody>
                  <a:tcPr marL="45720" marR="45720" marT="18288" marB="18288"/>
                </a:tc>
              </a:tr>
              <a:tr h="365760">
                <a:tc>
                  <a:txBody>
                    <a:bodyPr/>
                    <a:lstStyle/>
                    <a:p>
                      <a:r>
                        <a:rPr sz="1200" b="0">
                          <a:solidFill>
                            <a:srgbClr val="0B2F3A"/>
                          </a:solidFill>
                        </a:rPr>
                        <a:t>[40]</a:t>
                      </a:r>
                    </a:p>
                  </a:txBody>
                  <a:tcPr marL="45720" marR="45720" marT="18288" marB="18288"/>
                </a:tc>
                <a:tc>
                  <a:txBody>
                    <a:bodyPr/>
                    <a:lstStyle/>
                    <a:p>
                      <a:r>
                        <a:rPr sz="1200" b="0">
                          <a:solidFill>
                            <a:srgbClr val="0B2F3A"/>
                          </a:solidFill>
                        </a:rPr>
                        <a:t>CNN-MFVW</a:t>
                      </a:r>
                    </a:p>
                  </a:txBody>
                  <a:tcPr marL="45720" marR="45720" marT="18288" marB="18288"/>
                </a:tc>
                <a:tc>
                  <a:txBody>
                    <a:bodyPr/>
                    <a:lstStyle/>
                    <a:p>
                      <a:r>
                        <a:rPr sz="1200" b="0">
                          <a:solidFill>
                            <a:srgbClr val="0B2F3A"/>
                          </a:solidFill>
                        </a:rPr>
                        <a:t>1.61</a:t>
                      </a:r>
                    </a:p>
                  </a:txBody>
                  <a:tcPr marL="45720" marR="45720" marT="18288" marB="18288"/>
                </a:tc>
                <a:tc>
                  <a:txBody>
                    <a:bodyPr/>
                    <a:lstStyle/>
                    <a:p>
                      <a:r>
                        <a:rPr sz="1200" b="0">
                          <a:solidFill>
                            <a:srgbClr val="0B2F3A"/>
                          </a:solidFill>
                        </a:rPr>
                        <a:t>14.71</a:t>
                      </a:r>
                    </a:p>
                  </a:txBody>
                  <a:tcPr marL="45720" marR="45720" marT="18288" marB="18288"/>
                </a:tc>
                <a:tc>
                  <a:txBody>
                    <a:bodyPr/>
                    <a:lstStyle/>
                    <a:p>
                      <a:r>
                        <a:rPr sz="1200" b="0">
                          <a:solidFill>
                            <a:srgbClr val="0B2F3A"/>
                          </a:solidFill>
                        </a:rPr>
                        <a:t>76.96</a:t>
                      </a:r>
                    </a:p>
                  </a:txBody>
                  <a:tcPr marL="45720" marR="45720" marT="18288" marB="18288"/>
                </a:tc>
                <a:tc>
                  <a:txBody>
                    <a:bodyPr/>
                    <a:lstStyle/>
                    <a:p>
                      <a:r>
                        <a:rPr sz="1200" b="0">
                          <a:solidFill>
                            <a:srgbClr val="0B2F3A"/>
                          </a:solidFill>
                        </a:rPr>
                        <a:t>98.94</a:t>
                      </a:r>
                    </a:p>
                  </a:txBody>
                  <a:tcPr marL="45720" marR="45720" marT="18288" marB="18288"/>
                </a:tc>
              </a:tr>
              <a:tr h="365760">
                <a:tc>
                  <a:txBody>
                    <a:bodyPr/>
                    <a:lstStyle/>
                    <a:p>
                      <a:r>
                        <a:rPr sz="1200" b="1">
                          <a:solidFill>
                            <a:srgbClr val="C62828"/>
                          </a:solidFill>
                        </a:rPr>
                        <a:t>Paper</a:t>
                      </a:r>
                    </a:p>
                  </a:txBody>
                  <a:tcPr marL="45720" marR="45720" marT="18288" marB="18288"/>
                </a:tc>
                <a:tc>
                  <a:txBody>
                    <a:bodyPr/>
                    <a:lstStyle/>
                    <a:p>
                      <a:r>
                        <a:rPr sz="1200" b="1">
                          <a:solidFill>
                            <a:srgbClr val="C62828"/>
                          </a:solidFill>
                        </a:rPr>
                        <a:t>SFF-WCIM (the method we reproduce)</a:t>
                      </a:r>
                    </a:p>
                  </a:txBody>
                  <a:tcPr marL="45720" marR="45720" marT="18288" marB="18288"/>
                </a:tc>
                <a:tc>
                  <a:txBody>
                    <a:bodyPr/>
                    <a:lstStyle/>
                    <a:p>
                      <a:r>
                        <a:rPr sz="1200" b="1">
                          <a:solidFill>
                            <a:srgbClr val="C62828"/>
                          </a:solidFill>
                        </a:rPr>
                        <a:t>1.49</a:t>
                      </a:r>
                    </a:p>
                  </a:txBody>
                  <a:tcPr marL="45720" marR="45720" marT="18288" marB="18288"/>
                </a:tc>
                <a:tc>
                  <a:txBody>
                    <a:bodyPr/>
                    <a:lstStyle/>
                    <a:p>
                      <a:r>
                        <a:rPr sz="1200" b="1">
                          <a:solidFill>
                            <a:srgbClr val="C62828"/>
                          </a:solidFill>
                        </a:rPr>
                        <a:t>13.42</a:t>
                      </a:r>
                    </a:p>
                  </a:txBody>
                  <a:tcPr marL="45720" marR="45720" marT="18288" marB="18288"/>
                </a:tc>
                <a:tc>
                  <a:txBody>
                    <a:bodyPr/>
                    <a:lstStyle/>
                    <a:p>
                      <a:r>
                        <a:rPr sz="1200" b="1">
                          <a:solidFill>
                            <a:srgbClr val="C62828"/>
                          </a:solidFill>
                        </a:rPr>
                        <a:t>80.09</a:t>
                      </a:r>
                    </a:p>
                  </a:txBody>
                  <a:tcPr marL="45720" marR="45720" marT="18288" marB="18288"/>
                </a:tc>
                <a:tc>
                  <a:txBody>
                    <a:bodyPr/>
                    <a:lstStyle/>
                    <a:p>
                      <a:r>
                        <a:rPr sz="1200" b="1">
                          <a:solidFill>
                            <a:srgbClr val="C62828"/>
                          </a:solidFill>
                        </a:rPr>
                        <a:t>99.49</a:t>
                      </a:r>
                    </a:p>
                  </a:txBody>
                  <a:tcPr marL="45720" marR="45720" marT="18288" marB="18288"/>
                </a:tc>
              </a:tr>
            </a:tbl>
          </a:graphicData>
        </a:graphic>
      </p:graphicFrame>
      <p:sp>
        <p:nvSpPr>
          <p:cNvPr id="6151" name="TextBox 6150"/>
          <p:cNvSpPr txBox="1"/>
          <p:nvPr/>
        </p:nvSpPr>
        <p:spPr>
          <a:xfrm>
            <a:off x="502920" y="5989320"/>
            <a:ext cx="11155680" cy="365760"/>
          </a:xfrm>
          <a:prstGeom prst="rect">
            <a:avLst/>
          </a:prstGeom>
          <a:noFill/>
        </p:spPr>
        <p:txBody>
          <a:bodyPr wrap="square">
            <a:spAutoFit/>
          </a:bodyPr>
          <a:lstStyle/>
          <a:p>
            <a:r>
              <a:rPr sz="1050" i="1">
                <a:solidFill>
                  <a:srgbClr val="5A6B72"/>
                </a:solidFill>
              </a:rPr>
              <a:t>Source: Li et al. 2024, Table V. 1.49 mmol/L approaches the accuracy of approved CGM devices, which is why the claim warranted independent checking.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947FFD8-7F07-A8B4-E5F2-CD52198E3881}"/>
              </a:ext>
            </a:extLst>
          </p:cNvPr>
          <p:cNvSpPr>
            <a:spLocks noGrp="1" noChangeArrowheads="1"/>
          </p:cNvSpPr>
          <p:nvPr>
            <p:ph type="title"/>
          </p:nvPr>
        </p:nvSpPr>
        <p:spPr/>
        <p:txBody>
          <a:bodyPr/>
          <a:lstStyle/>
          <a:p>
            <a:pPr algn="ctr" eaLnBrk="1" hangingPunct="1"/>
            <a:r>
              <a:rPr lang="en-IN" altLang="en-US" b="1" sz="2800">
                <a:solidFill>
                  <a:srgbClr val="0B2F3A"/>
                </a:solidFill>
              </a:rPr>
              <a:t>Gaps Identified</a:t>
            </a:r>
          </a:p>
        </p:txBody>
      </p:sp>
      <p:sp>
        <p:nvSpPr>
          <p:cNvPr id="7171" name="Content Placeholder 2">
            <a:extLst>
              <a:ext uri="{FF2B5EF4-FFF2-40B4-BE49-F238E27FC236}">
                <a16:creationId xmlns:a16="http://schemas.microsoft.com/office/drawing/2014/main" id="{F050AF1E-B073-3B9C-C8CE-AA378F2A2957}"/>
              </a:ext>
            </a:extLst>
          </p:cNvPr>
          <p:cNvSpPr>
            <a:spLocks noGrp="1" noChangeArrowheads="1"/>
          </p:cNvSpPr>
          <p:nvPr>
            <p:ph idx="1"/>
          </p:nvPr>
        </p:nvSpPr>
        <p:spPr>
          <a:xfrm>
            <a:off x="649288" y="1489075"/>
            <a:ext cx="10898187" cy="2625725"/>
          </a:xfrm>
        </p:spPr>
        <p:txBody>
          <a:bodyPr wrap="square"/>
          <a:lstStyle/>
          <a:p>
            <a:pPr algn="just" eaLnBrk="1" hangingPunct="1"/>
            <a:r>
              <a:rPr sz="1500">
                <a:solidFill>
                  <a:srgbClr val="0B2F3A"/>
                </a:solidFill>
              </a:rPr>
              <a:t>No independent validation. The authors released code but not data - their recordings are private - so the result had never been tested on a cohort they did not choose.</a:t>
            </a:r>
          </a:p>
          <a:p>
            <a:pPr/>
            <a:r>
              <a:rPr sz="1500">
                <a:solidFill>
                  <a:srgbClr val="0B2F3A"/>
                </a:solidFill>
              </a:rPr>
              <a:t>Evaluation protocol not controlled. Results are reported under a random window-level split, in which the same participant appears in both training and test data. Windows from one person are highly correlated, so a model can identify the person rather than learn about glucose.</a:t>
            </a:r>
          </a:p>
          <a:p>
            <a:pPr/>
            <a:r>
              <a:rPr sz="1500">
                <a:solidFill>
                  <a:srgbClr val="0B2F3A"/>
                </a:solidFill>
              </a:rPr>
              <a:t>Clinical metrics reported without a reference point. Parkes Zone A+B is quoted as evidence of clinical readiness, but no no-skill baseline is reported alongside it, so the reader cannot tell how much of that score is the method.</a:t>
            </a:r>
          </a:p>
          <a:p>
            <a:pPr/>
            <a:r>
              <a:rPr sz="1500">
                <a:solidFill>
                  <a:srgbClr val="0B2F3A"/>
                </a:solidFill>
              </a:rPr>
              <a:t>Fusion behaviour never audited. The Choquet integral's fuzzy densities are estimated from model performance, but the paper does not report them or verify that the fusion is still discriminating between models.</a:t>
            </a:r>
          </a:p>
          <a:p>
            <a:pPr/>
            <a:r>
              <a:rPr sz="1500">
                <a:solidFill>
                  <a:srgbClr val="0B2F3A"/>
                </a:solidFill>
              </a:rPr>
              <a:t>Reproducibility of the feature pipeline unverified - no check that identical input produces identical features.</a:t>
            </a:r>
          </a:p>
        </p:txBody>
      </p:sp>
      <p:sp>
        <p:nvSpPr>
          <p:cNvPr id="7172" name="TextBox 6">
            <a:extLst>
              <a:ext uri="{FF2B5EF4-FFF2-40B4-BE49-F238E27FC236}">
                <a16:creationId xmlns:a16="http://schemas.microsoft.com/office/drawing/2014/main" id="{AD424804-2205-A51D-AE65-481ADE8D60D7}"/>
              </a:ext>
            </a:extLst>
          </p:cNvPr>
          <p:cNvSpPr txBox="1">
            <a:spLocks noChangeArrowheads="1"/>
          </p:cNvSpPr>
          <p:nvPr/>
        </p:nvSpPr>
        <p:spPr bwMode="auto">
          <a:xfrm>
            <a:off x="1560513" y="4114800"/>
            <a:ext cx="90709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i="1"/>
              <a:t>It's important to note that the specific contents of a slide titled "Research Gaps Identified" will depend on the specific research project and the findings of the research team.</a:t>
            </a:r>
          </a:p>
        </p:txBody>
      </p:sp>
      <p:sp>
        <p:nvSpPr>
          <p:cNvPr id="8" name="Slide Number Placeholder 7">
            <a:extLst>
              <a:ext uri="{FF2B5EF4-FFF2-40B4-BE49-F238E27FC236}">
                <a16:creationId xmlns:a16="http://schemas.microsoft.com/office/drawing/2014/main" id="{A107B03C-DA19-F45D-6E35-EDBC6E9E11FE}"/>
              </a:ext>
            </a:extLst>
          </p:cNvPr>
          <p:cNvSpPr>
            <a:spLocks noGrp="1"/>
          </p:cNvSpPr>
          <p:nvPr>
            <p:ph type="sldNum" sz="quarter" idx="12"/>
          </p:nvPr>
        </p:nvSpPr>
        <p:spPr/>
        <p:txBody>
          <a:bodyPr/>
          <a:lstStyle/>
          <a:p>
            <a:pPr>
              <a:defRPr/>
            </a:pPr>
            <a:fld id="{410B9C3A-A24C-4F45-9FBB-96F588631024}" type="slidenum">
              <a:rPr lang="en-IN"/>
              <a:pPr>
                <a:defRPr/>
              </a:pPr>
              <a:t>5</a:t>
            </a:fld>
            <a:endParaRPr lang="en-IN"/>
          </a:p>
        </p:txBody>
      </p:sp>
      <p:pic>
        <p:nvPicPr>
          <p:cNvPr id="7174" name="Picture 2">
            <a:extLst>
              <a:ext uri="{FF2B5EF4-FFF2-40B4-BE49-F238E27FC236}">
                <a16:creationId xmlns:a16="http://schemas.microsoft.com/office/drawing/2014/main" id="{D5CE3982-6679-5BF8-FBAA-C1ACCDC4BD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5DD3060-0AD6-6187-DD23-54616D0ECE5B}"/>
              </a:ext>
            </a:extLst>
          </p:cNvPr>
          <p:cNvSpPr>
            <a:spLocks noGrp="1" noChangeArrowheads="1"/>
          </p:cNvSpPr>
          <p:nvPr>
            <p:ph type="title"/>
          </p:nvPr>
        </p:nvSpPr>
        <p:spPr/>
        <p:txBody>
          <a:bodyPr/>
          <a:lstStyle/>
          <a:p>
            <a:pPr algn="ctr" eaLnBrk="1" hangingPunct="1"/>
            <a:r>
              <a:rPr lang="en-IN" altLang="en-US" b="1" dirty="0" sz="2800">
                <a:solidFill>
                  <a:srgbClr val="0B2F3A"/>
                </a:solidFill>
              </a:rPr>
              <a:t>Aims / Objectives of the Project</a:t>
            </a:r>
          </a:p>
        </p:txBody>
      </p:sp>
      <p:sp>
        <p:nvSpPr>
          <p:cNvPr id="3" name="Content Placeholder 2">
            <a:extLst>
              <a:ext uri="{FF2B5EF4-FFF2-40B4-BE49-F238E27FC236}">
                <a16:creationId xmlns:a16="http://schemas.microsoft.com/office/drawing/2014/main" id="{A77010FB-5908-1CDD-D639-39183FBA8EC5}"/>
              </a:ext>
            </a:extLst>
          </p:cNvPr>
          <p:cNvSpPr>
            <a:spLocks noGrp="1"/>
          </p:cNvSpPr>
          <p:nvPr>
            <p:ph idx="1"/>
          </p:nvPr>
        </p:nvSpPr>
        <p:spPr>
          <a:xfrm>
            <a:off x="649288" y="1489075"/>
            <a:ext cx="10898187" cy="5003800"/>
          </a:xfrm>
        </p:spPr>
        <p:txBody>
          <a:bodyPr rtlCol="0" wrap="square">
            <a:normAutofit/>
          </a:bodyPr>
          <a:lstStyle/>
          <a:p>
            <a:pPr algn="just" eaLnBrk="1" fontAlgn="auto" hangingPunct="1">
              <a:spcAft>
                <a:spcPts val="0"/>
              </a:spcAft>
              <a:defRPr/>
            </a:pPr>
            <a:r>
              <a:rPr sz="1450">
                <a:solidFill>
                  <a:srgbClr val="0B2F3A"/>
                </a:solidFill>
              </a:rPr>
              <a:t>Aim: to determine whether the reported accuracy of SFF-WCIM survives independent reproduction on open data under leakage-controlled evaluation.</a:t>
            </a:r>
          </a:p>
          <a:p>
            <a:pPr/>
            <a:r>
              <a:rPr sz="1450" b="1">
                <a:solidFill>
                  <a:srgbClr val="0B2F3A"/>
                </a:solidFill>
              </a:rPr>
              <a:t>Objectives:</a:t>
            </a:r>
          </a:p>
          <a:p>
            <a:pPr lvl="1"/>
            <a:r>
              <a:rPr sz="1300">
                <a:solidFill>
                  <a:srgbClr val="5A6B72"/>
                </a:solidFill>
              </a:rPr>
              <a:t>Rebuild all three stages of the method from the published description.</a:t>
            </a:r>
          </a:p>
          <a:p>
            <a:pPr lvl="1"/>
            <a:r>
              <a:rPr sz="1300">
                <a:solidFill>
                  <a:srgbClr val="5A6B72"/>
                </a:solidFill>
              </a:rPr>
              <a:t>Run it on PhysioCGM - 10 Type-1 participants with simultaneous ECG, PPG and CGM, released CC0.</a:t>
            </a:r>
          </a:p>
          <a:p>
            <a:pPr lvl="1"/>
            <a:r>
              <a:rPr sz="1300">
                <a:solidFill>
                  <a:srgbClr val="5A6B72"/>
                </a:solidFill>
              </a:rPr>
              <a:t>Evaluate under three progressively stricter split protocols, reporting a no-skill baseline beside every result.</a:t>
            </a:r>
          </a:p>
          <a:p>
            <a:pPr lvl="1"/>
            <a:r>
              <a:rPr sz="1300">
                <a:solidFill>
                  <a:srgbClr val="5A6B72"/>
                </a:solidFill>
              </a:rPr>
              <a:t>Audit the fusion operator itself: recover the fuzzy densities and verify the integral is still discriminating between models.</a:t>
            </a:r>
          </a:p>
          <a:p>
            <a:pPr lvl="1"/>
            <a:r>
              <a:rPr sz="1300">
                <a:solidFill>
                  <a:srgbClr val="5A6B72"/>
                </a:solidFill>
              </a:rPr>
              <a:t>Verify that the feature pipeline is deterministic.</a:t>
            </a:r>
          </a:p>
          <a:p>
            <a:pPr/>
            <a:r>
              <a:rPr sz="1450">
                <a:solidFill>
                  <a:srgbClr val="0B2F3A"/>
                </a:solidFill>
              </a:rPr>
              <a:t>Scope and limitations: the paper's private dataset is unavailable, so this is a reproduction of the METHOD on different data, not a replication of the experiment. The spatial morphological branch is implemented with hand-crafted physiological features rather than a ResNet (no GPU available); this deviation is documented and its effect examined in the ablation.</a:t>
            </a:r>
          </a:p>
        </p:txBody>
      </p:sp>
      <p:sp>
        <p:nvSpPr>
          <p:cNvPr id="4" name="Slide Number Placeholder 3">
            <a:extLst>
              <a:ext uri="{FF2B5EF4-FFF2-40B4-BE49-F238E27FC236}">
                <a16:creationId xmlns:a16="http://schemas.microsoft.com/office/drawing/2014/main" id="{C14D9B4C-5824-BD7A-97CB-C29A6648FCFE}"/>
              </a:ext>
            </a:extLst>
          </p:cNvPr>
          <p:cNvSpPr>
            <a:spLocks noGrp="1"/>
          </p:cNvSpPr>
          <p:nvPr>
            <p:ph type="sldNum" sz="quarter" idx="12"/>
          </p:nvPr>
        </p:nvSpPr>
        <p:spPr/>
        <p:txBody>
          <a:bodyPr/>
          <a:lstStyle/>
          <a:p>
            <a:pPr>
              <a:defRPr/>
            </a:pPr>
            <a:fld id="{24C57183-621C-40FD-B0A1-26A6056EE5D8}" type="slidenum">
              <a:rPr lang="en-IN"/>
              <a:pPr>
                <a:defRPr/>
              </a:pPr>
              <a:t>6</a:t>
            </a:fld>
            <a:endParaRPr lang="en-IN"/>
          </a:p>
        </p:txBody>
      </p:sp>
      <p:pic>
        <p:nvPicPr>
          <p:cNvPr id="8197" name="Picture 2">
            <a:extLst>
              <a:ext uri="{FF2B5EF4-FFF2-40B4-BE49-F238E27FC236}">
                <a16:creationId xmlns:a16="http://schemas.microsoft.com/office/drawing/2014/main" id="{9EA15BE1-B484-7984-ABD3-E13891E612A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TextBox 5">
            <a:extLst>
              <a:ext uri="{FF2B5EF4-FFF2-40B4-BE49-F238E27FC236}">
                <a16:creationId xmlns:a16="http://schemas.microsoft.com/office/drawing/2014/main" id="{C25B6ED9-FA86-2D87-E468-2A4596F64EBD}"/>
              </a:ext>
            </a:extLst>
          </p:cNvPr>
          <p:cNvSpPr txBox="1">
            <a:spLocks noChangeArrowheads="1"/>
          </p:cNvSpPr>
          <p:nvPr/>
        </p:nvSpPr>
        <p:spPr bwMode="auto">
          <a:xfrm>
            <a:off x="1485900" y="5213350"/>
            <a:ext cx="9220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2000" i="1"/>
              <a:t>You may also include </a:t>
            </a:r>
            <a:r>
              <a:rPr lang="en-IN" altLang="en-US" sz="2000" b="1" i="1"/>
              <a:t>Scope and limitations</a:t>
            </a:r>
            <a:r>
              <a:rPr lang="en-IN" altLang="en-US" sz="2000" i="1"/>
              <a:t>: This should explain the scope of the research project, including what will be included and excluded from the study. It should also outline any limitations that may affect the study's ability to achieve its objectives.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Literature Survey (2/2): evaluation practice in this field</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502920"/>
          </a:xfrm>
        </p:spPr>
        <p:txBody>
          <a:bodyPr rtlCol="0" wrap="square">
            <a:normAutofit/>
          </a:bodyPr>
          <a:lstStyle/>
          <a:p>
            <a:pPr algn="just" eaLnBrk="1" fontAlgn="auto" hangingPunct="1">
              <a:spcAft>
                <a:spcPts val="0"/>
              </a:spcAft>
              <a:defRPr/>
            </a:pPr>
            <a:r>
              <a:rPr sz="1500" b="1">
                <a:solidFill>
                  <a:srgbClr val="0B2F3A"/>
                </a:solidFill>
              </a:rPr>
              <a:t>Recent work questions whether results in this area survive rigorous evaluation:</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6" name="Table 5125"/>
          <p:cNvGraphicFramePr>
            <a:graphicFrameLocks noGrp="1"/>
          </p:cNvGraphicFramePr>
          <p:nvPr/>
        </p:nvGraphicFramePr>
        <p:xfrm>
          <a:off x="685800" y="2138299"/>
          <a:ext cx="10881360" cy="3063240"/>
        </p:xfrm>
        <a:graphic>
          <a:graphicData uri="http://schemas.openxmlformats.org/drawingml/2006/table">
            <a:tbl>
              <a:tblPr firstRow="1" bandRow="1">
                <a:tableStyleId>{5C22544A-7EE6-4342-B048-85BDC9FD1C3A}</a:tableStyleId>
              </a:tblPr>
              <a:tblGrid>
                <a:gridCol w="3200400"/>
                <a:gridCol w="7680960"/>
              </a:tblGrid>
              <a:tr h="765810">
                <a:tc>
                  <a:txBody>
                    <a:bodyPr/>
                    <a:lstStyle/>
                    <a:p>
                      <a:r>
                        <a:rPr sz="1100" b="1">
                          <a:solidFill>
                            <a:srgbClr val="FFFFFF"/>
                          </a:solidFill>
                        </a:rPr>
                        <a:t>Study</a:t>
                      </a:r>
                    </a:p>
                  </a:txBody>
                  <a:tcPr marL="45720" marR="45720" marT="18288" marB="18288"/>
                </a:tc>
                <a:tc>
                  <a:txBody>
                    <a:bodyPr/>
                    <a:lstStyle/>
                    <a:p>
                      <a:r>
                        <a:rPr sz="1100" b="1">
                          <a:solidFill>
                            <a:srgbClr val="FFFFFF"/>
                          </a:solidFill>
                        </a:rPr>
                        <a:t>Finding relevant to this project</a:t>
                      </a:r>
                    </a:p>
                  </a:txBody>
                  <a:tcPr marL="45720" marR="45720" marT="18288" marB="18288"/>
                </a:tc>
              </a:tr>
              <a:tr h="765810">
                <a:tc>
                  <a:txBody>
                    <a:bodyPr/>
                    <a:lstStyle/>
                    <a:p>
                      <a:r>
                        <a:rPr sz="1100" b="0">
                          <a:solidFill>
                            <a:srgbClr val="0B2F3A"/>
                          </a:solidFill>
                        </a:rPr>
                        <a:t>Reassessing PPG-Based BGL Estimation,
arXiv:2608.01820 (2026)</a:t>
                      </a:r>
                    </a:p>
                  </a:txBody>
                  <a:tcPr marL="45720" marR="45720" marT="18288" marB="18288"/>
                </a:tc>
                <a:tc>
                  <a:txBody>
                    <a:bodyPr/>
                    <a:lstStyle/>
                    <a:p>
                      <a:r>
                        <a:rPr sz="1100" b="0">
                          <a:solidFill>
                            <a:srgbClr val="0B2F3A"/>
                          </a:solidFill>
                        </a:rPr>
                        <a:t>Re-tested five published PPG-glucose methods. Best model scored R2 = 0.60 under a
random split and -0.08 under a participant-aware split - i.e. no better than the mean.
Over 90% of predictions fell in Clarke Zone A+B INCLUDING the baseline.</a:t>
                      </a:r>
                    </a:p>
                  </a:txBody>
                  <a:tcPr marL="45720" marR="45720" marT="18288" marB="18288"/>
                </a:tc>
              </a:tr>
              <a:tr h="765810">
                <a:tc>
                  <a:txBody>
                    <a:bodyPr/>
                    <a:lstStyle/>
                    <a:p>
                      <a:r>
                        <a:rPr sz="1100" b="0">
                          <a:solidFill>
                            <a:srgbClr val="0B2F3A"/>
                          </a:solidFill>
                        </a:rPr>
                        <a:t>Advances in ECG-Based Non-Invasive
Blood Glucose Monitoring (review, 2026)</a:t>
                      </a:r>
                    </a:p>
                  </a:txBody>
                  <a:tcPr marL="45720" marR="45720" marT="18288" marB="18288"/>
                </a:tc>
                <a:tc>
                  <a:txBody>
                    <a:bodyPr/>
                    <a:lstStyle/>
                    <a:p>
                      <a:r>
                        <a:rPr sz="1100" b="0">
                          <a:solidFill>
                            <a:srgbClr val="0B2F3A"/>
                          </a:solidFill>
                        </a:rPr>
                        <a:t>Identifies record-level splitting as a field-wide source of data leakage yielding
optimistic estimates; notes most studies use fewer than 30 subjects; concludes that
current methods do not reach the 10-12% MARD of approved CGM devices.</a:t>
                      </a:r>
                    </a:p>
                  </a:txBody>
                  <a:tcPr marL="45720" marR="45720" marT="18288" marB="18288"/>
                </a:tc>
              </a:tr>
              <a:tr h="765810">
                <a:tc>
                  <a:txBody>
                    <a:bodyPr/>
                    <a:lstStyle/>
                    <a:p>
                      <a:r>
                        <a:rPr sz="1100" b="0">
                          <a:solidFill>
                            <a:srgbClr val="0B2F3A"/>
                          </a:solidFill>
                        </a:rPr>
                        <a:t>Grabisch (1995); Marichal (2000)</a:t>
                      </a:r>
                    </a:p>
                  </a:txBody>
                  <a:tcPr marL="45720" marR="45720" marT="18288" marB="18288"/>
                </a:tc>
                <a:tc>
                  <a:txBody>
                    <a:bodyPr/>
                    <a:lstStyle/>
                    <a:p>
                      <a:r>
                        <a:rPr sz="1100" b="0">
                          <a:solidFill>
                            <a:srgbClr val="0B2F3A"/>
                          </a:solidFill>
                        </a:rPr>
                        <a:t>Aggregation theory: a Choquet integral taken with respect to a SYMMETRIC fuzzy measure
reduces to an ordered weighted average (OWA). This is the theoretical basis of our
degeneracy result, and is cited as prior work rather than claimed as novel.</a:t>
                      </a:r>
                    </a:p>
                  </a:txBody>
                  <a:tcPr marL="45720" marR="45720" marT="18288" marB="18288"/>
                </a:tc>
              </a:tr>
            </a:tbl>
          </a:graphicData>
        </a:graphic>
      </p:graphicFrame>
      <p:sp>
        <p:nvSpPr>
          <p:cNvPr id="5127" name="TextBox 5126"/>
          <p:cNvSpPr txBox="1"/>
          <p:nvPr/>
        </p:nvSpPr>
        <p:spPr>
          <a:xfrm>
            <a:off x="502920" y="5989320"/>
            <a:ext cx="11155680" cy="365760"/>
          </a:xfrm>
          <a:prstGeom prst="rect">
            <a:avLst/>
          </a:prstGeom>
          <a:noFill/>
        </p:spPr>
        <p:txBody>
          <a:bodyPr wrap="square">
            <a:spAutoFit/>
          </a:bodyPr>
          <a:lstStyle/>
          <a:p>
            <a:r>
              <a:rPr sz="1050" i="1">
                <a:solidFill>
                  <a:srgbClr val="5A6B72"/>
                </a:solidFill>
              </a:rPr>
              <a:t>The first two motivate our three-protocol design; the third bounds what we claim as new in Finding 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Problem Formulation</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1371600"/>
          </a:xfrm>
        </p:spPr>
        <p:txBody>
          <a:bodyPr rtlCol="0" wrap="square">
            <a:normAutofit/>
          </a:bodyPr>
          <a:lstStyle/>
          <a:p>
            <a:pPr algn="just" eaLnBrk="1" fontAlgn="auto" hangingPunct="1">
              <a:spcAft>
                <a:spcPts val="0"/>
              </a:spcAft>
              <a:defRPr/>
            </a:pPr>
            <a:r>
              <a:rPr sz="1450">
                <a:solidFill>
                  <a:srgbClr val="0B2F3A"/>
                </a:solidFill>
              </a:rPr>
              <a:t>Given a 16 s window of ECG and PPG preceding a CGM reading, predict the glucose concentration y (mmol/L). Three regressors produce h1, h2, h3, to be combined into one estimate.</a:t>
            </a:r>
          </a:p>
          <a:p>
            <a:pPr/>
            <a:r>
              <a:rPr sz="1450" b="1">
                <a:solidFill>
                  <a:srgbClr val="0B2F3A"/>
                </a:solidFill>
              </a:rPr>
              <a:t>A weighted average assigns importance to each model individually, so it cannot express that two models overlap. A fuzzy measure assigns importance to every SUBSET; the Sugeno lambda-measure generates all 2^N of them from one density per model:</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5125" descr="sugeno_union.png"/>
          <p:cNvPicPr>
            <a:picLocks noChangeAspect="1"/>
          </p:cNvPicPr>
          <p:nvPr/>
        </p:nvPicPr>
        <p:blipFill>
          <a:blip r:embed="rId3"/>
          <a:stretch>
            <a:fillRect/>
          </a:stretch>
        </p:blipFill>
        <p:spPr>
          <a:xfrm>
            <a:off x="1234440" y="2743200"/>
            <a:ext cx="5669280" cy="445357"/>
          </a:xfrm>
          <a:prstGeom prst="rect">
            <a:avLst/>
          </a:prstGeom>
        </p:spPr>
      </p:pic>
      <p:pic>
        <p:nvPicPr>
          <p:cNvPr id="5127" name="Picture 5126" descr="sugeno_lambda.png"/>
          <p:cNvPicPr>
            <a:picLocks noChangeAspect="1"/>
          </p:cNvPicPr>
          <p:nvPr/>
        </p:nvPicPr>
        <p:blipFill>
          <a:blip r:embed="rId4"/>
          <a:stretch>
            <a:fillRect/>
          </a:stretch>
        </p:blipFill>
        <p:spPr>
          <a:xfrm>
            <a:off x="7635240" y="2606040"/>
            <a:ext cx="2743200" cy="840712"/>
          </a:xfrm>
          <a:prstGeom prst="rect">
            <a:avLst/>
          </a:prstGeom>
        </p:spPr>
      </p:pic>
      <p:pic>
        <p:nvPicPr>
          <p:cNvPr id="5128" name="Picture 5127" descr="choquet.png"/>
          <p:cNvPicPr>
            <a:picLocks noChangeAspect="1"/>
          </p:cNvPicPr>
          <p:nvPr/>
        </p:nvPicPr>
        <p:blipFill>
          <a:blip r:embed="rId5"/>
          <a:stretch>
            <a:fillRect/>
          </a:stretch>
        </p:blipFill>
        <p:spPr>
          <a:xfrm>
            <a:off x="1234440" y="3977639"/>
            <a:ext cx="7498079" cy="1481973"/>
          </a:xfrm>
          <a:prstGeom prst="rect">
            <a:avLst/>
          </a:prstGeom>
        </p:spPr>
      </p:pic>
      <p:sp>
        <p:nvSpPr>
          <p:cNvPr id="5129" name="TextBox 5128"/>
          <p:cNvSpPr txBox="1"/>
          <p:nvPr/>
        </p:nvSpPr>
        <p:spPr>
          <a:xfrm>
            <a:off x="502920" y="5669280"/>
            <a:ext cx="11155680" cy="365760"/>
          </a:xfrm>
          <a:prstGeom prst="rect">
            <a:avLst/>
          </a:prstGeom>
          <a:noFill/>
        </p:spPr>
        <p:txBody>
          <a:bodyPr wrap="square">
            <a:spAutoFit/>
          </a:bodyPr>
          <a:lstStyle/>
          <a:p>
            <a:r>
              <a:rPr sz="1050" i="1">
                <a:solidFill>
                  <a:srgbClr val="5A6B72"/>
                </a:solidFill>
              </a:rPr>
              <a:t>lambda is fixed by the boundary condition g(X) = 1.  Sum(g_i) = 1 gives lambda = 0 and the integral reduces to a weighted average;  &gt; 1 gives lambda &lt; 0, an overlap penalty;  &lt; 1 gives lambda &gt; 0, a synergy bonus.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Solution Methodology (1/2): pipeline and dataset</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2103120"/>
          </a:xfrm>
        </p:spPr>
        <p:txBody>
          <a:bodyPr rtlCol="0" wrap="square">
            <a:normAutofit/>
          </a:bodyPr>
          <a:lstStyle/>
          <a:p>
            <a:pPr algn="just" eaLnBrk="1" fontAlgn="auto" hangingPunct="1">
              <a:spcAft>
                <a:spcPts val="0"/>
              </a:spcAft>
              <a:defRPr/>
            </a:pPr>
            <a:r>
              <a:rPr sz="1450">
                <a:solidFill>
                  <a:srgbClr val="0B2F3A"/>
                </a:solidFill>
              </a:rPr>
              <a:t>Level 1 - acquisition and conditioning: 16 s windows (~20 cardiac cycles) preceding each CGM reading; Butterworth band-pass 0.5-40 Hz for ECG and 0.5-8 Hz for PPG (64 Hz sampling limits the representable band to 32 Hz).</a:t>
            </a:r>
          </a:p>
          <a:p>
            <a:pPr/>
            <a:r>
              <a:rPr sz="1450">
                <a:solidFill>
                  <a:srgbClr val="0B2F3A"/>
                </a:solidFill>
              </a:rPr>
              <a:t>Level 2 - feature extraction: db4 DWT to 7 levels gives 8 sub-signals per modality; 10 statistical features each (80 per modality, 160 total), plus 33 morphological features. Selection by UFS n RFE n L1.</a:t>
            </a:r>
          </a:p>
          <a:p>
            <a:pPr/>
            <a:r>
              <a:rPr sz="1450">
                <a:solidFill>
                  <a:srgbClr val="0B2F3A"/>
                </a:solidFill>
              </a:rPr>
              <a:t>Level 3 - decision fusion: Random Forest, Gradient Boosting and Bagging, combined by the weight-based Choquet integral.</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6" name="Table 5125"/>
          <p:cNvGraphicFramePr>
            <a:graphicFrameLocks noGrp="1"/>
          </p:cNvGraphicFramePr>
          <p:nvPr/>
        </p:nvGraphicFramePr>
        <p:xfrm>
          <a:off x="685800" y="3520440"/>
          <a:ext cx="6766560" cy="1234440"/>
        </p:xfrm>
        <a:graphic>
          <a:graphicData uri="http://schemas.openxmlformats.org/drawingml/2006/table">
            <a:tbl>
              <a:tblPr firstRow="1" bandRow="1">
                <a:tableStyleId>{5C22544A-7EE6-4342-B048-85BDC9FD1C3A}</a:tableStyleId>
              </a:tblPr>
              <a:tblGrid>
                <a:gridCol w="1143000"/>
                <a:gridCol w="2606040"/>
                <a:gridCol w="1097280"/>
                <a:gridCol w="1920240"/>
              </a:tblGrid>
              <a:tr h="308610">
                <a:tc>
                  <a:txBody>
                    <a:bodyPr/>
                    <a:lstStyle/>
                    <a:p>
                      <a:r>
                        <a:rPr sz="1150" b="1">
                          <a:solidFill>
                            <a:srgbClr val="FFFFFF"/>
                          </a:solidFill>
                        </a:rPr>
                        <a:t>Signal</a:t>
                      </a:r>
                    </a:p>
                  </a:txBody>
                  <a:tcPr marL="45720" marR="45720" marT="18288" marB="18288"/>
                </a:tc>
                <a:tc>
                  <a:txBody>
                    <a:bodyPr/>
                    <a:lstStyle/>
                    <a:p>
                      <a:r>
                        <a:rPr sz="1150" b="1">
                          <a:solidFill>
                            <a:srgbClr val="FFFFFF"/>
                          </a:solidFill>
                        </a:rPr>
                        <a:t>Device</a:t>
                      </a:r>
                    </a:p>
                  </a:txBody>
                  <a:tcPr marL="45720" marR="45720" marT="18288" marB="18288"/>
                </a:tc>
                <a:tc>
                  <a:txBody>
                    <a:bodyPr/>
                    <a:lstStyle/>
                    <a:p>
                      <a:r>
                        <a:rPr sz="1150" b="1">
                          <a:solidFill>
                            <a:srgbClr val="FFFFFF"/>
                          </a:solidFill>
                        </a:rPr>
                        <a:t>Rate</a:t>
                      </a:r>
                    </a:p>
                  </a:txBody>
                  <a:tcPr marL="45720" marR="45720" marT="18288" marB="18288"/>
                </a:tc>
                <a:tc>
                  <a:txBody>
                    <a:bodyPr/>
                    <a:lstStyle/>
                    <a:p>
                      <a:r>
                        <a:rPr sz="1150" b="1">
                          <a:solidFill>
                            <a:srgbClr val="FFFFFF"/>
                          </a:solidFill>
                        </a:rPr>
                        <a:t>Role</a:t>
                      </a:r>
                    </a:p>
                  </a:txBody>
                  <a:tcPr marL="45720" marR="45720" marT="18288" marB="18288"/>
                </a:tc>
              </a:tr>
              <a:tr h="308610">
                <a:tc>
                  <a:txBody>
                    <a:bodyPr/>
                    <a:lstStyle/>
                    <a:p>
                      <a:r>
                        <a:rPr sz="1150" b="0">
                          <a:solidFill>
                            <a:srgbClr val="0B2F3A"/>
                          </a:solidFill>
                        </a:rPr>
                        <a:t>ECG</a:t>
                      </a:r>
                    </a:p>
                  </a:txBody>
                  <a:tcPr marL="45720" marR="45720" marT="18288" marB="18288"/>
                </a:tc>
                <a:tc>
                  <a:txBody>
                    <a:bodyPr/>
                    <a:lstStyle/>
                    <a:p>
                      <a:r>
                        <a:rPr sz="1150" b="0">
                          <a:solidFill>
                            <a:srgbClr val="0B2F3A"/>
                          </a:solidFill>
                        </a:rPr>
                        <a:t>Zephyr BioHarness (chest strap)</a:t>
                      </a:r>
                    </a:p>
                  </a:txBody>
                  <a:tcPr marL="45720" marR="45720" marT="18288" marB="18288"/>
                </a:tc>
                <a:tc>
                  <a:txBody>
                    <a:bodyPr/>
                    <a:lstStyle/>
                    <a:p>
                      <a:r>
                        <a:rPr sz="1150" b="0">
                          <a:solidFill>
                            <a:srgbClr val="0B2F3A"/>
                          </a:solidFill>
                        </a:rPr>
                        <a:t>250 Hz</a:t>
                      </a:r>
                    </a:p>
                  </a:txBody>
                  <a:tcPr marL="45720" marR="45720" marT="18288" marB="18288"/>
                </a:tc>
                <a:tc>
                  <a:txBody>
                    <a:bodyPr/>
                    <a:lstStyle/>
                    <a:p>
                      <a:r>
                        <a:rPr sz="1150" b="0">
                          <a:solidFill>
                            <a:srgbClr val="0B2F3A"/>
                          </a:solidFill>
                        </a:rPr>
                        <a:t>Electrical activity of the heart</a:t>
                      </a:r>
                    </a:p>
                  </a:txBody>
                  <a:tcPr marL="45720" marR="45720" marT="18288" marB="18288"/>
                </a:tc>
              </a:tr>
              <a:tr h="308610">
                <a:tc>
                  <a:txBody>
                    <a:bodyPr/>
                    <a:lstStyle/>
                    <a:p>
                      <a:r>
                        <a:rPr sz="1150" b="0">
                          <a:solidFill>
                            <a:srgbClr val="0B2F3A"/>
                          </a:solidFill>
                        </a:rPr>
                        <a:t>PPG (BVP)</a:t>
                      </a:r>
                    </a:p>
                  </a:txBody>
                  <a:tcPr marL="45720" marR="45720" marT="18288" marB="18288"/>
                </a:tc>
                <a:tc>
                  <a:txBody>
                    <a:bodyPr/>
                    <a:lstStyle/>
                    <a:p>
                      <a:r>
                        <a:rPr sz="1150" b="0">
                          <a:solidFill>
                            <a:srgbClr val="0B2F3A"/>
                          </a:solidFill>
                        </a:rPr>
                        <a:t>Empatica E4 (wristband)</a:t>
                      </a:r>
                    </a:p>
                  </a:txBody>
                  <a:tcPr marL="45720" marR="45720" marT="18288" marB="18288"/>
                </a:tc>
                <a:tc>
                  <a:txBody>
                    <a:bodyPr/>
                    <a:lstStyle/>
                    <a:p>
                      <a:r>
                        <a:rPr sz="1150" b="0">
                          <a:solidFill>
                            <a:srgbClr val="0B2F3A"/>
                          </a:solidFill>
                        </a:rPr>
                        <a:t>64 Hz</a:t>
                      </a:r>
                    </a:p>
                  </a:txBody>
                  <a:tcPr marL="45720" marR="45720" marT="18288" marB="18288"/>
                </a:tc>
                <a:tc>
                  <a:txBody>
                    <a:bodyPr/>
                    <a:lstStyle/>
                    <a:p>
                      <a:r>
                        <a:rPr sz="1150" b="0">
                          <a:solidFill>
                            <a:srgbClr val="0B2F3A"/>
                          </a:solidFill>
                        </a:rPr>
                        <a:t>Blood volume pulse, measured optically</a:t>
                      </a:r>
                    </a:p>
                  </a:txBody>
                  <a:tcPr marL="45720" marR="45720" marT="18288" marB="18288"/>
                </a:tc>
              </a:tr>
              <a:tr h="308610">
                <a:tc>
                  <a:txBody>
                    <a:bodyPr/>
                    <a:lstStyle/>
                    <a:p>
                      <a:r>
                        <a:rPr sz="1150" b="0">
                          <a:solidFill>
                            <a:srgbClr val="0B2F3A"/>
                          </a:solidFill>
                        </a:rPr>
                        <a:t>Glucose</a:t>
                      </a:r>
                    </a:p>
                  </a:txBody>
                  <a:tcPr marL="45720" marR="45720" marT="18288" marB="18288"/>
                </a:tc>
                <a:tc>
                  <a:txBody>
                    <a:bodyPr/>
                    <a:lstStyle/>
                    <a:p>
                      <a:r>
                        <a:rPr sz="1150" b="0">
                          <a:solidFill>
                            <a:srgbClr val="0B2F3A"/>
                          </a:solidFill>
                        </a:rPr>
                        <a:t>Dexcom CGM</a:t>
                      </a:r>
                    </a:p>
                  </a:txBody>
                  <a:tcPr marL="45720" marR="45720" marT="18288" marB="18288"/>
                </a:tc>
                <a:tc>
                  <a:txBody>
                    <a:bodyPr/>
                    <a:lstStyle/>
                    <a:p>
                      <a:r>
                        <a:rPr sz="1150" b="0">
                          <a:solidFill>
                            <a:srgbClr val="0B2F3A"/>
                          </a:solidFill>
                        </a:rPr>
                        <a:t>every 5 min</a:t>
                      </a:r>
                    </a:p>
                  </a:txBody>
                  <a:tcPr marL="45720" marR="45720" marT="18288" marB="18288"/>
                </a:tc>
                <a:tc>
                  <a:txBody>
                    <a:bodyPr/>
                    <a:lstStyle/>
                    <a:p>
                      <a:r>
                        <a:rPr sz="1150" b="0">
                          <a:solidFill>
                            <a:srgbClr val="0B2F3A"/>
                          </a:solidFill>
                        </a:rPr>
                        <a:t>Reference value to be predicted</a:t>
                      </a:r>
                    </a:p>
                  </a:txBody>
                  <a:tcPr marL="45720" marR="45720" marT="18288" marB="18288"/>
                </a:tc>
              </a:tr>
            </a:tbl>
          </a:graphicData>
        </a:graphic>
      </p:graphicFrame>
      <p:graphicFrame>
        <p:nvGraphicFramePr>
          <p:cNvPr id="5127" name="Table 5126"/>
          <p:cNvGraphicFramePr>
            <a:graphicFrameLocks noGrp="1"/>
          </p:cNvGraphicFramePr>
          <p:nvPr/>
        </p:nvGraphicFramePr>
        <p:xfrm>
          <a:off x="7818120" y="3520440"/>
          <a:ext cx="3749040" cy="1828800"/>
        </p:xfrm>
        <a:graphic>
          <a:graphicData uri="http://schemas.openxmlformats.org/drawingml/2006/table">
            <a:tbl>
              <a:tblPr firstRow="1" bandRow="1">
                <a:tableStyleId>{5C22544A-7EE6-4342-B048-85BDC9FD1C3A}</a:tableStyleId>
              </a:tblPr>
              <a:tblGrid>
                <a:gridCol w="2286000"/>
                <a:gridCol w="1463040"/>
              </a:tblGrid>
              <a:tr h="304800">
                <a:tc>
                  <a:txBody>
                    <a:bodyPr/>
                    <a:lstStyle/>
                    <a:p>
                      <a:r>
                        <a:rPr sz="1100" b="1">
                          <a:solidFill>
                            <a:srgbClr val="FFFFFF"/>
                          </a:solidFill>
                        </a:rPr>
                        <a:t>Study population</a:t>
                      </a:r>
                    </a:p>
                  </a:txBody>
                  <a:tcPr marL="45720" marR="45720" marT="18288" marB="18288"/>
                </a:tc>
                <a:tc>
                  <a:txBody>
                    <a:bodyPr/>
                    <a:lstStyle/>
                    <a:p>
                      <a:r>
                        <a:rPr sz="1100" b="1">
                          <a:solidFill>
                            <a:srgbClr val="FFFFFF"/>
                          </a:solidFill>
                        </a:rPr>
                        <a:t/>
                      </a:r>
                    </a:p>
                  </a:txBody>
                  <a:tcPr marL="45720" marR="45720" marT="18288" marB="18288"/>
                </a:tc>
              </a:tr>
              <a:tr h="304800">
                <a:tc>
                  <a:txBody>
                    <a:bodyPr/>
                    <a:lstStyle/>
                    <a:p>
                      <a:r>
                        <a:rPr sz="1100" b="0">
                          <a:solidFill>
                            <a:srgbClr val="0B2F3A"/>
                          </a:solidFill>
                        </a:rPr>
                        <a:t>Participants</a:t>
                      </a:r>
                    </a:p>
                  </a:txBody>
                  <a:tcPr marL="45720" marR="45720" marT="18288" marB="18288"/>
                </a:tc>
                <a:tc>
                  <a:txBody>
                    <a:bodyPr/>
                    <a:lstStyle/>
                    <a:p>
                      <a:r>
                        <a:rPr sz="1100" b="0">
                          <a:solidFill>
                            <a:srgbClr val="0B2F3A"/>
                          </a:solidFill>
                        </a:rPr>
                        <a:t>10 (Type-1 diabetes)</a:t>
                      </a:r>
                    </a:p>
                  </a:txBody>
                  <a:tcPr marL="45720" marR="45720" marT="18288" marB="18288"/>
                </a:tc>
              </a:tr>
              <a:tr h="304800">
                <a:tc>
                  <a:txBody>
                    <a:bodyPr/>
                    <a:lstStyle/>
                    <a:p>
                      <a:r>
                        <a:rPr sz="1100" b="0">
                          <a:solidFill>
                            <a:srgbClr val="0B2F3A"/>
                          </a:solidFill>
                        </a:rPr>
                        <a:t>Paired ECG+PPG windows</a:t>
                      </a:r>
                    </a:p>
                  </a:txBody>
                  <a:tcPr marL="45720" marR="45720" marT="18288" marB="18288"/>
                </a:tc>
                <a:tc>
                  <a:txBody>
                    <a:bodyPr/>
                    <a:lstStyle/>
                    <a:p>
                      <a:r>
                        <a:rPr sz="1100" b="0">
                          <a:solidFill>
                            <a:srgbClr val="0B2F3A"/>
                          </a:solidFill>
                        </a:rPr>
                        <a:t>30,830</a:t>
                      </a:r>
                    </a:p>
                  </a:txBody>
                  <a:tcPr marL="45720" marR="45720" marT="18288" marB="18288"/>
                </a:tc>
              </a:tr>
              <a:tr h="304800">
                <a:tc>
                  <a:txBody>
                    <a:bodyPr/>
                    <a:lstStyle/>
                    <a:p>
                      <a:r>
                        <a:rPr sz="1100" b="0">
                          <a:solidFill>
                            <a:srgbClr val="0B2F3A"/>
                          </a:solidFill>
                        </a:rPr>
                        <a:t>Features per window</a:t>
                      </a:r>
                    </a:p>
                  </a:txBody>
                  <a:tcPr marL="45720" marR="45720" marT="18288" marB="18288"/>
                </a:tc>
                <a:tc>
                  <a:txBody>
                    <a:bodyPr/>
                    <a:lstStyle/>
                    <a:p>
                      <a:r>
                        <a:rPr sz="1100" b="0">
                          <a:solidFill>
                            <a:srgbClr val="0B2F3A"/>
                          </a:solidFill>
                        </a:rPr>
                        <a:t>193</a:t>
                      </a:r>
                    </a:p>
                  </a:txBody>
                  <a:tcPr marL="45720" marR="45720" marT="18288" marB="18288"/>
                </a:tc>
              </a:tr>
              <a:tr h="304800">
                <a:tc>
                  <a:txBody>
                    <a:bodyPr/>
                    <a:lstStyle/>
                    <a:p>
                      <a:r>
                        <a:rPr sz="1100" b="0">
                          <a:solidFill>
                            <a:srgbClr val="0B2F3A"/>
                          </a:solidFill>
                        </a:rPr>
                        <a:t>Glucose range</a:t>
                      </a:r>
                    </a:p>
                  </a:txBody>
                  <a:tcPr marL="45720" marR="45720" marT="18288" marB="18288"/>
                </a:tc>
                <a:tc>
                  <a:txBody>
                    <a:bodyPr/>
                    <a:lstStyle/>
                    <a:p>
                      <a:r>
                        <a:rPr sz="1100" b="0">
                          <a:solidFill>
                            <a:srgbClr val="0B2F3A"/>
                          </a:solidFill>
                        </a:rPr>
                        <a:t>2.2 - 21.5 mmol/L</a:t>
                      </a:r>
                    </a:p>
                  </a:txBody>
                  <a:tcPr marL="45720" marR="45720" marT="18288" marB="18288"/>
                </a:tc>
              </a:tr>
              <a:tr h="304800">
                <a:tc>
                  <a:txBody>
                    <a:bodyPr/>
                    <a:lstStyle/>
                    <a:p>
                      <a:r>
                        <a:rPr sz="1100" b="1">
                          <a:solidFill>
                            <a:srgbClr val="C62828"/>
                          </a:solidFill>
                        </a:rPr>
                        <a:t>Mean / standard deviation</a:t>
                      </a:r>
                    </a:p>
                  </a:txBody>
                  <a:tcPr marL="45720" marR="45720" marT="18288" marB="18288"/>
                </a:tc>
                <a:tc>
                  <a:txBody>
                    <a:bodyPr/>
                    <a:lstStyle/>
                    <a:p>
                      <a:r>
                        <a:rPr sz="1100" b="1">
                          <a:solidFill>
                            <a:srgbClr val="C62828"/>
                          </a:solidFill>
                        </a:rPr>
                        <a:t>7.17 / 2.519 mmol/L</a:t>
                      </a:r>
                    </a:p>
                  </a:txBody>
                  <a:tcPr marL="45720" marR="45720" marT="18288" marB="18288"/>
                </a:tc>
              </a:tr>
            </a:tbl>
          </a:graphicData>
        </a:graphic>
      </p:graphicFrame>
      <p:sp>
        <p:nvSpPr>
          <p:cNvPr id="5128" name="TextBox 5127"/>
          <p:cNvSpPr txBox="1"/>
          <p:nvPr/>
        </p:nvSpPr>
        <p:spPr>
          <a:xfrm>
            <a:off x="502920" y="5532120"/>
            <a:ext cx="11155680" cy="365760"/>
          </a:xfrm>
          <a:prstGeom prst="rect">
            <a:avLst/>
          </a:prstGeom>
          <a:noFill/>
        </p:spPr>
        <p:txBody>
          <a:bodyPr wrap="square">
            <a:spAutoFit/>
          </a:bodyPr>
          <a:lstStyle/>
          <a:p>
            <a:r>
              <a:rPr sz="1050" i="1">
                <a:solidFill>
                  <a:srgbClr val="5A6B72"/>
                </a:solidFill>
              </a:rPr>
              <a:t>PhysioCGM (Scientific Data, 2025; figshare 28136294, CC0) - the only open dataset carrying ECG and PPG against a CGM reference. The 2.519 mmol/L standard deviation is the error of a model that always predicts the mean: the no-skill baseline every result is measured against.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Solution Methodology (2/2): feature extraction and selection</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868680"/>
          </a:xfrm>
        </p:spPr>
        <p:txBody>
          <a:bodyPr rtlCol="0" wrap="square">
            <a:normAutofit/>
          </a:bodyPr>
          <a:lstStyle/>
          <a:p>
            <a:pPr algn="just" eaLnBrk="1" fontAlgn="auto" hangingPunct="1">
              <a:spcAft>
                <a:spcPts val="0"/>
              </a:spcAft>
              <a:defRPr/>
            </a:pPr>
            <a:r>
              <a:rPr sz="1400">
                <a:solidFill>
                  <a:srgbClr val="0B2F3A"/>
                </a:solidFill>
              </a:rPr>
              <a:t>Temporal statistical features - 10 per sub-signal: kurtosis, skewness, Hjorth mobility and complexity, fractal dimension, correlation dimension, C0-complexity, power spectral entropy, Kolmogorov entropy, Shannon entropy.</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5125" descr="hjorth.png"/>
          <p:cNvPicPr>
            <a:picLocks noChangeAspect="1"/>
          </p:cNvPicPr>
          <p:nvPr/>
        </p:nvPicPr>
        <p:blipFill>
          <a:blip r:embed="rId3"/>
          <a:stretch>
            <a:fillRect/>
          </a:stretch>
        </p:blipFill>
        <p:spPr>
          <a:xfrm>
            <a:off x="731520" y="1874519"/>
            <a:ext cx="6035040" cy="665830"/>
          </a:xfrm>
          <a:prstGeom prst="rect">
            <a:avLst/>
          </a:prstGeom>
        </p:spPr>
      </p:pic>
      <p:pic>
        <p:nvPicPr>
          <p:cNvPr id="5127" name="Picture 5126" descr="entropy.png"/>
          <p:cNvPicPr>
            <a:picLocks noChangeAspect="1"/>
          </p:cNvPicPr>
          <p:nvPr/>
        </p:nvPicPr>
        <p:blipFill>
          <a:blip r:embed="rId4"/>
          <a:stretch>
            <a:fillRect/>
          </a:stretch>
        </p:blipFill>
        <p:spPr>
          <a:xfrm>
            <a:off x="7223760" y="1828800"/>
            <a:ext cx="4206240" cy="623846"/>
          </a:xfrm>
          <a:prstGeom prst="rect">
            <a:avLst/>
          </a:prstGeom>
        </p:spPr>
      </p:pic>
      <p:sp>
        <p:nvSpPr>
          <p:cNvPr id="5128" name="TextBox 5127"/>
          <p:cNvSpPr txBox="1"/>
          <p:nvPr/>
        </p:nvSpPr>
        <p:spPr>
          <a:xfrm>
            <a:off x="685800" y="2697480"/>
            <a:ext cx="10881360" cy="685800"/>
          </a:xfrm>
          <a:prstGeom prst="rect">
            <a:avLst/>
          </a:prstGeom>
          <a:noFill/>
        </p:spPr>
        <p:txBody>
          <a:bodyPr wrap="square">
            <a:spAutoFit/>
          </a:bodyPr>
          <a:lstStyle/>
          <a:p>
            <a:r>
              <a:rPr sz="1400">
                <a:solidFill>
                  <a:srgbClr val="0B2F3A"/>
                </a:solidFill>
              </a:rPr>
              <a:t>Spatial morphological features - measured directly rather than learned, because the mechanism is known: QT and corrected QT, ST level, T-wave amplitude and sharpness, QRS duration, and heart-rate variability.</a:t>
            </a:r>
          </a:p>
        </p:txBody>
      </p:sp>
      <p:pic>
        <p:nvPicPr>
          <p:cNvPr id="5129" name="Picture 5128" descr="qtc.png"/>
          <p:cNvPicPr>
            <a:picLocks noChangeAspect="1"/>
          </p:cNvPicPr>
          <p:nvPr/>
        </p:nvPicPr>
        <p:blipFill>
          <a:blip r:embed="rId5"/>
          <a:stretch>
            <a:fillRect/>
          </a:stretch>
        </p:blipFill>
        <p:spPr>
          <a:xfrm>
            <a:off x="731520" y="3429000"/>
            <a:ext cx="5394960" cy="760522"/>
          </a:xfrm>
          <a:prstGeom prst="rect">
            <a:avLst/>
          </a:prstGeom>
        </p:spPr>
      </p:pic>
      <p:sp>
        <p:nvSpPr>
          <p:cNvPr id="5130" name="TextBox 5129"/>
          <p:cNvSpPr txBox="1"/>
          <p:nvPr/>
        </p:nvSpPr>
        <p:spPr>
          <a:xfrm>
            <a:off x="685800" y="4160520"/>
            <a:ext cx="10881360" cy="457200"/>
          </a:xfrm>
          <a:prstGeom prst="rect">
            <a:avLst/>
          </a:prstGeom>
          <a:noFill/>
        </p:spPr>
        <p:txBody>
          <a:bodyPr wrap="square">
            <a:spAutoFit/>
          </a:bodyPr>
          <a:lstStyle/>
          <a:p>
            <a:r>
              <a:rPr sz="1400">
                <a:solidFill>
                  <a:srgbClr val="0B2F3A"/>
                </a:solidFill>
              </a:rPr>
              <a:t>Feature selection - a feature is retained only if all three criteria select it (paper eqs. 5 and 6), fitted on training data within each fold:</a:t>
            </a:r>
          </a:p>
        </p:txBody>
      </p:sp>
      <p:pic>
        <p:nvPicPr>
          <p:cNvPr id="5131" name="Picture 5130" descr="eq5_rfe.png"/>
          <p:cNvPicPr>
            <a:picLocks noChangeAspect="1"/>
          </p:cNvPicPr>
          <p:nvPr/>
        </p:nvPicPr>
        <p:blipFill>
          <a:blip r:embed="rId6"/>
          <a:stretch>
            <a:fillRect/>
          </a:stretch>
        </p:blipFill>
        <p:spPr>
          <a:xfrm>
            <a:off x="731520" y="4709160"/>
            <a:ext cx="5943600" cy="800888"/>
          </a:xfrm>
          <a:prstGeom prst="rect">
            <a:avLst/>
          </a:prstGeom>
        </p:spPr>
      </p:pic>
      <p:pic>
        <p:nvPicPr>
          <p:cNvPr id="5132" name="Picture 5131" descr="eq6_lasso.png"/>
          <p:cNvPicPr>
            <a:picLocks noChangeAspect="1"/>
          </p:cNvPicPr>
          <p:nvPr/>
        </p:nvPicPr>
        <p:blipFill>
          <a:blip r:embed="rId7"/>
          <a:stretch>
            <a:fillRect/>
          </a:stretch>
        </p:blipFill>
        <p:spPr>
          <a:xfrm>
            <a:off x="7040880" y="4754880"/>
            <a:ext cx="4297680" cy="856919"/>
          </a:xfrm>
          <a:prstGeom prst="rect">
            <a:avLst/>
          </a:prstGeom>
        </p:spPr>
      </p:pic>
      <p:sp>
        <p:nvSpPr>
          <p:cNvPr id="5133" name="TextBox 5132"/>
          <p:cNvSpPr txBox="1"/>
          <p:nvPr/>
        </p:nvSpPr>
        <p:spPr>
          <a:xfrm>
            <a:off x="502920" y="5806440"/>
            <a:ext cx="11155680" cy="365760"/>
          </a:xfrm>
          <a:prstGeom prst="rect">
            <a:avLst/>
          </a:prstGeom>
          <a:noFill/>
        </p:spPr>
        <p:txBody>
          <a:bodyPr wrap="square">
            <a:spAutoFit/>
          </a:bodyPr>
          <a:lstStyle/>
          <a:p>
            <a:r>
              <a:rPr sz="1050" i="1">
                <a:solidFill>
                  <a:srgbClr val="5A6B72"/>
                </a:solidFill>
              </a:rPr>
              <a:t>193 features per window = 80 ECG temporal + 80 PPG temporal + 19 ECG morphological + 14 PPG morphological. Selection typically retains ~10. Validation: median QTc 0.405 s against a textbook normal of 0.35-0.44 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Results (1/4): performance under three split protocols</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548640"/>
          </a:xfrm>
        </p:spPr>
        <p:txBody>
          <a:bodyPr rtlCol="0" wrap="square">
            <a:normAutofit/>
          </a:bodyPr>
          <a:lstStyle/>
          <a:p>
            <a:pPr algn="just" eaLnBrk="1" fontAlgn="auto" hangingPunct="1">
              <a:spcAft>
                <a:spcPts val="0"/>
              </a:spcAft>
              <a:defRPr/>
            </a:pPr>
            <a:r>
              <a:rPr sz="1450">
                <a:solidFill>
                  <a:srgbClr val="0B2F3A"/>
                </a:solidFill>
              </a:rPr>
              <a:t>193 features, 30,830 windows, 10 participants. Every model is reported beside the no-skill baseline computed on the same folds.</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6" name="Table 5125"/>
          <p:cNvGraphicFramePr>
            <a:graphicFrameLocks noGrp="1"/>
          </p:cNvGraphicFramePr>
          <p:nvPr/>
        </p:nvGraphicFramePr>
        <p:xfrm>
          <a:off x="685800" y="2184019"/>
          <a:ext cx="10881360" cy="2148840"/>
        </p:xfrm>
        <a:graphic>
          <a:graphicData uri="http://schemas.openxmlformats.org/drawingml/2006/table">
            <a:tbl>
              <a:tblPr firstRow="1" bandRow="1">
                <a:tableStyleId>{5C22544A-7EE6-4342-B048-85BDC9FD1C3A}</a:tableStyleId>
              </a:tblPr>
              <a:tblGrid>
                <a:gridCol w="2606040"/>
                <a:gridCol w="2057400"/>
                <a:gridCol w="1051560"/>
                <a:gridCol w="1234440"/>
                <a:gridCol w="1097280"/>
                <a:gridCol w="1280160"/>
                <a:gridCol w="1554480"/>
              </a:tblGrid>
              <a:tr h="306977">
                <a:tc>
                  <a:txBody>
                    <a:bodyPr/>
                    <a:lstStyle/>
                    <a:p>
                      <a:r>
                        <a:rPr sz="1100" b="1">
                          <a:solidFill>
                            <a:srgbClr val="FFFFFF"/>
                          </a:solidFill>
                        </a:rPr>
                        <a:t>Split protocol</a:t>
                      </a:r>
                    </a:p>
                  </a:txBody>
                  <a:tcPr marL="45720" marR="45720" marT="18288" marB="18288"/>
                </a:tc>
                <a:tc>
                  <a:txBody>
                    <a:bodyPr/>
                    <a:lstStyle/>
                    <a:p>
                      <a:r>
                        <a:rPr sz="1100" b="1">
                          <a:solidFill>
                            <a:srgbClr val="FFFFFF"/>
                          </a:solidFill>
                        </a:rPr>
                        <a:t>Method</a:t>
                      </a:r>
                    </a:p>
                  </a:txBody>
                  <a:tcPr marL="45720" marR="45720" marT="18288" marB="18288"/>
                </a:tc>
                <a:tc>
                  <a:txBody>
                    <a:bodyPr/>
                    <a:lstStyle/>
                    <a:p>
                      <a:r>
                        <a:rPr sz="1100" b="1">
                          <a:solidFill>
                            <a:srgbClr val="FFFFFF"/>
                          </a:solidFill>
                        </a:rPr>
                        <a:t>R2</a:t>
                      </a:r>
                    </a:p>
                  </a:txBody>
                  <a:tcPr marL="45720" marR="45720" marT="18288" marB="18288"/>
                </a:tc>
                <a:tc>
                  <a:txBody>
                    <a:bodyPr/>
                    <a:lstStyle/>
                    <a:p>
                      <a:r>
                        <a:rPr sz="1100" b="1">
                          <a:solidFill>
                            <a:srgbClr val="FFFFFF"/>
                          </a:solidFill>
                        </a:rPr>
                        <a:t>RMSE
(mmol/L)</a:t>
                      </a:r>
                    </a:p>
                  </a:txBody>
                  <a:tcPr marL="45720" marR="45720" marT="18288" marB="18288"/>
                </a:tc>
                <a:tc>
                  <a:txBody>
                    <a:bodyPr/>
                    <a:lstStyle/>
                    <a:p>
                      <a:r>
                        <a:rPr sz="1100" b="1">
                          <a:solidFill>
                            <a:srgbClr val="FFFFFF"/>
                          </a:solidFill>
                        </a:rPr>
                        <a:t>MARD
(%)</a:t>
                      </a:r>
                    </a:p>
                  </a:txBody>
                  <a:tcPr marL="45720" marR="45720" marT="18288" marB="18288"/>
                </a:tc>
                <a:tc>
                  <a:txBody>
                    <a:bodyPr/>
                    <a:lstStyle/>
                    <a:p>
                      <a:r>
                        <a:rPr sz="1100" b="1">
                          <a:solidFill>
                            <a:srgbClr val="FFFFFF"/>
                          </a:solidFill>
                        </a:rPr>
                        <a:t>Zone A
(%)</a:t>
                      </a:r>
                    </a:p>
                  </a:txBody>
                  <a:tcPr marL="45720" marR="45720" marT="18288" marB="18288"/>
                </a:tc>
                <a:tc>
                  <a:txBody>
                    <a:bodyPr/>
                    <a:lstStyle/>
                    <a:p>
                      <a:r>
                        <a:rPr sz="1100" b="1">
                          <a:solidFill>
                            <a:srgbClr val="FFFFFF"/>
                          </a:solidFill>
                        </a:rPr>
                        <a:t>Zone A+B
(%)</a:t>
                      </a:r>
                    </a:p>
                  </a:txBody>
                  <a:tcPr marL="45720" marR="45720" marT="18288" marB="18288"/>
                </a:tc>
              </a:tr>
              <a:tr h="306977">
                <a:tc>
                  <a:txBody>
                    <a:bodyPr/>
                    <a:lstStyle/>
                    <a:p>
                      <a:r>
                        <a:rPr sz="1100" b="0">
                          <a:solidFill>
                            <a:srgbClr val="0B2F3A"/>
                          </a:solidFill>
                        </a:rPr>
                        <a:t>1. Random window</a:t>
                      </a:r>
                    </a:p>
                  </a:txBody>
                  <a:tcPr marL="45720" marR="45720" marT="18288" marB="18288"/>
                </a:tc>
                <a:tc>
                  <a:txBody>
                    <a:bodyPr/>
                    <a:lstStyle/>
                    <a:p>
                      <a:r>
                        <a:rPr sz="1100" b="0">
                          <a:solidFill>
                            <a:srgbClr val="0B2F3A"/>
                          </a:solidFill>
                        </a:rPr>
                        <a:t>Choquet fusion</a:t>
                      </a:r>
                    </a:p>
                  </a:txBody>
                  <a:tcPr marL="45720" marR="45720" marT="18288" marB="18288"/>
                </a:tc>
                <a:tc>
                  <a:txBody>
                    <a:bodyPr/>
                    <a:lstStyle/>
                    <a:p>
                      <a:r>
                        <a:rPr sz="1100" b="0">
                          <a:solidFill>
                            <a:srgbClr val="0B2F3A"/>
                          </a:solidFill>
                        </a:rPr>
                        <a:t>+0.149</a:t>
                      </a:r>
                    </a:p>
                  </a:txBody>
                  <a:tcPr marL="45720" marR="45720" marT="18288" marB="18288"/>
                </a:tc>
                <a:tc>
                  <a:txBody>
                    <a:bodyPr/>
                    <a:lstStyle/>
                    <a:p>
                      <a:r>
                        <a:rPr sz="1100" b="0">
                          <a:solidFill>
                            <a:srgbClr val="0B2F3A"/>
                          </a:solidFill>
                        </a:rPr>
                        <a:t>2.324</a:t>
                      </a:r>
                    </a:p>
                  </a:txBody>
                  <a:tcPr marL="45720" marR="45720" marT="18288" marB="18288"/>
                </a:tc>
                <a:tc>
                  <a:txBody>
                    <a:bodyPr/>
                    <a:lstStyle/>
                    <a:p>
                      <a:r>
                        <a:rPr sz="1100" b="0">
                          <a:solidFill>
                            <a:srgbClr val="0B2F3A"/>
                          </a:solidFill>
                        </a:rPr>
                        <a:t>24.86</a:t>
                      </a:r>
                    </a:p>
                  </a:txBody>
                  <a:tcPr marL="45720" marR="45720" marT="18288" marB="18288"/>
                </a:tc>
                <a:tc>
                  <a:txBody>
                    <a:bodyPr/>
                    <a:lstStyle/>
                    <a:p>
                      <a:r>
                        <a:rPr sz="1100" b="0">
                          <a:solidFill>
                            <a:srgbClr val="0B2F3A"/>
                          </a:solidFill>
                        </a:rPr>
                        <a:t>52.87</a:t>
                      </a:r>
                    </a:p>
                  </a:txBody>
                  <a:tcPr marL="45720" marR="45720" marT="18288" marB="18288"/>
                </a:tc>
                <a:tc>
                  <a:txBody>
                    <a:bodyPr/>
                    <a:lstStyle/>
                    <a:p>
                      <a:r>
                        <a:rPr sz="1100" b="0">
                          <a:solidFill>
                            <a:srgbClr val="0B2F3A"/>
                          </a:solidFill>
                        </a:rPr>
                        <a:t>93.75</a:t>
                      </a:r>
                    </a:p>
                  </a:txBody>
                  <a:tcPr marL="45720" marR="45720" marT="18288" marB="18288"/>
                </a:tc>
              </a:tr>
              <a:tr h="306977">
                <a:tc>
                  <a:txBody>
                    <a:bodyPr/>
                    <a:lstStyle/>
                    <a:p>
                      <a:r>
                        <a:rPr sz="1100" b="0">
                          <a:solidFill>
                            <a:srgbClr val="0B2F3A"/>
                          </a:solidFill>
                        </a:rPr>
                        <a:t>   (paper's protocol)</a:t>
                      </a:r>
                    </a:p>
                  </a:txBody>
                  <a:tcPr marL="45720" marR="45720" marT="18288" marB="18288"/>
                </a:tc>
                <a:tc>
                  <a:txBody>
                    <a:bodyPr/>
                    <a:lstStyle/>
                    <a:p>
                      <a:r>
                        <a:rPr sz="1100" b="0">
                          <a:solidFill>
                            <a:srgbClr val="0B2F3A"/>
                          </a:solidFill>
                        </a:rPr>
                        <a:t>No-skill baseline</a:t>
                      </a:r>
                    </a:p>
                  </a:txBody>
                  <a:tcPr marL="45720" marR="45720" marT="18288" marB="18288"/>
                </a:tc>
                <a:tc>
                  <a:txBody>
                    <a:bodyPr/>
                    <a:lstStyle/>
                    <a:p>
                      <a:r>
                        <a:rPr sz="1100" b="0">
                          <a:solidFill>
                            <a:srgbClr val="0B2F3A"/>
                          </a:solidFill>
                        </a:rPr>
                        <a:t>-0.000</a:t>
                      </a:r>
                    </a:p>
                  </a:txBody>
                  <a:tcPr marL="45720" marR="45720" marT="18288" marB="18288"/>
                </a:tc>
                <a:tc>
                  <a:txBody>
                    <a:bodyPr/>
                    <a:lstStyle/>
                    <a:p>
                      <a:r>
                        <a:rPr sz="1100" b="0">
                          <a:solidFill>
                            <a:srgbClr val="0B2F3A"/>
                          </a:solidFill>
                        </a:rPr>
                        <a:t>2.520</a:t>
                      </a:r>
                    </a:p>
                  </a:txBody>
                  <a:tcPr marL="45720" marR="45720" marT="18288" marB="18288"/>
                </a:tc>
                <a:tc>
                  <a:txBody>
                    <a:bodyPr/>
                    <a:lstStyle/>
                    <a:p>
                      <a:r>
                        <a:rPr sz="1100" b="0">
                          <a:solidFill>
                            <a:srgbClr val="0B2F3A"/>
                          </a:solidFill>
                        </a:rPr>
                        <a:t>29.14</a:t>
                      </a:r>
                    </a:p>
                  </a:txBody>
                  <a:tcPr marL="45720" marR="45720" marT="18288" marB="18288"/>
                </a:tc>
                <a:tc>
                  <a:txBody>
                    <a:bodyPr/>
                    <a:lstStyle/>
                    <a:p>
                      <a:r>
                        <a:rPr sz="1100" b="0">
                          <a:solidFill>
                            <a:srgbClr val="0B2F3A"/>
                          </a:solidFill>
                        </a:rPr>
                        <a:t>45.34</a:t>
                      </a:r>
                    </a:p>
                  </a:txBody>
                  <a:tcPr marL="45720" marR="45720" marT="18288" marB="18288"/>
                </a:tc>
                <a:tc>
                  <a:txBody>
                    <a:bodyPr/>
                    <a:lstStyle/>
                    <a:p>
                      <a:r>
                        <a:rPr sz="1100" b="0">
                          <a:solidFill>
                            <a:srgbClr val="0B2F3A"/>
                          </a:solidFill>
                        </a:rPr>
                        <a:t>90.89</a:t>
                      </a:r>
                    </a:p>
                  </a:txBody>
                  <a:tcPr marL="45720" marR="45720" marT="18288" marB="18288"/>
                </a:tc>
              </a:tr>
              <a:tr h="306977">
                <a:tc>
                  <a:txBody>
                    <a:bodyPr/>
                    <a:lstStyle/>
                    <a:p>
                      <a:r>
                        <a:rPr sz="1100" b="0">
                          <a:solidFill>
                            <a:srgbClr val="0B2F3A"/>
                          </a:solidFill>
                        </a:rPr>
                        <a:t>2. Subject-aware</a:t>
                      </a:r>
                    </a:p>
                  </a:txBody>
                  <a:tcPr marL="45720" marR="45720" marT="18288" marB="18288"/>
                </a:tc>
                <a:tc>
                  <a:txBody>
                    <a:bodyPr/>
                    <a:lstStyle/>
                    <a:p>
                      <a:r>
                        <a:rPr sz="1100" b="0">
                          <a:solidFill>
                            <a:srgbClr val="0B2F3A"/>
                          </a:solidFill>
                        </a:rPr>
                        <a:t>Choquet fusion</a:t>
                      </a:r>
                    </a:p>
                  </a:txBody>
                  <a:tcPr marL="45720" marR="45720" marT="18288" marB="18288"/>
                </a:tc>
                <a:tc>
                  <a:txBody>
                    <a:bodyPr/>
                    <a:lstStyle/>
                    <a:p>
                      <a:r>
                        <a:rPr sz="1100" b="0">
                          <a:solidFill>
                            <a:srgbClr val="0B2F3A"/>
                          </a:solidFill>
                        </a:rPr>
                        <a:t>-0.223</a:t>
                      </a:r>
                    </a:p>
                  </a:txBody>
                  <a:tcPr marL="45720" marR="45720" marT="18288" marB="18288"/>
                </a:tc>
                <a:tc>
                  <a:txBody>
                    <a:bodyPr/>
                    <a:lstStyle/>
                    <a:p>
                      <a:r>
                        <a:rPr sz="1100" b="0">
                          <a:solidFill>
                            <a:srgbClr val="0B2F3A"/>
                          </a:solidFill>
                        </a:rPr>
                        <a:t>2.786</a:t>
                      </a:r>
                    </a:p>
                  </a:txBody>
                  <a:tcPr marL="45720" marR="45720" marT="18288" marB="18288"/>
                </a:tc>
                <a:tc>
                  <a:txBody>
                    <a:bodyPr/>
                    <a:lstStyle/>
                    <a:p>
                      <a:r>
                        <a:rPr sz="1100" b="0">
                          <a:solidFill>
                            <a:srgbClr val="0B2F3A"/>
                          </a:solidFill>
                        </a:rPr>
                        <a:t>31.50</a:t>
                      </a:r>
                    </a:p>
                  </a:txBody>
                  <a:tcPr marL="45720" marR="45720" marT="18288" marB="18288"/>
                </a:tc>
                <a:tc>
                  <a:txBody>
                    <a:bodyPr/>
                    <a:lstStyle/>
                    <a:p>
                      <a:r>
                        <a:rPr sz="1100" b="0">
                          <a:solidFill>
                            <a:srgbClr val="0B2F3A"/>
                          </a:solidFill>
                        </a:rPr>
                        <a:t>41.91</a:t>
                      </a:r>
                    </a:p>
                  </a:txBody>
                  <a:tcPr marL="45720" marR="45720" marT="18288" marB="18288"/>
                </a:tc>
                <a:tc>
                  <a:txBody>
                    <a:bodyPr/>
                    <a:lstStyle/>
                    <a:p>
                      <a:r>
                        <a:rPr sz="1100" b="0">
                          <a:solidFill>
                            <a:srgbClr val="0B2F3A"/>
                          </a:solidFill>
                        </a:rPr>
                        <a:t>89.39</a:t>
                      </a:r>
                    </a:p>
                  </a:txBody>
                  <a:tcPr marL="45720" marR="45720" marT="18288" marB="18288"/>
                </a:tc>
              </a:tr>
              <a:tr h="306977">
                <a:tc>
                  <a:txBody>
                    <a:bodyPr/>
                    <a:lstStyle/>
                    <a:p>
                      <a:r>
                        <a:rPr sz="1100" b="0">
                          <a:solidFill>
                            <a:srgbClr val="0B2F3A"/>
                          </a:solidFill>
                        </a:rPr>
                        <a:t/>
                      </a:r>
                    </a:p>
                  </a:txBody>
                  <a:tcPr marL="45720" marR="45720" marT="18288" marB="18288"/>
                </a:tc>
                <a:tc>
                  <a:txBody>
                    <a:bodyPr/>
                    <a:lstStyle/>
                    <a:p>
                      <a:r>
                        <a:rPr sz="1100" b="0">
                          <a:solidFill>
                            <a:srgbClr val="0B2F3A"/>
                          </a:solidFill>
                        </a:rPr>
                        <a:t>No-skill baseline</a:t>
                      </a:r>
                    </a:p>
                  </a:txBody>
                  <a:tcPr marL="45720" marR="45720" marT="18288" marB="18288"/>
                </a:tc>
                <a:tc>
                  <a:txBody>
                    <a:bodyPr/>
                    <a:lstStyle/>
                    <a:p>
                      <a:r>
                        <a:rPr sz="1100" b="0">
                          <a:solidFill>
                            <a:srgbClr val="0B2F3A"/>
                          </a:solidFill>
                        </a:rPr>
                        <a:t>-0.074</a:t>
                      </a:r>
                    </a:p>
                  </a:txBody>
                  <a:tcPr marL="45720" marR="45720" marT="18288" marB="18288"/>
                </a:tc>
                <a:tc>
                  <a:txBody>
                    <a:bodyPr/>
                    <a:lstStyle/>
                    <a:p>
                      <a:r>
                        <a:rPr sz="1100" b="0">
                          <a:solidFill>
                            <a:srgbClr val="0B2F3A"/>
                          </a:solidFill>
                        </a:rPr>
                        <a:t>2.610</a:t>
                      </a:r>
                    </a:p>
                  </a:txBody>
                  <a:tcPr marL="45720" marR="45720" marT="18288" marB="18288"/>
                </a:tc>
                <a:tc>
                  <a:txBody>
                    <a:bodyPr/>
                    <a:lstStyle/>
                    <a:p>
                      <a:r>
                        <a:rPr sz="1100" b="0">
                          <a:solidFill>
                            <a:srgbClr val="0B2F3A"/>
                          </a:solidFill>
                        </a:rPr>
                        <a:t>30.30</a:t>
                      </a:r>
                    </a:p>
                  </a:txBody>
                  <a:tcPr marL="45720" marR="45720" marT="18288" marB="18288"/>
                </a:tc>
                <a:tc>
                  <a:txBody>
                    <a:bodyPr/>
                    <a:lstStyle/>
                    <a:p>
                      <a:r>
                        <a:rPr sz="1100" b="0">
                          <a:solidFill>
                            <a:srgbClr val="0B2F3A"/>
                          </a:solidFill>
                        </a:rPr>
                        <a:t>43.74</a:t>
                      </a:r>
                    </a:p>
                  </a:txBody>
                  <a:tcPr marL="45720" marR="45720" marT="18288" marB="18288"/>
                </a:tc>
                <a:tc>
                  <a:txBody>
                    <a:bodyPr/>
                    <a:lstStyle/>
                    <a:p>
                      <a:r>
                        <a:rPr sz="1100" b="0">
                          <a:solidFill>
                            <a:srgbClr val="0B2F3A"/>
                          </a:solidFill>
                        </a:rPr>
                        <a:t>90.01</a:t>
                      </a:r>
                    </a:p>
                  </a:txBody>
                  <a:tcPr marL="45720" marR="45720" marT="18288" marB="18288"/>
                </a:tc>
              </a:tr>
              <a:tr h="306977">
                <a:tc>
                  <a:txBody>
                    <a:bodyPr/>
                    <a:lstStyle/>
                    <a:p>
                      <a:r>
                        <a:rPr sz="1100" b="0">
                          <a:solidFill>
                            <a:srgbClr val="0B2F3A"/>
                          </a:solidFill>
                        </a:rPr>
                        <a:t>3. Leave-one-subject-out</a:t>
                      </a:r>
                    </a:p>
                  </a:txBody>
                  <a:tcPr marL="45720" marR="45720" marT="18288" marB="18288"/>
                </a:tc>
                <a:tc>
                  <a:txBody>
                    <a:bodyPr/>
                    <a:lstStyle/>
                    <a:p>
                      <a:r>
                        <a:rPr sz="1100" b="0">
                          <a:solidFill>
                            <a:srgbClr val="0B2F3A"/>
                          </a:solidFill>
                        </a:rPr>
                        <a:t>Choquet fusion</a:t>
                      </a:r>
                    </a:p>
                  </a:txBody>
                  <a:tcPr marL="45720" marR="45720" marT="18288" marB="18288"/>
                </a:tc>
                <a:tc>
                  <a:txBody>
                    <a:bodyPr/>
                    <a:lstStyle/>
                    <a:p>
                      <a:r>
                        <a:rPr sz="1100" b="0">
                          <a:solidFill>
                            <a:srgbClr val="0B2F3A"/>
                          </a:solidFill>
                        </a:rPr>
                        <a:t>-0.097</a:t>
                      </a:r>
                    </a:p>
                  </a:txBody>
                  <a:tcPr marL="45720" marR="45720" marT="18288" marB="18288"/>
                </a:tc>
                <a:tc>
                  <a:txBody>
                    <a:bodyPr/>
                    <a:lstStyle/>
                    <a:p>
                      <a:r>
                        <a:rPr sz="1100" b="0">
                          <a:solidFill>
                            <a:srgbClr val="0B2F3A"/>
                          </a:solidFill>
                        </a:rPr>
                        <a:t>2.639</a:t>
                      </a:r>
                    </a:p>
                  </a:txBody>
                  <a:tcPr marL="45720" marR="45720" marT="18288" marB="18288"/>
                </a:tc>
                <a:tc>
                  <a:txBody>
                    <a:bodyPr/>
                    <a:lstStyle/>
                    <a:p>
                      <a:r>
                        <a:rPr sz="1100" b="0">
                          <a:solidFill>
                            <a:srgbClr val="0B2F3A"/>
                          </a:solidFill>
                        </a:rPr>
                        <a:t>28.86</a:t>
                      </a:r>
                    </a:p>
                  </a:txBody>
                  <a:tcPr marL="45720" marR="45720" marT="18288" marB="18288"/>
                </a:tc>
                <a:tc>
                  <a:txBody>
                    <a:bodyPr/>
                    <a:lstStyle/>
                    <a:p>
                      <a:r>
                        <a:rPr sz="1100" b="0">
                          <a:solidFill>
                            <a:srgbClr val="0B2F3A"/>
                          </a:solidFill>
                        </a:rPr>
                        <a:t>45.57</a:t>
                      </a:r>
                    </a:p>
                  </a:txBody>
                  <a:tcPr marL="45720" marR="45720" marT="18288" marB="18288"/>
                </a:tc>
                <a:tc>
                  <a:txBody>
                    <a:bodyPr/>
                    <a:lstStyle/>
                    <a:p>
                      <a:r>
                        <a:rPr sz="1100" b="0">
                          <a:solidFill>
                            <a:srgbClr val="0B2F3A"/>
                          </a:solidFill>
                        </a:rPr>
                        <a:t>91.25</a:t>
                      </a:r>
                    </a:p>
                  </a:txBody>
                  <a:tcPr marL="45720" marR="45720" marT="18288" marB="18288"/>
                </a:tc>
              </a:tr>
              <a:tr h="306978">
                <a:tc>
                  <a:txBody>
                    <a:bodyPr/>
                    <a:lstStyle/>
                    <a:p>
                      <a:r>
                        <a:rPr sz="1100" b="0">
                          <a:solidFill>
                            <a:srgbClr val="0B2F3A"/>
                          </a:solidFill>
                        </a:rPr>
                        <a:t/>
                      </a:r>
                    </a:p>
                  </a:txBody>
                  <a:tcPr marL="45720" marR="45720" marT="18288" marB="18288"/>
                </a:tc>
                <a:tc>
                  <a:txBody>
                    <a:bodyPr/>
                    <a:lstStyle/>
                    <a:p>
                      <a:r>
                        <a:rPr sz="1100" b="0">
                          <a:solidFill>
                            <a:srgbClr val="0B2F3A"/>
                          </a:solidFill>
                        </a:rPr>
                        <a:t>No-skill baseline</a:t>
                      </a:r>
                    </a:p>
                  </a:txBody>
                  <a:tcPr marL="45720" marR="45720" marT="18288" marB="18288"/>
                </a:tc>
                <a:tc>
                  <a:txBody>
                    <a:bodyPr/>
                    <a:lstStyle/>
                    <a:p>
                      <a:r>
                        <a:rPr sz="1100" b="0">
                          <a:solidFill>
                            <a:srgbClr val="0B2F3A"/>
                          </a:solidFill>
                        </a:rPr>
                        <a:t>-0.035</a:t>
                      </a:r>
                    </a:p>
                  </a:txBody>
                  <a:tcPr marL="45720" marR="45720" marT="18288" marB="18288"/>
                </a:tc>
                <a:tc>
                  <a:txBody>
                    <a:bodyPr/>
                    <a:lstStyle/>
                    <a:p>
                      <a:r>
                        <a:rPr sz="1100" b="0">
                          <a:solidFill>
                            <a:srgbClr val="0B2F3A"/>
                          </a:solidFill>
                        </a:rPr>
                        <a:t>2.564</a:t>
                      </a:r>
                    </a:p>
                  </a:txBody>
                  <a:tcPr marL="45720" marR="45720" marT="18288" marB="18288"/>
                </a:tc>
                <a:tc>
                  <a:txBody>
                    <a:bodyPr/>
                    <a:lstStyle/>
                    <a:p>
                      <a:r>
                        <a:rPr sz="1100" b="0">
                          <a:solidFill>
                            <a:srgbClr val="0B2F3A"/>
                          </a:solidFill>
                        </a:rPr>
                        <a:t>29.74</a:t>
                      </a:r>
                    </a:p>
                  </a:txBody>
                  <a:tcPr marL="45720" marR="45720" marT="18288" marB="18288"/>
                </a:tc>
                <a:tc>
                  <a:txBody>
                    <a:bodyPr/>
                    <a:lstStyle/>
                    <a:p>
                      <a:r>
                        <a:rPr sz="1100" b="0">
                          <a:solidFill>
                            <a:srgbClr val="0B2F3A"/>
                          </a:solidFill>
                        </a:rPr>
                        <a:t>44.14</a:t>
                      </a:r>
                    </a:p>
                  </a:txBody>
                  <a:tcPr marL="45720" marR="45720" marT="18288" marB="18288"/>
                </a:tc>
                <a:tc>
                  <a:txBody>
                    <a:bodyPr/>
                    <a:lstStyle/>
                    <a:p>
                      <a:r>
                        <a:rPr sz="1100" b="0">
                          <a:solidFill>
                            <a:srgbClr val="0B2F3A"/>
                          </a:solidFill>
                        </a:rPr>
                        <a:t>90.57</a:t>
                      </a:r>
                    </a:p>
                  </a:txBody>
                  <a:tcPr marL="45720" marR="45720" marT="18288" marB="18288"/>
                </a:tc>
              </a:tr>
            </a:tbl>
          </a:graphicData>
        </a:graphic>
      </p:graphicFrame>
      <p:pic>
        <p:nvPicPr>
          <p:cNvPr id="5127" name="Picture 5126" descr="metrics.png"/>
          <p:cNvPicPr>
            <a:picLocks noChangeAspect="1"/>
          </p:cNvPicPr>
          <p:nvPr/>
        </p:nvPicPr>
        <p:blipFill>
          <a:blip r:embed="rId3"/>
          <a:stretch>
            <a:fillRect/>
          </a:stretch>
        </p:blipFill>
        <p:spPr>
          <a:xfrm>
            <a:off x="822960" y="4526280"/>
            <a:ext cx="5760720" cy="1510863"/>
          </a:xfrm>
          <a:prstGeom prst="rect">
            <a:avLst/>
          </a:prstGeom>
        </p:spPr>
      </p:pic>
      <p:sp>
        <p:nvSpPr>
          <p:cNvPr id="5128" name="TextBox 5127"/>
          <p:cNvSpPr txBox="1"/>
          <p:nvPr/>
        </p:nvSpPr>
        <p:spPr>
          <a:xfrm>
            <a:off x="7040880" y="4526280"/>
            <a:ext cx="4572000" cy="1371600"/>
          </a:xfrm>
          <a:prstGeom prst="rect">
            <a:avLst/>
          </a:prstGeom>
          <a:noFill/>
        </p:spPr>
        <p:txBody>
          <a:bodyPr wrap="square">
            <a:spAutoFit/>
          </a:bodyPr>
          <a:lstStyle/>
          <a:p>
            <a:r>
              <a:rPr sz="1200" b="1">
                <a:solidFill>
                  <a:srgbClr val="0B2F3A"/>
                </a:solidFill>
              </a:rPr>
              <a:t>Read the R2 column first.</a:t>
            </a:r>
          </a:p>
          <a:p>
            <a:r>
              <a:rPr sz="1200" b="0">
                <a:solidFill>
                  <a:srgbClr val="0B2F3A"/>
                </a:solidFill>
              </a:rPr>
              <a:t>R2 = 0 means exactly as good as predicting the mean; negative means worse. It is the only metric here that exposes a model that has learned nothing.</a:t>
            </a:r>
          </a:p>
          <a:p>
            <a:r>
              <a:rPr sz="1200" b="1">
                <a:solidFill>
                  <a:srgbClr val="C62828"/>
                </a:solidFill>
              </a:rPr>
              <a:t>Under both honest protocols every method - including the fusion - falls behind the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Results (2/4): Parkes error grid and prediction trace</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5003800"/>
          </a:xfrm>
        </p:spPr>
        <p:txBody>
          <a:bodyPr rtlCol="0" wrap="square">
            <a:normAutofit/>
          </a:bodyPr>
          <a:lstStyle/>
          <a:p>
            <a:pPr algn="just" eaLnBrk="1" fontAlgn="auto" hangingPunct="1">
              <a:spcAft>
                <a:spcPts val="0"/>
              </a:spcAft>
              <a:defRPr/>
            </a:pP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5125" descr="fig10_parkes_subject_aware.png"/>
          <p:cNvPicPr>
            <a:picLocks noChangeAspect="1"/>
          </p:cNvPicPr>
          <p:nvPr/>
        </p:nvPicPr>
        <p:blipFill>
          <a:blip r:embed="rId3"/>
          <a:stretch>
            <a:fillRect/>
          </a:stretch>
        </p:blipFill>
        <p:spPr>
          <a:xfrm>
            <a:off x="640080" y="1234440"/>
            <a:ext cx="4043608" cy="4206239"/>
          </a:xfrm>
          <a:prstGeom prst="rect">
            <a:avLst/>
          </a:prstGeom>
        </p:spPr>
      </p:pic>
      <p:pic>
        <p:nvPicPr>
          <p:cNvPr id="5127" name="Picture 5126" descr="fig09_timeseries_subject_aware_c2s04.png"/>
          <p:cNvPicPr>
            <a:picLocks noChangeAspect="1"/>
          </p:cNvPicPr>
          <p:nvPr/>
        </p:nvPicPr>
        <p:blipFill>
          <a:blip r:embed="rId4"/>
          <a:stretch>
            <a:fillRect/>
          </a:stretch>
        </p:blipFill>
        <p:spPr>
          <a:xfrm>
            <a:off x="5029200" y="1371600"/>
            <a:ext cx="5627542" cy="2834640"/>
          </a:xfrm>
          <a:prstGeom prst="rect">
            <a:avLst/>
          </a:prstGeom>
        </p:spPr>
      </p:pic>
      <p:sp>
        <p:nvSpPr>
          <p:cNvPr id="5128" name="TextBox 5127"/>
          <p:cNvSpPr txBox="1"/>
          <p:nvPr/>
        </p:nvSpPr>
        <p:spPr>
          <a:xfrm>
            <a:off x="5029200" y="4114800"/>
            <a:ext cx="6675120" cy="1828800"/>
          </a:xfrm>
          <a:prstGeom prst="rect">
            <a:avLst/>
          </a:prstGeom>
          <a:noFill/>
        </p:spPr>
        <p:txBody>
          <a:bodyPr wrap="square">
            <a:spAutoFit/>
          </a:bodyPr>
          <a:lstStyle/>
          <a:p>
            <a:pPr>
              <a:spcAft>
                <a:spcPts val="700"/>
              </a:spcAft>
            </a:pPr>
            <a:r>
              <a:rPr sz="1250" b="0">
                <a:solidFill>
                  <a:srgbClr val="0B2F3A"/>
                </a:solidFill>
              </a:rPr>
              <a:t>A working model would produce a diagonal cloud along the dotted line.</a:t>
            </a:r>
          </a:p>
          <a:p>
            <a:pPr>
              <a:spcAft>
                <a:spcPts val="700"/>
              </a:spcAft>
            </a:pPr>
            <a:r>
              <a:rPr sz="1250" b="1">
                <a:solidFill>
                  <a:srgbClr val="0B2F3A"/>
                </a:solidFill>
              </a:rPr>
              <a:t>Ours is a horizontal band: whether the true value was 4 or 20 mmol/L, the prediction is approximately 6-9. That is what "no better than the mean" looks like when drawn.</a:t>
            </a:r>
          </a:p>
          <a:p>
            <a:pPr>
              <a:spcAft>
                <a:spcPts val="700"/>
              </a:spcAft>
            </a:pPr>
            <a:r>
              <a:rPr sz="1250" b="0">
                <a:solidFill>
                  <a:srgbClr val="C62828"/>
                </a:solidFill>
              </a:rPr>
              <a:t>The same flat band scores 89.4% in Zones A+B - which is why the clinical metric cannot certify a model on its own.</a:t>
            </a:r>
          </a:p>
        </p:txBody>
      </p:sp>
      <p:sp>
        <p:nvSpPr>
          <p:cNvPr id="5129" name="TextBox 5128"/>
          <p:cNvSpPr txBox="1"/>
          <p:nvPr/>
        </p:nvSpPr>
        <p:spPr>
          <a:xfrm>
            <a:off x="502920" y="6035040"/>
            <a:ext cx="11155680" cy="365760"/>
          </a:xfrm>
          <a:prstGeom prst="rect">
            <a:avLst/>
          </a:prstGeom>
          <a:noFill/>
        </p:spPr>
        <p:txBody>
          <a:bodyPr wrap="square">
            <a:spAutoFit/>
          </a:bodyPr>
          <a:lstStyle/>
          <a:p>
            <a:r>
              <a:rPr sz="1050" i="1">
                <a:solidFill>
                  <a:srgbClr val="5A6B72"/>
                </a:solidFill>
              </a:rPr>
              <a:t>Equivalent to Figs. 9 and 10 of the paper. Subject-aware split, Choquet fusion, 30,830 predictions.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Results (3/4): ablation over feature sets</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411480"/>
          </a:xfrm>
        </p:spPr>
        <p:txBody>
          <a:bodyPr rtlCol="0" wrap="square">
            <a:normAutofit/>
          </a:bodyPr>
          <a:lstStyle/>
          <a:p>
            <a:pPr algn="just" eaLnBrk="1" fontAlgn="auto" hangingPunct="1">
              <a:spcAft>
                <a:spcPts val="0"/>
              </a:spcAft>
              <a:defRPr/>
            </a:pPr>
            <a:r>
              <a:rPr sz="1450" b="1">
                <a:solidFill>
                  <a:srgbClr val="0B2F3A"/>
                </a:solidFill>
              </a:rPr>
              <a:t>Every feature set evaluated under leave-one-subject-out, Choquet fusion:</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6" name="Table 5125"/>
          <p:cNvGraphicFramePr>
            <a:graphicFrameLocks noGrp="1"/>
          </p:cNvGraphicFramePr>
          <p:nvPr/>
        </p:nvGraphicFramePr>
        <p:xfrm>
          <a:off x="685800" y="2046859"/>
          <a:ext cx="6949440" cy="2286000"/>
        </p:xfrm>
        <a:graphic>
          <a:graphicData uri="http://schemas.openxmlformats.org/drawingml/2006/table">
            <a:tbl>
              <a:tblPr firstRow="1" bandRow="1">
                <a:tableStyleId>{5C22544A-7EE6-4342-B048-85BDC9FD1C3A}</a:tableStyleId>
              </a:tblPr>
              <a:tblGrid>
                <a:gridCol w="2468880"/>
                <a:gridCol w="960120"/>
                <a:gridCol w="914400"/>
                <a:gridCol w="1371600"/>
                <a:gridCol w="1234440"/>
              </a:tblGrid>
              <a:tr h="326571">
                <a:tc>
                  <a:txBody>
                    <a:bodyPr/>
                    <a:lstStyle/>
                    <a:p>
                      <a:r>
                        <a:rPr sz="1150" b="1">
                          <a:solidFill>
                            <a:srgbClr val="FFFFFF"/>
                          </a:solidFill>
                        </a:rPr>
                        <a:t>Feature set</a:t>
                      </a:r>
                    </a:p>
                  </a:txBody>
                  <a:tcPr marL="45720" marR="45720" marT="18288" marB="18288"/>
                </a:tc>
                <a:tc>
                  <a:txBody>
                    <a:bodyPr/>
                    <a:lstStyle/>
                    <a:p>
                      <a:r>
                        <a:rPr sz="1150" b="1">
                          <a:solidFill>
                            <a:srgbClr val="FFFFFF"/>
                          </a:solidFill>
                        </a:rPr>
                        <a:t>Features</a:t>
                      </a:r>
                    </a:p>
                  </a:txBody>
                  <a:tcPr marL="45720" marR="45720" marT="18288" marB="18288"/>
                </a:tc>
                <a:tc>
                  <a:txBody>
                    <a:bodyPr/>
                    <a:lstStyle/>
                    <a:p>
                      <a:r>
                        <a:rPr sz="1150" b="1">
                          <a:solidFill>
                            <a:srgbClr val="FFFFFF"/>
                          </a:solidFill>
                        </a:rPr>
                        <a:t>R2</a:t>
                      </a:r>
                    </a:p>
                  </a:txBody>
                  <a:tcPr marL="45720" marR="45720" marT="18288" marB="18288"/>
                </a:tc>
                <a:tc>
                  <a:txBody>
                    <a:bodyPr/>
                    <a:lstStyle/>
                    <a:p>
                      <a:r>
                        <a:rPr sz="1150" b="1">
                          <a:solidFill>
                            <a:srgbClr val="FFFFFF"/>
                          </a:solidFill>
                        </a:rPr>
                        <a:t>RMSE (mmol/L)</a:t>
                      </a:r>
                    </a:p>
                  </a:txBody>
                  <a:tcPr marL="45720" marR="45720" marT="18288" marB="18288"/>
                </a:tc>
                <a:tc>
                  <a:txBody>
                    <a:bodyPr/>
                    <a:lstStyle/>
                    <a:p>
                      <a:r>
                        <a:rPr sz="1150" b="1">
                          <a:solidFill>
                            <a:srgbClr val="FFFFFF"/>
                          </a:solidFill>
                        </a:rPr>
                        <a:t>Zone A+B (%)</a:t>
                      </a:r>
                    </a:p>
                  </a:txBody>
                  <a:tcPr marL="45720" marR="45720" marT="18288" marB="18288"/>
                </a:tc>
              </a:tr>
              <a:tr h="326571">
                <a:tc>
                  <a:txBody>
                    <a:bodyPr/>
                    <a:lstStyle/>
                    <a:p>
                      <a:r>
                        <a:rPr sz="1150" b="1">
                          <a:solidFill>
                            <a:srgbClr val="C62828"/>
                          </a:solidFill>
                        </a:rPr>
                        <a:t>No-skill baseline</a:t>
                      </a:r>
                    </a:p>
                  </a:txBody>
                  <a:tcPr marL="45720" marR="45720" marT="18288" marB="18288"/>
                </a:tc>
                <a:tc>
                  <a:txBody>
                    <a:bodyPr/>
                    <a:lstStyle/>
                    <a:p>
                      <a:r>
                        <a:rPr sz="1150" b="1">
                          <a:solidFill>
                            <a:srgbClr val="C62828"/>
                          </a:solidFill>
                        </a:rPr>
                        <a:t>0</a:t>
                      </a:r>
                    </a:p>
                  </a:txBody>
                  <a:tcPr marL="45720" marR="45720" marT="18288" marB="18288"/>
                </a:tc>
                <a:tc>
                  <a:txBody>
                    <a:bodyPr/>
                    <a:lstStyle/>
                    <a:p>
                      <a:r>
                        <a:rPr sz="1150" b="1">
                          <a:solidFill>
                            <a:srgbClr val="C62828"/>
                          </a:solidFill>
                        </a:rPr>
                        <a:t>-0.035</a:t>
                      </a:r>
                    </a:p>
                  </a:txBody>
                  <a:tcPr marL="45720" marR="45720" marT="18288" marB="18288"/>
                </a:tc>
                <a:tc>
                  <a:txBody>
                    <a:bodyPr/>
                    <a:lstStyle/>
                    <a:p>
                      <a:r>
                        <a:rPr sz="1150" b="1">
                          <a:solidFill>
                            <a:srgbClr val="C62828"/>
                          </a:solidFill>
                        </a:rPr>
                        <a:t>2.564</a:t>
                      </a:r>
                    </a:p>
                  </a:txBody>
                  <a:tcPr marL="45720" marR="45720" marT="18288" marB="18288"/>
                </a:tc>
                <a:tc>
                  <a:txBody>
                    <a:bodyPr/>
                    <a:lstStyle/>
                    <a:p>
                      <a:r>
                        <a:rPr sz="1150" b="1">
                          <a:solidFill>
                            <a:srgbClr val="C62828"/>
                          </a:solidFill>
                        </a:rPr>
                        <a:t>90.6</a:t>
                      </a:r>
                    </a:p>
                  </a:txBody>
                  <a:tcPr marL="45720" marR="45720" marT="18288" marB="18288"/>
                </a:tc>
              </a:tr>
              <a:tr h="326571">
                <a:tc>
                  <a:txBody>
                    <a:bodyPr/>
                    <a:lstStyle/>
                    <a:p>
                      <a:r>
                        <a:rPr sz="1150" b="0">
                          <a:solidFill>
                            <a:srgbClr val="0B2F3A"/>
                          </a:solidFill>
                        </a:rPr>
                        <a:t>Morphological (shape) only</a:t>
                      </a:r>
                    </a:p>
                  </a:txBody>
                  <a:tcPr marL="45720" marR="45720" marT="18288" marB="18288"/>
                </a:tc>
                <a:tc>
                  <a:txBody>
                    <a:bodyPr/>
                    <a:lstStyle/>
                    <a:p>
                      <a:r>
                        <a:rPr sz="1150" b="0">
                          <a:solidFill>
                            <a:srgbClr val="0B2F3A"/>
                          </a:solidFill>
                        </a:rPr>
                        <a:t>33</a:t>
                      </a:r>
                    </a:p>
                  </a:txBody>
                  <a:tcPr marL="45720" marR="45720" marT="18288" marB="18288"/>
                </a:tc>
                <a:tc>
                  <a:txBody>
                    <a:bodyPr/>
                    <a:lstStyle/>
                    <a:p>
                      <a:r>
                        <a:rPr sz="1150" b="0">
                          <a:solidFill>
                            <a:srgbClr val="0B2F3A"/>
                          </a:solidFill>
                        </a:rPr>
                        <a:t>-0.070</a:t>
                      </a:r>
                    </a:p>
                  </a:txBody>
                  <a:tcPr marL="45720" marR="45720" marT="18288" marB="18288"/>
                </a:tc>
                <a:tc>
                  <a:txBody>
                    <a:bodyPr/>
                    <a:lstStyle/>
                    <a:p>
                      <a:r>
                        <a:rPr sz="1150" b="0">
                          <a:solidFill>
                            <a:srgbClr val="0B2F3A"/>
                          </a:solidFill>
                        </a:rPr>
                        <a:t>2.606</a:t>
                      </a:r>
                    </a:p>
                  </a:txBody>
                  <a:tcPr marL="45720" marR="45720" marT="18288" marB="18288"/>
                </a:tc>
                <a:tc>
                  <a:txBody>
                    <a:bodyPr/>
                    <a:lstStyle/>
                    <a:p>
                      <a:r>
                        <a:rPr sz="1150" b="0">
                          <a:solidFill>
                            <a:srgbClr val="0B2F3A"/>
                          </a:solidFill>
                        </a:rPr>
                        <a:t>90.8</a:t>
                      </a:r>
                    </a:p>
                  </a:txBody>
                  <a:tcPr marL="45720" marR="45720" marT="18288" marB="18288"/>
                </a:tc>
              </a:tr>
              <a:tr h="326571">
                <a:tc>
                  <a:txBody>
                    <a:bodyPr/>
                    <a:lstStyle/>
                    <a:p>
                      <a:r>
                        <a:rPr sz="1150" b="0">
                          <a:solidFill>
                            <a:srgbClr val="0B2F3A"/>
                          </a:solidFill>
                        </a:rPr>
                        <a:t>PPG only</a:t>
                      </a:r>
                    </a:p>
                  </a:txBody>
                  <a:tcPr marL="45720" marR="45720" marT="18288" marB="18288"/>
                </a:tc>
                <a:tc>
                  <a:txBody>
                    <a:bodyPr/>
                    <a:lstStyle/>
                    <a:p>
                      <a:r>
                        <a:rPr sz="1150" b="0">
                          <a:solidFill>
                            <a:srgbClr val="0B2F3A"/>
                          </a:solidFill>
                        </a:rPr>
                        <a:t>94</a:t>
                      </a:r>
                    </a:p>
                  </a:txBody>
                  <a:tcPr marL="45720" marR="45720" marT="18288" marB="18288"/>
                </a:tc>
                <a:tc>
                  <a:txBody>
                    <a:bodyPr/>
                    <a:lstStyle/>
                    <a:p>
                      <a:r>
                        <a:rPr sz="1150" b="0">
                          <a:solidFill>
                            <a:srgbClr val="0B2F3A"/>
                          </a:solidFill>
                        </a:rPr>
                        <a:t>-0.075</a:t>
                      </a:r>
                    </a:p>
                  </a:txBody>
                  <a:tcPr marL="45720" marR="45720" marT="18288" marB="18288"/>
                </a:tc>
                <a:tc>
                  <a:txBody>
                    <a:bodyPr/>
                    <a:lstStyle/>
                    <a:p>
                      <a:r>
                        <a:rPr sz="1150" b="0">
                          <a:solidFill>
                            <a:srgbClr val="0B2F3A"/>
                          </a:solidFill>
                        </a:rPr>
                        <a:t>2.612</a:t>
                      </a:r>
                    </a:p>
                  </a:txBody>
                  <a:tcPr marL="45720" marR="45720" marT="18288" marB="18288"/>
                </a:tc>
                <a:tc>
                  <a:txBody>
                    <a:bodyPr/>
                    <a:lstStyle/>
                    <a:p>
                      <a:r>
                        <a:rPr sz="1150" b="0">
                          <a:solidFill>
                            <a:srgbClr val="0B2F3A"/>
                          </a:solidFill>
                        </a:rPr>
                        <a:t>90.6</a:t>
                      </a:r>
                    </a:p>
                  </a:txBody>
                  <a:tcPr marL="45720" marR="45720" marT="18288" marB="18288"/>
                </a:tc>
              </a:tr>
              <a:tr h="326571">
                <a:tc>
                  <a:txBody>
                    <a:bodyPr/>
                    <a:lstStyle/>
                    <a:p>
                      <a:r>
                        <a:rPr sz="1150" b="0">
                          <a:solidFill>
                            <a:srgbClr val="0B2F3A"/>
                          </a:solidFill>
                        </a:rPr>
                        <a:t>Fused (ECG + PPG)</a:t>
                      </a:r>
                    </a:p>
                  </a:txBody>
                  <a:tcPr marL="45720" marR="45720" marT="18288" marB="18288"/>
                </a:tc>
                <a:tc>
                  <a:txBody>
                    <a:bodyPr/>
                    <a:lstStyle/>
                    <a:p>
                      <a:r>
                        <a:rPr sz="1150" b="0">
                          <a:solidFill>
                            <a:srgbClr val="0B2F3A"/>
                          </a:solidFill>
                        </a:rPr>
                        <a:t>193</a:t>
                      </a:r>
                    </a:p>
                  </a:txBody>
                  <a:tcPr marL="45720" marR="45720" marT="18288" marB="18288"/>
                </a:tc>
                <a:tc>
                  <a:txBody>
                    <a:bodyPr/>
                    <a:lstStyle/>
                    <a:p>
                      <a:r>
                        <a:rPr sz="1150" b="0">
                          <a:solidFill>
                            <a:srgbClr val="0B2F3A"/>
                          </a:solidFill>
                        </a:rPr>
                        <a:t>-0.097</a:t>
                      </a:r>
                    </a:p>
                  </a:txBody>
                  <a:tcPr marL="45720" marR="45720" marT="18288" marB="18288"/>
                </a:tc>
                <a:tc>
                  <a:txBody>
                    <a:bodyPr/>
                    <a:lstStyle/>
                    <a:p>
                      <a:r>
                        <a:rPr sz="1150" b="0">
                          <a:solidFill>
                            <a:srgbClr val="0B2F3A"/>
                          </a:solidFill>
                        </a:rPr>
                        <a:t>2.639</a:t>
                      </a:r>
                    </a:p>
                  </a:txBody>
                  <a:tcPr marL="45720" marR="45720" marT="18288" marB="18288"/>
                </a:tc>
                <a:tc>
                  <a:txBody>
                    <a:bodyPr/>
                    <a:lstStyle/>
                    <a:p>
                      <a:r>
                        <a:rPr sz="1150" b="0">
                          <a:solidFill>
                            <a:srgbClr val="0B2F3A"/>
                          </a:solidFill>
                        </a:rPr>
                        <a:t>91.3</a:t>
                      </a:r>
                    </a:p>
                  </a:txBody>
                  <a:tcPr marL="45720" marR="45720" marT="18288" marB="18288"/>
                </a:tc>
              </a:tr>
              <a:tr h="326571">
                <a:tc>
                  <a:txBody>
                    <a:bodyPr/>
                    <a:lstStyle/>
                    <a:p>
                      <a:r>
                        <a:rPr sz="1150" b="0">
                          <a:solidFill>
                            <a:srgbClr val="0B2F3A"/>
                          </a:solidFill>
                        </a:rPr>
                        <a:t>Temporal (wavelet) only</a:t>
                      </a:r>
                    </a:p>
                  </a:txBody>
                  <a:tcPr marL="45720" marR="45720" marT="18288" marB="18288"/>
                </a:tc>
                <a:tc>
                  <a:txBody>
                    <a:bodyPr/>
                    <a:lstStyle/>
                    <a:p>
                      <a:r>
                        <a:rPr sz="1150" b="0">
                          <a:solidFill>
                            <a:srgbClr val="0B2F3A"/>
                          </a:solidFill>
                        </a:rPr>
                        <a:t>160</a:t>
                      </a:r>
                    </a:p>
                  </a:txBody>
                  <a:tcPr marL="45720" marR="45720" marT="18288" marB="18288"/>
                </a:tc>
                <a:tc>
                  <a:txBody>
                    <a:bodyPr/>
                    <a:lstStyle/>
                    <a:p>
                      <a:r>
                        <a:rPr sz="1150" b="0">
                          <a:solidFill>
                            <a:srgbClr val="0B2F3A"/>
                          </a:solidFill>
                        </a:rPr>
                        <a:t>-0.102</a:t>
                      </a:r>
                    </a:p>
                  </a:txBody>
                  <a:tcPr marL="45720" marR="45720" marT="18288" marB="18288"/>
                </a:tc>
                <a:tc>
                  <a:txBody>
                    <a:bodyPr/>
                    <a:lstStyle/>
                    <a:p>
                      <a:r>
                        <a:rPr sz="1150" b="0">
                          <a:solidFill>
                            <a:srgbClr val="0B2F3A"/>
                          </a:solidFill>
                        </a:rPr>
                        <a:t>2.645</a:t>
                      </a:r>
                    </a:p>
                  </a:txBody>
                  <a:tcPr marL="45720" marR="45720" marT="18288" marB="18288"/>
                </a:tc>
                <a:tc>
                  <a:txBody>
                    <a:bodyPr/>
                    <a:lstStyle/>
                    <a:p>
                      <a:r>
                        <a:rPr sz="1150" b="0">
                          <a:solidFill>
                            <a:srgbClr val="0B2F3A"/>
                          </a:solidFill>
                        </a:rPr>
                        <a:t>91.5</a:t>
                      </a:r>
                    </a:p>
                  </a:txBody>
                  <a:tcPr marL="45720" marR="45720" marT="18288" marB="18288"/>
                </a:tc>
              </a:tr>
              <a:tr h="326574">
                <a:tc>
                  <a:txBody>
                    <a:bodyPr/>
                    <a:lstStyle/>
                    <a:p>
                      <a:r>
                        <a:rPr sz="1150" b="0">
                          <a:solidFill>
                            <a:srgbClr val="0B2F3A"/>
                          </a:solidFill>
                        </a:rPr>
                        <a:t>ECG only</a:t>
                      </a:r>
                    </a:p>
                  </a:txBody>
                  <a:tcPr marL="45720" marR="45720" marT="18288" marB="18288"/>
                </a:tc>
                <a:tc>
                  <a:txBody>
                    <a:bodyPr/>
                    <a:lstStyle/>
                    <a:p>
                      <a:r>
                        <a:rPr sz="1150" b="0">
                          <a:solidFill>
                            <a:srgbClr val="0B2F3A"/>
                          </a:solidFill>
                        </a:rPr>
                        <a:t>99</a:t>
                      </a:r>
                    </a:p>
                  </a:txBody>
                  <a:tcPr marL="45720" marR="45720" marT="18288" marB="18288"/>
                </a:tc>
                <a:tc>
                  <a:txBody>
                    <a:bodyPr/>
                    <a:lstStyle/>
                    <a:p>
                      <a:r>
                        <a:rPr sz="1150" b="0">
                          <a:solidFill>
                            <a:srgbClr val="0B2F3A"/>
                          </a:solidFill>
                        </a:rPr>
                        <a:t>-0.106</a:t>
                      </a:r>
                    </a:p>
                  </a:txBody>
                  <a:tcPr marL="45720" marR="45720" marT="18288" marB="18288"/>
                </a:tc>
                <a:tc>
                  <a:txBody>
                    <a:bodyPr/>
                    <a:lstStyle/>
                    <a:p>
                      <a:r>
                        <a:rPr sz="1150" b="0">
                          <a:solidFill>
                            <a:srgbClr val="0B2F3A"/>
                          </a:solidFill>
                        </a:rPr>
                        <a:t>2.650</a:t>
                      </a:r>
                    </a:p>
                  </a:txBody>
                  <a:tcPr marL="45720" marR="45720" marT="18288" marB="18288"/>
                </a:tc>
                <a:tc>
                  <a:txBody>
                    <a:bodyPr/>
                    <a:lstStyle/>
                    <a:p>
                      <a:r>
                        <a:rPr sz="1150" b="0">
                          <a:solidFill>
                            <a:srgbClr val="0B2F3A"/>
                          </a:solidFill>
                        </a:rPr>
                        <a:t>91.5</a:t>
                      </a:r>
                    </a:p>
                  </a:txBody>
                  <a:tcPr marL="45720" marR="45720" marT="18288" marB="18288"/>
                </a:tc>
              </a:tr>
            </a:tbl>
          </a:graphicData>
        </a:graphic>
      </p:graphicFrame>
      <p:sp>
        <p:nvSpPr>
          <p:cNvPr id="5127" name="TextBox 5126"/>
          <p:cNvSpPr txBox="1"/>
          <p:nvPr/>
        </p:nvSpPr>
        <p:spPr>
          <a:xfrm>
            <a:off x="7863840" y="2046859"/>
            <a:ext cx="3749039" cy="3931920"/>
          </a:xfrm>
          <a:prstGeom prst="rect">
            <a:avLst/>
          </a:prstGeom>
          <a:noFill/>
        </p:spPr>
        <p:txBody>
          <a:bodyPr wrap="square">
            <a:spAutoFit/>
          </a:bodyPr>
          <a:lstStyle/>
          <a:p>
            <a:r>
              <a:rPr sz="1200" b="1">
                <a:solidFill>
                  <a:srgbClr val="0B2F3A"/>
                </a:solidFill>
              </a:rPr>
              <a:t>Every set is behind the baseline.</a:t>
            </a:r>
          </a:p>
          <a:p>
            <a:pPr>
              <a:spcAft>
                <a:spcPts val="800"/>
              </a:spcAft>
            </a:pPr>
            <a:r>
              <a:rPr sz="1100">
                <a:solidFill>
                  <a:srgbClr val="5A6B72"/>
                </a:solidFill>
              </a:rPr>
              <a:t>The entire spread, best to worst, is 0.036 in R2 - and the baseline sits above all of it.</a:t>
            </a:r>
          </a:p>
          <a:p>
            <a:r>
              <a:rPr sz="1200" b="1">
                <a:solidFill>
                  <a:srgbClr val="0B2F3A"/>
                </a:solidFill>
              </a:rPr>
              <a:t>Fusing the two signals is worse than the better one alone.</a:t>
            </a:r>
          </a:p>
          <a:p>
            <a:pPr>
              <a:spcAft>
                <a:spcPts val="800"/>
              </a:spcAft>
            </a:pPr>
            <a:r>
              <a:rPr sz="1100">
                <a:solidFill>
                  <a:srgbClr val="5A6B72"/>
                </a:solidFill>
              </a:rPr>
              <a:t>PPG alone (-0.075) beats the fused set (-0.097). The paper found the opposite. We do not read a 0.03 gap between two failing configurations as evidence.</a:t>
            </a:r>
          </a:p>
          <a:p>
            <a:r>
              <a:rPr sz="1200" b="1">
                <a:solidFill>
                  <a:srgbClr val="0B2F3A"/>
                </a:solidFill>
              </a:rPr>
              <a:t>Fewer features score better.</a:t>
            </a:r>
          </a:p>
          <a:p>
            <a:pPr>
              <a:spcAft>
                <a:spcPts val="800"/>
              </a:spcAft>
            </a:pPr>
            <a:r>
              <a:rPr sz="1100">
                <a:solidFill>
                  <a:srgbClr val="5A6B72"/>
                </a:solidFill>
              </a:rPr>
              <a:t>33 features beat 193. When adding information makes a model worse, it is fitting noise.</a:t>
            </a:r>
          </a:p>
          <a:p>
            <a:r>
              <a:rPr sz="1200" b="1">
                <a:solidFill>
                  <a:srgbClr val="0B2F3A"/>
                </a:solidFill>
              </a:rPr>
              <a:t>And the clinical score runs backwards.</a:t>
            </a:r>
          </a:p>
          <a:p>
            <a:pPr>
              <a:spcAft>
                <a:spcPts val="800"/>
              </a:spcAft>
            </a:pPr>
            <a:r>
              <a:rPr sz="1100">
                <a:solidFill>
                  <a:srgbClr val="5A6B72"/>
                </a:solidFill>
              </a:rPr>
              <a:t>The worst models by R2 carry the highest Zone A+B. Not weakly related - inverted.</a:t>
            </a:r>
          </a:p>
        </p:txBody>
      </p:sp>
      <p:sp>
        <p:nvSpPr>
          <p:cNvPr id="5128" name="TextBox 5127"/>
          <p:cNvSpPr txBox="1"/>
          <p:nvPr/>
        </p:nvSpPr>
        <p:spPr>
          <a:xfrm>
            <a:off x="502920" y="5943600"/>
            <a:ext cx="11155680" cy="365760"/>
          </a:xfrm>
          <a:prstGeom prst="rect">
            <a:avLst/>
          </a:prstGeom>
          <a:noFill/>
        </p:spPr>
        <p:txBody>
          <a:bodyPr wrap="square">
            <a:spAutoFit/>
          </a:bodyPr>
          <a:lstStyle/>
          <a:p>
            <a:r>
              <a:rPr sz="1050" i="1">
                <a:solidFill>
                  <a:srgbClr val="5A6B72"/>
                </a:solidFill>
              </a:rPr>
              <a:t>Equivalent to Tables III and IV of the paper. Feature counts in brackets in the first column.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sz="2800">
                <a:solidFill>
                  <a:srgbClr val="0B2F3A"/>
                </a:solidFill>
              </a:rPr>
              <a:t>Results (4/4): the fusion operator degenerates</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1051560"/>
          </a:xfrm>
        </p:spPr>
        <p:txBody>
          <a:bodyPr rtlCol="0" wrap="square">
            <a:normAutofit/>
          </a:bodyPr>
          <a:lstStyle/>
          <a:p>
            <a:pPr algn="just" eaLnBrk="1" fontAlgn="auto" hangingPunct="1">
              <a:spcAft>
                <a:spcPts val="0"/>
              </a:spcAft>
              <a:defRPr/>
            </a:pPr>
            <a:r>
              <a:rPr sz="1400" b="1">
                <a:solidFill>
                  <a:srgbClr val="0B2F3A"/>
                </a:solidFill>
              </a:rPr>
              <a:t>Two anomalies in the output: the weighted average and the plain average agreed to three decimals (3.927 vs 3.927), and every fuzzy density sat at the 0.01 clipping floor. With equal densities the Sugeno measure becomes symmetric, and the Choquet integral reduces to a fixed order statistic:</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5125" descr="degeneracy.png"/>
          <p:cNvPicPr>
            <a:picLocks noChangeAspect="1"/>
          </p:cNvPicPr>
          <p:nvPr/>
        </p:nvPicPr>
        <p:blipFill>
          <a:blip r:embed="rId3"/>
          <a:stretch>
            <a:fillRect/>
          </a:stretch>
        </p:blipFill>
        <p:spPr>
          <a:xfrm>
            <a:off x="777240" y="2148840"/>
            <a:ext cx="5120640" cy="2071859"/>
          </a:xfrm>
          <a:prstGeom prst="rect">
            <a:avLst/>
          </a:prstGeom>
        </p:spPr>
      </p:pic>
      <p:pic>
        <p:nvPicPr>
          <p:cNvPr id="5127" name="Picture 5126" descr="degeneracy_limit.png"/>
          <p:cNvPicPr>
            <a:picLocks noChangeAspect="1"/>
          </p:cNvPicPr>
          <p:nvPr/>
        </p:nvPicPr>
        <p:blipFill>
          <a:blip r:embed="rId4"/>
          <a:stretch>
            <a:fillRect/>
          </a:stretch>
        </p:blipFill>
        <p:spPr>
          <a:xfrm>
            <a:off x="777240" y="4572000"/>
            <a:ext cx="5394960" cy="1247204"/>
          </a:xfrm>
          <a:prstGeom prst="rect">
            <a:avLst/>
          </a:prstGeom>
        </p:spPr>
      </p:pic>
      <p:graphicFrame>
        <p:nvGraphicFramePr>
          <p:cNvPr id="5128" name="Table 5127"/>
          <p:cNvGraphicFramePr>
            <a:graphicFrameLocks noGrp="1"/>
          </p:cNvGraphicFramePr>
          <p:nvPr/>
        </p:nvGraphicFramePr>
        <p:xfrm>
          <a:off x="6400800" y="2148840"/>
          <a:ext cx="5166360" cy="1005840"/>
        </p:xfrm>
        <a:graphic>
          <a:graphicData uri="http://schemas.openxmlformats.org/drawingml/2006/table">
            <a:tbl>
              <a:tblPr firstRow="1" bandRow="1">
                <a:tableStyleId>{5C22544A-7EE6-4342-B048-85BDC9FD1C3A}</a:tableStyleId>
              </a:tblPr>
              <a:tblGrid>
                <a:gridCol w="621792"/>
                <a:gridCol w="795528"/>
                <a:gridCol w="868680"/>
                <a:gridCol w="822960"/>
                <a:gridCol w="914400"/>
                <a:gridCol w="1143000"/>
              </a:tblGrid>
              <a:tr h="251460">
                <a:tc>
                  <a:txBody>
                    <a:bodyPr/>
                    <a:lstStyle/>
                    <a:p>
                      <a:r>
                        <a:rPr sz="1050" b="1">
                          <a:solidFill>
                            <a:srgbClr val="FFFFFF"/>
                          </a:solidFill>
                        </a:rPr>
                        <a:t>g</a:t>
                      </a:r>
                    </a:p>
                  </a:txBody>
                  <a:tcPr marL="45720" marR="45720" marT="18288" marB="18288"/>
                </a:tc>
                <a:tc>
                  <a:txBody>
                    <a:bodyPr/>
                    <a:lstStyle/>
                    <a:p>
                      <a:r>
                        <a:rPr sz="1050" b="1">
                          <a:solidFill>
                            <a:srgbClr val="FFFFFF"/>
                          </a:solidFill>
                        </a:rPr>
                        <a:t>lambda</a:t>
                      </a:r>
                    </a:p>
                  </a:txBody>
                  <a:tcPr marL="45720" marR="45720" marT="18288" marB="18288"/>
                </a:tc>
                <a:tc>
                  <a:txBody>
                    <a:bodyPr/>
                    <a:lstStyle/>
                    <a:p>
                      <a:r>
                        <a:rPr sz="1050" b="1">
                          <a:solidFill>
                            <a:srgbClr val="FFFFFF"/>
                          </a:solidFill>
                        </a:rPr>
                        <a:t>w (largest)</a:t>
                      </a:r>
                    </a:p>
                  </a:txBody>
                  <a:tcPr marL="45720" marR="45720" marT="18288" marB="18288"/>
                </a:tc>
                <a:tc>
                  <a:txBody>
                    <a:bodyPr/>
                    <a:lstStyle/>
                    <a:p>
                      <a:r>
                        <a:rPr sz="1050" b="1">
                          <a:solidFill>
                            <a:srgbClr val="FFFFFF"/>
                          </a:solidFill>
                        </a:rPr>
                        <a:t>w (middle)</a:t>
                      </a:r>
                    </a:p>
                  </a:txBody>
                  <a:tcPr marL="45720" marR="45720" marT="18288" marB="18288"/>
                </a:tc>
                <a:tc>
                  <a:txBody>
                    <a:bodyPr/>
                    <a:lstStyle/>
                    <a:p>
                      <a:r>
                        <a:rPr sz="1050" b="1">
                          <a:solidFill>
                            <a:srgbClr val="FFFFFF"/>
                          </a:solidFill>
                        </a:rPr>
                        <a:t>w (smallest)</a:t>
                      </a:r>
                    </a:p>
                  </a:txBody>
                  <a:tcPr marL="45720" marR="45720" marT="18288" marB="18288"/>
                </a:tc>
                <a:tc>
                  <a:txBody>
                    <a:bodyPr/>
                    <a:lstStyle/>
                    <a:p>
                      <a:r>
                        <a:rPr sz="1050" b="1">
                          <a:solidFill>
                            <a:srgbClr val="FFFFFF"/>
                          </a:solidFill>
                        </a:rPr>
                        <a:t>Reduces to</a:t>
                      </a:r>
                    </a:p>
                  </a:txBody>
                  <a:tcPr marL="45720" marR="45720" marT="18288" marB="18288"/>
                </a:tc>
              </a:tr>
              <a:tr h="251460">
                <a:tc>
                  <a:txBody>
                    <a:bodyPr/>
                    <a:lstStyle/>
                    <a:p>
                      <a:r>
                        <a:rPr sz="1050" b="1">
                          <a:solidFill>
                            <a:srgbClr val="C62828"/>
                          </a:solidFill>
                        </a:rPr>
                        <a:t>0.010</a:t>
                      </a:r>
                    </a:p>
                  </a:txBody>
                  <a:tcPr marL="45720" marR="45720" marT="18288" marB="18288"/>
                </a:tc>
                <a:tc>
                  <a:txBody>
                    <a:bodyPr/>
                    <a:lstStyle/>
                    <a:p>
                      <a:r>
                        <a:rPr sz="1050" b="1">
                          <a:solidFill>
                            <a:srgbClr val="C62828"/>
                          </a:solidFill>
                        </a:rPr>
                        <a:t>846.24</a:t>
                      </a:r>
                    </a:p>
                  </a:txBody>
                  <a:tcPr marL="45720" marR="45720" marT="18288" marB="18288"/>
                </a:tc>
                <a:tc>
                  <a:txBody>
                    <a:bodyPr/>
                    <a:lstStyle/>
                    <a:p>
                      <a:r>
                        <a:rPr sz="1050" b="1">
                          <a:solidFill>
                            <a:srgbClr val="C62828"/>
                          </a:solidFill>
                        </a:rPr>
                        <a:t>0.010</a:t>
                      </a:r>
                    </a:p>
                  </a:txBody>
                  <a:tcPr marL="45720" marR="45720" marT="18288" marB="18288"/>
                </a:tc>
                <a:tc>
                  <a:txBody>
                    <a:bodyPr/>
                    <a:lstStyle/>
                    <a:p>
                      <a:r>
                        <a:rPr sz="1050" b="1">
                          <a:solidFill>
                            <a:srgbClr val="C62828"/>
                          </a:solidFill>
                        </a:rPr>
                        <a:t>0.095</a:t>
                      </a:r>
                    </a:p>
                  </a:txBody>
                  <a:tcPr marL="45720" marR="45720" marT="18288" marB="18288"/>
                </a:tc>
                <a:tc>
                  <a:txBody>
                    <a:bodyPr/>
                    <a:lstStyle/>
                    <a:p>
                      <a:r>
                        <a:rPr sz="1050" b="1">
                          <a:solidFill>
                            <a:srgbClr val="C62828"/>
                          </a:solidFill>
                        </a:rPr>
                        <a:t>0.895</a:t>
                      </a:r>
                    </a:p>
                  </a:txBody>
                  <a:tcPr marL="45720" marR="45720" marT="18288" marB="18288"/>
                </a:tc>
                <a:tc>
                  <a:txBody>
                    <a:bodyPr/>
                    <a:lstStyle/>
                    <a:p>
                      <a:r>
                        <a:rPr sz="1050" b="1">
                          <a:solidFill>
                            <a:srgbClr val="C62828"/>
                          </a:solidFill>
                        </a:rPr>
                        <a:t>minimum operator</a:t>
                      </a:r>
                    </a:p>
                  </a:txBody>
                  <a:tcPr marL="45720" marR="45720" marT="18288" marB="18288"/>
                </a:tc>
              </a:tr>
              <a:tr h="251460">
                <a:tc>
                  <a:txBody>
                    <a:bodyPr/>
                    <a:lstStyle/>
                    <a:p>
                      <a:r>
                        <a:rPr sz="1050" b="0">
                          <a:solidFill>
                            <a:srgbClr val="0B2F3A"/>
                          </a:solidFill>
                        </a:rPr>
                        <a:t>0.100</a:t>
                      </a:r>
                    </a:p>
                  </a:txBody>
                  <a:tcPr marL="45720" marR="45720" marT="18288" marB="18288"/>
                </a:tc>
                <a:tc>
                  <a:txBody>
                    <a:bodyPr/>
                    <a:lstStyle/>
                    <a:p>
                      <a:r>
                        <a:rPr sz="1050" b="0">
                          <a:solidFill>
                            <a:srgbClr val="0B2F3A"/>
                          </a:solidFill>
                        </a:rPr>
                        <a:t>15.41</a:t>
                      </a:r>
                    </a:p>
                  </a:txBody>
                  <a:tcPr marL="45720" marR="45720" marT="18288" marB="18288"/>
                </a:tc>
                <a:tc>
                  <a:txBody>
                    <a:bodyPr/>
                    <a:lstStyle/>
                    <a:p>
                      <a:r>
                        <a:rPr sz="1050" b="0">
                          <a:solidFill>
                            <a:srgbClr val="0B2F3A"/>
                          </a:solidFill>
                        </a:rPr>
                        <a:t>0.100</a:t>
                      </a:r>
                    </a:p>
                  </a:txBody>
                  <a:tcPr marL="45720" marR="45720" marT="18288" marB="18288"/>
                </a:tc>
                <a:tc>
                  <a:txBody>
                    <a:bodyPr/>
                    <a:lstStyle/>
                    <a:p>
                      <a:r>
                        <a:rPr sz="1050" b="0">
                          <a:solidFill>
                            <a:srgbClr val="0B2F3A"/>
                          </a:solidFill>
                        </a:rPr>
                        <a:t>0.254</a:t>
                      </a:r>
                    </a:p>
                  </a:txBody>
                  <a:tcPr marL="45720" marR="45720" marT="18288" marB="18288"/>
                </a:tc>
                <a:tc>
                  <a:txBody>
                    <a:bodyPr/>
                    <a:lstStyle/>
                    <a:p>
                      <a:r>
                        <a:rPr sz="1050" b="0">
                          <a:solidFill>
                            <a:srgbClr val="0B2F3A"/>
                          </a:solidFill>
                        </a:rPr>
                        <a:t>0.646</a:t>
                      </a:r>
                    </a:p>
                  </a:txBody>
                  <a:tcPr marL="45720" marR="45720" marT="18288" marB="18288"/>
                </a:tc>
                <a:tc>
                  <a:txBody>
                    <a:bodyPr/>
                    <a:lstStyle/>
                    <a:p>
                      <a:r>
                        <a:rPr sz="1050" b="0">
                          <a:solidFill>
                            <a:srgbClr val="0B2F3A"/>
                          </a:solidFill>
                        </a:rPr>
                        <a:t>rank-weighted OWA</a:t>
                      </a:r>
                    </a:p>
                  </a:txBody>
                  <a:tcPr marL="45720" marR="45720" marT="18288" marB="18288"/>
                </a:tc>
              </a:tr>
              <a:tr h="251460">
                <a:tc>
                  <a:txBody>
                    <a:bodyPr/>
                    <a:lstStyle/>
                    <a:p>
                      <a:r>
                        <a:rPr sz="1050" b="0">
                          <a:solidFill>
                            <a:srgbClr val="0B2F3A"/>
                          </a:solidFill>
                        </a:rPr>
                        <a:t>0.333</a:t>
                      </a:r>
                    </a:p>
                  </a:txBody>
                  <a:tcPr marL="45720" marR="45720" marT="18288" marB="18288"/>
                </a:tc>
                <a:tc>
                  <a:txBody>
                    <a:bodyPr/>
                    <a:lstStyle/>
                    <a:p>
                      <a:r>
                        <a:rPr sz="1050" b="0">
                          <a:solidFill>
                            <a:srgbClr val="0B2F3A"/>
                          </a:solidFill>
                        </a:rPr>
                        <a:t>0.00</a:t>
                      </a:r>
                    </a:p>
                  </a:txBody>
                  <a:tcPr marL="45720" marR="45720" marT="18288" marB="18288"/>
                </a:tc>
                <a:tc>
                  <a:txBody>
                    <a:bodyPr/>
                    <a:lstStyle/>
                    <a:p>
                      <a:r>
                        <a:rPr sz="1050" b="0">
                          <a:solidFill>
                            <a:srgbClr val="0B2F3A"/>
                          </a:solidFill>
                        </a:rPr>
                        <a:t>0.333</a:t>
                      </a:r>
                    </a:p>
                  </a:txBody>
                  <a:tcPr marL="45720" marR="45720" marT="18288" marB="18288"/>
                </a:tc>
                <a:tc>
                  <a:txBody>
                    <a:bodyPr/>
                    <a:lstStyle/>
                    <a:p>
                      <a:r>
                        <a:rPr sz="1050" b="0">
                          <a:solidFill>
                            <a:srgbClr val="0B2F3A"/>
                          </a:solidFill>
                        </a:rPr>
                        <a:t>0.333</a:t>
                      </a:r>
                    </a:p>
                  </a:txBody>
                  <a:tcPr marL="45720" marR="45720" marT="18288" marB="18288"/>
                </a:tc>
                <a:tc>
                  <a:txBody>
                    <a:bodyPr/>
                    <a:lstStyle/>
                    <a:p>
                      <a:r>
                        <a:rPr sz="1050" b="0">
                          <a:solidFill>
                            <a:srgbClr val="0B2F3A"/>
                          </a:solidFill>
                        </a:rPr>
                        <a:t>0.333</a:t>
                      </a:r>
                    </a:p>
                  </a:txBody>
                  <a:tcPr marL="45720" marR="45720" marT="18288" marB="18288"/>
                </a:tc>
                <a:tc>
                  <a:txBody>
                    <a:bodyPr/>
                    <a:lstStyle/>
                    <a:p>
                      <a:r>
                        <a:rPr sz="1050" b="0">
                          <a:solidFill>
                            <a:srgbClr val="0B2F3A"/>
                          </a:solidFill>
                        </a:rPr>
                        <a:t>arithmetic mean</a:t>
                      </a:r>
                    </a:p>
                  </a:txBody>
                  <a:tcPr marL="45720" marR="45720" marT="18288" marB="18288"/>
                </a:tc>
              </a:tr>
            </a:tbl>
          </a:graphicData>
        </a:graphic>
      </p:graphicFrame>
      <p:sp>
        <p:nvSpPr>
          <p:cNvPr id="5129" name="TextBox 5128"/>
          <p:cNvSpPr txBox="1"/>
          <p:nvPr/>
        </p:nvSpPr>
        <p:spPr>
          <a:xfrm>
            <a:off x="6400800" y="3429000"/>
            <a:ext cx="5166360" cy="2377440"/>
          </a:xfrm>
          <a:prstGeom prst="rect">
            <a:avLst/>
          </a:prstGeom>
          <a:noFill/>
        </p:spPr>
        <p:txBody>
          <a:bodyPr wrap="square">
            <a:spAutoFit/>
          </a:bodyPr>
          <a:lstStyle/>
          <a:p>
            <a:pPr>
              <a:spcAft>
                <a:spcPts val="600"/>
              </a:spcAft>
            </a:pPr>
            <a:r>
              <a:rPr sz="1200" b="1">
                <a:solidFill>
                  <a:srgbClr val="0B2F3A"/>
                </a:solidFill>
              </a:rPr>
              <a:t>Verified against the saved predictions:</a:t>
            </a:r>
          </a:p>
          <a:p>
            <a:pPr>
              <a:spcAft>
                <a:spcPts val="600"/>
              </a:spcAft>
            </a:pPr>
            <a:r>
              <a:rPr sz="1250" b="0">
                <a:solidFill>
                  <a:srgbClr val="C62828"/>
                </a:solidFill>
              </a:rPr>
              <a:t>corr(Choquet output, min of the three models) = 0.998</a:t>
            </a:r>
          </a:p>
          <a:p>
            <a:pPr>
              <a:spcAft>
                <a:spcPts val="600"/>
              </a:spcAft>
            </a:pPr>
            <a:r>
              <a:rPr sz="1150" b="0">
                <a:solidFill>
                  <a:srgbClr val="0B2F3A"/>
                </a:solidFill>
              </a:rPr>
              <a:t>mean |Choquet - min| = 0.04 mmol/L, against 0.27 to the mean</a:t>
            </a:r>
          </a:p>
          <a:p>
            <a:pPr>
              <a:spcAft>
                <a:spcPts val="600"/>
              </a:spcAft>
            </a:pPr>
            <a:r>
              <a:rPr sz="1250" b="1">
                <a:solidFill>
                  <a:srgbClr val="C62828"/>
                </a:solidFill>
              </a:rPr>
              <a:t>The method's distinguishing component was returning min(h1, h2, h3).</a:t>
            </a:r>
          </a:p>
          <a:p>
            <a:pPr>
              <a:spcAft>
                <a:spcPts val="600"/>
              </a:spcAft>
            </a:pPr>
            <a:r>
              <a:rPr sz="1100" b="0">
                <a:solidFill>
                  <a:srgbClr val="0B2F3A"/>
                </a:solidFill>
              </a:rPr>
              <a:t>Not only a bug: under honest evaluation the base models genuinely cannot generalise, so the densities floor legitimately - the fusion degenerates exactly when it is most needed.</a:t>
            </a:r>
          </a:p>
        </p:txBody>
      </p:sp>
      <p:sp>
        <p:nvSpPr>
          <p:cNvPr id="5130" name="TextBox 5129"/>
          <p:cNvSpPr txBox="1"/>
          <p:nvPr/>
        </p:nvSpPr>
        <p:spPr>
          <a:xfrm>
            <a:off x="502920" y="6035040"/>
            <a:ext cx="11155680" cy="365760"/>
          </a:xfrm>
          <a:prstGeom prst="rect">
            <a:avLst/>
          </a:prstGeom>
          <a:noFill/>
        </p:spPr>
        <p:txBody>
          <a:bodyPr wrap="square">
            <a:spAutoFit/>
          </a:bodyPr>
          <a:lstStyle/>
          <a:p>
            <a:r>
              <a:rPr sz="1050" i="1">
                <a:solidFill>
                  <a:srgbClr val="5A6B72"/>
                </a:solidFill>
              </a:rPr>
              <a:t>The symmetric-measure/OWA equivalence is established theory (Grabisch; Marichal). The contribution here is identifying it as a practical failure mode of performance-based density estimation, with a closed-form diagnostic.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1366481F-9645-13A1-6BF7-3A3AF2E45948}"/>
              </a:ext>
            </a:extLst>
          </p:cNvPr>
          <p:cNvSpPr>
            <a:spLocks noGrp="1" noChangeArrowheads="1"/>
          </p:cNvSpPr>
          <p:nvPr>
            <p:ph type="title"/>
          </p:nvPr>
        </p:nvSpPr>
        <p:spPr/>
        <p:txBody>
          <a:bodyPr/>
          <a:lstStyle/>
          <a:p>
            <a:pPr algn="ctr" eaLnBrk="1" hangingPunct="1"/>
            <a:r>
              <a:rPr lang="en-IN" altLang="en-US" b="1" dirty="0" sz="2800">
                <a:solidFill>
                  <a:srgbClr val="0B2F3A"/>
                </a:solidFill>
              </a:rPr>
              <a:t>Future work to be done</a:t>
            </a:r>
          </a:p>
        </p:txBody>
      </p:sp>
      <p:sp>
        <p:nvSpPr>
          <p:cNvPr id="3" name="Content Placeholder 2">
            <a:extLst>
              <a:ext uri="{FF2B5EF4-FFF2-40B4-BE49-F238E27FC236}">
                <a16:creationId xmlns:a16="http://schemas.microsoft.com/office/drawing/2014/main" id="{4031D2DA-6673-F8F3-6611-76CD5B9AA5B8}"/>
              </a:ext>
            </a:extLst>
          </p:cNvPr>
          <p:cNvSpPr>
            <a:spLocks noGrp="1"/>
          </p:cNvSpPr>
          <p:nvPr>
            <p:ph idx="1"/>
          </p:nvPr>
        </p:nvSpPr>
        <p:spPr>
          <a:xfrm>
            <a:off x="649288" y="1489075"/>
            <a:ext cx="10898187" cy="5232400"/>
          </a:xfrm>
        </p:spPr>
        <p:txBody>
          <a:bodyPr rtlCol="0" wrap="square">
            <a:normAutofit/>
          </a:bodyPr>
          <a:lstStyle/>
          <a:p>
            <a:pPr algn="just" eaLnBrk="1" fontAlgn="auto" hangingPunct="1">
              <a:spcAft>
                <a:spcPts val="0"/>
              </a:spcAft>
              <a:defRPr/>
            </a:pPr>
            <a:r>
              <a:rPr sz="1500">
                <a:solidFill>
                  <a:srgbClr val="0B2F3A"/>
                </a:solidFill>
              </a:rPr>
              <a:t>Reframe the task from regression to classification. The physiological mechanism supports detecting hypo- and hyperglycaemic events, not reading absolute concentration. Reported ECG classification reaches 84-94% accuracy.</a:t>
            </a:r>
          </a:p>
          <a:p>
            <a:pPr/>
            <a:r>
              <a:rPr sz="1500">
                <a:solidFill>
                  <a:srgbClr val="0B2F3A"/>
                </a:solidFill>
              </a:rPr>
              <a:t>Evaluate personalisation. The gap between random and subject-aware splitting indicates the models rely on participant-specific structure; a short per-user calibration matches how CGM devices are actually deployed.</a:t>
            </a:r>
          </a:p>
          <a:p>
            <a:pPr/>
            <a:r>
              <a:rPr sz="1500">
                <a:solidFill>
                  <a:srgbClr val="0B2F3A"/>
                </a:solidFill>
              </a:rPr>
              <a:t>Implement the spatial morphological branch as specified (ResNet) to isolate the effect of our substitution, given GPU access.</a:t>
            </a:r>
          </a:p>
          <a:p>
            <a:pPr/>
            <a:r>
              <a:rPr sz="1500">
                <a:solidFill>
                  <a:srgbClr val="0B2F3A"/>
                </a:solidFill>
              </a:rPr>
              <a:t>Test the degeneracy diagnostic on other Choquet-fusion pipelines. The failure mode is not specific to glucose - it applies wherever fuzzy densities are estimated from model performance.</a:t>
            </a:r>
          </a:p>
          <a:p>
            <a:pPr/>
            <a:r>
              <a:rPr sz="1500">
                <a:solidFill>
                  <a:srgbClr val="0B2F3A"/>
                </a:solidFill>
              </a:rPr>
              <a:t>Planned publication: a short reproducibility paper. Candidate venues - IEEE Journal of Biomedical and Health Informatics, or the ML Reproducibility Challenge.</a:t>
            </a:r>
          </a:p>
        </p:txBody>
      </p:sp>
      <p:sp>
        <p:nvSpPr>
          <p:cNvPr id="4" name="Slide Number Placeholder 3">
            <a:extLst>
              <a:ext uri="{FF2B5EF4-FFF2-40B4-BE49-F238E27FC236}">
                <a16:creationId xmlns:a16="http://schemas.microsoft.com/office/drawing/2014/main" id="{8CB22105-BDD4-EED5-8D2C-9A137C8999F9}"/>
              </a:ext>
            </a:extLst>
          </p:cNvPr>
          <p:cNvSpPr>
            <a:spLocks noGrp="1"/>
          </p:cNvSpPr>
          <p:nvPr>
            <p:ph type="sldNum" sz="quarter" idx="12"/>
          </p:nvPr>
        </p:nvSpPr>
        <p:spPr/>
        <p:txBody>
          <a:bodyPr/>
          <a:lstStyle/>
          <a:p>
            <a:pPr>
              <a:defRPr/>
            </a:pPr>
            <a:fld id="{9EDECF8D-E003-46F0-9BBD-417388E614D9}" type="slidenum">
              <a:rPr lang="en-IN"/>
              <a:pPr>
                <a:defRPr/>
              </a:pPr>
              <a:t>7</a:t>
            </a:fld>
            <a:endParaRPr lang="en-IN"/>
          </a:p>
        </p:txBody>
      </p:sp>
      <p:pic>
        <p:nvPicPr>
          <p:cNvPr id="9221" name="Picture 2">
            <a:extLst>
              <a:ext uri="{FF2B5EF4-FFF2-40B4-BE49-F238E27FC236}">
                <a16:creationId xmlns:a16="http://schemas.microsoft.com/office/drawing/2014/main" id="{0B6B6261-9C99-CD87-D28F-86E530138C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8363DD0-83CF-1A55-5AD5-C1C0102B37AF}"/>
              </a:ext>
            </a:extLst>
          </p:cNvPr>
          <p:cNvSpPr>
            <a:spLocks noGrp="1" noChangeArrowheads="1"/>
          </p:cNvSpPr>
          <p:nvPr>
            <p:ph type="title"/>
          </p:nvPr>
        </p:nvSpPr>
        <p:spPr>
          <a:xfrm>
            <a:off x="1038225" y="365125"/>
            <a:ext cx="10515600" cy="1325563"/>
          </a:xfrm>
        </p:spPr>
        <p:txBody>
          <a:bodyPr/>
          <a:lstStyle/>
          <a:p>
            <a:pPr eaLnBrk="1" hangingPunct="1"/>
            <a:r>
              <a:rPr lang="en-IN" altLang="en-US" b="1" dirty="0" sz="2800">
                <a:solidFill>
                  <a:srgbClr val="0B2F3A"/>
                </a:solidFill>
              </a:rPr>
              <a:t>Expected Outputs / Outcomes of the work</a:t>
            </a:r>
          </a:p>
        </p:txBody>
      </p:sp>
      <p:sp>
        <p:nvSpPr>
          <p:cNvPr id="3" name="Content Placeholder 2">
            <a:extLst>
              <a:ext uri="{FF2B5EF4-FFF2-40B4-BE49-F238E27FC236}">
                <a16:creationId xmlns:a16="http://schemas.microsoft.com/office/drawing/2014/main" id="{A819AAD8-B6DA-D46A-6557-BC767AC930D7}"/>
              </a:ext>
            </a:extLst>
          </p:cNvPr>
          <p:cNvSpPr>
            <a:spLocks noGrp="1"/>
          </p:cNvSpPr>
          <p:nvPr>
            <p:ph idx="1"/>
          </p:nvPr>
        </p:nvSpPr>
        <p:spPr>
          <a:xfrm>
            <a:off x="649288" y="1489075"/>
            <a:ext cx="10898187" cy="5232400"/>
          </a:xfrm>
        </p:spPr>
        <p:txBody>
          <a:bodyPr rtlCol="0" wrap="square">
            <a:normAutofit/>
          </a:bodyPr>
          <a:lstStyle/>
          <a:p>
            <a:pPr algn="just" eaLnBrk="1" fontAlgn="auto" hangingPunct="1">
              <a:spcAft>
                <a:spcPts val="0"/>
              </a:spcAft>
              <a:defRPr/>
            </a:pPr>
            <a:r>
              <a:rPr sz="1450">
                <a:solidFill>
                  <a:srgbClr val="0B2F3A"/>
                </a:solidFill>
              </a:rPr>
              <a:t>An open, reproducible implementation. All three stages, released publicly with the data pipeline, so the method can be tested by others: github.com/navtesh21/btp-project</a:t>
            </a:r>
          </a:p>
          <a:p>
            <a:pPr/>
            <a:r>
              <a:rPr sz="1450">
                <a:solidFill>
                  <a:srgbClr val="0B2F3A"/>
                </a:solidFill>
              </a:rPr>
              <a:t>A degeneracy theorem with a runnable diagnostic. Closed form w_j = g x beta^(j-1); when densities saturate, the Choquet integral provably reduces to a fixed order statistic. Reusable by anyone employing fuzzy-integral fusion, in any domain.</a:t>
            </a:r>
          </a:p>
          <a:p>
            <a:pPr/>
            <a:r>
              <a:rPr sz="1450">
                <a:solidFill>
                  <a:srgbClr val="0B2F3A"/>
                </a:solidFill>
              </a:rPr>
              <a:t>Evidence that evaluation protocol dominates model choice in this field, and that clinical zone metrics cannot certify a model without a baseline reported beside them.</a:t>
            </a:r>
          </a:p>
          <a:p>
            <a:pPr/>
            <a:r>
              <a:rPr sz="1450">
                <a:solidFill>
                  <a:srgbClr val="0B2F3A"/>
                </a:solidFill>
              </a:rPr>
              <a:t>A reproducibility defect reported in a widely used nonlinear-features library: an unseeded random slope fit changes up to 72% of correlation-dimension values between identical runs.</a:t>
            </a:r>
          </a:p>
          <a:p>
            <a:pPr/>
            <a:r>
              <a:rPr sz="1450">
                <a:solidFill>
                  <a:srgbClr val="0B2F3A"/>
                </a:solidFill>
              </a:rPr>
              <a:t>Methodological contribution: three guards that fail loudly rather than guess - timezone detection that refuses when ambiguous, feature selection with no whole-dataset variant, and a per-fold degeneracy report.</a:t>
            </a:r>
          </a:p>
        </p:txBody>
      </p:sp>
      <p:sp>
        <p:nvSpPr>
          <p:cNvPr id="4" name="Slide Number Placeholder 3">
            <a:extLst>
              <a:ext uri="{FF2B5EF4-FFF2-40B4-BE49-F238E27FC236}">
                <a16:creationId xmlns:a16="http://schemas.microsoft.com/office/drawing/2014/main" id="{A98A5175-D558-2ABD-02B8-4B8738BAEF8B}"/>
              </a:ext>
            </a:extLst>
          </p:cNvPr>
          <p:cNvSpPr>
            <a:spLocks noGrp="1"/>
          </p:cNvSpPr>
          <p:nvPr>
            <p:ph type="sldNum" sz="quarter" idx="12"/>
          </p:nvPr>
        </p:nvSpPr>
        <p:spPr/>
        <p:txBody>
          <a:bodyPr/>
          <a:lstStyle/>
          <a:p>
            <a:pPr>
              <a:defRPr/>
            </a:pPr>
            <a:fld id="{338117B9-3BE6-4CE2-AE03-4A1610F3DCDA}" type="slidenum">
              <a:rPr lang="en-IN"/>
              <a:pPr>
                <a:defRPr/>
              </a:pPr>
              <a:t>8</a:t>
            </a:fld>
            <a:endParaRPr lang="en-IN"/>
          </a:p>
        </p:txBody>
      </p:sp>
      <p:pic>
        <p:nvPicPr>
          <p:cNvPr id="10245" name="Picture 2">
            <a:extLst>
              <a:ext uri="{FF2B5EF4-FFF2-40B4-BE49-F238E27FC236}">
                <a16:creationId xmlns:a16="http://schemas.microsoft.com/office/drawing/2014/main" id="{FF0A33F4-A5B4-C6B8-9410-B8121F92D87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19E19514-3778-9257-6872-02F0B31ED778}"/>
              </a:ext>
            </a:extLst>
          </p:cNvPr>
          <p:cNvSpPr>
            <a:spLocks noGrp="1" noChangeArrowheads="1"/>
          </p:cNvSpPr>
          <p:nvPr>
            <p:ph type="title"/>
          </p:nvPr>
        </p:nvSpPr>
        <p:spPr>
          <a:xfrm>
            <a:off x="838200" y="136525"/>
            <a:ext cx="10515600" cy="925513"/>
          </a:xfrm>
        </p:spPr>
        <p:txBody>
          <a:bodyPr/>
          <a:lstStyle/>
          <a:p>
            <a:pPr eaLnBrk="1" hangingPunct="1"/>
            <a:r>
              <a:rPr lang="en-IN" altLang="en-US" sz="2800" b="1">
                <a:solidFill>
                  <a:srgbClr val="0B2F3A"/>
                </a:solidFill>
              </a:rPr>
              <a:t>References</a:t>
            </a:r>
          </a:p>
        </p:txBody>
      </p:sp>
      <p:sp>
        <p:nvSpPr>
          <p:cNvPr id="11267" name="Content Placeholder 2">
            <a:extLst>
              <a:ext uri="{FF2B5EF4-FFF2-40B4-BE49-F238E27FC236}">
                <a16:creationId xmlns:a16="http://schemas.microsoft.com/office/drawing/2014/main" id="{0CCEFF86-53CB-0ED3-F02C-F6D1A3882B45}"/>
              </a:ext>
            </a:extLst>
          </p:cNvPr>
          <p:cNvSpPr>
            <a:spLocks noGrp="1" noChangeArrowheads="1"/>
          </p:cNvSpPr>
          <p:nvPr>
            <p:ph idx="1"/>
          </p:nvPr>
        </p:nvSpPr>
        <p:spPr>
          <a:xfrm>
            <a:off x="1031875" y="1062038"/>
            <a:ext cx="10515600" cy="4070350"/>
          </a:xfrm>
        </p:spPr>
        <p:txBody>
          <a:bodyPr wrap="square"/>
          <a:lstStyle/>
          <a:p>
            <a:pPr marL="0" indent="0" algn="just" eaLnBrk="1" hangingPunct="1">
              <a:buFont typeface="Arial" panose="020B0604020202020204" pitchFamily="34" charset="0"/>
              <a:buNone/>
            </a:pPr>
            <a:r>
              <a:rPr sz="1150">
                <a:solidFill>
                  <a:srgbClr val="0B2F3A"/>
                </a:solidFill>
              </a:rPr>
              <a:t>[1] J. Li et al., "Noninvasive blood glucose monitoring using spatiotemporal ECG and PPG feature fusion and weight-based Choquet integral multimodel approach," IEEE Trans. Neural Netw. Learn. Syst., vol. 35, no. 10, pp. 14493-14505, Oct. 2024.</a:t>
            </a:r>
          </a:p>
          <a:p>
            <a:pPr/>
            <a:r>
              <a:rPr sz="1150">
                <a:solidFill>
                  <a:srgbClr val="0B2F3A"/>
                </a:solidFill>
              </a:rPr>
              <a:t>[2] "PhysioCGM: a multimodal physiological dataset for non-invasive blood glucose estimation," Sci. Data, vol. 12, 2025. [Online]. Available: https://doi.org/10.6084/m9.figshare.28136294 (accessed Sep. 25, 2026).</a:t>
            </a:r>
          </a:p>
          <a:p>
            <a:pPr/>
            <a:r>
              <a:rPr sz="1150">
                <a:solidFill>
                  <a:srgbClr val="0B2F3A"/>
                </a:solidFill>
              </a:rPr>
              <a:t>[3] "Reassessing the feasibility of PPG-based non-invasive blood glucose level estimation," arXiv:2608.01820, 2026.</a:t>
            </a:r>
          </a:p>
          <a:p>
            <a:pPr/>
            <a:r>
              <a:rPr sz="1150">
                <a:solidFill>
                  <a:srgbClr val="0B2F3A"/>
                </a:solidFill>
              </a:rPr>
              <a:t>[4] "Advances in electrocardiogram-based non-invasive blood glucose monitoring technology," (review), 2026.</a:t>
            </a:r>
          </a:p>
          <a:p>
            <a:pPr/>
            <a:r>
              <a:rPr sz="1150">
                <a:solidFill>
                  <a:srgbClr val="0B2F3A"/>
                </a:solidFill>
              </a:rPr>
              <a:t>[5] J. L. Parkes, S. L. Slatin, S. Pardo, and B. H. Ginsberg, "A new consensus error grid to evaluate the clinical significance of inaccuracies in the estimation of blood glucose," Diabetes Care, vol. 23, no. 8, pp. 1143-1148, Aug. 2000.</a:t>
            </a:r>
          </a:p>
          <a:p>
            <a:pPr/>
            <a:r>
              <a:rPr sz="1150">
                <a:solidFill>
                  <a:srgbClr val="0B2F3A"/>
                </a:solidFill>
              </a:rPr>
              <a:t>[6] A. Pfutzner, D. C. Klonoff, S. Pardo, and J. L. Parkes, "Technical aspects of the Parkes error grid," J. Diabetes Sci. Technol., vol. 7, no. 5, pp. 1275-1281, 2013.</a:t>
            </a:r>
          </a:p>
          <a:p>
            <a:pPr/>
            <a:r>
              <a:rPr sz="1150">
                <a:solidFill>
                  <a:srgbClr val="0B2F3A"/>
                </a:solidFill>
              </a:rPr>
              <a:t>[7] B. Eckert and C.-D. Agardh, "Hypoglycaemia leads to an increased QT interval in normal men," Clin. Physiol., vol. 18, no. 6, pp. 570-575, Nov. 1998.</a:t>
            </a:r>
          </a:p>
          <a:p>
            <a:pPr/>
            <a:r>
              <a:rPr sz="1150">
                <a:solidFill>
                  <a:srgbClr val="0B2F3A"/>
                </a:solidFill>
              </a:rPr>
              <a:t>[8] M. Grabisch, "Fuzzy integral in multicriteria decision making," Fuzzy Sets Syst., vol. 69, no. 3, pp. 279-298, 1995.</a:t>
            </a:r>
          </a:p>
          <a:p>
            <a:pPr/>
            <a:r>
              <a:rPr sz="1150">
                <a:solidFill>
                  <a:srgbClr val="0B2F3A"/>
                </a:solidFill>
              </a:rPr>
              <a:t>[9] J.-L. Marichal, "On Choquet and Sugeno integrals as aggregation functions," in Fuzzy Measures and Integrals, Heidelberg, Germany: Physica-Verlag, 2000, pp. 247-272.</a:t>
            </a:r>
          </a:p>
          <a:p>
            <a:pPr/>
            <a:r>
              <a:rPr sz="1150">
                <a:solidFill>
                  <a:srgbClr val="0B2F3A"/>
                </a:solidFill>
              </a:rPr>
              <a:t>[10] B. Hjorth, "EEG analysis based on time domain properties," Electroencephalogr. Clin. Neurophysiol., vol. 29, no. 3, pp. 306-310, 1970.</a:t>
            </a:r>
          </a:p>
        </p:txBody>
      </p:sp>
      <p:sp>
        <p:nvSpPr>
          <p:cNvPr id="4" name="Slide Number Placeholder 3">
            <a:extLst>
              <a:ext uri="{FF2B5EF4-FFF2-40B4-BE49-F238E27FC236}">
                <a16:creationId xmlns:a16="http://schemas.microsoft.com/office/drawing/2014/main" id="{E5E3A610-E8BA-0A9B-046C-9228150F2EEF}"/>
              </a:ext>
            </a:extLst>
          </p:cNvPr>
          <p:cNvSpPr>
            <a:spLocks noGrp="1"/>
          </p:cNvSpPr>
          <p:nvPr>
            <p:ph type="sldNum" sz="quarter" idx="12"/>
          </p:nvPr>
        </p:nvSpPr>
        <p:spPr/>
        <p:txBody>
          <a:bodyPr/>
          <a:lstStyle/>
          <a:p>
            <a:pPr>
              <a:defRPr/>
            </a:pPr>
            <a:fld id="{0DFF90B5-751B-4A65-8080-0AA5BA28E66B}" type="slidenum">
              <a:rPr lang="en-IN"/>
              <a:pPr>
                <a:defRPr/>
              </a:pPr>
              <a:t>9</a:t>
            </a:fld>
            <a:endParaRPr lang="en-IN"/>
          </a:p>
        </p:txBody>
      </p:sp>
      <p:pic>
        <p:nvPicPr>
          <p:cNvPr id="11269" name="Picture 2">
            <a:extLst>
              <a:ext uri="{FF2B5EF4-FFF2-40B4-BE49-F238E27FC236}">
                <a16:creationId xmlns:a16="http://schemas.microsoft.com/office/drawing/2014/main" id="{E32D4C3E-6670-1A77-EF5D-FF1FE407E6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42A7E62-772A-AF4C-8D43-3EF50679DBB9}"/>
              </a:ext>
            </a:extLst>
          </p:cNvPr>
          <p:cNvSpPr>
            <a:spLocks noGrp="1" noChangeArrowheads="1"/>
          </p:cNvSpPr>
          <p:nvPr>
            <p:ph type="ctrTitle"/>
          </p:nvPr>
        </p:nvSpPr>
        <p:spPr/>
        <p:txBody>
          <a:bodyPr/>
          <a:lstStyle/>
          <a:p>
            <a:pPr eaLnBrk="1" hangingPunct="1"/>
            <a:r>
              <a:rPr lang="en-IN" altLang="en-US" sz="2800" b="1">
                <a:solidFill>
                  <a:srgbClr val="0B2F3A"/>
                </a:solidFill>
              </a:rPr>
              <a:t>Thank You.</a:t>
            </a:r>
          </a:p>
        </p:txBody>
      </p:sp>
      <p:sp>
        <p:nvSpPr>
          <p:cNvPr id="4" name="Slide Number Placeholder 3">
            <a:extLst>
              <a:ext uri="{FF2B5EF4-FFF2-40B4-BE49-F238E27FC236}">
                <a16:creationId xmlns:a16="http://schemas.microsoft.com/office/drawing/2014/main" id="{2F9CD81B-ABD7-0BD5-8D84-0059790A8EA5}"/>
              </a:ext>
            </a:extLst>
          </p:cNvPr>
          <p:cNvSpPr>
            <a:spLocks noGrp="1"/>
          </p:cNvSpPr>
          <p:nvPr>
            <p:ph type="sldNum" sz="quarter" idx="12"/>
          </p:nvPr>
        </p:nvSpPr>
        <p:spPr/>
        <p:txBody>
          <a:bodyPr/>
          <a:lstStyle/>
          <a:p>
            <a:pPr>
              <a:defRPr/>
            </a:pPr>
            <a:fld id="{16F7A4CE-19F2-40B4-B74F-7893BB9B3D6C}" type="slidenum">
              <a:rPr lang="en-IN"/>
              <a:pPr>
                <a:defRPr/>
              </a:pPr>
              <a:t>10</a:t>
            </a:fld>
            <a:endParaRPr lang="en-IN"/>
          </a:p>
        </p:txBody>
      </p:sp>
      <p:graphicFrame>
        <p:nvGraphicFramePr>
          <p:cNvPr id="7" name="Table 4">
            <a:extLst>
              <a:ext uri="{FF2B5EF4-FFF2-40B4-BE49-F238E27FC236}">
                <a16:creationId xmlns:a16="http://schemas.microsoft.com/office/drawing/2014/main" id="{49BB587F-B3A9-F306-B57F-5F5D88DBADAF}"/>
              </a:ext>
            </a:extLst>
          </p:cNvPr>
          <p:cNvGraphicFramePr>
            <a:graphicFrameLocks noGrp="1"/>
          </p:cNvGraphicFramePr>
          <p:nvPr/>
        </p:nvGraphicFramePr>
        <p:xfrm>
          <a:off x="3278188" y="3716338"/>
          <a:ext cx="5635625" cy="1854200"/>
        </p:xfrm>
        <a:graphic>
          <a:graphicData uri="http://schemas.openxmlformats.org/drawingml/2006/table">
            <a:tbl>
              <a:tblPr firstRow="1" bandRow="1">
                <a:tableStyleId>{2D5ABB26-0587-4C30-8999-92F81FD0307C}</a:tableStyleId>
              </a:tblPr>
              <a:tblGrid>
                <a:gridCol w="1566841">
                  <a:extLst>
                    <a:ext uri="{9D8B030D-6E8A-4147-A177-3AD203B41FA5}">
                      <a16:colId xmlns:a16="http://schemas.microsoft.com/office/drawing/2014/main" val="20000"/>
                    </a:ext>
                  </a:extLst>
                </a:gridCol>
                <a:gridCol w="4068784">
                  <a:extLst>
                    <a:ext uri="{9D8B030D-6E8A-4147-A177-3AD203B41FA5}">
                      <a16:colId xmlns:a16="http://schemas.microsoft.com/office/drawing/2014/main" val="20001"/>
                    </a:ext>
                  </a:extLst>
                </a:gridCol>
              </a:tblGrid>
              <a:tr h="370840">
                <a:tc>
                  <a:txBody>
                    <a:bodyPr/>
                    <a:lstStyle/>
                    <a:p>
                      <a:r>
                        <a:rPr lang="en-IN" dirty="0"/>
                        <a:t>&lt;ROLL NO.&gt;</a:t>
                      </a:r>
                    </a:p>
                  </a:txBody>
                  <a:tcPr marL="91415" marR="91415"/>
                </a:tc>
                <a:tc>
                  <a:txBody>
                    <a:bodyPr/>
                    <a:lstStyle/>
                    <a:p>
                      <a:r>
                        <a:rPr lang="en-IN" dirty="0"/>
                        <a:t>NAVTESH MAKEN</a:t>
                      </a:r>
                    </a:p>
                  </a:txBody>
                  <a:tcPr marL="91415" marR="91415"/>
                </a:tc>
                <a:extLst>
                  <a:ext uri="{0D108BD9-81ED-4DB2-BD59-A6C34878D82A}">
                    <a16:rowId xmlns:a16="http://schemas.microsoft.com/office/drawing/2014/main" val="10000"/>
                  </a:ext>
                </a:extLst>
              </a:tr>
              <a:tr h="370840">
                <a:tc>
                  <a:txBody>
                    <a:bodyPr/>
                    <a:lstStyle/>
                    <a:p>
                      <a:r>
                        <a:rPr lang="en-IN" dirty="0"/>
                        <a:t/>
                      </a:r>
                    </a:p>
                  </a:txBody>
                  <a:tcPr marL="91415" marR="91415"/>
                </a:tc>
                <a:tc>
                  <a:txBody>
                    <a:bodyPr/>
                    <a:lstStyle/>
                    <a:p>
                      <a:r>
                        <a:rPr lang="en-IN" dirty="0"/>
                        <a:t/>
                      </a:r>
                    </a:p>
                  </a:txBody>
                  <a:tcPr marL="91415" marR="91415"/>
                </a:tc>
                <a:extLst>
                  <a:ext uri="{0D108BD9-81ED-4DB2-BD59-A6C34878D82A}">
                    <a16:rowId xmlns:a16="http://schemas.microsoft.com/office/drawing/2014/main" val="10001"/>
                  </a:ext>
                </a:extLst>
              </a:tr>
              <a:tr h="370840">
                <a:tc>
                  <a:txBody>
                    <a:bodyPr/>
                    <a:lstStyle/>
                    <a:p>
                      <a:r>
                        <a:rPr lang="en-IN" dirty="0"/>
                        <a:t/>
                      </a:r>
                    </a:p>
                  </a:txBody>
                  <a:tcPr marL="91415" marR="91415"/>
                </a:tc>
                <a:tc>
                  <a:txBody>
                    <a:bodyPr/>
                    <a:lstStyle/>
                    <a:p>
                      <a:r>
                        <a:rPr lang="en-IN" dirty="0"/>
                        <a:t/>
                      </a:r>
                    </a:p>
                  </a:txBody>
                  <a:tcPr marL="91415" marR="91415"/>
                </a:tc>
                <a:extLst>
                  <a:ext uri="{0D108BD9-81ED-4DB2-BD59-A6C34878D82A}">
                    <a16:rowId xmlns:a16="http://schemas.microsoft.com/office/drawing/2014/main" val="10002"/>
                  </a:ext>
                </a:extLst>
              </a:tr>
              <a:tr h="370840">
                <a:tc>
                  <a:txBody>
                    <a:bodyPr/>
                    <a:lstStyle/>
                    <a:p>
                      <a:r>
                        <a:rPr lang="en-IN" dirty="0"/>
                        <a:t/>
                      </a:r>
                    </a:p>
                  </a:txBody>
                  <a:tcPr marL="91415" marR="91415"/>
                </a:tc>
                <a:tc>
                  <a:txBody>
                    <a:bodyPr/>
                    <a:lstStyle/>
                    <a:p>
                      <a:r>
                        <a:rPr lang="en-IN" dirty="0"/>
                        <a:t/>
                      </a:r>
                    </a:p>
                  </a:txBody>
                  <a:tcPr marL="91415" marR="91415"/>
                </a:tc>
                <a:extLst>
                  <a:ext uri="{0D108BD9-81ED-4DB2-BD59-A6C34878D82A}">
                    <a16:rowId xmlns:a16="http://schemas.microsoft.com/office/drawing/2014/main" val="10003"/>
                  </a:ext>
                </a:extLst>
              </a:tr>
              <a:tr h="370840">
                <a:tc>
                  <a:txBody>
                    <a:bodyPr/>
                    <a:lstStyle/>
                    <a:p>
                      <a:endParaRPr lang="en-IN"/>
                    </a:p>
                  </a:txBody>
                  <a:tcPr marL="91415" marR="91415"/>
                </a:tc>
                <a:tc>
                  <a:txBody>
                    <a:bodyPr/>
                    <a:lstStyle/>
                    <a:p>
                      <a:endParaRPr lang="en-IN" dirty="0"/>
                    </a:p>
                  </a:txBody>
                  <a:tcPr marL="91415" marR="91415"/>
                </a:tc>
                <a:extLst>
                  <a:ext uri="{0D108BD9-81ED-4DB2-BD59-A6C34878D82A}">
                    <a16:rowId xmlns:a16="http://schemas.microsoft.com/office/drawing/2014/main" val="10004"/>
                  </a:ext>
                </a:extLst>
              </a:tr>
            </a:tbl>
          </a:graphicData>
        </a:graphic>
      </p:graphicFrame>
      <p:pic>
        <p:nvPicPr>
          <p:cNvPr id="12303" name="Picture 2">
            <a:extLst>
              <a:ext uri="{FF2B5EF4-FFF2-40B4-BE49-F238E27FC236}">
                <a16:creationId xmlns:a16="http://schemas.microsoft.com/office/drawing/2014/main" id="{207B9BE4-CB7E-9B0A-F766-3A3666C366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3700" y="293688"/>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4" name="Subtitle 2">
            <a:extLst>
              <a:ext uri="{FF2B5EF4-FFF2-40B4-BE49-F238E27FC236}">
                <a16:creationId xmlns:a16="http://schemas.microsoft.com/office/drawing/2014/main" id="{81EC2D11-A6FF-19C5-9C04-1585C12F2CBA}"/>
              </a:ext>
            </a:extLst>
          </p:cNvPr>
          <p:cNvSpPr txBox="1">
            <a:spLocks/>
          </p:cNvSpPr>
          <p:nvPr/>
        </p:nvSpPr>
        <p:spPr bwMode="auto">
          <a:xfrm>
            <a:off x="1524000" y="6308725"/>
            <a:ext cx="8696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en-US" altLang="en-US" sz="1200" b="1">
                <a:solidFill>
                  <a:srgbClr val="000000"/>
                </a:solidFill>
              </a:rPr>
              <a:t>Mid Term Review</a:t>
            </a:r>
          </a:p>
          <a:p>
            <a:pPr algn="ctr" eaLnBrk="1" hangingPunct="1">
              <a:lnSpc>
                <a:spcPct val="100000"/>
              </a:lnSpc>
              <a:spcBef>
                <a:spcPct val="0"/>
              </a:spcBef>
              <a:buFont typeface="Arial" panose="020B0604020202020204" pitchFamily="34" charset="0"/>
              <a:buNone/>
            </a:pPr>
            <a:r>
              <a:rPr lang="en-US" altLang="en-US" sz="1200" b="1">
                <a:solidFill>
                  <a:srgbClr val="000000"/>
                </a:solidFill>
              </a:rPr>
              <a:t> EEEEC23 B. Tech Project - II</a:t>
            </a:r>
            <a:endParaRPr lang="en-IN" altLang="en-US" sz="1200" b="1">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Sample  -  Compatibility Mode" id="{76ACA8EF-BF98-42E6-95F2-7C5AA9F47A7D}" vid="{1445A529-EDB0-4C16-838D-8C07F5557E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 Sample</Template>
  <TotalTime>4</TotalTime>
  <Words>856</Words>
  <Application>Microsoft Office PowerPoint</Application>
  <PresentationFormat>Widescreen</PresentationFormat>
  <Paragraphs>93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Arial</vt:lpstr>
      <vt:lpstr>Calibri Light</vt:lpstr>
      <vt:lpstr>Office Theme</vt:lpstr>
      <vt:lpstr>&lt;ADD PROJECT TITLE HERE&gt;</vt:lpstr>
      <vt:lpstr>Contents</vt:lpstr>
      <vt:lpstr>Introduction</vt:lpstr>
      <vt:lpstr>Literature Survey</vt:lpstr>
      <vt:lpstr>Gaps Identified</vt:lpstr>
      <vt:lpstr>Aims/Objectives of the Project</vt:lpstr>
      <vt:lpstr>Future work to be done</vt:lpstr>
      <vt:lpstr>Expected Outputs/Outcomes of the work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&lt;ADD PROJECT TITLE HERE&gt;</dc:title>
  <dc:creator>cc0492</dc:creator>
  <cp:lastModifiedBy>cc0492</cp:lastModifiedBy>
  <cp:revision>2</cp:revision>
  <dcterms:created xsi:type="dcterms:W3CDTF">2023-03-16T05:05:38Z</dcterms:created>
  <dcterms:modified xsi:type="dcterms:W3CDTF">2023-03-16T05:10:16Z</dcterms:modified>
</cp:coreProperties>
</file>